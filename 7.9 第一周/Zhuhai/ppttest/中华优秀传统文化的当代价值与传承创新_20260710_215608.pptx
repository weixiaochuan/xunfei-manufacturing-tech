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传统之魂，时代之基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中华优秀传统文化的核心内涵与当代命题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953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科技蓝·锚点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623310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仁爱、礼义、诚信、和合是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传统文化的核心基因，构成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社会主义核心价值观的深厚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根基。</a:t>
            </a:r>
          </a:p>
        </p:txBody>
      </p:sp>
      <p:sp>
        <p:nvSpPr>
          <p:cNvPr id="11" name="Line 11"/>
          <p:cNvSpPr/>
          <p:nvPr/>
        </p:nvSpPr>
        <p:spPr>
          <a:xfrm>
            <a:off x="5162550" y="18669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2" name="Line 12"/>
          <p:cNvSpPr/>
          <p:nvPr/>
        </p:nvSpPr>
        <p:spPr>
          <a:xfrm>
            <a:off x="5162550" y="381952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406798" y="2003584"/>
            <a:ext cx="161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核心理念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6192" y="2474595"/>
            <a:ext cx="18551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仁爱·礼义·诚信·和合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47716" y="3078480"/>
            <a:ext cx="46752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这些核心要素铸就中华民族精神特质，为现代社会和谐发展提供深刻启示。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8288" y="3584734"/>
            <a:ext cx="24973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核心内涵主要体现在“仁爱”“礼义”“诚信”与“和合”</a:t>
            </a:r>
          </a:p>
        </p:txBody>
      </p:sp>
      <p:sp>
        <p:nvSpPr>
          <p:cNvPr id="18" name="Line 18"/>
          <p:cNvSpPr/>
          <p:nvPr/>
        </p:nvSpPr>
        <p:spPr>
          <a:xfrm>
            <a:off x="5162550" y="39814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19" name="Line 19"/>
          <p:cNvSpPr/>
          <p:nvPr/>
        </p:nvSpPr>
        <p:spPr>
          <a:xfrm>
            <a:off x="5162550" y="59340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1406798" y="4118134"/>
            <a:ext cx="161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45430" y="4198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当代命题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26852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社会主义核心价值观的深厚根基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47716" y="5193030"/>
            <a:ext cx="49579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修身、齐家、治国、平天下与个人、社会、国家三个层面的价值目标高度契合。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48288" y="5699284"/>
            <a:ext cx="256394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中华优秀传统文化是社会主义核心价值观的坚实根基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28638" y="6334125"/>
            <a:ext cx="11134725" cy="355282"/>
            <a:chOff x="528638" y="6334125"/>
            <a:chExt cx="11134725" cy="355282"/>
          </a:xfrm>
        </p:grpSpPr>
        <p:sp>
          <p:nvSpPr>
            <p:cNvPr id="25" name="Line 25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638" y="65131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27515" y="6513195"/>
              <a:ext cx="2135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中华优秀传统文化的当代价值与传承创…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1365" y="6521291"/>
              <a:ext cx="30692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材料依据 · 核心内涵主要体现在“仁爱”“礼义”“诚信”与“和合”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540866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何以重塑当代？——三重当代价值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953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科技蓝·价值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623310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传统文化在治国、社会、精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神三个层面提供当代动能：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核心价值观基石、文化自信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源泉、民族复兴动力。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1276350"/>
          </a:xfrm>
          <a:prstGeom prst="roundRect">
            <a:avLst>
              <a:gd name="adj" fmla="val 447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162550" y="2800350"/>
            <a:ext cx="6496050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治国之基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23036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社会主义核心价值观的基石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3257550"/>
            <a:ext cx="6496050" cy="1276350"/>
          </a:xfrm>
          <a:prstGeom prst="roundRect">
            <a:avLst>
              <a:gd name="adj" fmla="val 447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162550" y="4210050"/>
            <a:ext cx="6496050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345430" y="34937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自信之源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884295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文化自信与民族认同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4667250"/>
            <a:ext cx="6496050" cy="1276350"/>
          </a:xfrm>
          <a:prstGeom prst="roundRect">
            <a:avLst>
              <a:gd name="adj" fmla="val 447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162550" y="5619750"/>
            <a:ext cx="6496050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345430" y="49034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复兴之力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5293995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精神动力与民族复兴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55282"/>
            <a:chOff x="528638" y="6334125"/>
            <a:chExt cx="11134725" cy="355282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5131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27515" y="6513195"/>
              <a:ext cx="2135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中华优秀传统文化的当代价值与传承创…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45063" y="6521291"/>
              <a:ext cx="47018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材料依据 · 传统文化中的“修身、齐家、治国、平天下”与社会主义核心价值观三个维度不谋而合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540866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如何激活新生？——四大创新路径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81918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通过科技赋能、教育焕新、跨界融合、国际传播四大路径，实现传统文化的创造性转化与创新性发展。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2171700"/>
            <a:ext cx="5448300" cy="1676400"/>
          </a:xfrm>
          <a:prstGeom prst="roundRect">
            <a:avLst>
              <a:gd name="adj" fmla="val 3409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17170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505450" y="2247900"/>
            <a:ext cx="32385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598474" y="2308384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6280" y="25031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科技赋能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7042" y="287464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数字化保护与传播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10300" y="2171700"/>
            <a:ext cx="5448300" cy="1676400"/>
          </a:xfrm>
          <a:prstGeom prst="roundRect">
            <a:avLst>
              <a:gd name="adj" fmla="val 3409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10300" y="217170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11182350" y="2247900"/>
            <a:ext cx="32385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75374" y="2308384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3180" y="25031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教育焕新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93942" y="2874645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年轻化推广与普及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038600"/>
            <a:ext cx="5448300" cy="1619250"/>
          </a:xfrm>
          <a:prstGeom prst="roundRect">
            <a:avLst>
              <a:gd name="adj" fmla="val 3529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33400" y="403860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505450" y="4114800"/>
            <a:ext cx="32385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598474" y="4175284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6280" y="4370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跨界融合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7042" y="4741545"/>
            <a:ext cx="23036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动漫、游戏、时尚等新载体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10300" y="4038600"/>
            <a:ext cx="5448300" cy="1619250"/>
          </a:xfrm>
          <a:prstGeom prst="roundRect">
            <a:avLst>
              <a:gd name="adj" fmla="val 3529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10300" y="403860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11182350" y="4114800"/>
            <a:ext cx="32385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275374" y="4175284"/>
            <a:ext cx="1378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93180" y="4370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国际传播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93942" y="4741545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加强国际交流与合作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5" cy="355282"/>
            <a:chOff x="528638" y="6334125"/>
            <a:chExt cx="11134725" cy="355282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5131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27515" y="6513195"/>
              <a:ext cx="2135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中华优秀传统文化的当代价值与传承创…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0170" y="6521291"/>
              <a:ext cx="26916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材料依据 · 利用高精度扫描、三维建模进行数字化保护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17196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从传承到引领——守正创新，贡献世界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781300" y="1790700"/>
            <a:ext cx="6629400" cy="116205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533400" y="2371725"/>
            <a:ext cx="2247900" cy="9525"/>
          </a:xfrm>
          <a:custGeom>
            <a:avLst/>
            <a:gdLst/>
            <a:ahLst/>
            <a:cxnLst/>
            <a:rect l="l" t="t" r="r" b="b"/>
            <a:pathLst>
              <a:path w="2247900" h="9525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Line 9"/>
          <p:cNvSpPr/>
          <p:nvPr/>
        </p:nvSpPr>
        <p:spPr>
          <a:xfrm>
            <a:off x="9410700" y="2371725"/>
            <a:ext cx="2247900" cy="9525"/>
          </a:xfrm>
          <a:custGeom>
            <a:avLst/>
            <a:gdLst/>
            <a:ahLst/>
            <a:cxnLst/>
            <a:rect l="l" t="t" r="r" b="b"/>
            <a:pathLst>
              <a:path w="2247900" h="9525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46963" y="2193131"/>
            <a:ext cx="1032506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守正创新是核心方法论，最终目标是为构建人类命运共同体贡献中国智慧与方案。</a:t>
            </a:r>
          </a:p>
        </p:txBody>
      </p:sp>
      <p:sp>
        <p:nvSpPr>
          <p:cNvPr id="11" name="Line 11"/>
          <p:cNvSpPr/>
          <p:nvPr/>
        </p:nvSpPr>
        <p:spPr>
          <a:xfrm>
            <a:off x="800100" y="4638675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47700" y="4486275"/>
            <a:ext cx="304800" cy="304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02080" y="33604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守正创新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2842" y="3750945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创造性转化与创新性发展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4366" y="5047298"/>
            <a:ext cx="427786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怀揣对传统文化的敬畏，勇于开拓创新，以开放包容的心态融合现代文明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成果，实现传统文化的时代新生。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4938" y="5908834"/>
            <a:ext cx="20086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实现传统文化的创造性转化与创新性发展</a:t>
            </a:r>
          </a:p>
        </p:txBody>
      </p:sp>
      <p:sp>
        <p:nvSpPr>
          <p:cNvPr id="17" name="Line 17"/>
          <p:cNvSpPr/>
          <p:nvPr/>
        </p:nvSpPr>
        <p:spPr>
          <a:xfrm>
            <a:off x="6467475" y="4638675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6315075" y="4486275"/>
            <a:ext cx="304800" cy="30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069455" y="33604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贡献世界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70217" y="3750945"/>
            <a:ext cx="26852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为人类命运共同体贡献中国智慧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71741" y="5047298"/>
            <a:ext cx="427786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通过教育普及、媒体传播、文化创意等途径，让传统文化成为联结各国人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民心灵的纽带，共绘人类文明新篇章。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72312" y="5908834"/>
            <a:ext cx="27860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为构建人类命运共同体贡献独特的文化支撑与精神驱动力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55282"/>
            <a:chOff x="528638" y="6334125"/>
            <a:chExt cx="11134725" cy="355282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5131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27515" y="6513195"/>
              <a:ext cx="2135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中华优秀传统文化的当代价值与传承创…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5701" y="6521291"/>
              <a:ext cx="25805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材料依据 · 实现传统文化的创造性转化与创新性发展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2026-07-10T13:56:07Z</dcterms:created>
  <dcterms:modified xsi:type="dcterms:W3CDTF">2026-07-10T13:56:07Z</dcterms:modified>
  <cp:category/>
  <cp:contentStatus/>
</cp:coreProperties>
</file>