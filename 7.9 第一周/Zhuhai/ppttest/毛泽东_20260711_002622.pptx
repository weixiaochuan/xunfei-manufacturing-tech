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33400" y="514350"/>
            <a:ext cx="1866900" cy="9525"/>
          </a:xfrm>
          <a:custGeom>
            <a:avLst/>
            <a:gdLst/>
            <a:ahLst/>
            <a:cxnLst/>
            <a:rect l="l" t="t" r="r" b="b"/>
            <a:pathLst>
              <a:path w="1866900" h="9525">
                <a:moveTo>
                  <a:pt x="0" y="0"/>
                </a:moveTo>
                <a:lnTo>
                  <a:pt x="1866900" y="0"/>
                </a:lnTo>
              </a:path>
            </a:pathLst>
          </a:custGeom>
          <a:noFill/>
          <a:ln w="57150">
            <a:solidFill>
              <a:srgbClr val="2563EB"/>
            </a:solidFill>
          </a:ln>
        </p:spPr>
      </p:sp>
      <p:sp>
        <p:nvSpPr>
          <p:cNvPr id="4" name="Line 4"/>
          <p:cNvSpPr/>
          <p:nvPr/>
        </p:nvSpPr>
        <p:spPr>
          <a:xfrm>
            <a:off x="533400" y="57340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4288">
            <a:solidFill>
              <a:srgbClr val="C1D3FA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26973" y="912971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领袖风采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95350" y="1704975"/>
            <a:ext cx="1755515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23925" y="3093244"/>
            <a:ext cx="6448425" cy="7096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00"/>
              </a:lnSpc>
            </a:pP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毛泽东是中国共产党、中国人民解放军和中华人民共和国的</a:t>
            </a:r>
            <a:r>
              <a:rPr lang="zh-CN" sz="18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主要缔造者，领导中国革命走向胜利，奠定了新中国的基础。</a:t>
            </a:r>
          </a:p>
        </p:txBody>
      </p:sp>
      <p:sp>
        <p:nvSpPr>
          <p:cNvPr id="8" name="Ellipse 8"/>
          <p:cNvSpPr/>
          <p:nvPr/>
        </p:nvSpPr>
        <p:spPr>
          <a:xfrm>
            <a:off x="1019175" y="4476750"/>
            <a:ext cx="95250" cy="952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51585" y="4508659"/>
            <a:ext cx="35174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核心身份 · 中国共产党、解放军、新中国缔造者之一</a:t>
            </a:r>
          </a:p>
        </p:txBody>
      </p:sp>
      <p:sp>
        <p:nvSpPr>
          <p:cNvPr id="10" name="Ellipse 10"/>
          <p:cNvSpPr/>
          <p:nvPr/>
        </p:nvSpPr>
        <p:spPr>
          <a:xfrm>
            <a:off x="1019175" y="4953000"/>
            <a:ext cx="95250" cy="952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251585" y="4984909"/>
            <a:ext cx="27602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历史定位 · 革命领袖、建国元勋、思想家</a:t>
            </a:r>
          </a:p>
        </p:txBody>
      </p:sp>
      <p:sp>
        <p:nvSpPr>
          <p:cNvPr id="12" name="Ellipse 12"/>
          <p:cNvSpPr/>
          <p:nvPr/>
        </p:nvSpPr>
        <p:spPr>
          <a:xfrm>
            <a:off x="8515350" y="1600200"/>
            <a:ext cx="2705100" cy="2705100"/>
          </a:xfrm>
          <a:prstGeom prst="ellipse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3" name="Ellipse 13"/>
          <p:cNvSpPr/>
          <p:nvPr/>
        </p:nvSpPr>
        <p:spPr>
          <a:xfrm>
            <a:off x="8896350" y="1981200"/>
            <a:ext cx="1943100" cy="19431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9372600" y="2457450"/>
            <a:ext cx="990600" cy="9906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8572500" y="4857750"/>
            <a:ext cx="2590800" cy="9525"/>
          </a:xfrm>
          <a:custGeom>
            <a:avLst/>
            <a:gdLst/>
            <a:ahLst/>
            <a:cxnLst/>
            <a:rect l="l" t="t" r="r" b="b"/>
            <a:pathLst>
              <a:path w="2590800" h="9525">
                <a:moveTo>
                  <a:pt x="0" y="0"/>
                </a:moveTo>
                <a:lnTo>
                  <a:pt x="2590800" y="0"/>
                </a:lnTo>
              </a:path>
            </a:pathLst>
          </a:custGeom>
          <a:noFill/>
          <a:ln w="47625">
            <a:solidFill>
              <a:srgbClr val="7C3AED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9656701" y="2787968"/>
            <a:ext cx="42239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5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19488" y="5208270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科技蓝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18" name="Line 18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01 / 06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996332" y="6489859"/>
              <a:ext cx="39133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毛泽东是中国共产党、中国人民解放军和中华人民共和国的缔造者之一。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65154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革命先驱：从私塾学子到马克思主义者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9133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2657D"/>
                </a:solidFill>
                <a:latin typeface="Arial"/>
                <a:ea typeface="Arial"/>
                <a:cs typeface="Arial"/>
              </a:rPr>
              <a:t>1893-1935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思想转变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126105"/>
            <a:ext cx="3623310" cy="20021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青年毛泽东在探索救国道路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中，从传统求学转向马克思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主义，参与建党并领导秋收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起义，在长征中确立领导地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位。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162550" y="184785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5334000" y="267652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5345430" y="20840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早年成长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46192" y="2474595"/>
            <a:ext cx="5165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农民家庭出身，私塾和湖南一师求学，接触维新与革命思想。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162550" y="290512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334000" y="373380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5345430" y="3141345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思想转向马克思主义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6192" y="3531870"/>
            <a:ext cx="44026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从无政府主义转向马列主义，参与创建中国共产党。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162550" y="3962400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5334000" y="4791075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198620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开创农村革命道路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44026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领导秋收起义，上井冈山建立首个农村革命根据地。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162550" y="5019675"/>
            <a:ext cx="6496050" cy="923925"/>
          </a:xfrm>
          <a:prstGeom prst="roundRect">
            <a:avLst>
              <a:gd name="adj" fmla="val 6186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334000" y="5848350"/>
            <a:ext cx="6153150" cy="9525"/>
          </a:xfrm>
          <a:custGeom>
            <a:avLst/>
            <a:gdLst/>
            <a:ahLst/>
            <a:cxnLst/>
            <a:rect l="l" t="t" r="r" b="b"/>
            <a:pathLst>
              <a:path w="6153150" h="9525">
                <a:moveTo>
                  <a:pt x="0" y="0"/>
                </a:moveTo>
                <a:lnTo>
                  <a:pt x="61531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345430" y="525589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长征中的转折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346192" y="5646420"/>
            <a:ext cx="383019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遵义会议确立领导地位，领导红军完成长征。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02 / 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29695" y="6489859"/>
              <a:ext cx="40466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毛泽东生于农民家庭，早年入私塾，1918年毕业于湖南省立第一师范学校。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抗战与解放战争统帅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728319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毛泽东领导抗日战争和解放战争，最终建立新中国，展现了卓越的军事战略与政治领导力。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43100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Line 8"/>
          <p:cNvSpPr/>
          <p:nvPr/>
        </p:nvSpPr>
        <p:spPr>
          <a:xfrm>
            <a:off x="704850" y="3762375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9" name="Ellipse 9"/>
          <p:cNvSpPr/>
          <p:nvPr/>
        </p:nvSpPr>
        <p:spPr>
          <a:xfrm>
            <a:off x="704850" y="209550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0151" y="219932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11580" y="21793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抗日战争领导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2723" y="2570321"/>
            <a:ext cx="2733294" cy="45891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28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发表《论持久战》，确立人民战争路</a:t>
            </a:r>
            <a:r>
              <a:rPr lang="zh-CN" sz="128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线，巩固抗日民族统一战线。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4247" y="3067526"/>
            <a:ext cx="2758821" cy="352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275"/>
              </a:lnSpc>
            </a:pPr>
            <a:r>
              <a:rPr lang="zh-CN" sz="9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1938年发表《论持久战》，批驳亡国论和速胜论，</a:t>
            </a:r>
            <a:r>
              <a:rPr lang="zh-CN" sz="9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指导抗战。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4438" y="3594259"/>
            <a:ext cx="258615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1938年发表《论持久战》，提倡人民战争与持久战。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317682" y="1943100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4489132" y="3762375"/>
            <a:ext cx="3213735" cy="9525"/>
          </a:xfrm>
          <a:custGeom>
            <a:avLst/>
            <a:gdLst/>
            <a:ahLst/>
            <a:cxnLst/>
            <a:rect l="l" t="t" r="r" b="b"/>
            <a:pathLst>
              <a:path w="3213735" h="9525">
                <a:moveTo>
                  <a:pt x="0" y="0"/>
                </a:moveTo>
                <a:lnTo>
                  <a:pt x="3213735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4489132" y="2095500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14433" y="219932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95862" y="2179320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延安整风与思想统一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996624" y="2569845"/>
            <a:ext cx="2714054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发动延安整风运动，确立毛泽东思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想为党的指导思想。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98148" y="3228023"/>
            <a:ext cx="2597658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1942年发动延安整风，1945年中共七大确立</a:t>
            </a: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毛泽东思想。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102918" y="1943100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8274368" y="3762375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4" name="Ellipse 24"/>
          <p:cNvSpPr/>
          <p:nvPr/>
        </p:nvSpPr>
        <p:spPr>
          <a:xfrm>
            <a:off x="8274368" y="2095500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399668" y="2199322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81098" y="2179320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重庆谈判与和平努力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81860" y="2569845"/>
            <a:ext cx="2714054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赴重庆谈判，争取和平建国，同时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做好战争准备。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83384" y="3228023"/>
            <a:ext cx="2644330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1945年8月赴重庆同蒋介石谈判，签订双十协</a:t>
            </a: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定。</a:t>
            </a:r>
          </a:p>
        </p:txBody>
      </p:sp>
      <p:sp>
        <p:nvSpPr>
          <p:cNvPr id="29" name="Rectangle 29"/>
          <p:cNvSpPr/>
          <p:nvPr/>
        </p:nvSpPr>
        <p:spPr>
          <a:xfrm>
            <a:off x="2426018" y="402907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30" name="Line 30"/>
          <p:cNvSpPr/>
          <p:nvPr/>
        </p:nvSpPr>
        <p:spPr>
          <a:xfrm>
            <a:off x="2597468" y="5810250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31" name="Ellipse 31"/>
          <p:cNvSpPr/>
          <p:nvPr/>
        </p:nvSpPr>
        <p:spPr>
          <a:xfrm>
            <a:off x="2597468" y="4181475"/>
            <a:ext cx="342900" cy="3429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722768" y="428529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104198" y="426529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解放战争胜利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104959" y="4655820"/>
            <a:ext cx="2714054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领导三大战役和渡江战役，推翻国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民党统治。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06484" y="5291138"/>
            <a:ext cx="2684336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 xml:space="preserve">1948-1949年指挥辽沈、淮海、平津战役，19 </a:t>
            </a: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49年4月渡江占领南京。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210300" y="402907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37" name="Line 37"/>
          <p:cNvSpPr/>
          <p:nvPr/>
        </p:nvSpPr>
        <p:spPr>
          <a:xfrm>
            <a:off x="6381750" y="5810250"/>
            <a:ext cx="3212782" cy="9525"/>
          </a:xfrm>
          <a:custGeom>
            <a:avLst/>
            <a:gdLst/>
            <a:ahLst/>
            <a:cxnLst/>
            <a:rect l="l" t="t" r="r" b="b"/>
            <a:pathLst>
              <a:path w="3212782" h="9525">
                <a:moveTo>
                  <a:pt x="0" y="0"/>
                </a:moveTo>
                <a:lnTo>
                  <a:pt x="3212782" y="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38" name="Ellipse 38"/>
          <p:cNvSpPr/>
          <p:nvPr/>
        </p:nvSpPr>
        <p:spPr>
          <a:xfrm>
            <a:off x="6381750" y="4181475"/>
            <a:ext cx="342900" cy="3429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507051" y="428529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88480" y="426529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建立新中国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89242" y="4655820"/>
            <a:ext cx="2687050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1949年10月1日宣告中华人民共和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国成立。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90766" y="5291138"/>
            <a:ext cx="24136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在天安门城楼宣告中央人民政府成立。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43" name="Line 4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03 / 06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485002" y="6489859"/>
              <a:ext cx="293599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1938年发表《论持久战》，提倡人民战争与持久战。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231731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新中国奠基人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91331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52657D"/>
                </a:solidFill>
                <a:latin typeface="Arial"/>
                <a:ea typeface="Arial"/>
                <a:cs typeface="Arial"/>
              </a:rPr>
              <a:t>1949-1966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51154" y="243649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建设奠基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5820" y="3321368"/>
            <a:ext cx="3923348" cy="1611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3075"/>
              </a:lnSpc>
            </a:pP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毛泽东领导新中国完成社会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主义改造，奠定工业化基础，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推动两弹一星和外交突破，</a:t>
            </a:r>
            <a:r>
              <a:rPr lang="zh-CN" sz="22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为现代化铺平道路。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80927" y="2115502"/>
            <a:ext cx="96339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E9ECF0"/>
                </a:solidFill>
                <a:latin typeface="Arial"/>
                <a:ea typeface="Arial"/>
                <a:cs typeface="Arial"/>
              </a:rPr>
              <a:t>1953</a:t>
            </a:r>
          </a:p>
        </p:txBody>
      </p:sp>
      <p:sp>
        <p:nvSpPr>
          <p:cNvPr id="12" name="Line 12"/>
          <p:cNvSpPr/>
          <p:nvPr/>
        </p:nvSpPr>
        <p:spPr>
          <a:xfrm>
            <a:off x="6343650" y="1962150"/>
            <a:ext cx="9525" cy="695325"/>
          </a:xfrm>
          <a:custGeom>
            <a:avLst/>
            <a:gdLst/>
            <a:ahLst/>
            <a:cxnLst/>
            <a:rect l="l" t="t" r="r" b="b"/>
            <a:pathLst>
              <a:path w="9525" h="695325">
                <a:moveTo>
                  <a:pt x="0" y="0"/>
                </a:moveTo>
                <a:lnTo>
                  <a:pt x="0" y="695325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6755130" y="2084070"/>
            <a:ext cx="21355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社会主义改造与工业化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755892" y="2474595"/>
            <a:ext cx="440266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完成三大改造，实施一五计划，初步建立工业体系。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80927" y="3172778"/>
            <a:ext cx="96339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E9ECF0"/>
                </a:solidFill>
                <a:latin typeface="Arial"/>
                <a:ea typeface="Arial"/>
                <a:cs typeface="Arial"/>
              </a:rPr>
              <a:t>1955</a:t>
            </a:r>
          </a:p>
        </p:txBody>
      </p:sp>
      <p:sp>
        <p:nvSpPr>
          <p:cNvPr id="16" name="Line 16"/>
          <p:cNvSpPr/>
          <p:nvPr/>
        </p:nvSpPr>
        <p:spPr>
          <a:xfrm>
            <a:off x="6343650" y="3019425"/>
            <a:ext cx="9525" cy="695325"/>
          </a:xfrm>
          <a:custGeom>
            <a:avLst/>
            <a:gdLst/>
            <a:ahLst/>
            <a:cxnLst/>
            <a:rect l="l" t="t" r="r" b="b"/>
            <a:pathLst>
              <a:path w="9525" h="695325">
                <a:moveTo>
                  <a:pt x="0" y="0"/>
                </a:moveTo>
                <a:lnTo>
                  <a:pt x="0" y="695325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755130" y="3141345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两弹一星与国防科技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55892" y="3531870"/>
            <a:ext cx="42118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决策研制核弹、导弹、人造卫星，提升国防实力。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80927" y="4230052"/>
            <a:ext cx="96339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E9ECF0"/>
                </a:solidFill>
                <a:latin typeface="Arial"/>
                <a:ea typeface="Arial"/>
                <a:cs typeface="Arial"/>
              </a:rPr>
              <a:t>1950</a:t>
            </a:r>
          </a:p>
        </p:txBody>
      </p:sp>
      <p:sp>
        <p:nvSpPr>
          <p:cNvPr id="20" name="Line 20"/>
          <p:cNvSpPr/>
          <p:nvPr/>
        </p:nvSpPr>
        <p:spPr>
          <a:xfrm>
            <a:off x="6343650" y="4076700"/>
            <a:ext cx="9525" cy="695325"/>
          </a:xfrm>
          <a:custGeom>
            <a:avLst/>
            <a:gdLst/>
            <a:ahLst/>
            <a:cxnLst/>
            <a:rect l="l" t="t" r="r" b="b"/>
            <a:pathLst>
              <a:path w="9525" h="695325">
                <a:moveTo>
                  <a:pt x="0" y="0"/>
                </a:moveTo>
                <a:lnTo>
                  <a:pt x="0" y="695325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755130" y="41986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扫盲与宪法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55892" y="4589145"/>
            <a:ext cx="421184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大规模扫盲运动，颁布五四宪法，提高国民素质。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80927" y="5287328"/>
            <a:ext cx="96339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E9ECF0"/>
                </a:solidFill>
                <a:latin typeface="Arial"/>
                <a:ea typeface="Arial"/>
                <a:cs typeface="Arial"/>
              </a:rPr>
              <a:t>1970</a:t>
            </a:r>
          </a:p>
        </p:txBody>
      </p:sp>
      <p:sp>
        <p:nvSpPr>
          <p:cNvPr id="24" name="Line 24"/>
          <p:cNvSpPr/>
          <p:nvPr/>
        </p:nvSpPr>
        <p:spPr>
          <a:xfrm>
            <a:off x="6343650" y="5133975"/>
            <a:ext cx="9525" cy="695325"/>
          </a:xfrm>
          <a:custGeom>
            <a:avLst/>
            <a:gdLst/>
            <a:ahLst/>
            <a:cxnLst/>
            <a:rect l="l" t="t" r="r" b="b"/>
            <a:pathLst>
              <a:path w="9525" h="695325">
                <a:moveTo>
                  <a:pt x="0" y="0"/>
                </a:moveTo>
                <a:lnTo>
                  <a:pt x="0" y="695325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755130" y="525589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外交突破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755892" y="5646420"/>
            <a:ext cx="51659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提出三个世界理论，推动中美关系正常化，建立国际新秩序。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04 / 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62924" y="6489859"/>
              <a:ext cx="35801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完成土地改革、社会主义改造、人民公社化运动，推行计划经济。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727873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思想与精神遗产：毛泽东思想、诗词、书法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78284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毛泽东思想是中国革命和建设的理论指南，其诗词和书法展现了深厚的文化底蕴和革命浪漫主义。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43100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94310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274570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毛泽东思想核心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8185" y="2646521"/>
            <a:ext cx="3311842" cy="4105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500"/>
              </a:lnSpc>
            </a:pPr>
            <a:r>
              <a:rPr lang="zh-CN" sz="11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实事求是、群众路线、独立自主，是马列主义中国</a:t>
            </a:r>
            <a:r>
              <a:rPr lang="zh-CN" sz="11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化第一次历史性飞跃。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8566" y="3098482"/>
            <a:ext cx="24419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1945年中共七大确立为党的指导思想。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9138" y="3594259"/>
            <a:ext cx="267500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毛泽东思想是马克思列宁主义在中国独特的运用发展。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17682" y="1943100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317682" y="1943100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500562" y="2274570"/>
            <a:ext cx="14994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新民主主义理论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01324" y="2646045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提出新民主主义革命路线，指导中国革命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走向胜利。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02848" y="3258502"/>
            <a:ext cx="3104388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1940年发表《新民主主义论》，阐明中国革命的性质</a:t>
            </a:r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和前途。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102918" y="1943100"/>
            <a:ext cx="3555682" cy="1895475"/>
          </a:xfrm>
          <a:prstGeom prst="roundRect">
            <a:avLst>
              <a:gd name="adj" fmla="val 3015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8102918" y="1943100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8285798" y="22745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军事哲学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86560" y="2646045"/>
            <a:ext cx="3254121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人民战争、游击战术等军事理论，丰富马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克思主义军事宝库。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88084" y="3258502"/>
            <a:ext cx="326174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《论持久战》《中国革命战争的战略问题》等著作。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426018" y="402907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2426018" y="4029075"/>
            <a:ext cx="3555682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2608898" y="43605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诗词成就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09659" y="4732020"/>
            <a:ext cx="2993088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创作大量经典诗词，如《沁园春·雪》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《七律·长征》，充满革命豪情。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11184" y="5321618"/>
            <a:ext cx="22722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诗词作品被编入《毛泽东诗词集》。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10300" y="4029075"/>
            <a:ext cx="3555682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210300" y="4029075"/>
            <a:ext cx="3555682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393180" y="436054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书法艺术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393942" y="4732020"/>
            <a:ext cx="363936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独创毛体书法，笔势奔放，极具艺术价值。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395466" y="5321618"/>
            <a:ext cx="255498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其书法作品被视为现代书法的重要流派。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3" name="Line 33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05 / 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440578" y="6489859"/>
              <a:ext cx="302484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毛泽东思想是马克思列宁主义在中国独特的运用发展。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4622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历史评价与全球影响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110413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本页核心观点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790700"/>
            <a:ext cx="11125200" cy="1162050"/>
          </a:xfrm>
          <a:prstGeom prst="roundRect">
            <a:avLst>
              <a:gd name="adj" fmla="val 4918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2762250"/>
            <a:ext cx="11125200" cy="19050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963" y="1950244"/>
            <a:ext cx="10821924" cy="7484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2775"/>
              </a:lnSpc>
            </a:pPr>
            <a:r>
              <a:rPr lang="zh-CN" sz="20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毛泽东对中国和世界产生深远影响，其功绩与争议并存，但作为革命领袖和思想家，其历史</a:t>
            </a:r>
            <a:r>
              <a:rPr lang="zh-CN" sz="20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地位不可动摇。</a:t>
            </a:r>
          </a:p>
        </p:txBody>
      </p:sp>
      <p:sp>
        <p:nvSpPr>
          <p:cNvPr id="10" name="Rectangle 10"/>
          <p:cNvSpPr/>
          <p:nvPr/>
        </p:nvSpPr>
        <p:spPr>
          <a:xfrm>
            <a:off x="533400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33400" y="4229100"/>
            <a:ext cx="5457825" cy="323850"/>
          </a:xfrm>
          <a:prstGeom prst="rect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16280" y="33604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全球影响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7042" y="3750945"/>
            <a:ext cx="53567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毛泽东思想影响亚非拉革命运动，三个世界理论塑造国际格局。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138" y="4308634"/>
            <a:ext cx="356349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毛泽东的一生对中国乃至全球影响深远，其思想亦被毛主义者广泛传播。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00775" y="31242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6372225" y="44577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383655" y="336042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正面评价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84417" y="3750945"/>
            <a:ext cx="5234369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领导中国革命胜利，建立新中国，奠定现代化基础，被尊为伟大领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袖。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33400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704850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16280" y="496062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争议与反思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7042" y="5351145"/>
            <a:ext cx="53567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晚年发动大跃进、文革等运动，造成严重损失，评价两极分化。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00775" y="4724400"/>
            <a:ext cx="5457825" cy="1428750"/>
          </a:xfrm>
          <a:prstGeom prst="roundRect">
            <a:avLst>
              <a:gd name="adj" fmla="val 4000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6372225" y="6057900"/>
            <a:ext cx="5114925" cy="9525"/>
          </a:xfrm>
          <a:custGeom>
            <a:avLst/>
            <a:gdLst/>
            <a:ahLst/>
            <a:cxnLst/>
            <a:rect l="l" t="t" r="r" b="b"/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383655" y="49606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历史遗产延续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84417" y="5351145"/>
            <a:ext cx="5234369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毛泽东思想仍是中国共产党的指导思想，其哲学、军事、文化影响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持续。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06 / 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96332" y="6489859"/>
              <a:ext cx="39133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依据 · 毛泽东的一生对中国乃至全球影响深远，其思想亦被毛主义者广泛传播。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2026-07-10T16:26:22Z</dcterms:created>
  <dcterms:modified xsi:type="dcterms:W3CDTF">2026-07-10T16:26:22Z</dcterms:modified>
  <cp:category/>
  <cp:contentStatus/>
</cp:coreProperties>
</file>