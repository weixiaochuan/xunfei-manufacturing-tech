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开场介绍北理工的独特历史地位：延安自然科学院出身，参与国家重大国防项目数量全国第一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展示北理工的学科实力：6个A+学科，连续三年获国家技术发明一等奖，科研经费投入稳居全国前列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总结北理工的未来布局和人才培养成果，强调人形机器人和人工智能领域的先发优势，以及极高的家长满意度和教学成果奖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5400000" scaled="1"/>
          </a:gra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0" y="-2286000"/>
            <a:ext cx="12192000" cy="11430000"/>
            <a:chOff x="0" y="-2286000"/>
            <a:chExt cx="12192000" cy="11430000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3429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0" y="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0" y="3429000"/>
                  </a:moveTo>
                  <a:lnTo>
                    <a:pt x="6096000" y="0"/>
                  </a:lnTo>
                </a:path>
              </a:pathLst>
            </a:cu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342900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0" y="0"/>
                  </a:moveTo>
                  <a:lnTo>
                    <a:pt x="6096000" y="3429000"/>
                  </a:lnTo>
                </a:path>
              </a:pathLst>
            </a:cu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4290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609600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34290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0" y="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3429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3429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143500" y="2476500"/>
              <a:ext cx="1905000" cy="1905000"/>
            </a:xfrm>
            <a:prstGeom prst="ellipse">
              <a:avLst/>
            </a:pr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4191000" y="1524000"/>
              <a:ext cx="3810000" cy="3810000"/>
            </a:xfrm>
            <a:prstGeom prst="ellipse">
              <a:avLst/>
            </a:pr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238500" y="571500"/>
              <a:ext cx="5715000" cy="5715000"/>
            </a:xfrm>
            <a:prstGeom prst="ellipse">
              <a:avLst/>
            </a:pr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286000" y="-381000"/>
              <a:ext cx="7620000" cy="7620000"/>
            </a:xfrm>
            <a:prstGeom prst="ellipse">
              <a:avLst/>
            </a:pr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333500" y="-1333500"/>
              <a:ext cx="9525000" cy="9525000"/>
            </a:xfrm>
            <a:prstGeom prst="ellipse">
              <a:avLst/>
            </a:pr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81000" y="-2286000"/>
              <a:ext cx="11430000" cy="11430000"/>
            </a:xfrm>
            <a:prstGeom prst="ellipse">
              <a:avLst/>
            </a:prstGeom>
            <a:noFill/>
            <a:ln w="9525">
              <a:solidFill>
                <a:srgbClr val="2563EB">
                  <a:alpha val="8000"/>
                </a:srgbClr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0" y="2222500"/>
            <a:ext cx="12192000" cy="4635500"/>
            <a:chOff x="0" y="2222500"/>
            <a:chExt cx="12192000" cy="4635500"/>
          </a:xfrm>
        </p:grpSpPr>
        <p:sp>
          <p:nvSpPr>
            <p:cNvPr id="18" name="Freeform 18"/>
            <p:cNvSpPr/>
            <p:nvPr/>
          </p:nvSpPr>
          <p:spPr>
            <a:xfrm>
              <a:off x="0" y="2222500"/>
              <a:ext cx="12192000" cy="3651250"/>
            </a:xfrm>
            <a:custGeom>
              <a:avLst/>
              <a:gdLst/>
              <a:ahLst/>
              <a:cxnLst/>
              <a:rect l="l" t="t" r="r" b="b"/>
              <a:pathLst>
                <a:path w="12192000" h="3651250">
                  <a:moveTo>
                    <a:pt x="0" y="3492500"/>
                  </a:moveTo>
                  <a:cubicBezTo>
                    <a:pt x="1270000" y="2540000"/>
                    <a:pt x="2540000" y="2381250"/>
                    <a:pt x="3810000" y="3016250"/>
                  </a:cubicBezTo>
                  <a:cubicBezTo>
                    <a:pt x="5080000" y="3651250"/>
                    <a:pt x="6350000" y="3175000"/>
                    <a:pt x="7620000" y="1587500"/>
                  </a:cubicBezTo>
                  <a:cubicBezTo>
                    <a:pt x="8890000" y="0"/>
                    <a:pt x="10414000" y="317500"/>
                    <a:pt x="12192000" y="2540000"/>
                  </a:cubicBezTo>
                </a:path>
              </a:pathLst>
            </a:custGeom>
            <a:noFill/>
            <a:ln w="19050" cap="rnd">
              <a:solidFill>
                <a:srgbClr val="BDD7FF">
                  <a:alpha val="40000"/>
                </a:srgbClr>
              </a:solidFill>
              <a:round/>
            </a:ln>
          </p:spPr>
        </p:sp>
        <p:sp>
          <p:nvSpPr>
            <p:cNvPr id="19" name="Freeform 19"/>
            <p:cNvSpPr/>
            <p:nvPr/>
          </p:nvSpPr>
          <p:spPr>
            <a:xfrm>
              <a:off x="0" y="5238750"/>
              <a:ext cx="12192000" cy="952500"/>
            </a:xfrm>
            <a:custGeom>
              <a:avLst/>
              <a:gdLst/>
              <a:ahLst/>
              <a:cxnLst/>
              <a:rect l="l" t="t" r="r" b="b"/>
              <a:pathLst>
                <a:path w="12192000" h="952500">
                  <a:moveTo>
                    <a:pt x="0" y="952500"/>
                  </a:moveTo>
                  <a:cubicBezTo>
                    <a:pt x="1905000" y="317500"/>
                    <a:pt x="3810000" y="158750"/>
                    <a:pt x="5715000" y="476250"/>
                  </a:cubicBezTo>
                  <a:cubicBezTo>
                    <a:pt x="7620000" y="793750"/>
                    <a:pt x="9779000" y="635000"/>
                    <a:pt x="12192000" y="0"/>
                  </a:cubicBezTo>
                </a:path>
              </a:pathLst>
            </a:custGeom>
            <a:noFill/>
            <a:ln w="38100" cap="rnd">
              <a:solidFill>
                <a:srgbClr val="BDD7FF">
                  <a:alpha val="20000"/>
                </a:srgbClr>
              </a:solidFill>
              <a:round/>
            </a:ln>
          </p:spPr>
        </p:sp>
        <p:sp>
          <p:nvSpPr>
            <p:cNvPr id="20" name="Freeform 20"/>
            <p:cNvSpPr/>
            <p:nvPr/>
          </p:nvSpPr>
          <p:spPr>
            <a:xfrm>
              <a:off x="1905000" y="5397500"/>
              <a:ext cx="10287000" cy="1460500"/>
            </a:xfrm>
            <a:custGeom>
              <a:avLst/>
              <a:gdLst/>
              <a:ahLst/>
              <a:cxnLst/>
              <a:rect l="l" t="t" r="r" b="b"/>
              <a:pathLst>
                <a:path w="10287000" h="1460500">
                  <a:moveTo>
                    <a:pt x="0" y="1460500"/>
                  </a:moveTo>
                  <a:cubicBezTo>
                    <a:pt x="2540000" y="381000"/>
                    <a:pt x="4762500" y="0"/>
                    <a:pt x="6667500" y="317500"/>
                  </a:cubicBezTo>
                  <a:cubicBezTo>
                    <a:pt x="8572500" y="635000"/>
                    <a:pt x="9779000" y="793750"/>
                    <a:pt x="10287000" y="793750"/>
                  </a:cubicBezTo>
                </a:path>
              </a:pathLst>
            </a:custGeom>
            <a:noFill/>
            <a:ln w="57150" cap="rnd">
              <a:solidFill>
                <a:srgbClr val="2563EB">
                  <a:alpha val="10000"/>
                </a:srgbClr>
              </a:solidFill>
              <a:round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8096250" y="2333625"/>
            <a:ext cx="3810000" cy="2905125"/>
            <a:chOff x="8096250" y="2333625"/>
            <a:chExt cx="3810000" cy="2905125"/>
          </a:xfrm>
        </p:grpSpPr>
        <p:sp>
          <p:nvSpPr>
            <p:cNvPr id="22" name="Freeform 22"/>
            <p:cNvSpPr/>
            <p:nvPr/>
          </p:nvSpPr>
          <p:spPr>
            <a:xfrm>
              <a:off x="8096250" y="2857500"/>
              <a:ext cx="3333750" cy="2381250"/>
            </a:xfrm>
            <a:custGeom>
              <a:avLst/>
              <a:gdLst/>
              <a:ahLst/>
              <a:cxnLst/>
              <a:rect l="l" t="t" r="r" b="b"/>
              <a:pathLst>
                <a:path w="3333750" h="2381250">
                  <a:moveTo>
                    <a:pt x="0" y="2381250"/>
                  </a:moveTo>
                  <a:cubicBezTo>
                    <a:pt x="635000" y="1111250"/>
                    <a:pt x="1270000" y="635000"/>
                    <a:pt x="1905000" y="952500"/>
                  </a:cubicBezTo>
                  <a:cubicBezTo>
                    <a:pt x="2540000" y="1270000"/>
                    <a:pt x="3016250" y="952500"/>
                    <a:pt x="3333750" y="0"/>
                  </a:cubicBezTo>
                </a:path>
              </a:pathLst>
            </a:custGeom>
            <a:noFill/>
            <a:ln w="19050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572500" y="3873500"/>
              <a:ext cx="3333750" cy="1365250"/>
            </a:xfrm>
            <a:custGeom>
              <a:avLst/>
              <a:gdLst/>
              <a:ahLst/>
              <a:cxnLst/>
              <a:rect l="l" t="t" r="r" b="b"/>
              <a:pathLst>
                <a:path w="3333750" h="1365250">
                  <a:moveTo>
                    <a:pt x="0" y="1365250"/>
                  </a:moveTo>
                  <a:cubicBezTo>
                    <a:pt x="635000" y="730250"/>
                    <a:pt x="1270000" y="508000"/>
                    <a:pt x="1905000" y="698500"/>
                  </a:cubicBezTo>
                  <a:cubicBezTo>
                    <a:pt x="2413000" y="190500"/>
                    <a:pt x="2889250" y="0"/>
                    <a:pt x="3333750" y="127000"/>
                  </a:cubicBezTo>
                </a:path>
              </a:pathLst>
            </a:custGeom>
            <a:noFill/>
            <a:ln w="14288">
              <a:solidFill>
                <a:srgbClr val="38BDF8">
                  <a:alpha val="50000"/>
                </a:srgbClr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334500" y="2952750"/>
              <a:ext cx="523875" cy="1143000"/>
            </a:xfrm>
            <a:custGeom>
              <a:avLst/>
              <a:gdLst/>
              <a:ahLst/>
              <a:cxnLst/>
              <a:rect l="l" t="t" r="r" b="b"/>
              <a:pathLst>
                <a:path w="523875" h="1143000">
                  <a:moveTo>
                    <a:pt x="0" y="1143000"/>
                  </a:moveTo>
                  <a:lnTo>
                    <a:pt x="381000" y="1143000"/>
                  </a:lnTo>
                  <a:lnTo>
                    <a:pt x="381000" y="857250"/>
                  </a:lnTo>
                  <a:lnTo>
                    <a:pt x="238125" y="857250"/>
                  </a:lnTo>
                  <a:lnTo>
                    <a:pt x="238125" y="571500"/>
                  </a:lnTo>
                  <a:lnTo>
                    <a:pt x="333375" y="571500"/>
                  </a:lnTo>
                  <a:lnTo>
                    <a:pt x="333375" y="285750"/>
                  </a:lnTo>
                  <a:lnTo>
                    <a:pt x="238125" y="285750"/>
                  </a:lnTo>
                  <a:lnTo>
                    <a:pt x="238125" y="0"/>
                  </a:lnTo>
                  <a:lnTo>
                    <a:pt x="333375" y="0"/>
                  </a:lnTo>
                  <a:lnTo>
                    <a:pt x="333375" y="285750"/>
                  </a:lnTo>
                  <a:lnTo>
                    <a:pt x="428625" y="285750"/>
                  </a:lnTo>
                  <a:lnTo>
                    <a:pt x="428625" y="571500"/>
                  </a:lnTo>
                  <a:lnTo>
                    <a:pt x="523875" y="571500"/>
                  </a:lnTo>
                  <a:lnTo>
                    <a:pt x="523875" y="857250"/>
                  </a:lnTo>
                  <a:lnTo>
                    <a:pt x="381000" y="857250"/>
                  </a:lnTo>
                  <a:lnTo>
                    <a:pt x="381000" y="1143000"/>
                  </a:lnTo>
                </a:path>
              </a:pathLst>
            </a:custGeom>
            <a:noFill/>
            <a:ln w="19050">
              <a:solidFill>
                <a:srgbClr val="2563EB">
                  <a:alpha val="60000"/>
                </a:srgbClr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286875" y="2333625"/>
              <a:ext cx="666750" cy="666750"/>
            </a:xfrm>
            <a:prstGeom prst="ellipse">
              <a:avLst/>
            </a:prstGeom>
            <a:noFill/>
            <a:ln w="19050">
              <a:solidFill>
                <a:srgbClr val="38BDF8">
                  <a:alpha val="80000"/>
                </a:srgbClr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382125" y="2428875"/>
              <a:ext cx="476250" cy="476250"/>
            </a:xfrm>
            <a:prstGeom prst="ellipse">
              <a:avLst/>
            </a:prstGeom>
            <a:noFill/>
            <a:ln w="38100">
              <a:solidFill>
                <a:srgbClr val="2563EB">
                  <a:alpha val="40000"/>
                </a:srgbClr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477375" y="2524125"/>
              <a:ext cx="285750" cy="285750"/>
            </a:xfrm>
            <a:prstGeom prst="ellipse">
              <a:avLst/>
            </a:prstGeom>
            <a:solidFill>
              <a:srgbClr val="38BDF8">
                <a:alpha val="30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715500" y="3683000"/>
              <a:ext cx="1238250" cy="412750"/>
            </a:xfrm>
            <a:custGeom>
              <a:avLst/>
              <a:gdLst/>
              <a:ahLst/>
              <a:cxnLst/>
              <a:rect l="l" t="t" r="r" b="b"/>
              <a:pathLst>
                <a:path w="1238250" h="412750">
                  <a:moveTo>
                    <a:pt x="0" y="412750"/>
                  </a:moveTo>
                  <a:cubicBezTo>
                    <a:pt x="381000" y="95250"/>
                    <a:pt x="793750" y="0"/>
                    <a:pt x="1238250" y="127000"/>
                  </a:cubicBezTo>
                </a:path>
              </a:pathLst>
            </a:custGeom>
            <a:noFill/>
            <a:ln w="19050">
              <a:solidFill>
                <a:srgbClr val="38BDF8">
                  <a:alpha val="70000"/>
                </a:srgbClr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915650" y="377190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572500" y="2698750"/>
              <a:ext cx="1000125" cy="254000"/>
            </a:xfrm>
            <a:custGeom>
              <a:avLst/>
              <a:gdLst/>
              <a:ahLst/>
              <a:cxnLst/>
              <a:rect l="l" t="t" r="r" b="b"/>
              <a:pathLst>
                <a:path w="1000125" h="254000">
                  <a:moveTo>
                    <a:pt x="1000125" y="254000"/>
                  </a:moveTo>
                  <a:cubicBezTo>
                    <a:pt x="650875" y="63500"/>
                    <a:pt x="317500" y="0"/>
                    <a:pt x="0" y="63500"/>
                  </a:cubicBezTo>
                </a:path>
              </a:pathLst>
            </a:custGeom>
            <a:noFill/>
            <a:ln w="19050">
              <a:solidFill>
                <a:srgbClr val="38BDF8">
                  <a:alpha val="70000"/>
                </a:srgbClr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534400" y="272415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857250" y="857250"/>
            <a:ext cx="10668000" cy="5619750"/>
            <a:chOff x="857250" y="857250"/>
            <a:chExt cx="10668000" cy="5619750"/>
          </a:xfrm>
        </p:grpSpPr>
        <p:sp>
          <p:nvSpPr>
            <p:cNvPr id="33" name="Ellipse 33"/>
            <p:cNvSpPr/>
            <p:nvPr/>
          </p:nvSpPr>
          <p:spPr>
            <a:xfrm>
              <a:off x="857250" y="857250"/>
              <a:ext cx="1143000" cy="1143000"/>
            </a:xfrm>
            <a:prstGeom prst="ellipse">
              <a:avLst/>
            </a:prstGeom>
            <a:noFill/>
            <a:ln w="9525">
              <a:solidFill>
                <a:srgbClr val="2563EB">
                  <a:alpha val="20000"/>
                </a:srgbClr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47750" y="1047750"/>
              <a:ext cx="762000" cy="762000"/>
            </a:xfrm>
            <a:prstGeom prst="ellipse">
              <a:avLst/>
            </a:prstGeom>
            <a:noFill/>
            <a:ln w="19050">
              <a:solidFill>
                <a:srgbClr val="38BDF8">
                  <a:alpha val="40000"/>
                </a:srgbClr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1238250" y="1238250"/>
              <a:ext cx="381000" cy="381000"/>
            </a:xfrm>
            <a:prstGeom prst="ellipse">
              <a:avLst/>
            </a:prstGeom>
            <a:solidFill>
              <a:srgbClr val="38BDF8">
                <a:alpha val="10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047750" y="10477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762000" y="381000"/>
                  </a:lnTo>
                  <a:moveTo>
                    <a:pt x="381000" y="0"/>
                  </a:moveTo>
                  <a:lnTo>
                    <a:pt x="381000" y="762000"/>
                  </a:lnTo>
                </a:path>
              </a:pathLst>
            </a:custGeom>
            <a:solidFill>
              <a:srgbClr val="000000">
                <a:alpha val="40000"/>
              </a:srgbClr>
            </a:solidFill>
            <a:ln w="9525">
              <a:solidFill>
                <a:srgbClr val="2563EB">
                  <a:alpha val="40000"/>
                </a:srgbClr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001250" y="4953000"/>
              <a:ext cx="1524000" cy="1524000"/>
            </a:xfrm>
            <a:prstGeom prst="ellipse">
              <a:avLst/>
            </a:prstGeom>
            <a:noFill/>
            <a:ln w="9525">
              <a:solidFill>
                <a:srgbClr val="2563EB">
                  <a:alpha val="20000"/>
                </a:srgbClr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0287000" y="5238750"/>
              <a:ext cx="952500" cy="952500"/>
            </a:xfrm>
            <a:prstGeom prst="ellipse">
              <a:avLst/>
            </a:prstGeom>
            <a:noFill/>
            <a:ln w="19050">
              <a:solidFill>
                <a:srgbClr val="38BDF8">
                  <a:alpha val="30000"/>
                </a:srgbClr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0525125" y="5476875"/>
              <a:ext cx="476250" cy="476250"/>
            </a:xfrm>
            <a:prstGeom prst="ellipse">
              <a:avLst/>
            </a:prstGeom>
            <a:solidFill>
              <a:srgbClr val="2563EB">
                <a:alpha val="8000"/>
              </a:srgbClr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001250" y="495300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762000"/>
                  </a:moveTo>
                  <a:lnTo>
                    <a:pt x="1524000" y="762000"/>
                  </a:lnTo>
                  <a:moveTo>
                    <a:pt x="762000" y="0"/>
                  </a:moveTo>
                  <a:lnTo>
                    <a:pt x="762000" y="1524000"/>
                  </a:lnTo>
                </a:path>
              </a:pathLst>
            </a:custGeom>
            <a:solidFill>
              <a:srgbClr val="000000">
                <a:alpha val="30000"/>
              </a:srgbClr>
            </a:solidFill>
            <a:ln w="9525">
              <a:solidFill>
                <a:srgbClr val="38BDF8">
                  <a:alpha val="30000"/>
                </a:srgbClr>
              </a:solidFill>
            </a:ln>
          </p:spPr>
        </p:sp>
      </p:grpSp>
      <p:sp>
        <p:nvSpPr>
          <p:cNvPr id="42" name="Ellipse 42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gradFill>
            <a:gsLst>
              <a:gs pos="0">
                <a:srgbClr val="2563EB">
                  <a:alpha val="15000"/>
                </a:srgbClr>
              </a:gs>
              <a:gs pos="50000">
                <a:srgbClr val="2563EB">
                  <a:alpha val="5000"/>
                </a:srgbClr>
              </a:gs>
              <a:gs pos="100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5619750" y="266700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19050" y="0"/>
                </a:moveTo>
                <a:lnTo>
                  <a:pt x="933450" y="0"/>
                </a:lnTo>
                <a:cubicBezTo>
                  <a:pt x="943971" y="0"/>
                  <a:pt x="952500" y="8529"/>
                  <a:pt x="952500" y="19050"/>
                </a:cubicBezTo>
                <a:lnTo>
                  <a:pt x="952500" y="19050"/>
                </a:lnTo>
                <a:cubicBezTo>
                  <a:pt x="952500" y="29571"/>
                  <a:pt x="943971" y="38100"/>
                  <a:pt x="933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5619750" y="2762250"/>
            <a:ext cx="571500" cy="19050"/>
          </a:xfrm>
          <a:custGeom>
            <a:avLst/>
            <a:gdLst/>
            <a:ahLst/>
            <a:cxnLst/>
            <a:rect l="l" t="t" r="r" b="b"/>
            <a:pathLst>
              <a:path w="571500" h="19050">
                <a:moveTo>
                  <a:pt x="9525" y="0"/>
                </a:moveTo>
                <a:lnTo>
                  <a:pt x="561975" y="0"/>
                </a:lnTo>
                <a:cubicBezTo>
                  <a:pt x="567236" y="0"/>
                  <a:pt x="571500" y="4264"/>
                  <a:pt x="571500" y="9525"/>
                </a:cubicBezTo>
                <a:lnTo>
                  <a:pt x="571500" y="9525"/>
                </a:lnTo>
                <a:cubicBezTo>
                  <a:pt x="571500" y="14786"/>
                  <a:pt x="567236" y="19050"/>
                  <a:pt x="561975" y="19050"/>
                </a:cubicBezTo>
                <a:lnTo>
                  <a:pt x="9525" y="19050"/>
                </a:lnTo>
                <a:cubicBezTo>
                  <a:pt x="4264" y="19050"/>
                  <a:pt x="0" y="14786"/>
                  <a:pt x="0" y="9525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38BDF8">
              <a:alpha val="6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899777" y="3041332"/>
            <a:ext cx="639244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spc="15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北理工为什么是最好的985大学</a:t>
            </a:r>
            <a:endParaRPr lang="zh-CN" sz="3150" b="1" spc="150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3340846" y="3805238"/>
            <a:ext cx="551030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spc="75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唯一延安出身·国防参与度全国高校第一</a:t>
            </a:r>
            <a:endParaRPr lang="zh-CN" sz="2250" spc="75" dirty="0">
              <a:solidFill>
                <a:srgbClr val="5263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Freeform 47"/>
          <p:cNvSpPr/>
          <p:nvPr/>
        </p:nvSpPr>
        <p:spPr>
          <a:xfrm>
            <a:off x="5143500" y="4572000"/>
            <a:ext cx="1905000" cy="38100"/>
          </a:xfrm>
          <a:custGeom>
            <a:avLst/>
            <a:gdLst/>
            <a:ahLst/>
            <a:cxnLst/>
            <a:rect l="l" t="t" r="r" b="b"/>
            <a:pathLst>
              <a:path w="1905000" h="38100">
                <a:moveTo>
                  <a:pt x="19050" y="0"/>
                </a:moveTo>
                <a:lnTo>
                  <a:pt x="1885950" y="0"/>
                </a:lnTo>
                <a:cubicBezTo>
                  <a:pt x="1896471" y="0"/>
                  <a:pt x="1905000" y="8529"/>
                  <a:pt x="1905000" y="19050"/>
                </a:cubicBezTo>
                <a:lnTo>
                  <a:pt x="1905000" y="19050"/>
                </a:lnTo>
                <a:cubicBezTo>
                  <a:pt x="1905000" y="29571"/>
                  <a:pt x="1896471" y="38100"/>
                  <a:pt x="1885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563EB">
              <a:alpha val="80000"/>
            </a:srgbClr>
          </a:solidFill>
          <a:ln>
            <a:noFill/>
          </a:ln>
        </p:spPr>
      </p:sp>
      <p:sp>
        <p:nvSpPr>
          <p:cNvPr id="48" name="Freeform 48"/>
          <p:cNvSpPr/>
          <p:nvPr/>
        </p:nvSpPr>
        <p:spPr>
          <a:xfrm>
            <a:off x="5619750" y="4667250"/>
            <a:ext cx="952500" cy="19050"/>
          </a:xfrm>
          <a:custGeom>
            <a:avLst/>
            <a:gdLst/>
            <a:ahLst/>
            <a:cxnLst/>
            <a:rect l="l" t="t" r="r" b="b"/>
            <a:pathLst>
              <a:path w="952500" h="19050">
                <a:moveTo>
                  <a:pt x="9525" y="0"/>
                </a:moveTo>
                <a:lnTo>
                  <a:pt x="942975" y="0"/>
                </a:lnTo>
                <a:cubicBezTo>
                  <a:pt x="948236" y="0"/>
                  <a:pt x="952500" y="4264"/>
                  <a:pt x="952500" y="9525"/>
                </a:cubicBezTo>
                <a:lnTo>
                  <a:pt x="952500" y="9525"/>
                </a:lnTo>
                <a:cubicBezTo>
                  <a:pt x="952500" y="14786"/>
                  <a:pt x="948236" y="19050"/>
                  <a:pt x="942975" y="19050"/>
                </a:cubicBezTo>
                <a:lnTo>
                  <a:pt x="9525" y="19050"/>
                </a:lnTo>
                <a:cubicBezTo>
                  <a:pt x="4264" y="19050"/>
                  <a:pt x="0" y="14786"/>
                  <a:pt x="0" y="9525"/>
                </a:cubicBezTo>
                <a:lnTo>
                  <a:pt x="0" y="9525"/>
                </a:lnTo>
                <a:cubicBezTo>
                  <a:pt x="0" y="4264"/>
                  <a:pt x="4264" y="0"/>
                  <a:pt x="9525" y="0"/>
                </a:cubicBezTo>
                <a:close/>
              </a:path>
            </a:pathLst>
          </a:custGeom>
          <a:solidFill>
            <a:srgbClr val="38BDF8">
              <a:alpha val="50000"/>
            </a:srgbClr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5086350" y="4533900"/>
            <a:ext cx="114300" cy="1143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6991350" y="4533900"/>
            <a:ext cx="114300" cy="1143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6057900" y="455295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66166" y="6363652"/>
            <a:ext cx="11626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DD7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北理工 · 科技强校</a:t>
            </a:r>
            <a:endParaRPr lang="zh-CN" sz="1050" dirty="0">
              <a:solidFill>
                <a:srgbClr val="BDD7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141640" y="63636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BDD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 / 03</a:t>
            </a:r>
            <a:endParaRPr lang="en-US" sz="1050" dirty="0">
              <a:solidFill>
                <a:srgbClr val="BDD7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4" name="Freeform 54"/>
          <p:cNvSpPr/>
          <p:nvPr/>
        </p:nvSpPr>
        <p:spPr>
          <a:xfrm>
            <a:off x="0" y="6667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90500"/>
                </a:moveTo>
                <a:lnTo>
                  <a:pt x="190500" y="190500"/>
                </a:lnTo>
                <a:lnTo>
                  <a:pt x="190500" y="0"/>
                </a:lnTo>
                <a:close/>
              </a:path>
            </a:pathLst>
          </a:cu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55" name="Freeform 55"/>
          <p:cNvSpPr/>
          <p:nvPr/>
        </p:nvSpPr>
        <p:spPr>
          <a:xfrm>
            <a:off x="12001500" y="6667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90500"/>
                </a:moveTo>
                <a:lnTo>
                  <a:pt x="190500" y="190500"/>
                </a:lnTo>
                <a:lnTo>
                  <a:pt x="190500" y="0"/>
                </a:lnTo>
                <a:close/>
              </a:path>
            </a:pathLst>
          </a:custGeom>
          <a:solidFill>
            <a:srgbClr val="2563EB">
              <a:alpha val="20000"/>
            </a:srgbClr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733425" y="438150"/>
            <a:ext cx="10744200" cy="5791200"/>
            <a:chOff x="733425" y="438150"/>
            <a:chExt cx="10744200" cy="5791200"/>
          </a:xfrm>
        </p:grpSpPr>
        <p:sp>
          <p:nvSpPr>
            <p:cNvPr id="3" name="Line 3"/>
            <p:cNvSpPr/>
            <p:nvPr/>
          </p:nvSpPr>
          <p:spPr>
            <a:xfrm>
              <a:off x="762000" y="1428750"/>
              <a:ext cx="666750" cy="4286250"/>
            </a:xfrm>
            <a:custGeom>
              <a:avLst/>
              <a:gdLst/>
              <a:ahLst/>
              <a:cxnLst/>
              <a:rect l="l" t="t" r="r" b="b"/>
              <a:pathLst>
                <a:path w="666750" h="4286250">
                  <a:moveTo>
                    <a:pt x="0" y="0"/>
                  </a:moveTo>
                  <a:lnTo>
                    <a:pt x="666750" y="4286250"/>
                  </a:lnTo>
                </a:path>
              </a:pathLst>
            </a:custGeom>
            <a:noFill/>
            <a:ln w="9525">
              <a:solidFill>
                <a:srgbClr val="BDD7FF">
                  <a:alpha val="3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0477500" y="1905000"/>
              <a:ext cx="952500" cy="4286250"/>
            </a:xfrm>
            <a:custGeom>
              <a:avLst/>
              <a:gdLst/>
              <a:ahLst/>
              <a:cxnLst/>
              <a:rect l="l" t="t" r="r" b="b"/>
              <a:pathLst>
                <a:path w="952500" h="4286250">
                  <a:moveTo>
                    <a:pt x="952500" y="0"/>
                  </a:moveTo>
                  <a:lnTo>
                    <a:pt x="0" y="4286250"/>
                  </a:lnTo>
                </a:path>
              </a:pathLst>
            </a:custGeom>
            <a:noFill/>
            <a:ln w="9525">
              <a:solidFill>
                <a:srgbClr val="BDD7FF">
                  <a:alpha val="30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733425" y="1400175"/>
              <a:ext cx="57150" cy="57150"/>
            </a:xfrm>
            <a:prstGeom prst="ellipse">
              <a:avLst/>
            </a:prstGeom>
            <a:solidFill>
              <a:srgbClr val="38BDF8">
                <a:alpha val="40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1382375" y="1857375"/>
              <a:ext cx="95250" cy="95250"/>
            </a:xfrm>
            <a:prstGeom prst="ellipse">
              <a:avLst/>
            </a:prstGeom>
            <a:solidFill>
              <a:srgbClr val="7C3AED">
                <a:alpha val="3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439400" y="6153150"/>
              <a:ext cx="76200" cy="76200"/>
            </a:xfrm>
            <a:prstGeom prst="ellipse">
              <a:avLst/>
            </a:prstGeom>
            <a:solidFill>
              <a:srgbClr val="2563EB">
                <a:alpha val="4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371600" y="5657850"/>
              <a:ext cx="114300" cy="114300"/>
            </a:xfrm>
            <a:prstGeom prst="ellipse">
              <a:avLst/>
            </a:prstGeom>
            <a:solidFill>
              <a:srgbClr val="38BDF8">
                <a:alpha val="2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6057900" y="438150"/>
              <a:ext cx="76200" cy="76200"/>
            </a:xfrm>
            <a:prstGeom prst="ellipse">
              <a:avLst/>
            </a:prstGeom>
            <a:solidFill>
              <a:srgbClr val="BDD7FF">
                <a:alpha val="60000"/>
              </a:srgbClr>
            </a:solidFill>
            <a:ln>
              <a:noFill/>
            </a:ln>
          </p:spPr>
        </p:sp>
      </p:grpSp>
      <p:sp>
        <p:nvSpPr>
          <p:cNvPr id="11" name="Rectangle 1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>
              <a:alpha val="80000"/>
            </a:srgbClr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3646265" y="326708"/>
            <a:ext cx="7979569" cy="1140142"/>
            <a:chOff x="3646265" y="326708"/>
            <a:chExt cx="7979569" cy="1140142"/>
          </a:xfrm>
        </p:grpSpPr>
        <p:sp>
          <p:nvSpPr>
            <p:cNvPr id="12" name="TextBox 12"/>
            <p:cNvSpPr txBox="1"/>
            <p:nvPr/>
          </p:nvSpPr>
          <p:spPr>
            <a:xfrm>
              <a:off x="4176530" y="326708"/>
              <a:ext cx="38389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王牌学科·硬核奖项</a:t>
              </a:r>
              <a:endParaRPr lang="zh-CN" sz="31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46265" y="900112"/>
              <a:ext cx="48994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6个顶尖学科·连续三年国家奖一等奖</a:t>
              </a:r>
              <a:endParaRPr lang="zh-CN" sz="22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524500" y="1428750"/>
              <a:ext cx="1143000" cy="38100"/>
            </a:xfrm>
            <a:custGeom>
              <a:avLst/>
              <a:gdLst/>
              <a:ahLst/>
              <a:cxnLst/>
              <a:rect l="l" t="t" r="r" b="b"/>
              <a:pathLst>
                <a:path w="1143000" h="38100">
                  <a:moveTo>
                    <a:pt x="19050" y="0"/>
                  </a:moveTo>
                  <a:lnTo>
                    <a:pt x="1123950" y="0"/>
                  </a:lnTo>
                  <a:cubicBezTo>
                    <a:pt x="1134471" y="0"/>
                    <a:pt x="1143000" y="8529"/>
                    <a:pt x="1143000" y="19050"/>
                  </a:cubicBezTo>
                  <a:lnTo>
                    <a:pt x="1143000" y="19050"/>
                  </a:lnTo>
                  <a:cubicBezTo>
                    <a:pt x="1143000" y="29571"/>
                    <a:pt x="1134471" y="38100"/>
                    <a:pt x="1123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41640" y="458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DD7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 / 03</a:t>
              </a:r>
              <a:endParaRPr lang="en-US" sz="1050" dirty="0">
                <a:solidFill>
                  <a:srgbClr val="BDD7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190875" y="1873250"/>
            <a:ext cx="5810250" cy="889000"/>
            <a:chOff x="3190875" y="1873250"/>
            <a:chExt cx="5810250" cy="889000"/>
          </a:xfrm>
        </p:grpSpPr>
        <p:sp>
          <p:nvSpPr>
            <p:cNvPr id="17" name="Freeform 17"/>
            <p:cNvSpPr/>
            <p:nvPr/>
          </p:nvSpPr>
          <p:spPr>
            <a:xfrm>
              <a:off x="3190875" y="1873250"/>
              <a:ext cx="2000250" cy="889000"/>
            </a:xfrm>
            <a:custGeom>
              <a:avLst/>
              <a:gdLst/>
              <a:ahLst/>
              <a:cxnLst/>
              <a:rect l="l" t="t" r="r" b="b"/>
              <a:pathLst>
                <a:path w="2000250" h="889000">
                  <a:moveTo>
                    <a:pt x="0" y="889000"/>
                  </a:moveTo>
                  <a:cubicBezTo>
                    <a:pt x="920750" y="0"/>
                    <a:pt x="1587500" y="0"/>
                    <a:pt x="2000250" y="889000"/>
                  </a:cubicBezTo>
                </a:path>
              </a:pathLst>
            </a:custGeom>
            <a:noFill/>
            <a:ln w="19050">
              <a:solidFill>
                <a:srgbClr val="BDD7FF">
                  <a:alpha val="80000"/>
                </a:srgbClr>
              </a:solidFill>
              <a:custDash>
                <a:ds d="300000" sp="20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7000875" y="1873250"/>
              <a:ext cx="2000250" cy="889000"/>
            </a:xfrm>
            <a:custGeom>
              <a:avLst/>
              <a:gdLst/>
              <a:ahLst/>
              <a:cxnLst/>
              <a:rect l="l" t="t" r="r" b="b"/>
              <a:pathLst>
                <a:path w="2000250" h="889000">
                  <a:moveTo>
                    <a:pt x="0" y="889000"/>
                  </a:moveTo>
                  <a:cubicBezTo>
                    <a:pt x="920750" y="0"/>
                    <a:pt x="1587500" y="0"/>
                    <a:pt x="2000250" y="889000"/>
                  </a:cubicBezTo>
                </a:path>
              </a:pathLst>
            </a:custGeom>
            <a:noFill/>
            <a:ln w="19050">
              <a:solidFill>
                <a:srgbClr val="BDD7FF">
                  <a:alpha val="80000"/>
                </a:srgbClr>
              </a:solidFill>
              <a:custDash>
                <a:ds d="300000" sp="200000"/>
              </a:custDash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571625" y="1952625"/>
            <a:ext cx="1619250" cy="2070926"/>
            <a:chOff x="1571625" y="1952625"/>
            <a:chExt cx="1619250" cy="2070926"/>
          </a:xfrm>
        </p:grpSpPr>
        <p:sp>
          <p:nvSpPr>
            <p:cNvPr id="20" name="Ellipse 20"/>
            <p:cNvSpPr/>
            <p:nvPr/>
          </p:nvSpPr>
          <p:spPr>
            <a:xfrm>
              <a:off x="1571625" y="1952625"/>
              <a:ext cx="1619250" cy="1619250"/>
            </a:xfrm>
            <a:prstGeom prst="ellipse">
              <a:avLst/>
            </a:prstGeom>
            <a:solidFill>
              <a:srgbClr val="EEF4FF">
                <a:alpha val="50000"/>
              </a:srgbClr>
            </a:solidFill>
            <a:ln w="19050">
              <a:solidFill>
                <a:srgbClr val="2563EB">
                  <a:alpha val="30000"/>
                </a:srgbClr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286000" y="23336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lnTo>
                    <a:pt x="190500" y="47625"/>
                  </a:lnTo>
                  <a:lnTo>
                    <a:pt x="190500" y="142875"/>
                  </a:lnTo>
                  <a:lnTo>
                    <a:pt x="95250" y="190500"/>
                  </a:lnTo>
                  <a:lnTo>
                    <a:pt x="0" y="14287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2563EB">
                <a:alpha val="9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82325" y="2413635"/>
              <a:ext cx="59785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200" b="1" dirty="0">
                  <a:solidFill>
                    <a:srgbClr val="2563EB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</a:t>
              </a:r>
              <a:endParaRPr lang="en-US" sz="7200" b="1" dirty="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55414" y="3425190"/>
              <a:ext cx="8516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A+学科</a:t>
              </a:r>
              <a:endParaRPr lang="zh-CN" sz="18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29181" y="3759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顶尖学科数量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196345" y="1952625"/>
            <a:ext cx="1799311" cy="2070926"/>
            <a:chOff x="5196345" y="1952625"/>
            <a:chExt cx="1799311" cy="2070926"/>
          </a:xfrm>
        </p:grpSpPr>
        <p:sp>
          <p:nvSpPr>
            <p:cNvPr id="26" name="Ellipse 26"/>
            <p:cNvSpPr/>
            <p:nvPr/>
          </p:nvSpPr>
          <p:spPr>
            <a:xfrm>
              <a:off x="5286375" y="1952625"/>
              <a:ext cx="1619250" cy="1619250"/>
            </a:xfrm>
            <a:prstGeom prst="ellipse">
              <a:avLst/>
            </a:prstGeom>
            <a:solidFill>
              <a:srgbClr val="EEF4FF">
                <a:alpha val="50000"/>
              </a:srgbClr>
            </a:solidFill>
            <a:ln w="19050">
              <a:solidFill>
                <a:srgbClr val="7C3AED">
                  <a:alpha val="30000"/>
                </a:srgbClr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000750" y="2333625"/>
              <a:ext cx="190500" cy="219075"/>
            </a:xfrm>
            <a:custGeom>
              <a:avLst/>
              <a:gdLst/>
              <a:ahLst/>
              <a:cxnLst/>
              <a:rect l="l" t="t" r="r" b="b"/>
              <a:pathLst>
                <a:path w="190500" h="219075">
                  <a:moveTo>
                    <a:pt x="47625" y="0"/>
                  </a:moveTo>
                  <a:lnTo>
                    <a:pt x="142875" y="0"/>
                  </a:lnTo>
                  <a:lnTo>
                    <a:pt x="142875" y="47625"/>
                  </a:lnTo>
                  <a:cubicBezTo>
                    <a:pt x="169178" y="47625"/>
                    <a:pt x="190500" y="68947"/>
                    <a:pt x="190500" y="95250"/>
                  </a:cubicBezTo>
                  <a:lnTo>
                    <a:pt x="190500" y="142875"/>
                  </a:lnTo>
                  <a:cubicBezTo>
                    <a:pt x="190500" y="184959"/>
                    <a:pt x="156384" y="219075"/>
                    <a:pt x="114300" y="219075"/>
                  </a:cubicBezTo>
                  <a:lnTo>
                    <a:pt x="76200" y="219075"/>
                  </a:lnTo>
                  <a:cubicBezTo>
                    <a:pt x="34116" y="219075"/>
                    <a:pt x="0" y="184959"/>
                    <a:pt x="0" y="142875"/>
                  </a:cubicBezTo>
                  <a:lnTo>
                    <a:pt x="0" y="95250"/>
                  </a:lnTo>
                  <a:cubicBezTo>
                    <a:pt x="0" y="68947"/>
                    <a:pt x="21322" y="47625"/>
                    <a:pt x="47625" y="47625"/>
                  </a:cubicBezTo>
                  <a:close/>
                </a:path>
              </a:pathLst>
            </a:custGeom>
            <a:noFill/>
            <a:ln w="19050" cap="rnd">
              <a:solidFill>
                <a:srgbClr val="7C3AED"/>
              </a:solidFill>
              <a:round/>
            </a:ln>
          </p:spPr>
        </p:sp>
        <p:sp>
          <p:nvSpPr>
            <p:cNvPr id="28" name="Freeform 28"/>
            <p:cNvSpPr/>
            <p:nvPr/>
          </p:nvSpPr>
          <p:spPr>
            <a:xfrm>
              <a:off x="6048375" y="25527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47625" y="0"/>
                  </a:moveTo>
                  <a:lnTo>
                    <a:pt x="47625" y="76200"/>
                  </a:lnTo>
                  <a:moveTo>
                    <a:pt x="0" y="76200"/>
                  </a:moveTo>
                  <a:lnTo>
                    <a:pt x="95250" y="76200"/>
                  </a:lnTo>
                </a:path>
              </a:pathLst>
            </a:custGeom>
            <a:noFill/>
            <a:ln w="19050" cap="rnd">
              <a:solidFill>
                <a:srgbClr val="7C3AE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97075" y="2413635"/>
              <a:ext cx="59785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200" b="1" dirty="0">
                  <a:solidFill>
                    <a:srgbClr val="7C3A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7200" b="1" dirty="0">
                <a:solidFill>
                  <a:srgbClr val="7C3AE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96345" y="34251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连续三年国家奖</a:t>
              </a:r>
              <a:endParaRPr lang="zh-CN" sz="18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71326" y="37595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国家技术发明一等奖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850302" y="1952625"/>
            <a:ext cx="1920895" cy="2070926"/>
            <a:chOff x="8850302" y="1952625"/>
            <a:chExt cx="1920895" cy="2070926"/>
          </a:xfrm>
        </p:grpSpPr>
        <p:sp>
          <p:nvSpPr>
            <p:cNvPr id="33" name="Ellipse 33"/>
            <p:cNvSpPr/>
            <p:nvPr/>
          </p:nvSpPr>
          <p:spPr>
            <a:xfrm>
              <a:off x="9001125" y="1952625"/>
              <a:ext cx="1619250" cy="1619250"/>
            </a:xfrm>
            <a:prstGeom prst="ellipse">
              <a:avLst/>
            </a:prstGeom>
            <a:solidFill>
              <a:srgbClr val="EEF4FF">
                <a:alpha val="50000"/>
              </a:srgbClr>
            </a:solidFill>
            <a:ln w="19050">
              <a:solidFill>
                <a:srgbClr val="38BDF8">
                  <a:alpha val="30000"/>
                </a:srgbClr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667875" y="2333625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750" h="190500">
                  <a:moveTo>
                    <a:pt x="0" y="190500"/>
                  </a:moveTo>
                  <a:lnTo>
                    <a:pt x="95250" y="95250"/>
                  </a:lnTo>
                  <a:lnTo>
                    <a:pt x="190500" y="190500"/>
                  </a:lnTo>
                  <a:lnTo>
                    <a:pt x="285750" y="0"/>
                  </a:lnTo>
                </a:path>
              </a:pathLst>
            </a:custGeom>
            <a:noFill/>
            <a:ln w="28575" cap="rnd">
              <a:solidFill>
                <a:srgbClr val="38BDF8"/>
              </a:solidFill>
              <a:round/>
            </a:ln>
          </p:spPr>
        </p:sp>
        <p:sp>
          <p:nvSpPr>
            <p:cNvPr id="35" name="Ellipse 35"/>
            <p:cNvSpPr/>
            <p:nvPr/>
          </p:nvSpPr>
          <p:spPr>
            <a:xfrm>
              <a:off x="9925050" y="2305050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850302" y="2413635"/>
              <a:ext cx="1920895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200" b="1" dirty="0">
                  <a:solidFill>
                    <a:srgbClr val="38BDF8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40%</a:t>
              </a:r>
              <a:endParaRPr lang="en-US" sz="7200" b="1" dirty="0">
                <a:solidFill>
                  <a:srgbClr val="38BDF8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38311" y="3425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科研投入增长</a:t>
              </a:r>
              <a:endParaRPr lang="zh-CN" sz="18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86076" y="37595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年均增长率领先全国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62000" y="4572000"/>
            <a:ext cx="10668000" cy="1905000"/>
            <a:chOff x="762000" y="4572000"/>
            <a:chExt cx="10668000" cy="1905000"/>
          </a:xfrm>
        </p:grpSpPr>
        <p:grpSp>
          <p:nvGrpSpPr>
            <p:cNvPr id="46" name="Group 46"/>
            <p:cNvGrpSpPr/>
            <p:nvPr/>
          </p:nvGrpSpPr>
          <p:grpSpPr>
            <a:xfrm>
              <a:off x="762000" y="4572000"/>
              <a:ext cx="3238500" cy="1905000"/>
              <a:chOff x="762000" y="4572000"/>
              <a:chExt cx="3238500" cy="19050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62000" y="4572000"/>
                <a:ext cx="32385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9050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51174"/>
                      <a:pt x="3238500" y="114300"/>
                    </a:cubicBezTo>
                    <a:lnTo>
                      <a:pt x="3238500" y="1790700"/>
                    </a:lnTo>
                    <a:cubicBezTo>
                      <a:pt x="3238500" y="1853826"/>
                      <a:pt x="3187326" y="1905000"/>
                      <a:pt x="3124200" y="1905000"/>
                    </a:cubicBezTo>
                    <a:lnTo>
                      <a:pt x="114300" y="1905000"/>
                    </a:lnTo>
                    <a:cubicBezTo>
                      <a:pt x="51174" y="1905000"/>
                      <a:pt x="0" y="1853826"/>
                      <a:pt x="0" y="1790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F8FBFF"/>
              </a:solidFill>
              <a:ln w="14288">
                <a:solidFill>
                  <a:srgbClr val="BDD7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62000" y="4572000"/>
                <a:ext cx="762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905000">
                    <a:moveTo>
                      <a:pt x="3810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1866900"/>
                    </a:lnTo>
                    <a:cubicBezTo>
                      <a:pt x="76200" y="1887942"/>
                      <a:pt x="59142" y="1905000"/>
                      <a:pt x="38100" y="1905000"/>
                    </a:cubicBezTo>
                    <a:lnTo>
                      <a:pt x="38100" y="1905000"/>
                    </a:lnTo>
                    <a:cubicBezTo>
                      <a:pt x="17058" y="1905000"/>
                      <a:pt x="0" y="1887942"/>
                      <a:pt x="0" y="18669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086993" y="482250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关键信息</a:t>
                </a:r>
                <a:endPara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88517" y="5235892"/>
                <a:ext cx="2029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6个A+学科，全国顶尖</a:t>
                </a:r>
                <a:endPara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88517" y="5540692"/>
                <a:ext cx="21672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兵器科学与技术领跑全国</a:t>
                </a:r>
                <a:endPara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88517" y="5845492"/>
                <a:ext cx="21672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信息与通信工程优势明显</a:t>
                </a:r>
                <a:endPara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4476750" y="4572000"/>
              <a:ext cx="3238500" cy="1905000"/>
              <a:chOff x="4476750" y="4572000"/>
              <a:chExt cx="3238500" cy="19050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4476750" y="4572000"/>
                <a:ext cx="32385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9050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51174"/>
                      <a:pt x="3238500" y="114300"/>
                    </a:cubicBezTo>
                    <a:lnTo>
                      <a:pt x="3238500" y="1790700"/>
                    </a:lnTo>
                    <a:cubicBezTo>
                      <a:pt x="3238500" y="1853826"/>
                      <a:pt x="3187326" y="1905000"/>
                      <a:pt x="3124200" y="1905000"/>
                    </a:cubicBezTo>
                    <a:lnTo>
                      <a:pt x="114300" y="1905000"/>
                    </a:lnTo>
                    <a:cubicBezTo>
                      <a:pt x="51174" y="1905000"/>
                      <a:pt x="0" y="1853826"/>
                      <a:pt x="0" y="1790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F8FBFF"/>
              </a:solidFill>
              <a:ln w="14288">
                <a:solidFill>
                  <a:srgbClr val="BDD7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4476750" y="4572000"/>
                <a:ext cx="762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905000">
                    <a:moveTo>
                      <a:pt x="3810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1866900"/>
                    </a:lnTo>
                    <a:cubicBezTo>
                      <a:pt x="76200" y="1887942"/>
                      <a:pt x="59142" y="1905000"/>
                      <a:pt x="38100" y="1905000"/>
                    </a:cubicBezTo>
                    <a:lnTo>
                      <a:pt x="38100" y="1905000"/>
                    </a:lnTo>
                    <a:cubicBezTo>
                      <a:pt x="17058" y="1905000"/>
                      <a:pt x="0" y="1887942"/>
                      <a:pt x="0" y="18669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801743" y="482250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核心依据</a:t>
                </a:r>
                <a:endPara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4803267" y="5235892"/>
                <a:ext cx="25307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连续三年国家技术发明一等奖</a:t>
                </a:r>
                <a:endPara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803267" y="5540692"/>
                <a:ext cx="21672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国防科研成果转化率第一</a:t>
                </a:r>
                <a:endPara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803267" y="5845492"/>
                <a:ext cx="19855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多项技术填补国内空白</a:t>
                </a:r>
                <a:endPara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191500" y="4572000"/>
              <a:ext cx="3238500" cy="1905000"/>
              <a:chOff x="8191500" y="4572000"/>
              <a:chExt cx="3238500" cy="19050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191500" y="4572000"/>
                <a:ext cx="32385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9050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51174"/>
                      <a:pt x="3238500" y="114300"/>
                    </a:cubicBezTo>
                    <a:lnTo>
                      <a:pt x="3238500" y="1790700"/>
                    </a:lnTo>
                    <a:cubicBezTo>
                      <a:pt x="3238500" y="1853826"/>
                      <a:pt x="3187326" y="1905000"/>
                      <a:pt x="3124200" y="1905000"/>
                    </a:cubicBezTo>
                    <a:lnTo>
                      <a:pt x="114300" y="1905000"/>
                    </a:lnTo>
                    <a:cubicBezTo>
                      <a:pt x="51174" y="1905000"/>
                      <a:pt x="0" y="1853826"/>
                      <a:pt x="0" y="1790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F8FBFF"/>
              </a:solidFill>
              <a:ln w="14288">
                <a:solidFill>
                  <a:srgbClr val="BDD7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91500" y="4572000"/>
                <a:ext cx="762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905000">
                    <a:moveTo>
                      <a:pt x="3810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1866900"/>
                    </a:lnTo>
                    <a:cubicBezTo>
                      <a:pt x="76200" y="1887942"/>
                      <a:pt x="59142" y="1905000"/>
                      <a:pt x="38100" y="1905000"/>
                    </a:cubicBezTo>
                    <a:lnTo>
                      <a:pt x="38100" y="1905000"/>
                    </a:lnTo>
                    <a:cubicBezTo>
                      <a:pt x="17058" y="1905000"/>
                      <a:pt x="0" y="1887942"/>
                      <a:pt x="0" y="18669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516493" y="482250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建议行动</a:t>
                </a:r>
                <a:endParaRPr lang="zh-CN" sz="16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518017" y="5235892"/>
                <a:ext cx="16220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聚焦前沿科技方向</a:t>
                </a:r>
                <a:endPara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518017" y="5540692"/>
                <a:ext cx="16220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加大科研经费投入</a:t>
                </a:r>
                <a:endPara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518017" y="5845492"/>
                <a:ext cx="16220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3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保持学科领先地位</a:t>
                </a:r>
                <a:endPara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62" name="Rectangle 62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2563EB">
              <a:alpha val="80000"/>
            </a:srgbClr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382000" y="-1333500"/>
            <a:ext cx="4191000" cy="4191000"/>
          </a:xfrm>
          <a:prstGeom prst="ellipse">
            <a:avLst/>
          </a:prstGeom>
          <a:noFill/>
          <a:ln w="19050">
            <a:solidFill>
              <a:srgbClr val="BDD7FF"/>
            </a:solidFill>
            <a:custDash>
              <a:ds d="400000" sp="400000"/>
            </a:custDash>
          </a:ln>
        </p:spPr>
      </p:sp>
      <p:sp>
        <p:nvSpPr>
          <p:cNvPr id="4" name="Ellipse 4"/>
          <p:cNvSpPr/>
          <p:nvPr/>
        </p:nvSpPr>
        <p:spPr>
          <a:xfrm>
            <a:off x="7810500" y="-1905000"/>
            <a:ext cx="5334000" cy="5334000"/>
          </a:xfrm>
          <a:prstGeom prst="ellipse">
            <a:avLst/>
          </a:prstGeom>
          <a:noFill/>
          <a:ln w="9525">
            <a:solidFill>
              <a:srgbClr val="BDD7FF"/>
            </a:solidFill>
            <a:custDash>
              <a:ds d="400000" sp="1200000"/>
            </a:custDash>
          </a:ln>
        </p:spPr>
      </p:sp>
      <p:sp>
        <p:nvSpPr>
          <p:cNvPr id="5" name="Ellipse 5"/>
          <p:cNvSpPr/>
          <p:nvPr/>
        </p:nvSpPr>
        <p:spPr>
          <a:xfrm>
            <a:off x="190500" y="4572000"/>
            <a:ext cx="3048000" cy="3048000"/>
          </a:xfrm>
          <a:prstGeom prst="ellipse">
            <a:avLst/>
          </a:prstGeom>
          <a:noFill/>
          <a:ln w="19050">
            <a:solidFill>
              <a:srgbClr val="BDD7FF"/>
            </a:solidFill>
            <a:custDash>
              <a:ds d="500000" sp="500000"/>
            </a:custDash>
          </a:ln>
        </p:spPr>
      </p:sp>
      <p:sp>
        <p:nvSpPr>
          <p:cNvPr id="6" name="Ellipse 6"/>
          <p:cNvSpPr/>
          <p:nvPr/>
        </p:nvSpPr>
        <p:spPr>
          <a:xfrm>
            <a:off x="-381000" y="4000500"/>
            <a:ext cx="4191000" cy="4191000"/>
          </a:xfrm>
          <a:prstGeom prst="ellipse">
            <a:avLst/>
          </a:prstGeom>
          <a:noFill/>
          <a:ln w="9525">
            <a:solidFill>
              <a:srgbClr val="BDD7FF"/>
            </a:solidFill>
            <a:custDash>
              <a:ds d="500000" sp="1500000"/>
            </a:custDash>
          </a:ln>
        </p:spPr>
      </p:sp>
      <p:sp>
        <p:nvSpPr>
          <p:cNvPr id="7" name="Line 7"/>
          <p:cNvSpPr/>
          <p:nvPr/>
        </p:nvSpPr>
        <p:spPr>
          <a:xfrm>
            <a:off x="533400" y="809625"/>
            <a:ext cx="11658600" cy="9525"/>
          </a:xfrm>
          <a:custGeom>
            <a:avLst/>
            <a:gdLst/>
            <a:ahLst/>
            <a:cxnLst/>
            <a:rect l="l" t="t" r="r" b="b"/>
            <a:pathLst>
              <a:path w="11658600" h="9525">
                <a:moveTo>
                  <a:pt x="0" y="0"/>
                </a:moveTo>
                <a:lnTo>
                  <a:pt x="11658600" y="0"/>
                </a:lnTo>
              </a:path>
            </a:pathLst>
          </a:custGeom>
          <a:noFill/>
          <a:ln w="9525">
            <a:solidFill>
              <a:srgbClr val="EEF4FF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33400" y="714375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352425"/>
                </a:lnTo>
                <a:cubicBezTo>
                  <a:pt x="57150" y="368207"/>
                  <a:pt x="44357" y="381000"/>
                  <a:pt x="28575" y="381000"/>
                </a:cubicBezTo>
                <a:lnTo>
                  <a:pt x="28575" y="381000"/>
                </a:lnTo>
                <a:cubicBezTo>
                  <a:pt x="12793" y="381000"/>
                  <a:pt x="0" y="368207"/>
                  <a:pt x="0" y="352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7898" y="660083"/>
            <a:ext cx="383894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前沿布局·培养口碑</a:t>
            </a:r>
            <a:endParaRPr lang="zh-CN" sz="3150" b="1" dirty="0">
              <a:solidFill>
                <a:srgbClr val="1F29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12470" y="1185862"/>
            <a:ext cx="696772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人形机器人/AI先发优势 · 家长口碑 · 教学成果奖</a:t>
            </a:r>
            <a:endParaRPr lang="zh-CN" sz="2250" dirty="0">
              <a:solidFill>
                <a:srgbClr val="5263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32" name="Group 32"/>
          <p:cNvGrpSpPr/>
          <p:nvPr/>
        </p:nvGrpSpPr>
        <p:grpSpPr>
          <a:xfrm>
            <a:off x="533400" y="2000250"/>
            <a:ext cx="3333750" cy="3238500"/>
            <a:chOff x="533400" y="2000250"/>
            <a:chExt cx="3333750" cy="3238500"/>
          </a:xfrm>
        </p:grpSpPr>
        <p:sp>
          <p:nvSpPr>
            <p:cNvPr id="11" name="Freeform 11"/>
            <p:cNvSpPr/>
            <p:nvPr/>
          </p:nvSpPr>
          <p:spPr>
            <a:xfrm>
              <a:off x="533400" y="2000250"/>
              <a:ext cx="3333750" cy="3238500"/>
            </a:xfrm>
            <a:custGeom>
              <a:avLst/>
              <a:gdLst/>
              <a:ahLst/>
              <a:cxnLst/>
              <a:rect l="l" t="t" r="r" b="b"/>
              <a:pathLst>
                <a:path w="3333750" h="3238500">
                  <a:moveTo>
                    <a:pt x="152400" y="0"/>
                  </a:moveTo>
                  <a:lnTo>
                    <a:pt x="3181350" y="0"/>
                  </a:lnTo>
                  <a:cubicBezTo>
                    <a:pt x="3265518" y="0"/>
                    <a:pt x="3333750" y="68232"/>
                    <a:pt x="3333750" y="152400"/>
                  </a:cubicBezTo>
                  <a:lnTo>
                    <a:pt x="3333750" y="3086100"/>
                  </a:lnTo>
                  <a:cubicBezTo>
                    <a:pt x="3333750" y="3170268"/>
                    <a:pt x="3265518" y="3238500"/>
                    <a:pt x="3181350" y="3238500"/>
                  </a:cubicBezTo>
                  <a:lnTo>
                    <a:pt x="152400" y="3238500"/>
                  </a:lnTo>
                  <a:cubicBezTo>
                    <a:pt x="68232" y="3238500"/>
                    <a:pt x="0" y="3170268"/>
                    <a:pt x="0" y="3086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gradFill>
              <a:gsLst>
                <a:gs pos="0">
                  <a:srgbClr val="F8FBFF"/>
                </a:gs>
                <a:gs pos="100000">
                  <a:srgbClr val="EEF4FF"/>
                </a:gs>
              </a:gsLst>
              <a:lin ang="5400000" scaled="1"/>
            </a:gradFill>
            <a:ln w="14288">
              <a:solidFill>
                <a:srgbClr val="BDD7F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33400" y="2000250"/>
              <a:ext cx="3333750" cy="38100"/>
            </a:xfrm>
            <a:custGeom>
              <a:avLst/>
              <a:gdLst/>
              <a:ahLst/>
              <a:cxnLst/>
              <a:rect l="l" t="t" r="r" b="b"/>
              <a:pathLst>
                <a:path w="3333750" h="38100">
                  <a:moveTo>
                    <a:pt x="19050" y="0"/>
                  </a:moveTo>
                  <a:lnTo>
                    <a:pt x="3314700" y="0"/>
                  </a:lnTo>
                  <a:cubicBezTo>
                    <a:pt x="3325221" y="0"/>
                    <a:pt x="3333750" y="8529"/>
                    <a:pt x="3333750" y="19050"/>
                  </a:cubicBezTo>
                  <a:lnTo>
                    <a:pt x="3333750" y="19050"/>
                  </a:lnTo>
                  <a:cubicBezTo>
                    <a:pt x="3333750" y="29571"/>
                    <a:pt x="3325221" y="38100"/>
                    <a:pt x="33147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628775" y="2343150"/>
              <a:ext cx="1143000" cy="762000"/>
            </a:xfrm>
            <a:custGeom>
              <a:avLst/>
              <a:gdLst/>
              <a:ahLst/>
              <a:cxnLst/>
              <a:rect l="l" t="t" r="r" b="b"/>
              <a:pathLst>
                <a:path w="1143000" h="762000">
                  <a:moveTo>
                    <a:pt x="114300" y="0"/>
                  </a:moveTo>
                  <a:lnTo>
                    <a:pt x="1028700" y="0"/>
                  </a:lnTo>
                  <a:cubicBezTo>
                    <a:pt x="1091826" y="0"/>
                    <a:pt x="1143000" y="51174"/>
                    <a:pt x="1143000" y="114300"/>
                  </a:cubicBezTo>
                  <a:lnTo>
                    <a:pt x="1143000" y="647700"/>
                  </a:lnTo>
                  <a:cubicBezTo>
                    <a:pt x="1143000" y="710826"/>
                    <a:pt x="1091826" y="762000"/>
                    <a:pt x="1028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EF4FF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2009775" y="2200275"/>
              <a:ext cx="381000" cy="809625"/>
              <a:chOff x="2009775" y="2200275"/>
              <a:chExt cx="381000" cy="809625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2200275" y="22479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3812" cap="rnd">
                <a:solidFill>
                  <a:srgbClr val="2563EB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171700" y="2200275"/>
                <a:ext cx="57150" cy="57150"/>
              </a:xfrm>
              <a:prstGeom prst="ellipse">
                <a:avLst/>
              </a:pr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009775" y="2362200"/>
                <a:ext cx="381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85750">
                    <a:moveTo>
                      <a:pt x="57150" y="0"/>
                    </a:moveTo>
                    <a:lnTo>
                      <a:pt x="323850" y="0"/>
                    </a:lnTo>
                    <a:cubicBezTo>
                      <a:pt x="355413" y="0"/>
                      <a:pt x="381000" y="25587"/>
                      <a:pt x="381000" y="57150"/>
                    </a:cubicBezTo>
                    <a:lnTo>
                      <a:pt x="381000" y="228600"/>
                    </a:lnTo>
                    <a:cubicBezTo>
                      <a:pt x="381000" y="260163"/>
                      <a:pt x="355413" y="285750"/>
                      <a:pt x="323850" y="285750"/>
                    </a:cubicBezTo>
                    <a:lnTo>
                      <a:pt x="57150" y="285750"/>
                    </a:lnTo>
                    <a:cubicBezTo>
                      <a:pt x="25587" y="285750"/>
                      <a:pt x="0" y="260163"/>
                      <a:pt x="0" y="2286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noFill/>
              <a:ln w="23812">
                <a:solidFill>
                  <a:srgbClr val="2563EB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076450" y="2476500"/>
                <a:ext cx="57150" cy="571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2266950" y="2476500"/>
                <a:ext cx="57150" cy="5715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2105025" y="260032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 cap="rnd">
                <a:solidFill>
                  <a:srgbClr val="2563E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105025" y="2667000"/>
                <a:ext cx="19050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38125">
                    <a:moveTo>
                      <a:pt x="38100" y="0"/>
                    </a:moveTo>
                    <a:lnTo>
                      <a:pt x="152400" y="0"/>
                    </a:lnTo>
                    <a:cubicBezTo>
                      <a:pt x="173442" y="0"/>
                      <a:pt x="190500" y="17058"/>
                      <a:pt x="190500" y="38100"/>
                    </a:cubicBezTo>
                    <a:lnTo>
                      <a:pt x="190500" y="200025"/>
                    </a:lnTo>
                    <a:cubicBezTo>
                      <a:pt x="190500" y="221067"/>
                      <a:pt x="173442" y="238125"/>
                      <a:pt x="152400" y="238125"/>
                    </a:cubicBezTo>
                    <a:lnTo>
                      <a:pt x="38100" y="238125"/>
                    </a:lnTo>
                    <a:cubicBezTo>
                      <a:pt x="17058" y="238125"/>
                      <a:pt x="0" y="221067"/>
                      <a:pt x="0" y="200025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F8FBFF"/>
              </a:solidFill>
              <a:ln w="14288">
                <a:solidFill>
                  <a:srgbClr val="2563EB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2009775" y="2762250"/>
                <a:ext cx="952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38100">
                    <a:moveTo>
                      <a:pt x="0" y="0"/>
                    </a:moveTo>
                    <a:lnTo>
                      <a:pt x="95250" y="38100"/>
                    </a:lnTo>
                  </a:path>
                </a:pathLst>
              </a:custGeom>
              <a:noFill/>
              <a:ln w="28575" cap="rnd">
                <a:solidFill>
                  <a:srgbClr val="38BDF8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2295525" y="2762250"/>
                <a:ext cx="952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38100">
                    <a:moveTo>
                      <a:pt x="9525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28575" cap="rnd">
                <a:solidFill>
                  <a:srgbClr val="38BDF8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2105025" y="2905125"/>
                <a:ext cx="476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04775">
                    <a:moveTo>
                      <a:pt x="47625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28575" cap="rnd">
                <a:solidFill>
                  <a:srgbClr val="38BDF8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2247900" y="2905125"/>
                <a:ext cx="476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04775">
                    <a:moveTo>
                      <a:pt x="0" y="0"/>
                    </a:moveTo>
                    <a:lnTo>
                      <a:pt x="47625" y="104775"/>
                    </a:lnTo>
                  </a:path>
                </a:pathLst>
              </a:custGeom>
              <a:noFill/>
              <a:ln w="28575" cap="rnd">
                <a:solidFill>
                  <a:srgbClr val="38BDF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555052" y="32823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人形机器人</a:t>
              </a:r>
              <a:endParaRPr lang="zh-CN" sz="18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14087" y="370903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国家级</a:t>
              </a:r>
              <a:endParaRPr lang="zh-CN" sz="270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57338" y="40928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重点实验室平台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762000" y="4429125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14288">
              <a:solidFill>
                <a:srgbClr val="EEF4F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68602" y="4600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核心优势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61970" y="4854892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早期布局 · 技术引领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429125" y="2000250"/>
            <a:ext cx="3333750" cy="3238500"/>
            <a:chOff x="4429125" y="2000250"/>
            <a:chExt cx="3333750" cy="3238500"/>
          </a:xfrm>
        </p:grpSpPr>
        <p:sp>
          <p:nvSpPr>
            <p:cNvPr id="33" name="Freeform 33"/>
            <p:cNvSpPr/>
            <p:nvPr/>
          </p:nvSpPr>
          <p:spPr>
            <a:xfrm>
              <a:off x="4429125" y="2000250"/>
              <a:ext cx="3333750" cy="3238500"/>
            </a:xfrm>
            <a:custGeom>
              <a:avLst/>
              <a:gdLst/>
              <a:ahLst/>
              <a:cxnLst/>
              <a:rect l="l" t="t" r="r" b="b"/>
              <a:pathLst>
                <a:path w="3333750" h="3238500">
                  <a:moveTo>
                    <a:pt x="152400" y="0"/>
                  </a:moveTo>
                  <a:lnTo>
                    <a:pt x="3181350" y="0"/>
                  </a:lnTo>
                  <a:cubicBezTo>
                    <a:pt x="3265518" y="0"/>
                    <a:pt x="3333750" y="68232"/>
                    <a:pt x="3333750" y="152400"/>
                  </a:cubicBezTo>
                  <a:lnTo>
                    <a:pt x="3333750" y="3086100"/>
                  </a:lnTo>
                  <a:cubicBezTo>
                    <a:pt x="3333750" y="3170268"/>
                    <a:pt x="3265518" y="3238500"/>
                    <a:pt x="3181350" y="3238500"/>
                  </a:cubicBezTo>
                  <a:lnTo>
                    <a:pt x="152400" y="3238500"/>
                  </a:lnTo>
                  <a:cubicBezTo>
                    <a:pt x="68232" y="3238500"/>
                    <a:pt x="0" y="3170268"/>
                    <a:pt x="0" y="3086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gradFill>
              <a:gsLst>
                <a:gs pos="0">
                  <a:srgbClr val="F8FBFF"/>
                </a:gs>
                <a:gs pos="100000">
                  <a:srgbClr val="EEF4FF"/>
                </a:gs>
              </a:gsLst>
              <a:lin ang="5400000" scaled="1"/>
            </a:gradFill>
            <a:ln w="14288">
              <a:solidFill>
                <a:srgbClr val="BDD7FF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429125" y="2000250"/>
              <a:ext cx="3333750" cy="38100"/>
            </a:xfrm>
            <a:custGeom>
              <a:avLst/>
              <a:gdLst/>
              <a:ahLst/>
              <a:cxnLst/>
              <a:rect l="l" t="t" r="r" b="b"/>
              <a:pathLst>
                <a:path w="3333750" h="38100">
                  <a:moveTo>
                    <a:pt x="19050" y="0"/>
                  </a:moveTo>
                  <a:lnTo>
                    <a:pt x="3314700" y="0"/>
                  </a:lnTo>
                  <a:cubicBezTo>
                    <a:pt x="3325221" y="0"/>
                    <a:pt x="3333750" y="8529"/>
                    <a:pt x="3333750" y="19050"/>
                  </a:cubicBezTo>
                  <a:lnTo>
                    <a:pt x="3333750" y="19050"/>
                  </a:lnTo>
                  <a:cubicBezTo>
                    <a:pt x="3333750" y="29571"/>
                    <a:pt x="3325221" y="38100"/>
                    <a:pt x="33147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5524500" y="2343150"/>
              <a:ext cx="1143000" cy="762000"/>
            </a:xfrm>
            <a:custGeom>
              <a:avLst/>
              <a:gdLst/>
              <a:ahLst/>
              <a:cxnLst/>
              <a:rect l="l" t="t" r="r" b="b"/>
              <a:pathLst>
                <a:path w="1143000" h="762000">
                  <a:moveTo>
                    <a:pt x="114300" y="0"/>
                  </a:moveTo>
                  <a:lnTo>
                    <a:pt x="1028700" y="0"/>
                  </a:lnTo>
                  <a:cubicBezTo>
                    <a:pt x="1091826" y="0"/>
                    <a:pt x="1143000" y="51174"/>
                    <a:pt x="1143000" y="114300"/>
                  </a:cubicBezTo>
                  <a:lnTo>
                    <a:pt x="1143000" y="647700"/>
                  </a:lnTo>
                  <a:cubicBezTo>
                    <a:pt x="1143000" y="710826"/>
                    <a:pt x="1091826" y="762000"/>
                    <a:pt x="1028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EF4FF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5905500" y="2124075"/>
              <a:ext cx="381000" cy="438150"/>
              <a:chOff x="5905500" y="2124075"/>
              <a:chExt cx="381000" cy="438150"/>
            </a:xfrm>
          </p:grpSpPr>
          <p:sp>
            <p:nvSpPr>
              <p:cNvPr id="36" name="Polygon 36"/>
              <p:cNvSpPr/>
              <p:nvPr/>
            </p:nvSpPr>
            <p:spPr>
              <a:xfrm>
                <a:off x="5934075" y="2152650"/>
                <a:ext cx="3238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381000">
                    <a:moveTo>
                      <a:pt x="161925" y="0"/>
                    </a:moveTo>
                    <a:lnTo>
                      <a:pt x="323850" y="95250"/>
                    </a:lnTo>
                    <a:lnTo>
                      <a:pt x="323850" y="285750"/>
                    </a:lnTo>
                    <a:lnTo>
                      <a:pt x="161925" y="381000"/>
                    </a:lnTo>
                    <a:lnTo>
                      <a:pt x="0" y="285750"/>
                    </a:lnTo>
                    <a:lnTo>
                      <a:pt x="0" y="95250"/>
                    </a:lnTo>
                    <a:close/>
                  </a:path>
                </a:pathLst>
              </a:custGeom>
              <a:noFill/>
              <a:ln w="23812">
                <a:solidFill>
                  <a:srgbClr val="7C3AED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6038850" y="2286000"/>
                <a:ext cx="114300" cy="114300"/>
              </a:xfrm>
              <a:prstGeom prst="ellipse">
                <a:avLst/>
              </a:prstGeom>
              <a:solidFill>
                <a:srgbClr val="38BDF8"/>
              </a:solidFill>
              <a:ln>
                <a:noFill/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5934075" y="2247900"/>
                <a:ext cx="1619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0">
                    <a:moveTo>
                      <a:pt x="161925" y="952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DD7FF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6096000" y="2247900"/>
                <a:ext cx="1619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0">
                    <a:moveTo>
                      <a:pt x="0" y="95250"/>
                    </a:move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BDD7FF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6096000" y="21526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1905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DD7FF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5934075" y="2343150"/>
                <a:ext cx="1619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0">
                    <a:moveTo>
                      <a:pt x="161925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BDD7FF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6096000" y="2343150"/>
                <a:ext cx="1619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0">
                    <a:moveTo>
                      <a:pt x="0" y="0"/>
                    </a:moveTo>
                    <a:lnTo>
                      <a:pt x="161925" y="95250"/>
                    </a:lnTo>
                  </a:path>
                </a:pathLst>
              </a:custGeom>
              <a:noFill/>
              <a:ln w="19050">
                <a:solidFill>
                  <a:srgbClr val="BDD7FF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6096000" y="23431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BDD7FF"/>
                </a:solidFill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6067425" y="2124075"/>
                <a:ext cx="57150" cy="5715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229350" y="2219325"/>
                <a:ext cx="57150" cy="5715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6229350" y="2409825"/>
                <a:ext cx="57150" cy="5715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6067425" y="2505075"/>
                <a:ext cx="57150" cy="5715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5905500" y="2409825"/>
                <a:ext cx="57150" cy="5715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5905500" y="2219325"/>
                <a:ext cx="57150" cy="5715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577992" y="3282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人工智能</a:t>
              </a:r>
              <a:endParaRPr lang="zh-CN" sz="18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386677" y="3709035"/>
              <a:ext cx="14186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7C3AED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TOP 5%</a:t>
              </a:r>
              <a:endParaRPr lang="en-US" sz="2700" b="1" dirty="0">
                <a:solidFill>
                  <a:srgbClr val="7C3AED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02656" y="4092892"/>
              <a:ext cx="13866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顶会论文排名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Line 54"/>
            <p:cNvSpPr/>
            <p:nvPr/>
          </p:nvSpPr>
          <p:spPr>
            <a:xfrm>
              <a:off x="4657725" y="4429125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14288">
              <a:solidFill>
                <a:srgbClr val="EEF4F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64327" y="4600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核心优势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257695" y="4854892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前沿突破 · 国际领先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324850" y="2000250"/>
            <a:ext cx="3333750" cy="3238500"/>
            <a:chOff x="8324850" y="2000250"/>
            <a:chExt cx="3333750" cy="3238500"/>
          </a:xfrm>
        </p:grpSpPr>
        <p:sp>
          <p:nvSpPr>
            <p:cNvPr id="58" name="Freeform 58"/>
            <p:cNvSpPr/>
            <p:nvPr/>
          </p:nvSpPr>
          <p:spPr>
            <a:xfrm>
              <a:off x="8324850" y="2000250"/>
              <a:ext cx="3333750" cy="3238500"/>
            </a:xfrm>
            <a:custGeom>
              <a:avLst/>
              <a:gdLst/>
              <a:ahLst/>
              <a:cxnLst/>
              <a:rect l="l" t="t" r="r" b="b"/>
              <a:pathLst>
                <a:path w="3333750" h="3238500">
                  <a:moveTo>
                    <a:pt x="152400" y="0"/>
                  </a:moveTo>
                  <a:lnTo>
                    <a:pt x="3181350" y="0"/>
                  </a:lnTo>
                  <a:cubicBezTo>
                    <a:pt x="3265518" y="0"/>
                    <a:pt x="3333750" y="68232"/>
                    <a:pt x="3333750" y="152400"/>
                  </a:cubicBezTo>
                  <a:lnTo>
                    <a:pt x="3333750" y="3086100"/>
                  </a:lnTo>
                  <a:cubicBezTo>
                    <a:pt x="3333750" y="3170268"/>
                    <a:pt x="3265518" y="3238500"/>
                    <a:pt x="3181350" y="3238500"/>
                  </a:cubicBezTo>
                  <a:lnTo>
                    <a:pt x="152400" y="3238500"/>
                  </a:lnTo>
                  <a:cubicBezTo>
                    <a:pt x="68232" y="3238500"/>
                    <a:pt x="0" y="3170268"/>
                    <a:pt x="0" y="3086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gradFill>
              <a:gsLst>
                <a:gs pos="0">
                  <a:srgbClr val="F8FBFF"/>
                </a:gs>
                <a:gs pos="100000">
                  <a:srgbClr val="EEF4FF"/>
                </a:gs>
              </a:gsLst>
              <a:lin ang="5400000" scaled="1"/>
            </a:gradFill>
            <a:ln w="14288">
              <a:solidFill>
                <a:srgbClr val="BDD7FF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8324850" y="2000250"/>
              <a:ext cx="3333750" cy="38100"/>
            </a:xfrm>
            <a:custGeom>
              <a:avLst/>
              <a:gdLst/>
              <a:ahLst/>
              <a:cxnLst/>
              <a:rect l="l" t="t" r="r" b="b"/>
              <a:pathLst>
                <a:path w="3333750" h="38100">
                  <a:moveTo>
                    <a:pt x="19050" y="0"/>
                  </a:moveTo>
                  <a:lnTo>
                    <a:pt x="3314700" y="0"/>
                  </a:lnTo>
                  <a:cubicBezTo>
                    <a:pt x="3325221" y="0"/>
                    <a:pt x="3333750" y="8529"/>
                    <a:pt x="3333750" y="19050"/>
                  </a:cubicBezTo>
                  <a:lnTo>
                    <a:pt x="3333750" y="19050"/>
                  </a:lnTo>
                  <a:cubicBezTo>
                    <a:pt x="3333750" y="29571"/>
                    <a:pt x="3325221" y="38100"/>
                    <a:pt x="331470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9420225" y="2343150"/>
              <a:ext cx="1143000" cy="762000"/>
            </a:xfrm>
            <a:custGeom>
              <a:avLst/>
              <a:gdLst/>
              <a:ahLst/>
              <a:cxnLst/>
              <a:rect l="l" t="t" r="r" b="b"/>
              <a:pathLst>
                <a:path w="1143000" h="762000">
                  <a:moveTo>
                    <a:pt x="114300" y="0"/>
                  </a:moveTo>
                  <a:lnTo>
                    <a:pt x="1028700" y="0"/>
                  </a:lnTo>
                  <a:cubicBezTo>
                    <a:pt x="1091826" y="0"/>
                    <a:pt x="1143000" y="51174"/>
                    <a:pt x="1143000" y="114300"/>
                  </a:cubicBezTo>
                  <a:lnTo>
                    <a:pt x="1143000" y="647700"/>
                  </a:lnTo>
                  <a:cubicBezTo>
                    <a:pt x="1143000" y="710826"/>
                    <a:pt x="1091826" y="762000"/>
                    <a:pt x="1028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EF4FF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9848850" y="2295525"/>
              <a:ext cx="361950" cy="333375"/>
              <a:chOff x="9848850" y="2295525"/>
              <a:chExt cx="361950" cy="33337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9848850" y="2390775"/>
                <a:ext cx="14287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38125">
                    <a:moveTo>
                      <a:pt x="19050" y="0"/>
                    </a:moveTo>
                    <a:lnTo>
                      <a:pt x="123825" y="0"/>
                    </a:lnTo>
                    <a:cubicBezTo>
                      <a:pt x="134346" y="0"/>
                      <a:pt x="142875" y="8529"/>
                      <a:pt x="142875" y="19050"/>
                    </a:cubicBezTo>
                    <a:lnTo>
                      <a:pt x="142875" y="219075"/>
                    </a:lnTo>
                    <a:cubicBezTo>
                      <a:pt x="142875" y="229596"/>
                      <a:pt x="134346" y="238125"/>
                      <a:pt x="123825" y="238125"/>
                    </a:cubicBezTo>
                    <a:lnTo>
                      <a:pt x="19050" y="238125"/>
                    </a:lnTo>
                    <a:cubicBezTo>
                      <a:pt x="8529" y="238125"/>
                      <a:pt x="0" y="229596"/>
                      <a:pt x="0" y="219075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F8FBFF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991725" y="2343150"/>
                <a:ext cx="14287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85750">
                    <a:moveTo>
                      <a:pt x="19050" y="0"/>
                    </a:moveTo>
                    <a:lnTo>
                      <a:pt x="123825" y="0"/>
                    </a:lnTo>
                    <a:cubicBezTo>
                      <a:pt x="134346" y="0"/>
                      <a:pt x="142875" y="8529"/>
                      <a:pt x="142875" y="19050"/>
                    </a:cubicBezTo>
                    <a:lnTo>
                      <a:pt x="142875" y="266700"/>
                    </a:lnTo>
                    <a:cubicBezTo>
                      <a:pt x="142875" y="277221"/>
                      <a:pt x="134346" y="285750"/>
                      <a:pt x="123825" y="285750"/>
                    </a:cubicBezTo>
                    <a:lnTo>
                      <a:pt x="19050" y="285750"/>
                    </a:lnTo>
                    <a:cubicBezTo>
                      <a:pt x="8529" y="285750"/>
                      <a:pt x="0" y="277221"/>
                      <a:pt x="0" y="2667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63" name="Polygon 63"/>
              <p:cNvSpPr/>
              <p:nvPr/>
            </p:nvSpPr>
            <p:spPr>
              <a:xfrm>
                <a:off x="10058400" y="229552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76200" y="0"/>
                    </a:moveTo>
                    <a:lnTo>
                      <a:pt x="95250" y="57150"/>
                    </a:lnTo>
                    <a:lnTo>
                      <a:pt x="152400" y="57150"/>
                    </a:lnTo>
                    <a:lnTo>
                      <a:pt x="104775" y="95250"/>
                    </a:lnTo>
                    <a:lnTo>
                      <a:pt x="123825" y="152400"/>
                    </a:lnTo>
                    <a:lnTo>
                      <a:pt x="76200" y="114300"/>
                    </a:lnTo>
                    <a:lnTo>
                      <a:pt x="28575" y="152400"/>
                    </a:lnTo>
                    <a:lnTo>
                      <a:pt x="47625" y="95250"/>
                    </a:lnTo>
                    <a:lnTo>
                      <a:pt x="0" y="57150"/>
                    </a:lnTo>
                    <a:lnTo>
                      <a:pt x="57150" y="57150"/>
                    </a:lnTo>
                    <a:close/>
                  </a:path>
                </a:pathLst>
              </a:custGeom>
              <a:solidFill>
                <a:srgbClr val="38BDF8"/>
              </a:solidFill>
              <a:ln>
                <a:noFill/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9473717" y="3282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教学成果</a:t>
              </a:r>
              <a:endParaRPr lang="zh-CN" sz="18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624985" y="3709035"/>
              <a:ext cx="7334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 项</a:t>
              </a:r>
              <a:endParaRPr lang="zh-CN" sz="270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257919" y="40928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国家级教学成果奖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Line 68"/>
            <p:cNvSpPr/>
            <p:nvPr/>
          </p:nvSpPr>
          <p:spPr>
            <a:xfrm>
              <a:off x="8553450" y="4429125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14288">
              <a:solidFill>
                <a:srgbClr val="EEF4FF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560052" y="4600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核心优势</a:t>
              </a:r>
              <a:endParaRPr lang="zh-CN" sz="15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153420" y="4854892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五星口碑 · 卓越培养</a:t>
              </a:r>
              <a:endParaRPr lang="zh-CN" sz="13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2" name="Line 72"/>
          <p:cNvSpPr/>
          <p:nvPr/>
        </p:nvSpPr>
        <p:spPr>
          <a:xfrm>
            <a:off x="2200275" y="52387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BDD7FF"/>
            </a:solidFill>
            <a:prstDash val="dash"/>
          </a:ln>
        </p:spPr>
      </p:sp>
      <p:sp>
        <p:nvSpPr>
          <p:cNvPr id="73" name="Line 73"/>
          <p:cNvSpPr/>
          <p:nvPr/>
        </p:nvSpPr>
        <p:spPr>
          <a:xfrm>
            <a:off x="6096000" y="52387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BDD7FF"/>
            </a:solidFill>
            <a:prstDash val="dash"/>
          </a:ln>
        </p:spPr>
      </p:sp>
      <p:sp>
        <p:nvSpPr>
          <p:cNvPr id="74" name="Line 74"/>
          <p:cNvSpPr/>
          <p:nvPr/>
        </p:nvSpPr>
        <p:spPr>
          <a:xfrm>
            <a:off x="9991725" y="52387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BDD7FF"/>
            </a:solidFill>
            <a:prstDash val="dash"/>
          </a:ln>
        </p:spPr>
      </p:sp>
      <p:grpSp>
        <p:nvGrpSpPr>
          <p:cNvPr id="83" name="Group 83"/>
          <p:cNvGrpSpPr/>
          <p:nvPr/>
        </p:nvGrpSpPr>
        <p:grpSpPr>
          <a:xfrm>
            <a:off x="3238500" y="5619750"/>
            <a:ext cx="5715000" cy="762000"/>
            <a:chOff x="3238500" y="5619750"/>
            <a:chExt cx="5715000" cy="762000"/>
          </a:xfrm>
        </p:grpSpPr>
        <p:sp>
          <p:nvSpPr>
            <p:cNvPr id="75" name="Freeform 75"/>
            <p:cNvSpPr/>
            <p:nvPr/>
          </p:nvSpPr>
          <p:spPr>
            <a:xfrm>
              <a:off x="3238500" y="5619750"/>
              <a:ext cx="5715000" cy="762000"/>
            </a:xfrm>
            <a:custGeom>
              <a:avLst/>
              <a:gdLst/>
              <a:ahLst/>
              <a:cxnLst/>
              <a:rect l="l" t="t" r="r" b="b"/>
              <a:pathLst>
                <a:path w="5715000" h="762000">
                  <a:moveTo>
                    <a:pt x="381000" y="0"/>
                  </a:moveTo>
                  <a:lnTo>
                    <a:pt x="5334000" y="0"/>
                  </a:lnTo>
                  <a:cubicBezTo>
                    <a:pt x="5544420" y="0"/>
                    <a:pt x="5715000" y="170580"/>
                    <a:pt x="5715000" y="381000"/>
                  </a:cubicBezTo>
                  <a:lnTo>
                    <a:pt x="5715000" y="381000"/>
                  </a:lnTo>
                  <a:cubicBezTo>
                    <a:pt x="5715000" y="591420"/>
                    <a:pt x="5544420" y="762000"/>
                    <a:pt x="5334000" y="762000"/>
                  </a:cubicBezTo>
                  <a:lnTo>
                    <a:pt x="381000" y="762000"/>
                  </a:lnTo>
                  <a:cubicBezTo>
                    <a:pt x="170580" y="762000"/>
                    <a:pt x="0" y="591420"/>
                    <a:pt x="0" y="381000"/>
                  </a:cubicBezTo>
                  <a:lnTo>
                    <a:pt x="0" y="381000"/>
                  </a:ln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8FBFF"/>
            </a:solidFill>
            <a:ln w="14288">
              <a:solidFill>
                <a:srgbClr val="BDD7FF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022027" y="58540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家长满意度</a:t>
              </a:r>
              <a:endParaRPr lang="zh-CN" sz="1800" b="1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Freeform 77"/>
            <p:cNvSpPr/>
            <p:nvPr/>
          </p:nvSpPr>
          <p:spPr>
            <a:xfrm>
              <a:off x="5402580" y="5910580"/>
              <a:ext cx="190500" cy="180975"/>
            </a:xfrm>
            <a:custGeom>
              <a:avLst/>
              <a:gdLst/>
              <a:ahLst/>
              <a:cxnLst/>
              <a:rect l="l" t="t" r="r" b="b"/>
              <a:pathLst>
                <a:path w="190500" h="180975">
                  <a:moveTo>
                    <a:pt x="95250" y="0"/>
                  </a:moveTo>
                  <a:lnTo>
                    <a:pt x="119062" y="66675"/>
                  </a:lnTo>
                  <a:lnTo>
                    <a:pt x="190500" y="66675"/>
                  </a:lnTo>
                  <a:lnTo>
                    <a:pt x="133350" y="109538"/>
                  </a:lnTo>
                  <a:lnTo>
                    <a:pt x="157162" y="180975"/>
                  </a:lnTo>
                  <a:lnTo>
                    <a:pt x="95250" y="138112"/>
                  </a:lnTo>
                  <a:lnTo>
                    <a:pt x="33338" y="180975"/>
                  </a:lnTo>
                  <a:lnTo>
                    <a:pt x="57150" y="109538"/>
                  </a:lnTo>
                  <a:lnTo>
                    <a:pt x="0" y="66675"/>
                  </a:lnTo>
                  <a:lnTo>
                    <a:pt x="71438" y="66675"/>
                  </a:lnTo>
                  <a:close/>
                </a:path>
              </a:pathLst>
            </a:custGeom>
            <a:solidFill>
              <a:srgbClr val="38BDF8"/>
            </a:solidFill>
            <a:ln>
              <a:noFill/>
            </a:ln>
          </p:spPr>
        </p:sp>
        <p:sp>
          <p:nvSpPr>
            <p:cNvPr id="78" name="Freeform 78"/>
            <p:cNvSpPr/>
            <p:nvPr/>
          </p:nvSpPr>
          <p:spPr>
            <a:xfrm>
              <a:off x="5688330" y="5910580"/>
              <a:ext cx="190500" cy="180975"/>
            </a:xfrm>
            <a:custGeom>
              <a:avLst/>
              <a:gdLst/>
              <a:ahLst/>
              <a:cxnLst/>
              <a:rect l="l" t="t" r="r" b="b"/>
              <a:pathLst>
                <a:path w="190500" h="180975">
                  <a:moveTo>
                    <a:pt x="95250" y="0"/>
                  </a:moveTo>
                  <a:lnTo>
                    <a:pt x="119062" y="66675"/>
                  </a:lnTo>
                  <a:lnTo>
                    <a:pt x="190500" y="66675"/>
                  </a:lnTo>
                  <a:lnTo>
                    <a:pt x="133350" y="109538"/>
                  </a:lnTo>
                  <a:lnTo>
                    <a:pt x="157162" y="180975"/>
                  </a:lnTo>
                  <a:lnTo>
                    <a:pt x="95250" y="138112"/>
                  </a:lnTo>
                  <a:lnTo>
                    <a:pt x="33338" y="180975"/>
                  </a:lnTo>
                  <a:lnTo>
                    <a:pt x="57150" y="109538"/>
                  </a:lnTo>
                  <a:lnTo>
                    <a:pt x="0" y="66675"/>
                  </a:lnTo>
                  <a:lnTo>
                    <a:pt x="71438" y="66675"/>
                  </a:lnTo>
                  <a:close/>
                </a:path>
              </a:pathLst>
            </a:custGeom>
            <a:solidFill>
              <a:srgbClr val="38BDF8"/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5974080" y="5910580"/>
              <a:ext cx="190500" cy="180975"/>
            </a:xfrm>
            <a:custGeom>
              <a:avLst/>
              <a:gdLst/>
              <a:ahLst/>
              <a:cxnLst/>
              <a:rect l="l" t="t" r="r" b="b"/>
              <a:pathLst>
                <a:path w="190500" h="180975">
                  <a:moveTo>
                    <a:pt x="95250" y="0"/>
                  </a:moveTo>
                  <a:lnTo>
                    <a:pt x="119062" y="66675"/>
                  </a:lnTo>
                  <a:lnTo>
                    <a:pt x="190500" y="66675"/>
                  </a:lnTo>
                  <a:lnTo>
                    <a:pt x="133350" y="109538"/>
                  </a:lnTo>
                  <a:lnTo>
                    <a:pt x="157162" y="180975"/>
                  </a:lnTo>
                  <a:lnTo>
                    <a:pt x="95250" y="138112"/>
                  </a:lnTo>
                  <a:lnTo>
                    <a:pt x="33338" y="180975"/>
                  </a:lnTo>
                  <a:lnTo>
                    <a:pt x="57150" y="109538"/>
                  </a:lnTo>
                  <a:lnTo>
                    <a:pt x="0" y="66675"/>
                  </a:lnTo>
                  <a:lnTo>
                    <a:pt x="71438" y="66675"/>
                  </a:lnTo>
                  <a:close/>
                </a:path>
              </a:pathLst>
            </a:custGeom>
            <a:solidFill>
              <a:srgbClr val="38BDF8"/>
            </a:solidFill>
            <a:ln>
              <a:noFill/>
            </a:ln>
          </p:spPr>
        </p:sp>
        <p:sp>
          <p:nvSpPr>
            <p:cNvPr id="80" name="Freeform 80"/>
            <p:cNvSpPr/>
            <p:nvPr/>
          </p:nvSpPr>
          <p:spPr>
            <a:xfrm>
              <a:off x="6259830" y="5910580"/>
              <a:ext cx="190500" cy="180975"/>
            </a:xfrm>
            <a:custGeom>
              <a:avLst/>
              <a:gdLst/>
              <a:ahLst/>
              <a:cxnLst/>
              <a:rect l="l" t="t" r="r" b="b"/>
              <a:pathLst>
                <a:path w="190500" h="180975">
                  <a:moveTo>
                    <a:pt x="95250" y="0"/>
                  </a:moveTo>
                  <a:lnTo>
                    <a:pt x="119062" y="66675"/>
                  </a:lnTo>
                  <a:lnTo>
                    <a:pt x="190500" y="66675"/>
                  </a:lnTo>
                  <a:lnTo>
                    <a:pt x="133350" y="109538"/>
                  </a:lnTo>
                  <a:lnTo>
                    <a:pt x="157162" y="180975"/>
                  </a:lnTo>
                  <a:lnTo>
                    <a:pt x="95250" y="138112"/>
                  </a:lnTo>
                  <a:lnTo>
                    <a:pt x="33338" y="180975"/>
                  </a:lnTo>
                  <a:lnTo>
                    <a:pt x="57150" y="109538"/>
                  </a:lnTo>
                  <a:lnTo>
                    <a:pt x="0" y="66675"/>
                  </a:lnTo>
                  <a:lnTo>
                    <a:pt x="71438" y="66675"/>
                  </a:lnTo>
                  <a:close/>
                </a:path>
              </a:pathLst>
            </a:custGeom>
            <a:solidFill>
              <a:srgbClr val="38BDF8"/>
            </a:solidFill>
            <a:ln>
              <a:noFill/>
            </a:ln>
          </p:spPr>
        </p:sp>
        <p:sp>
          <p:nvSpPr>
            <p:cNvPr id="81" name="Freeform 81"/>
            <p:cNvSpPr/>
            <p:nvPr/>
          </p:nvSpPr>
          <p:spPr>
            <a:xfrm>
              <a:off x="6545580" y="5910580"/>
              <a:ext cx="190500" cy="180975"/>
            </a:xfrm>
            <a:custGeom>
              <a:avLst/>
              <a:gdLst/>
              <a:ahLst/>
              <a:cxnLst/>
              <a:rect l="l" t="t" r="r" b="b"/>
              <a:pathLst>
                <a:path w="190500" h="180975">
                  <a:moveTo>
                    <a:pt x="95250" y="0"/>
                  </a:moveTo>
                  <a:lnTo>
                    <a:pt x="119062" y="66675"/>
                  </a:lnTo>
                  <a:lnTo>
                    <a:pt x="190500" y="66675"/>
                  </a:lnTo>
                  <a:lnTo>
                    <a:pt x="133350" y="109538"/>
                  </a:lnTo>
                  <a:lnTo>
                    <a:pt x="157162" y="180975"/>
                  </a:lnTo>
                  <a:lnTo>
                    <a:pt x="95250" y="138112"/>
                  </a:lnTo>
                  <a:lnTo>
                    <a:pt x="33338" y="180975"/>
                  </a:lnTo>
                  <a:lnTo>
                    <a:pt x="57150" y="109538"/>
                  </a:lnTo>
                  <a:lnTo>
                    <a:pt x="0" y="66675"/>
                  </a:lnTo>
                  <a:lnTo>
                    <a:pt x="71438" y="66675"/>
                  </a:lnTo>
                  <a:close/>
                </a:path>
              </a:pathLst>
            </a:custGeom>
            <a:solidFill>
              <a:srgbClr val="38BDF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320844" y="5886450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2563EB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★★★★★</a:t>
              </a:r>
              <a:endParaRPr lang="en-US" sz="1500" b="1" dirty="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4" name="Line 84"/>
          <p:cNvSpPr/>
          <p:nvPr/>
        </p:nvSpPr>
        <p:spPr>
          <a:xfrm>
            <a:off x="533400" y="66675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EF4FF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9794500" y="6697028"/>
            <a:ext cx="18694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263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北理工 · 前沿布局与培养口碑</a:t>
            </a:r>
            <a:endParaRPr lang="zh-CN" sz="1050" dirty="0">
              <a:solidFill>
                <a:srgbClr val="52637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WPS 演示</Application>
  <PresentationFormat>On-screen Show (16:9)</PresentationFormat>
  <Paragraphs>96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又又又又又又又又又又又又又改名了</cp:lastModifiedBy>
  <cp:revision>2</cp:revision>
  <dcterms:created xsi:type="dcterms:W3CDTF">2026-07-09T10:17:00Z</dcterms:created>
  <dcterms:modified xsi:type="dcterms:W3CDTF">2026-07-09T10:19:17Z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99D8B24B7AAB409CAFBB0A500D38F8D5_12</vt:lpwstr>
  </property>
  <property fmtid="{D5CDD505-2E9C-101B-9397-08002B2CF9AE}" pid="3" name="KSOProductBuildVer">
    <vt:lpwstr>2052-12.1.0.26895</vt:lpwstr>
  </property>
</Properties>
</file>