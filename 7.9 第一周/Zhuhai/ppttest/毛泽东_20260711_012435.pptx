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毛泽东：缔造者与思想者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9133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1893-1976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伟人序章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907155"/>
            <a:ext cx="352129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一个人如何重塑一个民族</a:t>
            </a:r>
          </a:p>
        </p:txBody>
      </p:sp>
      <p:sp>
        <p:nvSpPr>
          <p:cNvPr id="11" name="Line 11"/>
          <p:cNvSpPr/>
          <p:nvPr/>
        </p:nvSpPr>
        <p:spPr>
          <a:xfrm>
            <a:off x="5162550" y="18669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2" name="Line 12"/>
          <p:cNvSpPr/>
          <p:nvPr/>
        </p:nvSpPr>
        <p:spPr>
          <a:xfrm>
            <a:off x="5162550" y="381952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多元身份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24276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革命家·思想家·军事家·诗人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47716" y="3024188"/>
            <a:ext cx="4109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中国共产党、中国人民解放军和中华人民共和国的主要缔造者之一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48288" y="3584734"/>
            <a:ext cx="21196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毛泽东是中共、解放军、共和国缔造者之一</a:t>
            </a:r>
          </a:p>
        </p:txBody>
      </p:sp>
      <p:sp>
        <p:nvSpPr>
          <p:cNvPr id="17" name="Line 17"/>
          <p:cNvSpPr/>
          <p:nvPr/>
        </p:nvSpPr>
        <p:spPr>
          <a:xfrm>
            <a:off x="5162550" y="39814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18" name="Line 18"/>
          <p:cNvSpPr/>
          <p:nvPr/>
        </p:nvSpPr>
        <p:spPr>
          <a:xfrm>
            <a:off x="5162550" y="59340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45430" y="4198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标志性语录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46192" y="4589145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枪杆子里面出政权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47716" y="5138738"/>
            <a:ext cx="31486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1927年八七会议上提出，成为武装革命的核心口号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8288" y="5699284"/>
            <a:ext cx="15643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八七会议提出枪杆子里面出政权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18231" y="6489859"/>
              <a:ext cx="24695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毛泽东是中共、解放军、共和国缔造者之一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历史足迹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从韶山冲走向天安门，每一步都是转折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4332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11455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2183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98370"/>
            <a:ext cx="9693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1893 出生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42" y="2588895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湖南湘潭韶山冲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17682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4489132" y="3743325"/>
            <a:ext cx="3213735" cy="9525"/>
          </a:xfrm>
          <a:custGeom>
            <a:avLst/>
            <a:gdLst/>
            <a:ahLst/>
            <a:cxnLst/>
            <a:rect l="l" t="t" r="r" b="b"/>
            <a:pathLst>
              <a:path w="3213735" h="9525">
                <a:moveTo>
                  <a:pt x="0" y="0"/>
                </a:moveTo>
                <a:lnTo>
                  <a:pt x="3213735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4489132" y="211455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14433" y="22183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95862" y="2198370"/>
            <a:ext cx="9693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1921 建党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96624" y="2588895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参与创建中国共产党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02918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8274368" y="374332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8274368" y="211455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399668" y="22183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81098" y="2198370"/>
            <a:ext cx="9693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1935 遵义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81860" y="2588895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遵义会议进入核心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704850" y="579120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704850" y="416242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0151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1580" y="4246245"/>
            <a:ext cx="9693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1949 建国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2342" y="4636770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宣告中华人民共和国成立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17682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4489132" y="5791200"/>
            <a:ext cx="3213735" cy="9525"/>
          </a:xfrm>
          <a:custGeom>
            <a:avLst/>
            <a:gdLst/>
            <a:ahLst/>
            <a:cxnLst/>
            <a:rect l="l" t="t" r="r" b="b"/>
            <a:pathLst>
              <a:path w="3213735" h="9525">
                <a:moveTo>
                  <a:pt x="0" y="0"/>
                </a:moveTo>
                <a:lnTo>
                  <a:pt x="3213735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4489132" y="41624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614433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95862" y="4246245"/>
            <a:ext cx="9693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1966 文革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96624" y="4636770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发动文化大革命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02918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8274368" y="579120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8274368" y="416242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399668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81098" y="4246245"/>
            <a:ext cx="9693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1976 逝世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81860" y="4636770"/>
            <a:ext cx="13685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9月9日北京逝世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43" name="Line 4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40265" y="6489859"/>
              <a:ext cx="1625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1893年12月26日生于湘潭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思想武器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毛泽东思想是革命胜利的理论指南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枪杆子里出政权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武装斗争夺取政权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8566" y="3094673"/>
            <a:ext cx="31486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1927年八七会议提出，强调革命必须依靠武装力量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575209"/>
            <a:ext cx="15643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八七会议提出枪杆子里面出政权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17682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317682" y="196215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00562" y="2293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群众路线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01324" y="2665095"/>
            <a:ext cx="24944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一切为了群众，一切依靠群众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2848" y="3254693"/>
            <a:ext cx="31203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从群众中来，到群众中去，成为党的根本工作路线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02918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8102918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85798" y="2293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新民主主义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86560" y="2665095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新民主主义革命理论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88084" y="3254693"/>
            <a:ext cx="310438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1940年《新民主主义论》系统阐述，区分旧民主主义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革命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426018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2426018" y="401002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608898" y="43414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论持久战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09659" y="4712970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持久战与人民战争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11184" y="5302568"/>
            <a:ext cx="31486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1938年发表，批驳亡国论和速胜论，指导抗日战争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10300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10300" y="401002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393180" y="4341495"/>
            <a:ext cx="21355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没有调查就没有发言权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93942" y="4712970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实事求是的思想方法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95466" y="5302568"/>
            <a:ext cx="28659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1930年《反对本本主义》提出，强调调查研究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3" name="Line 3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95885" y="6489859"/>
              <a:ext cx="19142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八七会议提出枪杆子里面出政权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建国与建设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现代化建设的巨大成就与政治运动的深刻教训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Line 7"/>
          <p:cNvSpPr/>
          <p:nvPr/>
        </p:nvSpPr>
        <p:spPr>
          <a:xfrm>
            <a:off x="5334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2563EB"/>
            </a:solidFill>
          </a:ln>
        </p:spPr>
      </p:sp>
      <p:sp>
        <p:nvSpPr>
          <p:cNvPr id="8" name="Line 8"/>
          <p:cNvSpPr/>
          <p:nvPr/>
        </p:nvSpPr>
        <p:spPr>
          <a:xfrm>
            <a:off x="5334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1337" y="2083594"/>
            <a:ext cx="50518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成就</a:t>
            </a:r>
          </a:p>
        </p:txBody>
      </p:sp>
      <p:sp>
        <p:nvSpPr>
          <p:cNvPr id="10" name="Line 10"/>
          <p:cNvSpPr/>
          <p:nvPr/>
        </p:nvSpPr>
        <p:spPr>
          <a:xfrm>
            <a:off x="7239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1" name="Line 11"/>
          <p:cNvSpPr/>
          <p:nvPr/>
        </p:nvSpPr>
        <p:spPr>
          <a:xfrm>
            <a:off x="723900" y="3546158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6780" y="278892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7542" y="3179445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抗美援朝立国之战</a:t>
            </a:r>
          </a:p>
        </p:txBody>
      </p:sp>
      <p:sp>
        <p:nvSpPr>
          <p:cNvPr id="14" name="Line 14"/>
          <p:cNvSpPr/>
          <p:nvPr/>
        </p:nvSpPr>
        <p:spPr>
          <a:xfrm>
            <a:off x="723900" y="3708082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15" name="Line 15"/>
          <p:cNvSpPr/>
          <p:nvPr/>
        </p:nvSpPr>
        <p:spPr>
          <a:xfrm>
            <a:off x="723900" y="4683442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6780" y="3925252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成就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316730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两弹一星</a:t>
            </a:r>
          </a:p>
        </p:txBody>
      </p:sp>
      <p:sp>
        <p:nvSpPr>
          <p:cNvPr id="18" name="Line 18"/>
          <p:cNvSpPr/>
          <p:nvPr/>
        </p:nvSpPr>
        <p:spPr>
          <a:xfrm>
            <a:off x="723900" y="4845368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9" name="Line 19"/>
          <p:cNvSpPr/>
          <p:nvPr/>
        </p:nvSpPr>
        <p:spPr>
          <a:xfrm>
            <a:off x="7239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6780" y="5062538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7542" y="545306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工业化与扫盲</a:t>
            </a:r>
          </a:p>
        </p:txBody>
      </p:sp>
      <p:sp>
        <p:nvSpPr>
          <p:cNvPr id="22" name="Line 22"/>
          <p:cNvSpPr/>
          <p:nvPr/>
        </p:nvSpPr>
        <p:spPr>
          <a:xfrm>
            <a:off x="62103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7C3AED"/>
            </a:solidFill>
          </a:ln>
        </p:spPr>
      </p:sp>
      <p:sp>
        <p:nvSpPr>
          <p:cNvPr id="23" name="Line 23"/>
          <p:cNvSpPr/>
          <p:nvPr/>
        </p:nvSpPr>
        <p:spPr>
          <a:xfrm>
            <a:off x="62103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468237" y="2083594"/>
            <a:ext cx="50518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争议</a:t>
            </a:r>
          </a:p>
        </p:txBody>
      </p:sp>
      <p:sp>
        <p:nvSpPr>
          <p:cNvPr id="25" name="Line 25"/>
          <p:cNvSpPr/>
          <p:nvPr/>
        </p:nvSpPr>
        <p:spPr>
          <a:xfrm>
            <a:off x="64008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26" name="Line 26"/>
          <p:cNvSpPr/>
          <p:nvPr/>
        </p:nvSpPr>
        <p:spPr>
          <a:xfrm>
            <a:off x="6400800" y="3546158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583680" y="278892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争议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84442" y="3179445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大跃进与三年困难</a:t>
            </a:r>
          </a:p>
        </p:txBody>
      </p:sp>
      <p:sp>
        <p:nvSpPr>
          <p:cNvPr id="29" name="Line 29"/>
          <p:cNvSpPr/>
          <p:nvPr/>
        </p:nvSpPr>
        <p:spPr>
          <a:xfrm>
            <a:off x="6400800" y="3708082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30" name="Line 30"/>
          <p:cNvSpPr/>
          <p:nvPr/>
        </p:nvSpPr>
        <p:spPr>
          <a:xfrm>
            <a:off x="6400800" y="4683442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583680" y="3925252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争议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84442" y="4316730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文化大革命</a:t>
            </a:r>
          </a:p>
        </p:txBody>
      </p:sp>
      <p:sp>
        <p:nvSpPr>
          <p:cNvPr id="33" name="Line 33"/>
          <p:cNvSpPr/>
          <p:nvPr/>
        </p:nvSpPr>
        <p:spPr>
          <a:xfrm>
            <a:off x="6400800" y="4845368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34" name="Line 34"/>
          <p:cNvSpPr/>
          <p:nvPr/>
        </p:nvSpPr>
        <p:spPr>
          <a:xfrm>
            <a:off x="64008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583680" y="5062538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争议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84442" y="5453062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政治运动与个人崇拜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7" name="Line 3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18008" y="6489859"/>
              <a:ext cx="14699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抗美援朝保家卫国决策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人文侧面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诗词、读书、书法构成毛泽东的另一面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诗词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1263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《沁园春·雪》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7682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17682" y="196215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0562" y="229362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读书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1324" y="2665095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通读二十四史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02918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02918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85798" y="229362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书法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560" y="2665095"/>
            <a:ext cx="13685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独创'毛体'草书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426018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2426018" y="401002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608898" y="434149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谈话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09659" y="4712970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与斯诺畅谈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10300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10300" y="401002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3180" y="434149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趣闻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93942" y="4712970"/>
            <a:ext cx="11777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'二十八画生'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09812" y="6489859"/>
              <a:ext cx="20863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《沁园春·雪》在重庆谈判期间发表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尾声与思考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历史是人民书写的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oundRect">
            <a:avLst>
              <a:gd name="adj" fmla="val 491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762250"/>
            <a:ext cx="11125200" cy="19050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2126456"/>
            <a:ext cx="374163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毛泽东与当代中国的深层关联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229100"/>
            <a:ext cx="5457825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周期律对话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7042" y="3750945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跳出历史周期率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21419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1945年黄炎培访问延安，毛泽东谈民主新路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72225" y="44577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世界影响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毛主义全球传播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结尾思考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历史是人民书写的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07125" y="6489859"/>
              <a:ext cx="24917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1945年黄炎培访问延安，毛泽东谈民主新路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2026-07-10T17:24:35Z</dcterms:created>
  <dcterms:modified xsi:type="dcterms:W3CDTF">2026-07-10T17:24:35Z</dcterms:modified>
  <cp:category/>
  <cp:contentStatus/>
</cp:coreProperties>
</file>