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  <Relationship Id="rId11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各位评委老师好，今天我们汇报的主题是‘为什么北理工是最好的985大学’。我们从四个维度展开：红色基因、顶尖学科、国家贡献和未来发展。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北理工的前身是1940年创办的延安自然科学院，是中国共产党创办的第一所理工科大学。从延安走来，红色基因奠定了它服务国家战略的根基。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北理工的兵器科学与技术学科连续五年被评为A+，稳居全国第一。控制、光学、机械、材料等学科也均为A类，形成了强大的国防科技学科群。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北理工在阅兵装备研制数量上全国第一，连续三年获得国家科技奖一等奖。同时，学校积极布局AI实践实验室和无人系统研究院，以红色基因驱动未来科技，这才是最好的985大学应有的担当。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</p:sp>
      <p:grpSp>
        <p:nvGrpSpPr>
          <p:cNvPr id="26" name="Group 2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Line 3"/>
            <p:cNvSpPr/>
            <p:nvPr/>
          </p:nvSpPr>
          <p:spPr>
            <a:xfrm>
              <a:off x="0" y="76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BDD7FF">
                  <a:alpha val="15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0" y="1524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BDD7FF">
                  <a:alpha val="15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0" y="228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BDD7FF">
                  <a:alpha val="15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0" y="304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BDD7FF">
                  <a:alpha val="15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0" y="3810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BDD7FF">
                  <a:alpha val="15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0" y="457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BDD7FF">
                  <a:alpha val="15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0" y="5334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BDD7FF">
                  <a:alpha val="150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BDD7FF">
                  <a:alpha val="150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76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BDD7FF">
                  <a:alpha val="15000"/>
                </a:srgb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152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BDD7FF">
                  <a:alpha val="15000"/>
                </a:srgb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228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BDD7FF">
                  <a:alpha val="15000"/>
                </a:srgb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BDD7FF">
                  <a:alpha val="15000"/>
                </a:srgbClr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381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BDD7FF">
                  <a:alpha val="15000"/>
                </a:srgbClr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457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BDD7FF">
                  <a:alpha val="15000"/>
                </a:srgbClr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533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BDD7FF">
                  <a:alpha val="15000"/>
                </a:srgbClr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BDD7FF">
                  <a:alpha val="15000"/>
                </a:srgbClr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685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BDD7FF">
                  <a:alpha val="15000"/>
                </a:srgbClr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762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BDD7FF">
                  <a:alpha val="15000"/>
                </a:srgbClr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838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BDD7FF">
                  <a:alpha val="15000"/>
                </a:srgbClr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BDD7FF">
                  <a:alpha val="15000"/>
                </a:srgbClr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990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BDD7FF">
                  <a:alpha val="15000"/>
                </a:srgbClr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1066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BDD7FF">
                  <a:alpha val="15000"/>
                </a:srgbClr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1143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BDD7FF">
                  <a:alpha val="15000"/>
                </a:srgbClr>
              </a:solidFill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3641750" y="644842"/>
            <a:ext cx="4908499" cy="989267"/>
            <a:chOff x="3641750" y="644842"/>
            <a:chExt cx="4908499" cy="989267"/>
          </a:xfrm>
        </p:grpSpPr>
        <p:sp>
          <p:nvSpPr>
            <p:cNvPr id="27" name="TextBox 27"/>
            <p:cNvSpPr txBox="1"/>
            <p:nvPr/>
          </p:nvSpPr>
          <p:spPr>
            <a:xfrm>
              <a:off x="3664420" y="644842"/>
              <a:ext cx="486316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顶尖学科：兵器科学与技术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641750" y="1282065"/>
              <a:ext cx="490849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52637A"/>
                  </a:solidFill>
                  <a:latin typeface="Arial"/>
                  <a:ea typeface="Microsoft YaHei"/>
                  <a:cs typeface="Arial"/>
                </a:rPr>
                <a:t>全国唯一连续五年A+评估，国之重器的摇篮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533400" y="2286000"/>
            <a:ext cx="11125200" cy="4048125"/>
            <a:chOff x="533400" y="2286000"/>
            <a:chExt cx="11125200" cy="4048125"/>
          </a:xfrm>
        </p:grpSpPr>
        <p:sp>
          <p:nvSpPr>
            <p:cNvPr id="30" name="Rectangle 30"/>
            <p:cNvSpPr/>
            <p:nvPr/>
          </p:nvSpPr>
          <p:spPr>
            <a:xfrm>
              <a:off x="533400" y="2286000"/>
              <a:ext cx="5410200" cy="1857375"/>
            </a:xfrm>
            <a:prstGeom prst="roundRect">
              <a:avLst>
                <a:gd name="adj" fmla="val 7179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745808" y="2498408"/>
              <a:ext cx="219075" cy="284797"/>
            </a:xfrm>
            <a:custGeom>
              <a:avLst/>
              <a:gdLst/>
              <a:ahLst/>
              <a:cxnLst/>
              <a:rect l="l" t="t" r="r" b="b"/>
              <a:pathLst>
                <a:path w="219075" h="284797">
                  <a:moveTo>
                    <a:pt x="109538" y="0"/>
                  </a:moveTo>
                  <a:lnTo>
                    <a:pt x="0" y="219075"/>
                  </a:lnTo>
                  <a:lnTo>
                    <a:pt x="65723" y="219075"/>
                  </a:lnTo>
                  <a:lnTo>
                    <a:pt x="65723" y="284797"/>
                  </a:lnTo>
                  <a:lnTo>
                    <a:pt x="153353" y="284797"/>
                  </a:lnTo>
                  <a:lnTo>
                    <a:pt x="153353" y="219075"/>
                  </a:lnTo>
                  <a:lnTo>
                    <a:pt x="219075" y="219075"/>
                  </a:lnTo>
                  <a:close/>
                </a:path>
              </a:pathLst>
            </a:custGeom>
            <a:solidFill>
              <a:srgbClr val="FFFFFF">
                <a:alpha val="95000"/>
              </a:srgbClr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228344" y="2599372"/>
              <a:ext cx="194925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兵器科学与技术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219200" y="3024188"/>
              <a:ext cx="654177" cy="7334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750" b="1" dirty="0">
                  <a:solidFill>
                    <a:srgbClr val="38BDF8"/>
                  </a:solidFill>
                  <a:latin typeface="Arial"/>
                  <a:ea typeface="Arial"/>
                  <a:cs typeface="Arial"/>
                </a:rPr>
                <a:t>A+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372868" y="32508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>
                      <a:alphaMod val="85000"/>
                    </a:srgbClr>
                  </a:solidFill>
                  <a:latin typeface="Arial"/>
                  <a:ea typeface="Microsoft YaHei"/>
                  <a:cs typeface="Arial"/>
                </a:rPr>
                <a:t>全国第一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248400" y="2286000"/>
              <a:ext cx="5410200" cy="1857375"/>
            </a:xfrm>
            <a:prstGeom prst="roundRect">
              <a:avLst>
                <a:gd name="adj" fmla="val 7179"/>
              </a:avLst>
            </a:prstGeom>
            <a:solidFill>
              <a:srgbClr val="7C3AED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6504622" y="2542222"/>
              <a:ext cx="131445" cy="131445"/>
            </a:xfrm>
            <a:prstGeom prst="ellipse">
              <a:avLst/>
            </a:prstGeom>
            <a:solidFill>
              <a:srgbClr val="FFFFFF">
                <a:alpha val="95000"/>
              </a:srgbClr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6460808" y="2498408"/>
              <a:ext cx="219075" cy="219075"/>
            </a:xfrm>
            <a:custGeom>
              <a:avLst/>
              <a:gdLst/>
              <a:ahLst/>
              <a:cxnLst/>
              <a:rect l="l" t="t" r="r" b="b"/>
              <a:pathLst>
                <a:path w="219075" h="219075">
                  <a:moveTo>
                    <a:pt x="109538" y="0"/>
                  </a:moveTo>
                  <a:lnTo>
                    <a:pt x="109538" y="32861"/>
                  </a:lnTo>
                  <a:moveTo>
                    <a:pt x="109538" y="186214"/>
                  </a:moveTo>
                  <a:lnTo>
                    <a:pt x="109538" y="219075"/>
                  </a:lnTo>
                  <a:moveTo>
                    <a:pt x="0" y="109538"/>
                  </a:moveTo>
                  <a:lnTo>
                    <a:pt x="32861" y="109538"/>
                  </a:lnTo>
                  <a:moveTo>
                    <a:pt x="186214" y="109538"/>
                  </a:moveTo>
                  <a:lnTo>
                    <a:pt x="219075" y="109538"/>
                  </a:lnTo>
                </a:path>
              </a:pathLst>
            </a:custGeom>
            <a:solidFill>
              <a:srgbClr val="000000"/>
            </a:solidFill>
            <a:ln w="23812">
              <a:solidFill>
                <a:srgbClr val="FFFFFF">
                  <a:alpha val="95000"/>
                </a:srgbClr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943344" y="2599372"/>
              <a:ext cx="194925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控制科学与工程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934200" y="3024188"/>
              <a:ext cx="654177" cy="7334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750" b="1" dirty="0">
                  <a:solidFill>
                    <a:srgbClr val="38BDF8"/>
                  </a:solidFill>
                  <a:latin typeface="Arial"/>
                  <a:ea typeface="Arial"/>
                  <a:cs typeface="Arial"/>
                </a:rPr>
                <a:t>A+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4476750"/>
              <a:ext cx="5410200" cy="1857375"/>
            </a:xfrm>
            <a:prstGeom prst="roundRect">
              <a:avLst>
                <a:gd name="adj" fmla="val 7179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41" name="Freeform 41"/>
            <p:cNvSpPr/>
            <p:nvPr/>
          </p:nvSpPr>
          <p:spPr>
            <a:xfrm>
              <a:off x="767715" y="4689158"/>
              <a:ext cx="197168" cy="219075"/>
            </a:xfrm>
            <a:custGeom>
              <a:avLst/>
              <a:gdLst/>
              <a:ahLst/>
              <a:cxnLst/>
              <a:rect l="l" t="t" r="r" b="b"/>
              <a:pathLst>
                <a:path w="197168" h="219075">
                  <a:moveTo>
                    <a:pt x="87630" y="0"/>
                  </a:moveTo>
                  <a:lnTo>
                    <a:pt x="120491" y="76676"/>
                  </a:lnTo>
                  <a:lnTo>
                    <a:pt x="197168" y="109538"/>
                  </a:lnTo>
                  <a:lnTo>
                    <a:pt x="120491" y="142399"/>
                  </a:lnTo>
                  <a:lnTo>
                    <a:pt x="153353" y="219075"/>
                  </a:lnTo>
                  <a:lnTo>
                    <a:pt x="98584" y="164306"/>
                  </a:lnTo>
                  <a:lnTo>
                    <a:pt x="43815" y="219075"/>
                  </a:lnTo>
                  <a:lnTo>
                    <a:pt x="76676" y="142399"/>
                  </a:lnTo>
                  <a:lnTo>
                    <a:pt x="0" y="109538"/>
                  </a:lnTo>
                  <a:lnTo>
                    <a:pt x="76676" y="76676"/>
                  </a:lnTo>
                  <a:close/>
                </a:path>
              </a:pathLst>
            </a:custGeom>
            <a:solidFill>
              <a:srgbClr val="FFFFFF">
                <a:alpha val="95000"/>
              </a:srgbClr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228344" y="4790122"/>
              <a:ext cx="112235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光学工程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219200" y="5214938"/>
              <a:ext cx="346139" cy="7334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750" b="1" dirty="0">
                  <a:solidFill>
                    <a:srgbClr val="38BDF8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248400" y="4476750"/>
              <a:ext cx="5410200" cy="1857375"/>
            </a:xfrm>
            <a:prstGeom prst="roundRect">
              <a:avLst>
                <a:gd name="adj" fmla="val 7179"/>
              </a:avLst>
            </a:prstGeom>
            <a:solidFill>
              <a:srgbClr val="7C3AED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6460808" y="4689158"/>
              <a:ext cx="87630" cy="87630"/>
            </a:xfrm>
            <a:prstGeom prst="ellipse">
              <a:avLst/>
            </a:prstGeom>
            <a:solidFill>
              <a:srgbClr val="FFFFFF">
                <a:alpha val="95000"/>
              </a:srgbClr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6592253" y="4689158"/>
              <a:ext cx="87630" cy="87630"/>
            </a:xfrm>
            <a:prstGeom prst="ellipse">
              <a:avLst/>
            </a:prstGeom>
            <a:solidFill>
              <a:srgbClr val="FFFFFF">
                <a:alpha val="95000"/>
              </a:srgbClr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6526530" y="4820602"/>
              <a:ext cx="87630" cy="87630"/>
            </a:xfrm>
            <a:prstGeom prst="ellipse">
              <a:avLst/>
            </a:prstGeom>
            <a:solidFill>
              <a:srgbClr val="FFFFFF">
                <a:alpha val="95000"/>
              </a:srgbClr>
            </a:solidFill>
            <a:ln>
              <a:noFill/>
            </a:ln>
          </p:spPr>
        </p:sp>
        <p:sp>
          <p:nvSpPr>
            <p:cNvPr id="48" name="Line 48"/>
            <p:cNvSpPr/>
            <p:nvPr/>
          </p:nvSpPr>
          <p:spPr>
            <a:xfrm>
              <a:off x="6504622" y="4732972"/>
              <a:ext cx="131445" cy="9525"/>
            </a:xfrm>
            <a:custGeom>
              <a:avLst/>
              <a:gdLst/>
              <a:ahLst/>
              <a:cxnLst/>
              <a:rect l="l" t="t" r="r" b="b"/>
              <a:pathLst>
                <a:path w="131445" h="9525">
                  <a:moveTo>
                    <a:pt x="0" y="0"/>
                  </a:moveTo>
                  <a:lnTo>
                    <a:pt x="131445" y="0"/>
                  </a:lnTo>
                </a:path>
              </a:pathLst>
            </a:custGeom>
            <a:noFill/>
            <a:ln w="23812">
              <a:solidFill>
                <a:srgbClr val="FFFFFF">
                  <a:alpha val="95000"/>
                </a:srgbClr>
              </a:solidFill>
            </a:ln>
          </p:spPr>
        </p:sp>
        <p:sp>
          <p:nvSpPr>
            <p:cNvPr id="49" name="Line 49"/>
            <p:cNvSpPr/>
            <p:nvPr/>
          </p:nvSpPr>
          <p:spPr>
            <a:xfrm>
              <a:off x="6504622" y="4732972"/>
              <a:ext cx="65722" cy="131445"/>
            </a:xfrm>
            <a:custGeom>
              <a:avLst/>
              <a:gdLst/>
              <a:ahLst/>
              <a:cxnLst/>
              <a:rect l="l" t="t" r="r" b="b"/>
              <a:pathLst>
                <a:path w="65722" h="131445">
                  <a:moveTo>
                    <a:pt x="0" y="0"/>
                  </a:moveTo>
                  <a:lnTo>
                    <a:pt x="65722" y="131445"/>
                  </a:lnTo>
                </a:path>
              </a:pathLst>
            </a:custGeom>
            <a:noFill/>
            <a:ln w="23812">
              <a:solidFill>
                <a:srgbClr val="FFFFFF">
                  <a:alpha val="95000"/>
                </a:srgbClr>
              </a:solidFill>
            </a:ln>
          </p:spPr>
        </p:sp>
        <p:sp>
          <p:nvSpPr>
            <p:cNvPr id="50" name="Line 50"/>
            <p:cNvSpPr/>
            <p:nvPr/>
          </p:nvSpPr>
          <p:spPr>
            <a:xfrm>
              <a:off x="6570345" y="4732972"/>
              <a:ext cx="65723" cy="131445"/>
            </a:xfrm>
            <a:custGeom>
              <a:avLst/>
              <a:gdLst/>
              <a:ahLst/>
              <a:cxnLst/>
              <a:rect l="l" t="t" r="r" b="b"/>
              <a:pathLst>
                <a:path w="65723" h="131445">
                  <a:moveTo>
                    <a:pt x="65723" y="0"/>
                  </a:moveTo>
                  <a:lnTo>
                    <a:pt x="0" y="131445"/>
                  </a:lnTo>
                </a:path>
              </a:pathLst>
            </a:custGeom>
            <a:noFill/>
            <a:ln w="23812">
              <a:solidFill>
                <a:srgbClr val="FFFFFF">
                  <a:alpha val="95000"/>
                </a:srgbClr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943344" y="4790122"/>
              <a:ext cx="112235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机械工程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934200" y="5214938"/>
              <a:ext cx="654177" cy="7334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750" b="1" dirty="0">
                  <a:solidFill>
                    <a:srgbClr val="38BDF8"/>
                  </a:solidFill>
                  <a:latin typeface="Arial"/>
                  <a:ea typeface="Arial"/>
                  <a:cs typeface="Arial"/>
                </a:rPr>
                <a:t>A-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</p:sp>
      <p:grpSp>
        <p:nvGrpSpPr>
          <p:cNvPr id="12" name="Group 12"/>
          <p:cNvGrpSpPr/>
          <p:nvPr/>
        </p:nvGrpSpPr>
        <p:grpSpPr>
          <a:xfrm>
            <a:off x="533400" y="419100"/>
            <a:ext cx="11134725" cy="6029325"/>
            <a:chOff x="533400" y="419100"/>
            <a:chExt cx="11134725" cy="6029325"/>
          </a:xfrm>
        </p:grpSpPr>
        <p:sp>
          <p:nvSpPr>
            <p:cNvPr id="3" name="Line 3"/>
            <p:cNvSpPr/>
            <p:nvPr/>
          </p:nvSpPr>
          <p:spPr>
            <a:xfrm>
              <a:off x="533400" y="4191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BDD7FF"/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533400" y="16764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BDD7FF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533400" y="29337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BDD7FF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533400" y="41910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BDD7FF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533400" y="54483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BDD7FF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533400" y="64389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BDD7FF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533400" y="419100"/>
              <a:ext cx="9525" cy="6019800"/>
            </a:xfrm>
            <a:custGeom>
              <a:avLst/>
              <a:gdLst/>
              <a:ahLst/>
              <a:cxnLst/>
              <a:rect l="l" t="t" r="r" b="b"/>
              <a:pathLst>
                <a:path w="9525" h="6019800">
                  <a:moveTo>
                    <a:pt x="0" y="0"/>
                  </a:moveTo>
                  <a:lnTo>
                    <a:pt x="0" y="6019800"/>
                  </a:lnTo>
                </a:path>
              </a:pathLst>
            </a:custGeom>
            <a:noFill/>
            <a:ln w="9525">
              <a:solidFill>
                <a:srgbClr val="BDD7FF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3333750" y="419100"/>
              <a:ext cx="9525" cy="6019800"/>
            </a:xfrm>
            <a:custGeom>
              <a:avLst/>
              <a:gdLst/>
              <a:ahLst/>
              <a:cxnLst/>
              <a:rect l="l" t="t" r="r" b="b"/>
              <a:pathLst>
                <a:path w="9525" h="6019800">
                  <a:moveTo>
                    <a:pt x="0" y="0"/>
                  </a:moveTo>
                  <a:lnTo>
                    <a:pt x="0" y="6019800"/>
                  </a:lnTo>
                </a:path>
              </a:pathLst>
            </a:custGeom>
            <a:noFill/>
            <a:ln w="9525">
              <a:solidFill>
                <a:srgbClr val="BDD7FF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11658600" y="419100"/>
              <a:ext cx="9525" cy="6019800"/>
            </a:xfrm>
            <a:custGeom>
              <a:avLst/>
              <a:gdLst/>
              <a:ahLst/>
              <a:cxnLst/>
              <a:rect l="l" t="t" r="r" b="b"/>
              <a:pathLst>
                <a:path w="9525" h="6019800">
                  <a:moveTo>
                    <a:pt x="0" y="0"/>
                  </a:moveTo>
                  <a:lnTo>
                    <a:pt x="0" y="6019800"/>
                  </a:lnTo>
                </a:path>
              </a:pathLst>
            </a:custGeom>
            <a:noFill/>
            <a:ln w="9525">
              <a:solidFill>
                <a:srgbClr val="BDD7FF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3238500" y="571500"/>
            <a:ext cx="5715000" cy="5715000"/>
            <a:chOff x="3238500" y="571500"/>
            <a:chExt cx="5715000" cy="5715000"/>
          </a:xfrm>
        </p:grpSpPr>
        <p:sp>
          <p:nvSpPr>
            <p:cNvPr id="13" name="Ellipse 13"/>
            <p:cNvSpPr/>
            <p:nvPr/>
          </p:nvSpPr>
          <p:spPr>
            <a:xfrm>
              <a:off x="3238500" y="571500"/>
              <a:ext cx="5715000" cy="5715000"/>
            </a:xfrm>
            <a:prstGeom prst="ellipse">
              <a:avLst/>
            </a:prstGeom>
            <a:noFill/>
            <a:ln w="9525">
              <a:solidFill>
                <a:srgbClr val="BDD7FF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4191000" y="1524000"/>
              <a:ext cx="3810000" cy="3810000"/>
            </a:xfrm>
            <a:prstGeom prst="ellipse">
              <a:avLst/>
            </a:prstGeom>
            <a:noFill/>
            <a:ln w="9525">
              <a:solidFill>
                <a:srgbClr val="BDD7FF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5143500" y="2476500"/>
              <a:ext cx="1905000" cy="1905000"/>
            </a:xfrm>
            <a:prstGeom prst="ellipse">
              <a:avLst/>
            </a:prstGeom>
            <a:noFill/>
            <a:ln w="9525">
              <a:solidFill>
                <a:srgbClr val="BDD7FF"/>
              </a:solidFill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2998493" y="421958"/>
            <a:ext cx="6195014" cy="968692"/>
            <a:chOff x="2998493" y="421958"/>
            <a:chExt cx="6195014" cy="968692"/>
          </a:xfrm>
        </p:grpSpPr>
        <p:sp>
          <p:nvSpPr>
            <p:cNvPr id="17" name="TextBox 17"/>
            <p:cNvSpPr txBox="1"/>
            <p:nvPr/>
          </p:nvSpPr>
          <p:spPr>
            <a:xfrm>
              <a:off x="2998493" y="421958"/>
              <a:ext cx="619501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顶尖学科：兵器科学与技术A+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437230" y="980122"/>
              <a:ext cx="531754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rgbClr val="52637A"/>
                  </a:solidFill>
                  <a:latin typeface="Arial"/>
                  <a:ea typeface="Microsoft YaHei"/>
                  <a:cs typeface="Arial"/>
                </a:rPr>
                <a:t>全国唯一连续五年A+评估，国之重器的摇篮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0" y="1352550"/>
              <a:ext cx="15240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563EB"/>
                </a:gs>
                <a:gs pos="50000">
                  <a:srgbClr val="7C3AED"/>
                </a:gs>
                <a:gs pos="100000">
                  <a:srgbClr val="38BDF8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1333500" y="1905000"/>
            <a:ext cx="4381500" cy="1905000"/>
            <a:chOff x="1333500" y="1905000"/>
            <a:chExt cx="4381500" cy="1905000"/>
          </a:xfrm>
        </p:grpSpPr>
        <p:sp>
          <p:nvSpPr>
            <p:cNvPr id="21" name="Rectangle 21"/>
            <p:cNvSpPr/>
            <p:nvPr/>
          </p:nvSpPr>
          <p:spPr>
            <a:xfrm>
              <a:off x="1333500" y="1905000"/>
              <a:ext cx="4381500" cy="1905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9050">
              <a:solidFill>
                <a:srgbClr val="BDD7FF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1333500" y="1905000"/>
              <a:ext cx="4381500" cy="1905000"/>
            </a:xfrm>
            <a:prstGeom prst="roundRect">
              <a:avLst>
                <a:gd name="adj" fmla="val 6000"/>
              </a:avLst>
            </a:prstGeom>
            <a:gradFill>
              <a:gsLst>
                <a:gs pos="0">
                  <a:srgbClr val="2563EB">
                    <a:alpha val="8000"/>
                  </a:srgbClr>
                </a:gs>
                <a:gs pos="100000">
                  <a:srgbClr val="38BDF8">
                    <a:alpha val="8000"/>
                  </a:srgbClr>
                </a:gs>
              </a:gsLst>
              <a:lin ang="2700000" scaled="1"/>
            </a:gra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1619250" y="2228850"/>
              <a:ext cx="190500" cy="342900"/>
              <a:chOff x="1619250" y="2228850"/>
              <a:chExt cx="190500" cy="3429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1619250" y="2286000"/>
                <a:ext cx="19050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285750">
                    <a:moveTo>
                      <a:pt x="95250" y="285750"/>
                    </a:moveTo>
                    <a:lnTo>
                      <a:pt x="95250" y="190500"/>
                    </a:lnTo>
                    <a:moveTo>
                      <a:pt x="95250" y="95250"/>
                    </a:moveTo>
                    <a:lnTo>
                      <a:pt x="95250" y="0"/>
                    </a:lnTo>
                    <a:moveTo>
                      <a:pt x="95250" y="190500"/>
                    </a:moveTo>
                    <a:cubicBezTo>
                      <a:pt x="47625" y="190500"/>
                      <a:pt x="0" y="238125"/>
                      <a:pt x="0" y="285750"/>
                    </a:cubicBezTo>
                    <a:moveTo>
                      <a:pt x="95250" y="190500"/>
                    </a:moveTo>
                    <a:cubicBezTo>
                      <a:pt x="142875" y="190500"/>
                      <a:pt x="190500" y="238125"/>
                      <a:pt x="190500" y="285750"/>
                    </a:cubicBezTo>
                    <a:moveTo>
                      <a:pt x="95250" y="0"/>
                    </a:moveTo>
                    <a:lnTo>
                      <a:pt x="123825" y="47625"/>
                    </a:lnTo>
                    <a:lnTo>
                      <a:pt x="66675" y="47625"/>
                    </a:lnTo>
                    <a:close/>
                  </a:path>
                </a:pathLst>
              </a:custGeom>
              <a:noFill/>
              <a:ln w="28575" cap="rnd">
                <a:solidFill>
                  <a:srgbClr val="2563EB"/>
                </a:solidFill>
                <a:round/>
              </a:ln>
            </p:spPr>
          </p:sp>
          <p:sp>
            <p:nvSpPr>
              <p:cNvPr id="24" name="Ellipse 24"/>
              <p:cNvSpPr/>
              <p:nvPr/>
            </p:nvSpPr>
            <p:spPr>
              <a:xfrm>
                <a:off x="1676400" y="2228850"/>
                <a:ext cx="76200" cy="762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2084832" y="2154555"/>
              <a:ext cx="20991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兵器科学与技术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2095500" y="2524125"/>
              <a:ext cx="952500" cy="3810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080260" y="2628900"/>
              <a:ext cx="52334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rgbClr val="2563EB"/>
                  </a:solidFill>
                  <a:latin typeface="Arial"/>
                  <a:ea typeface="Arial"/>
                  <a:cs typeface="Arial"/>
                </a:rPr>
                <a:t>A+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659380" y="279082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2637A"/>
                  </a:solidFill>
                  <a:latin typeface="Arial"/>
                  <a:ea typeface="Microsoft YaHei"/>
                  <a:cs typeface="Arial"/>
                </a:rPr>
                <a:t>（全国第一）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087118" y="3250882"/>
              <a:ext cx="168310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连续五年A+评估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477000" y="1905000"/>
            <a:ext cx="4381500" cy="1905000"/>
            <a:chOff x="6477000" y="1905000"/>
            <a:chExt cx="4381500" cy="1905000"/>
          </a:xfrm>
        </p:grpSpPr>
        <p:sp>
          <p:nvSpPr>
            <p:cNvPr id="32" name="Rectangle 32"/>
            <p:cNvSpPr/>
            <p:nvPr/>
          </p:nvSpPr>
          <p:spPr>
            <a:xfrm>
              <a:off x="6477000" y="1905000"/>
              <a:ext cx="4381500" cy="1905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9050">
              <a:solidFill>
                <a:srgbClr val="BDD7FF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477000" y="1905000"/>
              <a:ext cx="4381500" cy="1905000"/>
            </a:xfrm>
            <a:prstGeom prst="roundRect">
              <a:avLst>
                <a:gd name="adj" fmla="val 6000"/>
              </a:avLst>
            </a:prstGeom>
            <a:gradFill>
              <a:gsLst>
                <a:gs pos="0">
                  <a:srgbClr val="7C3AED">
                    <a:alpha val="8000"/>
                  </a:srgbClr>
                </a:gs>
                <a:gs pos="100000">
                  <a:srgbClr val="2563EB">
                    <a:alpha val="8000"/>
                  </a:srgbClr>
                </a:gs>
              </a:gsLst>
              <a:lin ang="2700000" scaled="1"/>
            </a:gra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6762750" y="2190750"/>
              <a:ext cx="304800" cy="304800"/>
              <a:chOff x="6762750" y="2190750"/>
              <a:chExt cx="304800" cy="304800"/>
            </a:xfrm>
          </p:grpSpPr>
          <p:sp>
            <p:nvSpPr>
              <p:cNvPr id="34" name="Ellipse 34"/>
              <p:cNvSpPr/>
              <p:nvPr/>
            </p:nvSpPr>
            <p:spPr>
              <a:xfrm>
                <a:off x="6819900" y="2247900"/>
                <a:ext cx="190500" cy="190500"/>
              </a:xfrm>
              <a:prstGeom prst="ellipse">
                <a:avLst/>
              </a:prstGeom>
              <a:noFill/>
              <a:ln w="28575">
                <a:solidFill>
                  <a:srgbClr val="7C3AED"/>
                </a:solidFill>
              </a:ln>
            </p:spPr>
          </p:sp>
          <p:sp>
            <p:nvSpPr>
              <p:cNvPr id="35" name="Ellipse 35"/>
              <p:cNvSpPr/>
              <p:nvPr/>
            </p:nvSpPr>
            <p:spPr>
              <a:xfrm>
                <a:off x="6877050" y="2305050"/>
                <a:ext cx="76200" cy="76200"/>
              </a:xfrm>
              <a:prstGeom prst="ellipse">
                <a:avLst/>
              </a:prstGeom>
              <a:solidFill>
                <a:srgbClr val="7C3AED"/>
              </a:solidFill>
              <a:ln>
                <a:noFill/>
              </a:ln>
            </p:spPr>
          </p:sp>
          <p:sp>
            <p:nvSpPr>
              <p:cNvPr id="36" name="Line 36"/>
              <p:cNvSpPr/>
              <p:nvPr/>
            </p:nvSpPr>
            <p:spPr>
              <a:xfrm>
                <a:off x="6915150" y="2190750"/>
                <a:ext cx="95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7150">
                    <a:moveTo>
                      <a:pt x="0" y="0"/>
                    </a:moveTo>
                    <a:lnTo>
                      <a:pt x="0" y="57150"/>
                    </a:lnTo>
                  </a:path>
                </a:pathLst>
              </a:custGeom>
              <a:noFill/>
              <a:ln w="28575">
                <a:solidFill>
                  <a:srgbClr val="7C3AED"/>
                </a:solidFill>
              </a:ln>
            </p:spPr>
          </p:sp>
          <p:sp>
            <p:nvSpPr>
              <p:cNvPr id="37" name="Line 37"/>
              <p:cNvSpPr/>
              <p:nvPr/>
            </p:nvSpPr>
            <p:spPr>
              <a:xfrm>
                <a:off x="6915150" y="2438400"/>
                <a:ext cx="95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7150">
                    <a:moveTo>
                      <a:pt x="0" y="0"/>
                    </a:moveTo>
                    <a:lnTo>
                      <a:pt x="0" y="57150"/>
                    </a:lnTo>
                  </a:path>
                </a:pathLst>
              </a:custGeom>
              <a:noFill/>
              <a:ln w="28575">
                <a:solidFill>
                  <a:srgbClr val="7C3AED"/>
                </a:solidFill>
              </a:ln>
            </p:spPr>
          </p:sp>
          <p:sp>
            <p:nvSpPr>
              <p:cNvPr id="38" name="Line 38"/>
              <p:cNvSpPr/>
              <p:nvPr/>
            </p:nvSpPr>
            <p:spPr>
              <a:xfrm>
                <a:off x="6762750" y="2343150"/>
                <a:ext cx="57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9525">
                    <a:moveTo>
                      <a:pt x="0" y="0"/>
                    </a:moveTo>
                    <a:lnTo>
                      <a:pt x="57150" y="0"/>
                    </a:lnTo>
                  </a:path>
                </a:pathLst>
              </a:custGeom>
              <a:noFill/>
              <a:ln w="28575">
                <a:solidFill>
                  <a:srgbClr val="7C3AED"/>
                </a:solidFill>
              </a:ln>
            </p:spPr>
          </p:sp>
          <p:sp>
            <p:nvSpPr>
              <p:cNvPr id="39" name="Line 39"/>
              <p:cNvSpPr/>
              <p:nvPr/>
            </p:nvSpPr>
            <p:spPr>
              <a:xfrm>
                <a:off x="7010400" y="2343150"/>
                <a:ext cx="57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9525">
                    <a:moveTo>
                      <a:pt x="0" y="0"/>
                    </a:moveTo>
                    <a:lnTo>
                      <a:pt x="57150" y="0"/>
                    </a:lnTo>
                  </a:path>
                </a:pathLst>
              </a:custGeom>
              <a:noFill/>
              <a:ln w="28575">
                <a:solidFill>
                  <a:srgbClr val="7C3AED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7228332" y="2154555"/>
              <a:ext cx="20991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控制科学与工程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7239000" y="2524125"/>
              <a:ext cx="952500" cy="38100"/>
            </a:xfrm>
            <a:prstGeom prst="roundRect">
              <a:avLst>
                <a:gd name="adj" fmla="val 50000"/>
              </a:avLst>
            </a:prstGeom>
            <a:solidFill>
              <a:srgbClr val="7C3AED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223760" y="2628900"/>
              <a:ext cx="52334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rgbClr val="7C3AED"/>
                  </a:solidFill>
                  <a:latin typeface="Arial"/>
                  <a:ea typeface="Arial"/>
                  <a:cs typeface="Arial"/>
                </a:rPr>
                <a:t>A+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802880" y="279082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2637A"/>
                  </a:solidFill>
                  <a:latin typeface="Arial"/>
                  <a:ea typeface="Microsoft YaHei"/>
                  <a:cs typeface="Arial"/>
                </a:rPr>
                <a:t>（全国第一）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230618" y="325088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国防自动化核心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1333500" y="4191000"/>
            <a:ext cx="4381500" cy="1905000"/>
            <a:chOff x="1333500" y="4191000"/>
            <a:chExt cx="4381500" cy="1905000"/>
          </a:xfrm>
        </p:grpSpPr>
        <p:sp>
          <p:nvSpPr>
            <p:cNvPr id="47" name="Rectangle 47"/>
            <p:cNvSpPr/>
            <p:nvPr/>
          </p:nvSpPr>
          <p:spPr>
            <a:xfrm>
              <a:off x="1333500" y="4191000"/>
              <a:ext cx="4381500" cy="1905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9050">
              <a:solidFill>
                <a:srgbClr val="BDD7FF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1333500" y="4191000"/>
              <a:ext cx="4381500" cy="1905000"/>
            </a:xfrm>
            <a:prstGeom prst="roundRect">
              <a:avLst>
                <a:gd name="adj" fmla="val 6000"/>
              </a:avLst>
            </a:prstGeom>
            <a:gradFill>
              <a:gsLst>
                <a:gs pos="0">
                  <a:srgbClr val="38BDF8">
                    <a:alpha val="8000"/>
                  </a:srgbClr>
                </a:gs>
                <a:gs pos="100000">
                  <a:srgbClr val="2563EB">
                    <a:alpha val="8000"/>
                  </a:srgbClr>
                </a:gs>
              </a:gsLst>
              <a:lin ang="2700000" scaled="1"/>
            </a:gra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1619250" y="4476750"/>
              <a:ext cx="266700" cy="266700"/>
              <a:chOff x="1619250" y="4476750"/>
              <a:chExt cx="266700" cy="266700"/>
            </a:xfrm>
          </p:grpSpPr>
          <p:sp>
            <p:nvSpPr>
              <p:cNvPr id="49" name="Ellipse 49"/>
              <p:cNvSpPr/>
              <p:nvPr/>
            </p:nvSpPr>
            <p:spPr>
              <a:xfrm>
                <a:off x="1657350" y="4514850"/>
                <a:ext cx="152400" cy="152400"/>
              </a:xfrm>
              <a:prstGeom prst="ellipse">
                <a:avLst/>
              </a:prstGeom>
              <a:noFill/>
              <a:ln w="28575">
                <a:solidFill>
                  <a:srgbClr val="38BDF8"/>
                </a:solidFill>
              </a:ln>
            </p:spPr>
          </p:sp>
          <p:sp>
            <p:nvSpPr>
              <p:cNvPr id="50" name="Line 50"/>
              <p:cNvSpPr/>
              <p:nvPr/>
            </p:nvSpPr>
            <p:spPr>
              <a:xfrm>
                <a:off x="1733550" y="4476750"/>
                <a:ext cx="95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">
                    <a:moveTo>
                      <a:pt x="0" y="38100"/>
                    </a:moveTo>
                    <a:lnTo>
                      <a:pt x="0" y="0"/>
                    </a:lnTo>
                  </a:path>
                </a:pathLst>
              </a:custGeom>
              <a:noFill/>
              <a:ln w="28575" cap="rnd">
                <a:solidFill>
                  <a:srgbClr val="38BDF8"/>
                </a:solidFill>
              </a:ln>
            </p:spPr>
          </p:sp>
          <p:sp>
            <p:nvSpPr>
              <p:cNvPr id="51" name="Line 51"/>
              <p:cNvSpPr/>
              <p:nvPr/>
            </p:nvSpPr>
            <p:spPr>
              <a:xfrm>
                <a:off x="1733550" y="4667250"/>
                <a:ext cx="95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6200">
                    <a:moveTo>
                      <a:pt x="0" y="0"/>
                    </a:moveTo>
                    <a:lnTo>
                      <a:pt x="0" y="76200"/>
                    </a:lnTo>
                  </a:path>
                </a:pathLst>
              </a:custGeom>
              <a:noFill/>
              <a:ln w="28575" cap="rnd">
                <a:solidFill>
                  <a:srgbClr val="38BDF8"/>
                </a:solidFill>
              </a:ln>
            </p:spPr>
          </p:sp>
          <p:sp>
            <p:nvSpPr>
              <p:cNvPr id="52" name="Line 52"/>
              <p:cNvSpPr/>
              <p:nvPr/>
            </p:nvSpPr>
            <p:spPr>
              <a:xfrm>
                <a:off x="1619250" y="4591050"/>
                <a:ext cx="38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9525">
                    <a:moveTo>
                      <a:pt x="38100" y="0"/>
                    </a:moveTo>
                    <a:lnTo>
                      <a:pt x="0" y="0"/>
                    </a:lnTo>
                  </a:path>
                </a:pathLst>
              </a:custGeom>
              <a:noFill/>
              <a:ln w="28575" cap="rnd">
                <a:solidFill>
                  <a:srgbClr val="38BDF8"/>
                </a:solidFill>
              </a:ln>
            </p:spPr>
          </p:sp>
          <p:sp>
            <p:nvSpPr>
              <p:cNvPr id="53" name="Line 53"/>
              <p:cNvSpPr/>
              <p:nvPr/>
            </p:nvSpPr>
            <p:spPr>
              <a:xfrm>
                <a:off x="1809750" y="4591050"/>
                <a:ext cx="76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">
                    <a:moveTo>
                      <a:pt x="0" y="0"/>
                    </a:moveTo>
                    <a:lnTo>
                      <a:pt x="76200" y="0"/>
                    </a:lnTo>
                  </a:path>
                </a:pathLst>
              </a:custGeom>
              <a:noFill/>
              <a:ln w="28575" cap="rnd">
                <a:solidFill>
                  <a:srgbClr val="38BDF8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1638300" y="4495800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38100" y="38100"/>
                    </a:moveTo>
                    <a:lnTo>
                      <a:pt x="0" y="0"/>
                    </a:lnTo>
                    <a:moveTo>
                      <a:pt x="152400" y="38100"/>
                    </a:moveTo>
                    <a:lnTo>
                      <a:pt x="190500" y="0"/>
                    </a:lnTo>
                    <a:moveTo>
                      <a:pt x="38100" y="152400"/>
                    </a:moveTo>
                    <a:lnTo>
                      <a:pt x="0" y="190500"/>
                    </a:lnTo>
                    <a:moveTo>
                      <a:pt x="152400" y="152400"/>
                    </a:moveTo>
                    <a:lnTo>
                      <a:pt x="190500" y="190500"/>
                    </a:lnTo>
                  </a:path>
                </a:pathLst>
              </a:custGeom>
              <a:solidFill>
                <a:srgbClr val="000000"/>
              </a:solidFill>
              <a:ln w="19050" cap="rnd">
                <a:solidFill>
                  <a:srgbClr val="38BDF8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2084832" y="4440555"/>
              <a:ext cx="12086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光学工程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2095500" y="4810125"/>
              <a:ext cx="952500" cy="38100"/>
            </a:xfrm>
            <a:prstGeom prst="roundRect">
              <a:avLst>
                <a:gd name="adj" fmla="val 50000"/>
              </a:avLst>
            </a:prstGeom>
            <a:solidFill>
              <a:srgbClr val="38BDF8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2080260" y="4914900"/>
              <a:ext cx="276911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rgbClr val="38BDF8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2564130" y="507682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2637A"/>
                  </a:solidFill>
                  <a:latin typeface="Arial"/>
                  <a:ea typeface="Microsoft YaHei"/>
                  <a:cs typeface="Arial"/>
                </a:rPr>
                <a:t>（全国前列）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2087118" y="553688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光电探测与制导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6477000" y="4191000"/>
            <a:ext cx="4381500" cy="1951101"/>
            <a:chOff x="6477000" y="4191000"/>
            <a:chExt cx="4381500" cy="1951101"/>
          </a:xfrm>
        </p:grpSpPr>
        <p:sp>
          <p:nvSpPr>
            <p:cNvPr id="62" name="Rectangle 62"/>
            <p:cNvSpPr/>
            <p:nvPr/>
          </p:nvSpPr>
          <p:spPr>
            <a:xfrm>
              <a:off x="6477000" y="4191000"/>
              <a:ext cx="4381500" cy="1905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9050">
              <a:solidFill>
                <a:srgbClr val="BDD7FF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6477000" y="4191000"/>
              <a:ext cx="4381500" cy="1905000"/>
            </a:xfrm>
            <a:prstGeom prst="roundRect">
              <a:avLst>
                <a:gd name="adj" fmla="val 6000"/>
              </a:avLst>
            </a:prstGeom>
            <a:gradFill>
              <a:gsLst>
                <a:gs pos="0">
                  <a:srgbClr val="2563EB">
                    <a:alpha val="8000"/>
                  </a:srgbClr>
                </a:gs>
                <a:gs pos="100000">
                  <a:srgbClr val="7C3AED">
                    <a:alpha val="8000"/>
                  </a:srgbClr>
                </a:gs>
              </a:gsLst>
              <a:lin ang="2700000" scaled="1"/>
            </a:gradFill>
            <a:ln>
              <a:noFill/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6762750" y="4524375"/>
              <a:ext cx="228600" cy="180975"/>
              <a:chOff x="6762750" y="4524375"/>
              <a:chExt cx="228600" cy="180975"/>
            </a:xfrm>
          </p:grpSpPr>
          <p:sp>
            <p:nvSpPr>
              <p:cNvPr id="64" name="Ellipse 64"/>
              <p:cNvSpPr/>
              <p:nvPr/>
            </p:nvSpPr>
            <p:spPr>
              <a:xfrm>
                <a:off x="6810375" y="4524375"/>
                <a:ext cx="133350" cy="133350"/>
              </a:xfrm>
              <a:prstGeom prst="ellipse">
                <a:avLst/>
              </a:prstGeom>
              <a:noFill/>
              <a:ln w="28575">
                <a:solidFill>
                  <a:srgbClr val="2563EB"/>
                </a:solidFill>
              </a:ln>
            </p:spPr>
          </p:sp>
          <p:sp>
            <p:nvSpPr>
              <p:cNvPr id="65" name="Ellipse 65"/>
              <p:cNvSpPr/>
              <p:nvPr/>
            </p:nvSpPr>
            <p:spPr>
              <a:xfrm>
                <a:off x="6762750" y="4629150"/>
                <a:ext cx="76200" cy="76200"/>
              </a:xfrm>
              <a:prstGeom prst="ellipse">
                <a:avLst/>
              </a:prstGeom>
              <a:noFill/>
              <a:ln w="19050">
                <a:solidFill>
                  <a:srgbClr val="7C3AED"/>
                </a:solidFill>
              </a:ln>
            </p:spPr>
          </p:sp>
          <p:sp>
            <p:nvSpPr>
              <p:cNvPr id="66" name="Ellipse 66"/>
              <p:cNvSpPr/>
              <p:nvPr/>
            </p:nvSpPr>
            <p:spPr>
              <a:xfrm>
                <a:off x="6915150" y="4629150"/>
                <a:ext cx="76200" cy="76200"/>
              </a:xfrm>
              <a:prstGeom prst="ellipse">
                <a:avLst/>
              </a:prstGeom>
              <a:noFill/>
              <a:ln w="19050">
                <a:solidFill>
                  <a:srgbClr val="7C3AED"/>
                </a:solidFill>
              </a:ln>
            </p:spPr>
          </p:sp>
          <p:sp>
            <p:nvSpPr>
              <p:cNvPr id="67" name="Line 67"/>
              <p:cNvSpPr/>
              <p:nvPr/>
            </p:nvSpPr>
            <p:spPr>
              <a:xfrm>
                <a:off x="6800850" y="459105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76200" y="0"/>
                    </a:moveTo>
                    <a:lnTo>
                      <a:pt x="0" y="76200"/>
                    </a:lnTo>
                  </a:path>
                </a:pathLst>
              </a:custGeom>
              <a:noFill/>
              <a:ln w="19050">
                <a:solidFill>
                  <a:srgbClr val="7C3AED"/>
                </a:solidFill>
              </a:ln>
            </p:spPr>
          </p:sp>
          <p:sp>
            <p:nvSpPr>
              <p:cNvPr id="68" name="Line 68"/>
              <p:cNvSpPr/>
              <p:nvPr/>
            </p:nvSpPr>
            <p:spPr>
              <a:xfrm>
                <a:off x="6877050" y="459105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0"/>
                    </a:moveTo>
                    <a:lnTo>
                      <a:pt x="76200" y="76200"/>
                    </a:lnTo>
                  </a:path>
                </a:pathLst>
              </a:custGeom>
              <a:noFill/>
              <a:ln w="19050">
                <a:solidFill>
                  <a:srgbClr val="7C3AED"/>
                </a:solidFill>
              </a:ln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7228332" y="4440555"/>
              <a:ext cx="12086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机械工程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7239000" y="4810125"/>
              <a:ext cx="952500" cy="1905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7225284" y="4899660"/>
              <a:ext cx="47100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2563EB"/>
                  </a:solidFill>
                  <a:latin typeface="Arial"/>
                  <a:ea typeface="Arial"/>
                  <a:cs typeface="Arial"/>
                </a:rPr>
                <a:t>A-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228332" y="5250180"/>
              <a:ext cx="20991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材料科学与工程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7239000" y="5572125"/>
              <a:ext cx="952500" cy="19050"/>
            </a:xfrm>
            <a:prstGeom prst="roundRect">
              <a:avLst>
                <a:gd name="adj" fmla="val 50000"/>
              </a:avLst>
            </a:prstGeom>
            <a:solidFill>
              <a:srgbClr val="7C3AED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7225284" y="5614035"/>
              <a:ext cx="47100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7C3AED"/>
                  </a:solidFill>
                  <a:latin typeface="Arial"/>
                  <a:ea typeface="Arial"/>
                  <a:cs typeface="Arial"/>
                </a:rPr>
                <a:t>A-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533400" y="6572250"/>
            <a:ext cx="11125200" cy="47625"/>
            <a:chOff x="533400" y="6572250"/>
            <a:chExt cx="11125200" cy="47625"/>
          </a:xfrm>
        </p:grpSpPr>
        <p:sp>
          <p:nvSpPr>
            <p:cNvPr id="77" name="Rectangle 77"/>
            <p:cNvSpPr/>
            <p:nvPr/>
          </p:nvSpPr>
          <p:spPr>
            <a:xfrm>
              <a:off x="533400" y="6572250"/>
              <a:ext cx="111252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563EB"/>
                </a:gs>
                <a:gs pos="50000">
                  <a:srgbClr val="7C3AED"/>
                </a:gs>
                <a:gs pos="100000">
                  <a:srgbClr val="38BDF8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78" name="Rectangle 78"/>
            <p:cNvSpPr/>
            <p:nvPr/>
          </p:nvSpPr>
          <p:spPr>
            <a:xfrm>
              <a:off x="533400" y="6610350"/>
              <a:ext cx="11125200" cy="9525"/>
            </a:xfrm>
            <a:prstGeom prst="rect">
              <a:avLst/>
            </a:prstGeom>
            <a:solidFill>
              <a:srgbClr val="BDD7FF"/>
            </a:solidFill>
            <a:ln>
              <a:noFill/>
            </a:ln>
          </p:spPr>
        </p:sp>
      </p:grpSp>
      <p:grpSp>
        <p:nvGrpSpPr>
          <p:cNvPr id="84" name="Group 84"/>
          <p:cNvGrpSpPr/>
          <p:nvPr/>
        </p:nvGrpSpPr>
        <p:grpSpPr>
          <a:xfrm>
            <a:off x="533400" y="419100"/>
            <a:ext cx="11125200" cy="6019800"/>
            <a:chOff x="533400" y="419100"/>
            <a:chExt cx="11125200" cy="6019800"/>
          </a:xfrm>
        </p:grpSpPr>
        <p:sp>
          <p:nvSpPr>
            <p:cNvPr id="80" name="Polyline 80"/>
            <p:cNvSpPr/>
            <p:nvPr/>
          </p:nvSpPr>
          <p:spPr>
            <a:xfrm>
              <a:off x="533400" y="419100"/>
              <a:ext cx="285750" cy="95250"/>
            </a:xfrm>
            <a:custGeom>
              <a:avLst/>
              <a:gdLst/>
              <a:ahLst/>
              <a:cxnLst/>
              <a:rect l="l" t="t" r="r" b="b"/>
              <a:pathLst>
                <a:path w="285750" h="95250">
                  <a:moveTo>
                    <a:pt x="0" y="0"/>
                  </a:moveTo>
                  <a:lnTo>
                    <a:pt x="285750" y="0"/>
                  </a:lnTo>
                  <a:lnTo>
                    <a:pt x="285750" y="95250"/>
                  </a:lnTo>
                </a:path>
              </a:pathLst>
            </a:custGeom>
            <a:noFill/>
            <a:ln w="19050">
              <a:solidFill>
                <a:srgbClr val="BDD7FF"/>
              </a:solidFill>
            </a:ln>
          </p:spPr>
        </p:sp>
        <p:sp>
          <p:nvSpPr>
            <p:cNvPr id="81" name="Polyline 81"/>
            <p:cNvSpPr/>
            <p:nvPr/>
          </p:nvSpPr>
          <p:spPr>
            <a:xfrm>
              <a:off x="11372850" y="419100"/>
              <a:ext cx="285750" cy="95250"/>
            </a:xfrm>
            <a:custGeom>
              <a:avLst/>
              <a:gdLst/>
              <a:ahLst/>
              <a:cxnLst/>
              <a:rect l="l" t="t" r="r" b="b"/>
              <a:pathLst>
                <a:path w="285750" h="95250">
                  <a:moveTo>
                    <a:pt x="285750" y="0"/>
                  </a:moveTo>
                  <a:lnTo>
                    <a:pt x="0" y="0"/>
                  </a:lnTo>
                  <a:lnTo>
                    <a:pt x="0" y="95250"/>
                  </a:lnTo>
                </a:path>
              </a:pathLst>
            </a:custGeom>
            <a:noFill/>
            <a:ln w="19050">
              <a:solidFill>
                <a:srgbClr val="BDD7FF"/>
              </a:solidFill>
            </a:ln>
          </p:spPr>
        </p:sp>
        <p:sp>
          <p:nvSpPr>
            <p:cNvPr id="82" name="Polyline 82"/>
            <p:cNvSpPr/>
            <p:nvPr/>
          </p:nvSpPr>
          <p:spPr>
            <a:xfrm>
              <a:off x="533400" y="6343650"/>
              <a:ext cx="285750" cy="95250"/>
            </a:xfrm>
            <a:custGeom>
              <a:avLst/>
              <a:gdLst/>
              <a:ahLst/>
              <a:cxnLst/>
              <a:rect l="l" t="t" r="r" b="b"/>
              <a:pathLst>
                <a:path w="285750" h="95250">
                  <a:moveTo>
                    <a:pt x="0" y="95250"/>
                  </a:moveTo>
                  <a:lnTo>
                    <a:pt x="285750" y="95250"/>
                  </a:lnTo>
                  <a:lnTo>
                    <a:pt x="285750" y="0"/>
                  </a:lnTo>
                </a:path>
              </a:pathLst>
            </a:custGeom>
            <a:noFill/>
            <a:ln w="19050">
              <a:solidFill>
                <a:srgbClr val="BDD7FF"/>
              </a:solidFill>
            </a:ln>
          </p:spPr>
        </p:sp>
        <p:sp>
          <p:nvSpPr>
            <p:cNvPr id="83" name="Polyline 83"/>
            <p:cNvSpPr/>
            <p:nvPr/>
          </p:nvSpPr>
          <p:spPr>
            <a:xfrm>
              <a:off x="11372850" y="6343650"/>
              <a:ext cx="285750" cy="95250"/>
            </a:xfrm>
            <a:custGeom>
              <a:avLst/>
              <a:gdLst/>
              <a:ahLst/>
              <a:cxnLst/>
              <a:rect l="l" t="t" r="r" b="b"/>
              <a:pathLst>
                <a:path w="285750" h="95250">
                  <a:moveTo>
                    <a:pt x="285750" y="95250"/>
                  </a:moveTo>
                  <a:lnTo>
                    <a:pt x="0" y="95250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DD7FF"/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FFFFF">
                  <a:alpha val="90000"/>
                </a:srgbClr>
              </a:gs>
              <a:gs pos="100000">
                <a:srgbClr val="F8FBFF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grpSp>
        <p:nvGrpSpPr>
          <p:cNvPr id="13" name="Group 13"/>
          <p:cNvGrpSpPr/>
          <p:nvPr/>
        </p:nvGrpSpPr>
        <p:grpSpPr>
          <a:xfrm>
            <a:off x="571500" y="419100"/>
            <a:ext cx="11058525" cy="6438900"/>
            <a:chOff x="571500" y="419100"/>
            <a:chExt cx="11058525" cy="6438900"/>
          </a:xfrm>
        </p:grpSpPr>
        <p:sp>
          <p:nvSpPr>
            <p:cNvPr id="3" name="Line 3"/>
            <p:cNvSpPr/>
            <p:nvPr/>
          </p:nvSpPr>
          <p:spPr>
            <a:xfrm>
              <a:off x="571500" y="419100"/>
              <a:ext cx="9525" cy="6438900"/>
            </a:xfrm>
            <a:custGeom>
              <a:avLst/>
              <a:gdLst/>
              <a:ahLst/>
              <a:cxnLst/>
              <a:rect l="l" t="t" r="r" b="b"/>
              <a:pathLst>
                <a:path w="9525" h="6438900">
                  <a:moveTo>
                    <a:pt x="0" y="0"/>
                  </a:moveTo>
                  <a:lnTo>
                    <a:pt x="0" y="6438900"/>
                  </a:lnTo>
                </a:path>
              </a:pathLst>
            </a:custGeom>
            <a:noFill/>
            <a:ln w="9525">
              <a:solidFill>
                <a:srgbClr val="BDD7FF">
                  <a:alpha val="20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2857500" y="419100"/>
              <a:ext cx="9525" cy="6438900"/>
            </a:xfrm>
            <a:custGeom>
              <a:avLst/>
              <a:gdLst/>
              <a:ahLst/>
              <a:cxnLst/>
              <a:rect l="l" t="t" r="r" b="b"/>
              <a:pathLst>
                <a:path w="9525" h="6438900">
                  <a:moveTo>
                    <a:pt x="0" y="0"/>
                  </a:moveTo>
                  <a:lnTo>
                    <a:pt x="0" y="6438900"/>
                  </a:lnTo>
                </a:path>
              </a:pathLst>
            </a:custGeom>
            <a:noFill/>
            <a:ln w="9525">
              <a:solidFill>
                <a:srgbClr val="BDD7FF">
                  <a:alpha val="20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5143500" y="419100"/>
              <a:ext cx="9525" cy="6438900"/>
            </a:xfrm>
            <a:custGeom>
              <a:avLst/>
              <a:gdLst/>
              <a:ahLst/>
              <a:cxnLst/>
              <a:rect l="l" t="t" r="r" b="b"/>
              <a:pathLst>
                <a:path w="9525" h="6438900">
                  <a:moveTo>
                    <a:pt x="0" y="0"/>
                  </a:moveTo>
                  <a:lnTo>
                    <a:pt x="0" y="6438900"/>
                  </a:lnTo>
                </a:path>
              </a:pathLst>
            </a:custGeom>
            <a:noFill/>
            <a:ln w="9525">
              <a:solidFill>
                <a:srgbClr val="BDD7FF">
                  <a:alpha val="20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7429500" y="419100"/>
              <a:ext cx="9525" cy="6438900"/>
            </a:xfrm>
            <a:custGeom>
              <a:avLst/>
              <a:gdLst/>
              <a:ahLst/>
              <a:cxnLst/>
              <a:rect l="l" t="t" r="r" b="b"/>
              <a:pathLst>
                <a:path w="9525" h="6438900">
                  <a:moveTo>
                    <a:pt x="0" y="0"/>
                  </a:moveTo>
                  <a:lnTo>
                    <a:pt x="0" y="6438900"/>
                  </a:lnTo>
                </a:path>
              </a:pathLst>
            </a:custGeom>
            <a:noFill/>
            <a:ln w="9525">
              <a:solidFill>
                <a:srgbClr val="BDD7FF">
                  <a:alpha val="20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9715500" y="419100"/>
              <a:ext cx="9525" cy="6438900"/>
            </a:xfrm>
            <a:custGeom>
              <a:avLst/>
              <a:gdLst/>
              <a:ahLst/>
              <a:cxnLst/>
              <a:rect l="l" t="t" r="r" b="b"/>
              <a:pathLst>
                <a:path w="9525" h="6438900">
                  <a:moveTo>
                    <a:pt x="0" y="0"/>
                  </a:moveTo>
                  <a:lnTo>
                    <a:pt x="0" y="6438900"/>
                  </a:lnTo>
                </a:path>
              </a:pathLst>
            </a:custGeom>
            <a:noFill/>
            <a:ln w="9525">
              <a:solidFill>
                <a:srgbClr val="BDD7FF">
                  <a:alpha val="20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11620500" y="419100"/>
              <a:ext cx="9525" cy="6438900"/>
            </a:xfrm>
            <a:custGeom>
              <a:avLst/>
              <a:gdLst/>
              <a:ahLst/>
              <a:cxnLst/>
              <a:rect l="l" t="t" r="r" b="b"/>
              <a:pathLst>
                <a:path w="9525" h="6438900">
                  <a:moveTo>
                    <a:pt x="0" y="0"/>
                  </a:moveTo>
                  <a:lnTo>
                    <a:pt x="0" y="6438900"/>
                  </a:lnTo>
                </a:path>
              </a:pathLst>
            </a:custGeom>
            <a:noFill/>
            <a:ln w="9525">
              <a:solidFill>
                <a:srgbClr val="BDD7FF">
                  <a:alpha val="20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571500" y="1333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BDD7FF">
                  <a:alpha val="200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571500" y="26670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BDD7FF">
                  <a:alpha val="200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571500" y="4000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BDD7FF">
                  <a:alpha val="20000"/>
                </a:srgb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571500" y="53340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BDD7FF">
                  <a:alpha val="20000"/>
                </a:srgbClr>
              </a:solidFill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533400" y="1295400"/>
            <a:ext cx="11125200" cy="4076700"/>
            <a:chOff x="533400" y="1295400"/>
            <a:chExt cx="11125200" cy="4076700"/>
          </a:xfrm>
        </p:grpSpPr>
        <p:sp>
          <p:nvSpPr>
            <p:cNvPr id="14" name="Ellipse 14"/>
            <p:cNvSpPr/>
            <p:nvPr/>
          </p:nvSpPr>
          <p:spPr>
            <a:xfrm>
              <a:off x="533400" y="1295400"/>
              <a:ext cx="76200" cy="76200"/>
            </a:xfrm>
            <a:prstGeom prst="ellipse">
              <a:avLst/>
            </a:prstGeom>
            <a:solidFill>
              <a:srgbClr val="38BDF8">
                <a:alpha val="80000"/>
              </a:srgbClr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11582400" y="1295400"/>
              <a:ext cx="76200" cy="76200"/>
            </a:xfrm>
            <a:prstGeom prst="ellipse">
              <a:avLst/>
            </a:prstGeom>
            <a:solidFill>
              <a:srgbClr val="38BDF8">
                <a:alpha val="80000"/>
              </a:srgbClr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533400" y="5295900"/>
              <a:ext cx="76200" cy="76200"/>
            </a:xfrm>
            <a:prstGeom prst="ellipse">
              <a:avLst/>
            </a:prstGeom>
            <a:solidFill>
              <a:srgbClr val="38BDF8">
                <a:alpha val="80000"/>
              </a:srgbClr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11582400" y="5295900"/>
              <a:ext cx="76200" cy="76200"/>
            </a:xfrm>
            <a:prstGeom prst="ellipse">
              <a:avLst/>
            </a:prstGeom>
            <a:solidFill>
              <a:srgbClr val="38BDF8">
                <a:alpha val="80000"/>
              </a:srgbClr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2838450" y="1314450"/>
              <a:ext cx="38100" cy="381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5124450" y="1314450"/>
              <a:ext cx="38100" cy="381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7410450" y="1314450"/>
              <a:ext cx="38100" cy="381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9696450" y="1314450"/>
              <a:ext cx="38100" cy="381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2838450" y="5314950"/>
              <a:ext cx="38100" cy="381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5124450" y="5314950"/>
              <a:ext cx="38100" cy="381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7410450" y="5314950"/>
              <a:ext cx="38100" cy="381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9696450" y="5314950"/>
              <a:ext cx="38100" cy="381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571500" y="571500"/>
            <a:ext cx="11268075" cy="5905500"/>
            <a:chOff x="571500" y="571500"/>
            <a:chExt cx="11268075" cy="5905500"/>
          </a:xfrm>
        </p:grpSpPr>
        <p:sp>
          <p:nvSpPr>
            <p:cNvPr id="27" name="Freeform 27"/>
            <p:cNvSpPr/>
            <p:nvPr/>
          </p:nvSpPr>
          <p:spPr>
            <a:xfrm>
              <a:off x="11430000" y="5715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</a:path>
              </a:pathLst>
            </a:custGeom>
            <a:noFill/>
            <a:ln w="19050">
              <a:solidFill>
                <a:srgbClr val="BDD7FF">
                  <a:alpha val="60000"/>
                </a:srgbClr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11782425" y="923925"/>
              <a:ext cx="57150" cy="57150"/>
            </a:xfrm>
            <a:prstGeom prst="ellipse">
              <a:avLst/>
            </a:prstGeom>
            <a:solidFill>
              <a:srgbClr val="38BDF8">
                <a:alpha val="60000"/>
              </a:srgbClr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571500" y="6286500"/>
              <a:ext cx="381000" cy="190500"/>
            </a:xfrm>
            <a:custGeom>
              <a:avLst/>
              <a:gdLst/>
              <a:ahLst/>
              <a:cxnLst/>
              <a:rect l="l" t="t" r="r" b="b"/>
              <a:pathLst>
                <a:path w="381000" h="190500">
                  <a:moveTo>
                    <a:pt x="0" y="190500"/>
                  </a:moveTo>
                  <a:lnTo>
                    <a:pt x="381000" y="190500"/>
                  </a:ln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BDD7FF">
                  <a:alpha val="60000"/>
                </a:srgbClr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923925" y="6257925"/>
              <a:ext cx="57150" cy="57150"/>
            </a:xfrm>
            <a:prstGeom prst="ellipse">
              <a:avLst/>
            </a:prstGeom>
            <a:solidFill>
              <a:srgbClr val="2563EB">
                <a:alpha val="60000"/>
              </a:srgbClr>
            </a:solidFill>
            <a:ln>
              <a:noFill/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514350" y="361950"/>
            <a:ext cx="6426662" cy="938784"/>
            <a:chOff x="514350" y="361950"/>
            <a:chExt cx="6426662" cy="938784"/>
          </a:xfrm>
        </p:grpSpPr>
        <p:sp>
          <p:nvSpPr>
            <p:cNvPr id="32" name="Freeform 32"/>
            <p:cNvSpPr/>
            <p:nvPr/>
          </p:nvSpPr>
          <p:spPr>
            <a:xfrm>
              <a:off x="571500" y="419100"/>
              <a:ext cx="9525" cy="819150"/>
            </a:xfrm>
            <a:custGeom>
              <a:avLst/>
              <a:gdLst/>
              <a:ahLst/>
              <a:cxnLst/>
              <a:rect l="l" t="t" r="r" b="b"/>
              <a:pathLst>
                <a:path w="9525" h="819150">
                  <a:moveTo>
                    <a:pt x="0" y="0"/>
                  </a:moveTo>
                  <a:lnTo>
                    <a:pt x="0" y="819150"/>
                  </a:lnTo>
                </a:path>
              </a:pathLst>
            </a:custGeom>
            <a:solidFill>
              <a:srgbClr val="000000"/>
            </a:solidFill>
            <a:ln w="38100" cap="rnd">
              <a:solidFill>
                <a:srgbClr val="2563EB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514350" y="361950"/>
              <a:ext cx="114300" cy="114300"/>
            </a:xfrm>
            <a:prstGeom prst="ellipse">
              <a:avLst/>
            </a:prstGeom>
            <a:solidFill>
              <a:srgbClr val="38BDF8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533400" y="1200150"/>
              <a:ext cx="76200" cy="762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45998" y="421958"/>
              <a:ext cx="619501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顶尖学科：兵器科学与技术A+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52856" y="948690"/>
              <a:ext cx="490849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52637A"/>
                  </a:solidFill>
                  <a:latin typeface="Arial"/>
                  <a:ea typeface="Microsoft YaHei"/>
                  <a:cs typeface="Arial"/>
                </a:rPr>
                <a:t>全国唯一连续五年A+评估，国之重器的摇篮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571500" y="1428750"/>
            <a:ext cx="2076450" cy="4400550"/>
            <a:chOff x="571500" y="1428750"/>
            <a:chExt cx="2076450" cy="4400550"/>
          </a:xfrm>
        </p:grpSpPr>
        <p:sp>
          <p:nvSpPr>
            <p:cNvPr id="38" name="Rectangle 38"/>
            <p:cNvSpPr/>
            <p:nvPr/>
          </p:nvSpPr>
          <p:spPr>
            <a:xfrm>
              <a:off x="590550" y="1447800"/>
              <a:ext cx="2057400" cy="4381500"/>
            </a:xfrm>
            <a:prstGeom prst="roundRect">
              <a:avLst>
                <a:gd name="adj" fmla="val 5556"/>
              </a:avLst>
            </a:prstGeom>
            <a:solidFill>
              <a:srgbClr val="1F2937">
                <a:alpha val="6000"/>
              </a:srgbClr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71500" y="1428750"/>
              <a:ext cx="2057400" cy="4381500"/>
            </a:xfrm>
            <a:prstGeom prst="roundRect">
              <a:avLst>
                <a:gd name="adj" fmla="val 5556"/>
              </a:avLst>
            </a:prstGeom>
            <a:gradFill>
              <a:gsLst>
                <a:gs pos="0">
                  <a:srgbClr val="FFFFFF"/>
                </a:gs>
                <a:gs pos="100000">
                  <a:srgbClr val="F8FBFF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571500" y="1428750"/>
              <a:ext cx="2057400" cy="4381500"/>
            </a:xfrm>
            <a:prstGeom prst="roundRect">
              <a:avLst>
                <a:gd name="adj" fmla="val 5556"/>
              </a:avLst>
            </a:prstGeom>
            <a:noFill/>
            <a:ln w="14288">
              <a:solidFill>
                <a:srgbClr val="BDD7FF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571500" y="1435100"/>
              <a:ext cx="2057400" cy="107950"/>
            </a:xfrm>
            <a:custGeom>
              <a:avLst/>
              <a:gdLst/>
              <a:ahLst/>
              <a:cxnLst/>
              <a:rect l="l" t="t" r="r" b="b"/>
              <a:pathLst>
                <a:path w="2057400" h="107950">
                  <a:moveTo>
                    <a:pt x="0" y="107950"/>
                  </a:moveTo>
                  <a:cubicBezTo>
                    <a:pt x="685800" y="0"/>
                    <a:pt x="1371600" y="0"/>
                    <a:pt x="2057400" y="107950"/>
                  </a:cubicBezTo>
                </a:path>
              </a:pathLst>
            </a:custGeom>
            <a:noFill/>
            <a:ln w="38100">
              <a:solidFill>
                <a:srgbClr val="38BDF8"/>
              </a:solidFill>
            </a:ln>
          </p:spPr>
        </p:sp>
        <p:sp>
          <p:nvSpPr>
            <p:cNvPr id="42" name="Ellipse 42"/>
            <p:cNvSpPr/>
            <p:nvPr/>
          </p:nvSpPr>
          <p:spPr>
            <a:xfrm>
              <a:off x="1295400" y="1695450"/>
              <a:ext cx="609600" cy="609600"/>
            </a:xfrm>
            <a:prstGeom prst="ellipse">
              <a:avLst/>
            </a:prstGeom>
            <a:solidFill>
              <a:srgbClr val="EEF4FF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1238250" y="1638300"/>
              <a:ext cx="723900" cy="723900"/>
            </a:xfrm>
            <a:prstGeom prst="ellipse">
              <a:avLst/>
            </a:prstGeom>
            <a:noFill/>
            <a:ln w="19050">
              <a:solidFill>
                <a:srgbClr val="2563EB">
                  <a:alpha val="30000"/>
                </a:srgbClr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1466850" y="1809750"/>
              <a:ext cx="266700" cy="209550"/>
            </a:xfrm>
            <a:custGeom>
              <a:avLst/>
              <a:gdLst/>
              <a:ahLst/>
              <a:cxnLst/>
              <a:rect l="l" t="t" r="r" b="b"/>
              <a:pathLst>
                <a:path w="266700" h="209550">
                  <a:moveTo>
                    <a:pt x="133350" y="0"/>
                  </a:moveTo>
                  <a:lnTo>
                    <a:pt x="0" y="209550"/>
                  </a:lnTo>
                  <a:lnTo>
                    <a:pt x="266700" y="209550"/>
                  </a:lnTo>
                  <a:close/>
                </a:path>
              </a:pathLst>
            </a:custGeom>
            <a:noFill/>
            <a:ln w="38100">
              <a:solidFill>
                <a:srgbClr val="2563EB"/>
              </a:solidFill>
              <a:round/>
            </a:ln>
          </p:spPr>
        </p:sp>
        <p:sp>
          <p:nvSpPr>
            <p:cNvPr id="45" name="Freeform 45"/>
            <p:cNvSpPr/>
            <p:nvPr/>
          </p:nvSpPr>
          <p:spPr>
            <a:xfrm>
              <a:off x="1428750" y="196215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57150" y="0"/>
                  </a:moveTo>
                  <a:lnTo>
                    <a:pt x="0" y="0"/>
                  </a:lnTo>
                  <a:moveTo>
                    <a:pt x="285750" y="0"/>
                  </a:moveTo>
                  <a:lnTo>
                    <a:pt x="342900" y="0"/>
                  </a:lnTo>
                </a:path>
              </a:pathLst>
            </a:custGeom>
            <a:solidFill>
              <a:srgbClr val="000000"/>
            </a:solidFill>
            <a:ln w="38100" cap="rnd">
              <a:solidFill>
                <a:srgbClr val="2563EB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1504950" y="2057400"/>
              <a:ext cx="190500" cy="95250"/>
            </a:xfrm>
            <a:custGeom>
              <a:avLst/>
              <a:gdLst/>
              <a:ahLst/>
              <a:cxnLst/>
              <a:rect l="l" t="t" r="r" b="b"/>
              <a:pathLst>
                <a:path w="190500" h="95250">
                  <a:moveTo>
                    <a:pt x="38100" y="0"/>
                  </a:moveTo>
                  <a:lnTo>
                    <a:pt x="0" y="95250"/>
                  </a:lnTo>
                  <a:lnTo>
                    <a:pt x="190500" y="95250"/>
                  </a:lnTo>
                  <a:lnTo>
                    <a:pt x="152400" y="0"/>
                  </a:lnTo>
                </a:path>
              </a:pathLst>
            </a:custGeom>
            <a:solidFill>
              <a:srgbClr val="38BDF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25573" y="2551748"/>
              <a:ext cx="194925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兵器科学与技术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248468" y="3087052"/>
              <a:ext cx="703463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4050" b="1" dirty="0">
                  <a:solidFill>
                    <a:srgbClr val="2563EB"/>
                  </a:solidFill>
                  <a:latin typeface="Arial"/>
                  <a:ea typeface="Arial"/>
                  <a:cs typeface="Arial"/>
                </a:rPr>
                <a:t>A+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66394" y="395001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2637A"/>
                  </a:solidFill>
                  <a:latin typeface="Arial"/>
                  <a:ea typeface="Microsoft YaHei"/>
                  <a:cs typeface="Arial"/>
                </a:rPr>
                <a:t>连续五年全国第一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57262" y="42357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2637A"/>
                  </a:solidFill>
                  <a:latin typeface="Arial"/>
                  <a:ea typeface="Microsoft YaHei"/>
                  <a:cs typeface="Arial"/>
                </a:rPr>
                <a:t>国家双一流学科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2828925" y="1428750"/>
            <a:ext cx="2076450" cy="4400550"/>
            <a:chOff x="2828925" y="1428750"/>
            <a:chExt cx="2076450" cy="4400550"/>
          </a:xfrm>
        </p:grpSpPr>
        <p:sp>
          <p:nvSpPr>
            <p:cNvPr id="52" name="Rectangle 52"/>
            <p:cNvSpPr/>
            <p:nvPr/>
          </p:nvSpPr>
          <p:spPr>
            <a:xfrm>
              <a:off x="2847975" y="1447800"/>
              <a:ext cx="2057400" cy="4381500"/>
            </a:xfrm>
            <a:prstGeom prst="roundRect">
              <a:avLst>
                <a:gd name="adj" fmla="val 5556"/>
              </a:avLst>
            </a:prstGeom>
            <a:solidFill>
              <a:srgbClr val="1F2937">
                <a:alpha val="6000"/>
              </a:srgbClr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2828925" y="1428750"/>
              <a:ext cx="2057400" cy="4381500"/>
            </a:xfrm>
            <a:prstGeom prst="roundRect">
              <a:avLst>
                <a:gd name="adj" fmla="val 5556"/>
              </a:avLst>
            </a:prstGeom>
            <a:gradFill>
              <a:gsLst>
                <a:gs pos="0">
                  <a:srgbClr val="FFFFFF"/>
                </a:gs>
                <a:gs pos="100000">
                  <a:srgbClr val="F8FBFF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2828925" y="1428750"/>
              <a:ext cx="2057400" cy="4381500"/>
            </a:xfrm>
            <a:prstGeom prst="roundRect">
              <a:avLst>
                <a:gd name="adj" fmla="val 5556"/>
              </a:avLst>
            </a:prstGeom>
            <a:noFill/>
            <a:ln w="14288">
              <a:solidFill>
                <a:srgbClr val="BDD7FF"/>
              </a:solidFill>
            </a:ln>
          </p:spPr>
        </p:sp>
        <p:sp>
          <p:nvSpPr>
            <p:cNvPr id="55" name="Freeform 55"/>
            <p:cNvSpPr/>
            <p:nvPr/>
          </p:nvSpPr>
          <p:spPr>
            <a:xfrm>
              <a:off x="2828925" y="1435100"/>
              <a:ext cx="2057400" cy="107950"/>
            </a:xfrm>
            <a:custGeom>
              <a:avLst/>
              <a:gdLst/>
              <a:ahLst/>
              <a:cxnLst/>
              <a:rect l="l" t="t" r="r" b="b"/>
              <a:pathLst>
                <a:path w="2057400" h="107950">
                  <a:moveTo>
                    <a:pt x="0" y="107950"/>
                  </a:moveTo>
                  <a:cubicBezTo>
                    <a:pt x="685800" y="0"/>
                    <a:pt x="1371600" y="0"/>
                    <a:pt x="2057400" y="107950"/>
                  </a:cubicBezTo>
                </a:path>
              </a:pathLst>
            </a:custGeom>
            <a:noFill/>
            <a:ln w="38100">
              <a:solidFill>
                <a:srgbClr val="38BDF8"/>
              </a:solidFill>
            </a:ln>
          </p:spPr>
        </p:sp>
        <p:sp>
          <p:nvSpPr>
            <p:cNvPr id="56" name="Ellipse 56"/>
            <p:cNvSpPr/>
            <p:nvPr/>
          </p:nvSpPr>
          <p:spPr>
            <a:xfrm>
              <a:off x="3552825" y="1695450"/>
              <a:ext cx="609600" cy="609600"/>
            </a:xfrm>
            <a:prstGeom prst="ellipse">
              <a:avLst/>
            </a:prstGeom>
            <a:solidFill>
              <a:srgbClr val="EEF4FF"/>
            </a:solidFill>
            <a:ln>
              <a:noFill/>
            </a:ln>
          </p:spPr>
        </p:sp>
        <p:sp>
          <p:nvSpPr>
            <p:cNvPr id="57" name="Ellipse 57"/>
            <p:cNvSpPr/>
            <p:nvPr/>
          </p:nvSpPr>
          <p:spPr>
            <a:xfrm>
              <a:off x="3495675" y="1638300"/>
              <a:ext cx="723900" cy="723900"/>
            </a:xfrm>
            <a:prstGeom prst="ellipse">
              <a:avLst/>
            </a:prstGeom>
            <a:noFill/>
            <a:ln w="19050">
              <a:solidFill>
                <a:srgbClr val="2563EB">
                  <a:alpha val="30000"/>
                </a:srgbClr>
              </a:solidFill>
            </a:ln>
          </p:spPr>
        </p:sp>
        <p:sp>
          <p:nvSpPr>
            <p:cNvPr id="58" name="Ellipse 58"/>
            <p:cNvSpPr/>
            <p:nvPr/>
          </p:nvSpPr>
          <p:spPr>
            <a:xfrm>
              <a:off x="3705225" y="1847850"/>
              <a:ext cx="304800" cy="304800"/>
            </a:xfrm>
            <a:prstGeom prst="ellipse">
              <a:avLst/>
            </a:prstGeom>
            <a:noFill/>
            <a:ln w="38100">
              <a:solidFill>
                <a:srgbClr val="2563EB"/>
              </a:solidFill>
            </a:ln>
          </p:spPr>
        </p:sp>
        <p:sp>
          <p:nvSpPr>
            <p:cNvPr id="59" name="Ellipse 59"/>
            <p:cNvSpPr/>
            <p:nvPr/>
          </p:nvSpPr>
          <p:spPr>
            <a:xfrm>
              <a:off x="3800475" y="1943100"/>
              <a:ext cx="114300" cy="1143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60" name="Freeform 60"/>
            <p:cNvSpPr/>
            <p:nvPr/>
          </p:nvSpPr>
          <p:spPr>
            <a:xfrm>
              <a:off x="3571875" y="1714500"/>
              <a:ext cx="571500" cy="495300"/>
            </a:xfrm>
            <a:custGeom>
              <a:avLst/>
              <a:gdLst/>
              <a:ahLst/>
              <a:cxnLst/>
              <a:rect l="l" t="t" r="r" b="b"/>
              <a:pathLst>
                <a:path w="571500" h="495300">
                  <a:moveTo>
                    <a:pt x="285750" y="76200"/>
                  </a:moveTo>
                  <a:lnTo>
                    <a:pt x="285750" y="0"/>
                  </a:lnTo>
                  <a:moveTo>
                    <a:pt x="285750" y="419100"/>
                  </a:moveTo>
                  <a:lnTo>
                    <a:pt x="285750" y="495300"/>
                  </a:lnTo>
                  <a:moveTo>
                    <a:pt x="76200" y="285750"/>
                  </a:moveTo>
                  <a:lnTo>
                    <a:pt x="0" y="285750"/>
                  </a:lnTo>
                  <a:moveTo>
                    <a:pt x="495300" y="285750"/>
                  </a:moveTo>
                  <a:lnTo>
                    <a:pt x="571500" y="285750"/>
                  </a:lnTo>
                </a:path>
              </a:pathLst>
            </a:custGeom>
            <a:solidFill>
              <a:srgbClr val="000000"/>
            </a:solidFill>
            <a:ln w="38100" cap="rnd">
              <a:solidFill>
                <a:srgbClr val="2563EB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2882998" y="2551748"/>
              <a:ext cx="194925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控制科学与工程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3505893" y="3087052"/>
              <a:ext cx="703463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4050" b="1" dirty="0">
                  <a:solidFill>
                    <a:srgbClr val="2563EB"/>
                  </a:solidFill>
                  <a:latin typeface="Arial"/>
                  <a:ea typeface="Arial"/>
                  <a:cs typeface="Arial"/>
                </a:rPr>
                <a:t>A+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3214688" y="39500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2637A"/>
                  </a:solidFill>
                  <a:latin typeface="Arial"/>
                  <a:ea typeface="Microsoft YaHei"/>
                  <a:cs typeface="Arial"/>
                </a:rPr>
                <a:t>国家重点实验室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3305556" y="42357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2637A"/>
                  </a:solidFill>
                  <a:latin typeface="Arial"/>
                  <a:ea typeface="Microsoft YaHei"/>
                  <a:cs typeface="Arial"/>
                </a:rPr>
                <a:t>院士领衔学科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5086350" y="1428750"/>
            <a:ext cx="2076450" cy="4400550"/>
            <a:chOff x="5086350" y="1428750"/>
            <a:chExt cx="2076450" cy="4400550"/>
          </a:xfrm>
        </p:grpSpPr>
        <p:sp>
          <p:nvSpPr>
            <p:cNvPr id="66" name="Rectangle 66"/>
            <p:cNvSpPr/>
            <p:nvPr/>
          </p:nvSpPr>
          <p:spPr>
            <a:xfrm>
              <a:off x="5105400" y="1447800"/>
              <a:ext cx="2057400" cy="4381500"/>
            </a:xfrm>
            <a:prstGeom prst="roundRect">
              <a:avLst>
                <a:gd name="adj" fmla="val 5556"/>
              </a:avLst>
            </a:prstGeom>
            <a:solidFill>
              <a:srgbClr val="1F2937">
                <a:alpha val="6000"/>
              </a:srgbClr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5086350" y="1428750"/>
              <a:ext cx="2057400" cy="4381500"/>
            </a:xfrm>
            <a:prstGeom prst="roundRect">
              <a:avLst>
                <a:gd name="adj" fmla="val 5556"/>
              </a:avLst>
            </a:prstGeom>
            <a:gradFill>
              <a:gsLst>
                <a:gs pos="0">
                  <a:srgbClr val="FFFFFF"/>
                </a:gs>
                <a:gs pos="100000">
                  <a:srgbClr val="F8FBFF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5086350" y="1428750"/>
              <a:ext cx="2057400" cy="4381500"/>
            </a:xfrm>
            <a:prstGeom prst="roundRect">
              <a:avLst>
                <a:gd name="adj" fmla="val 5556"/>
              </a:avLst>
            </a:prstGeom>
            <a:noFill/>
            <a:ln w="14288">
              <a:solidFill>
                <a:srgbClr val="BDD7FF"/>
              </a:solidFill>
            </a:ln>
          </p:spPr>
        </p:sp>
        <p:sp>
          <p:nvSpPr>
            <p:cNvPr id="69" name="Freeform 69"/>
            <p:cNvSpPr/>
            <p:nvPr/>
          </p:nvSpPr>
          <p:spPr>
            <a:xfrm>
              <a:off x="5086350" y="1435100"/>
              <a:ext cx="2057400" cy="107950"/>
            </a:xfrm>
            <a:custGeom>
              <a:avLst/>
              <a:gdLst/>
              <a:ahLst/>
              <a:cxnLst/>
              <a:rect l="l" t="t" r="r" b="b"/>
              <a:pathLst>
                <a:path w="2057400" h="107950">
                  <a:moveTo>
                    <a:pt x="0" y="107950"/>
                  </a:moveTo>
                  <a:cubicBezTo>
                    <a:pt x="685800" y="0"/>
                    <a:pt x="1371600" y="0"/>
                    <a:pt x="2057400" y="107950"/>
                  </a:cubicBezTo>
                </a:path>
              </a:pathLst>
            </a:custGeom>
            <a:noFill/>
            <a:ln w="38100">
              <a:solidFill>
                <a:srgbClr val="38BDF8"/>
              </a:solidFill>
            </a:ln>
          </p:spPr>
        </p:sp>
        <p:sp>
          <p:nvSpPr>
            <p:cNvPr id="70" name="Ellipse 70"/>
            <p:cNvSpPr/>
            <p:nvPr/>
          </p:nvSpPr>
          <p:spPr>
            <a:xfrm>
              <a:off x="5810250" y="1695450"/>
              <a:ext cx="609600" cy="609600"/>
            </a:xfrm>
            <a:prstGeom prst="ellipse">
              <a:avLst/>
            </a:prstGeom>
            <a:solidFill>
              <a:srgbClr val="EEF4FF"/>
            </a:solidFill>
            <a:ln>
              <a:noFill/>
            </a:ln>
          </p:spPr>
        </p:sp>
        <p:sp>
          <p:nvSpPr>
            <p:cNvPr id="71" name="Ellipse 71"/>
            <p:cNvSpPr/>
            <p:nvPr/>
          </p:nvSpPr>
          <p:spPr>
            <a:xfrm>
              <a:off x="5753100" y="1638300"/>
              <a:ext cx="723900" cy="723900"/>
            </a:xfrm>
            <a:prstGeom prst="ellipse">
              <a:avLst/>
            </a:prstGeom>
            <a:noFill/>
            <a:ln w="19050">
              <a:solidFill>
                <a:srgbClr val="38BDF8">
                  <a:alpha val="30000"/>
                </a:srgbClr>
              </a:solidFill>
            </a:ln>
          </p:spPr>
        </p:sp>
        <p:sp>
          <p:nvSpPr>
            <p:cNvPr id="72" name="Freeform 72"/>
            <p:cNvSpPr/>
            <p:nvPr/>
          </p:nvSpPr>
          <p:spPr>
            <a:xfrm>
              <a:off x="5905500" y="1809750"/>
              <a:ext cx="419100" cy="381000"/>
            </a:xfrm>
            <a:custGeom>
              <a:avLst/>
              <a:gdLst/>
              <a:ahLst/>
              <a:cxnLst/>
              <a:rect l="l" t="t" r="r" b="b"/>
              <a:pathLst>
                <a:path w="419100" h="381000">
                  <a:moveTo>
                    <a:pt x="0" y="381000"/>
                  </a:moveTo>
                  <a:lnTo>
                    <a:pt x="209550" y="0"/>
                  </a:lnTo>
                  <a:lnTo>
                    <a:pt x="419100" y="381000"/>
                  </a:lnTo>
                  <a:close/>
                </a:path>
              </a:pathLst>
            </a:custGeom>
            <a:noFill/>
            <a:ln w="38100">
              <a:solidFill>
                <a:srgbClr val="38BDF8"/>
              </a:solidFill>
              <a:round/>
            </a:ln>
          </p:spPr>
        </p:sp>
        <p:sp>
          <p:nvSpPr>
            <p:cNvPr id="73" name="Freeform 73"/>
            <p:cNvSpPr/>
            <p:nvPr/>
          </p:nvSpPr>
          <p:spPr>
            <a:xfrm>
              <a:off x="5981700" y="1952625"/>
              <a:ext cx="266700" cy="238125"/>
            </a:xfrm>
            <a:custGeom>
              <a:avLst/>
              <a:gdLst/>
              <a:ahLst/>
              <a:cxnLst/>
              <a:rect l="l" t="t" r="r" b="b"/>
              <a:pathLst>
                <a:path w="266700" h="238125">
                  <a:moveTo>
                    <a:pt x="0" y="238125"/>
                  </a:moveTo>
                  <a:lnTo>
                    <a:pt x="133350" y="0"/>
                  </a:lnTo>
                  <a:lnTo>
                    <a:pt x="266700" y="238125"/>
                  </a:lnTo>
                  <a:close/>
                </a:path>
              </a:pathLst>
            </a:custGeom>
            <a:solidFill>
              <a:srgbClr val="38BDF8"/>
            </a:solidFill>
            <a:ln>
              <a:noFill/>
            </a:ln>
          </p:spPr>
        </p:sp>
        <p:sp>
          <p:nvSpPr>
            <p:cNvPr id="74" name="Line 74"/>
            <p:cNvSpPr/>
            <p:nvPr/>
          </p:nvSpPr>
          <p:spPr>
            <a:xfrm>
              <a:off x="6115050" y="2190750"/>
              <a:ext cx="9525" cy="114300"/>
            </a:xfrm>
            <a:custGeom>
              <a:avLst/>
              <a:gdLst/>
              <a:ahLst/>
              <a:cxnLst/>
              <a:rect l="l" t="t" r="r" b="b"/>
              <a:pathLst>
                <a:path w="952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/>
            <a:ln w="38100" cap="rnd">
              <a:solidFill>
                <a:srgbClr val="38BDF8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5553875" y="2551748"/>
              <a:ext cx="112235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光学工程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5929659" y="3087052"/>
              <a:ext cx="370782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4050" b="1" dirty="0">
                  <a:solidFill>
                    <a:srgbClr val="38BDF8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5562981" y="39500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2637A"/>
                  </a:solidFill>
                  <a:latin typeface="Arial"/>
                  <a:ea typeface="Microsoft YaHei"/>
                  <a:cs typeface="Arial"/>
                </a:rPr>
                <a:t>国家重点学科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5472112" y="42357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2637A"/>
                  </a:solidFill>
                  <a:latin typeface="Arial"/>
                  <a:ea typeface="Microsoft YaHei"/>
                  <a:cs typeface="Arial"/>
                </a:rPr>
                <a:t>多项国家级奖项</a:t>
              </a: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7343775" y="1428750"/>
            <a:ext cx="2076450" cy="4400550"/>
            <a:chOff x="7343775" y="1428750"/>
            <a:chExt cx="2076450" cy="4400550"/>
          </a:xfrm>
        </p:grpSpPr>
        <p:sp>
          <p:nvSpPr>
            <p:cNvPr id="80" name="Rectangle 80"/>
            <p:cNvSpPr/>
            <p:nvPr/>
          </p:nvSpPr>
          <p:spPr>
            <a:xfrm>
              <a:off x="7362825" y="1447800"/>
              <a:ext cx="2057400" cy="4381500"/>
            </a:xfrm>
            <a:prstGeom prst="roundRect">
              <a:avLst>
                <a:gd name="adj" fmla="val 5556"/>
              </a:avLst>
            </a:prstGeom>
            <a:solidFill>
              <a:srgbClr val="1F2937">
                <a:alpha val="6000"/>
              </a:srgbClr>
            </a:solidFill>
            <a:ln>
              <a:noFill/>
            </a:ln>
          </p:spPr>
        </p:sp>
        <p:sp>
          <p:nvSpPr>
            <p:cNvPr id="81" name="Rectangle 81"/>
            <p:cNvSpPr/>
            <p:nvPr/>
          </p:nvSpPr>
          <p:spPr>
            <a:xfrm>
              <a:off x="7343775" y="1428750"/>
              <a:ext cx="2057400" cy="4381500"/>
            </a:xfrm>
            <a:prstGeom prst="roundRect">
              <a:avLst>
                <a:gd name="adj" fmla="val 5556"/>
              </a:avLst>
            </a:prstGeom>
            <a:gradFill>
              <a:gsLst>
                <a:gs pos="0">
                  <a:srgbClr val="FFFFFF"/>
                </a:gs>
                <a:gs pos="100000">
                  <a:srgbClr val="F8FBFF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82" name="Rectangle 82"/>
            <p:cNvSpPr/>
            <p:nvPr/>
          </p:nvSpPr>
          <p:spPr>
            <a:xfrm>
              <a:off x="7343775" y="1428750"/>
              <a:ext cx="2057400" cy="4381500"/>
            </a:xfrm>
            <a:prstGeom prst="roundRect">
              <a:avLst>
                <a:gd name="adj" fmla="val 5556"/>
              </a:avLst>
            </a:prstGeom>
            <a:noFill/>
            <a:ln w="14288">
              <a:solidFill>
                <a:srgbClr val="BDD7FF"/>
              </a:solidFill>
            </a:ln>
          </p:spPr>
        </p:sp>
        <p:sp>
          <p:nvSpPr>
            <p:cNvPr id="83" name="Freeform 83"/>
            <p:cNvSpPr/>
            <p:nvPr/>
          </p:nvSpPr>
          <p:spPr>
            <a:xfrm>
              <a:off x="7343775" y="1435100"/>
              <a:ext cx="2057400" cy="107950"/>
            </a:xfrm>
            <a:custGeom>
              <a:avLst/>
              <a:gdLst/>
              <a:ahLst/>
              <a:cxnLst/>
              <a:rect l="l" t="t" r="r" b="b"/>
              <a:pathLst>
                <a:path w="2057400" h="107950">
                  <a:moveTo>
                    <a:pt x="0" y="107950"/>
                  </a:moveTo>
                  <a:cubicBezTo>
                    <a:pt x="685800" y="0"/>
                    <a:pt x="1371600" y="0"/>
                    <a:pt x="2057400" y="107950"/>
                  </a:cubicBezTo>
                </a:path>
              </a:pathLst>
            </a:custGeom>
            <a:noFill/>
            <a:ln w="38100">
              <a:solidFill>
                <a:srgbClr val="38BDF8"/>
              </a:solidFill>
            </a:ln>
          </p:spPr>
        </p:sp>
        <p:sp>
          <p:nvSpPr>
            <p:cNvPr id="84" name="Ellipse 84"/>
            <p:cNvSpPr/>
            <p:nvPr/>
          </p:nvSpPr>
          <p:spPr>
            <a:xfrm>
              <a:off x="8067675" y="1695450"/>
              <a:ext cx="609600" cy="609600"/>
            </a:xfrm>
            <a:prstGeom prst="ellipse">
              <a:avLst/>
            </a:prstGeom>
            <a:solidFill>
              <a:srgbClr val="EEF4FF"/>
            </a:solidFill>
            <a:ln>
              <a:noFill/>
            </a:ln>
          </p:spPr>
        </p:sp>
        <p:sp>
          <p:nvSpPr>
            <p:cNvPr id="85" name="Ellipse 85"/>
            <p:cNvSpPr/>
            <p:nvPr/>
          </p:nvSpPr>
          <p:spPr>
            <a:xfrm>
              <a:off x="8010525" y="1638300"/>
              <a:ext cx="723900" cy="723900"/>
            </a:xfrm>
            <a:prstGeom prst="ellipse">
              <a:avLst/>
            </a:prstGeom>
            <a:noFill/>
            <a:ln w="19050">
              <a:solidFill>
                <a:srgbClr val="7C3AED">
                  <a:alpha val="30000"/>
                </a:srgbClr>
              </a:solidFill>
            </a:ln>
          </p:spPr>
        </p:sp>
        <p:sp>
          <p:nvSpPr>
            <p:cNvPr id="86" name="Rectangle 86"/>
            <p:cNvSpPr/>
            <p:nvPr/>
          </p:nvSpPr>
          <p:spPr>
            <a:xfrm>
              <a:off x="8239125" y="1866900"/>
              <a:ext cx="266700" cy="266700"/>
            </a:xfrm>
            <a:prstGeom prst="roundRect">
              <a:avLst>
                <a:gd name="adj" fmla="val 21429"/>
              </a:avLst>
            </a:prstGeom>
            <a:noFill/>
            <a:ln w="38100">
              <a:solidFill>
                <a:srgbClr val="7C3AED"/>
              </a:solidFill>
            </a:ln>
          </p:spPr>
        </p:sp>
        <p:sp>
          <p:nvSpPr>
            <p:cNvPr id="87" name="Ellipse 87"/>
            <p:cNvSpPr/>
            <p:nvPr/>
          </p:nvSpPr>
          <p:spPr>
            <a:xfrm>
              <a:off x="8315325" y="1943100"/>
              <a:ext cx="114300" cy="114300"/>
            </a:xfrm>
            <a:prstGeom prst="ellipse">
              <a:avLst/>
            </a:prstGeom>
            <a:solidFill>
              <a:srgbClr val="7C3AED"/>
            </a:solidFill>
            <a:ln>
              <a:noFill/>
            </a:ln>
          </p:spPr>
        </p:sp>
        <p:sp>
          <p:nvSpPr>
            <p:cNvPr id="88" name="Freeform 88"/>
            <p:cNvSpPr/>
            <p:nvPr/>
          </p:nvSpPr>
          <p:spPr>
            <a:xfrm>
              <a:off x="8162925" y="1752600"/>
              <a:ext cx="419100" cy="457200"/>
            </a:xfrm>
            <a:custGeom>
              <a:avLst/>
              <a:gdLst/>
              <a:ahLst/>
              <a:cxnLst/>
              <a:rect l="l" t="t" r="r" b="b"/>
              <a:pathLst>
                <a:path w="419100" h="457200">
                  <a:moveTo>
                    <a:pt x="209550" y="38100"/>
                  </a:moveTo>
                  <a:lnTo>
                    <a:pt x="209550" y="0"/>
                  </a:lnTo>
                  <a:moveTo>
                    <a:pt x="209550" y="419100"/>
                  </a:moveTo>
                  <a:lnTo>
                    <a:pt x="209550" y="457200"/>
                  </a:lnTo>
                  <a:moveTo>
                    <a:pt x="38100" y="247650"/>
                  </a:moveTo>
                  <a:lnTo>
                    <a:pt x="0" y="247650"/>
                  </a:lnTo>
                  <a:moveTo>
                    <a:pt x="381000" y="247650"/>
                  </a:moveTo>
                  <a:lnTo>
                    <a:pt x="419100" y="247650"/>
                  </a:lnTo>
                </a:path>
              </a:pathLst>
            </a:custGeom>
            <a:solidFill>
              <a:srgbClr val="000000"/>
            </a:solidFill>
            <a:ln w="38100" cap="rnd">
              <a:solidFill>
                <a:srgbClr val="7C3AED"/>
              </a:solidFill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7811300" y="2551748"/>
              <a:ext cx="112235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机械工程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8020743" y="3087052"/>
              <a:ext cx="703463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4050" b="1" dirty="0">
                  <a:solidFill>
                    <a:srgbClr val="7C3AED"/>
                  </a:solidFill>
                  <a:latin typeface="Arial"/>
                  <a:ea typeface="Arial"/>
                  <a:cs typeface="Arial"/>
                </a:rPr>
                <a:t>A-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7729538" y="39500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2637A"/>
                  </a:solidFill>
                  <a:latin typeface="Arial"/>
                  <a:ea typeface="Microsoft YaHei"/>
                  <a:cs typeface="Arial"/>
                </a:rPr>
                <a:t>北京市重点学科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7820406" y="42357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2637A"/>
                  </a:solidFill>
                  <a:latin typeface="Arial"/>
                  <a:ea typeface="Microsoft YaHei"/>
                  <a:cs typeface="Arial"/>
                </a:rPr>
                <a:t>智能制造前沿</a:t>
              </a:r>
            </a:p>
          </p:txBody>
        </p:sp>
      </p:grpSp>
      <p:grpSp>
        <p:nvGrpSpPr>
          <p:cNvPr id="108" name="Group 108"/>
          <p:cNvGrpSpPr/>
          <p:nvPr/>
        </p:nvGrpSpPr>
        <p:grpSpPr>
          <a:xfrm>
            <a:off x="9601200" y="1428750"/>
            <a:ext cx="2076450" cy="4400550"/>
            <a:chOff x="9601200" y="1428750"/>
            <a:chExt cx="2076450" cy="4400550"/>
          </a:xfrm>
        </p:grpSpPr>
        <p:sp>
          <p:nvSpPr>
            <p:cNvPr id="94" name="Rectangle 94"/>
            <p:cNvSpPr/>
            <p:nvPr/>
          </p:nvSpPr>
          <p:spPr>
            <a:xfrm>
              <a:off x="9620250" y="1447800"/>
              <a:ext cx="2057400" cy="4381500"/>
            </a:xfrm>
            <a:prstGeom prst="roundRect">
              <a:avLst>
                <a:gd name="adj" fmla="val 5556"/>
              </a:avLst>
            </a:prstGeom>
            <a:solidFill>
              <a:srgbClr val="1F2937">
                <a:alpha val="6000"/>
              </a:srgbClr>
            </a:solidFill>
            <a:ln>
              <a:noFill/>
            </a:ln>
          </p:spPr>
        </p:sp>
        <p:sp>
          <p:nvSpPr>
            <p:cNvPr id="95" name="Rectangle 95"/>
            <p:cNvSpPr/>
            <p:nvPr/>
          </p:nvSpPr>
          <p:spPr>
            <a:xfrm>
              <a:off x="9601200" y="1428750"/>
              <a:ext cx="2057400" cy="4381500"/>
            </a:xfrm>
            <a:prstGeom prst="roundRect">
              <a:avLst>
                <a:gd name="adj" fmla="val 5556"/>
              </a:avLst>
            </a:prstGeom>
            <a:gradFill>
              <a:gsLst>
                <a:gs pos="0">
                  <a:srgbClr val="FFFFFF"/>
                </a:gs>
                <a:gs pos="100000">
                  <a:srgbClr val="F8FBFF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96" name="Rectangle 96"/>
            <p:cNvSpPr/>
            <p:nvPr/>
          </p:nvSpPr>
          <p:spPr>
            <a:xfrm>
              <a:off x="9601200" y="1428750"/>
              <a:ext cx="2057400" cy="4381500"/>
            </a:xfrm>
            <a:prstGeom prst="roundRect">
              <a:avLst>
                <a:gd name="adj" fmla="val 5556"/>
              </a:avLst>
            </a:prstGeom>
            <a:noFill/>
            <a:ln w="14288">
              <a:solidFill>
                <a:srgbClr val="BDD7FF"/>
              </a:solidFill>
            </a:ln>
          </p:spPr>
        </p:sp>
        <p:sp>
          <p:nvSpPr>
            <p:cNvPr id="97" name="Freeform 97"/>
            <p:cNvSpPr/>
            <p:nvPr/>
          </p:nvSpPr>
          <p:spPr>
            <a:xfrm>
              <a:off x="9601200" y="1435100"/>
              <a:ext cx="2057400" cy="107950"/>
            </a:xfrm>
            <a:custGeom>
              <a:avLst/>
              <a:gdLst/>
              <a:ahLst/>
              <a:cxnLst/>
              <a:rect l="l" t="t" r="r" b="b"/>
              <a:pathLst>
                <a:path w="2057400" h="107950">
                  <a:moveTo>
                    <a:pt x="0" y="107950"/>
                  </a:moveTo>
                  <a:cubicBezTo>
                    <a:pt x="685800" y="0"/>
                    <a:pt x="1371600" y="0"/>
                    <a:pt x="2057400" y="107950"/>
                  </a:cubicBezTo>
                </a:path>
              </a:pathLst>
            </a:custGeom>
            <a:noFill/>
            <a:ln w="38100">
              <a:solidFill>
                <a:srgbClr val="38BDF8"/>
              </a:solidFill>
            </a:ln>
          </p:spPr>
        </p:sp>
        <p:sp>
          <p:nvSpPr>
            <p:cNvPr id="98" name="Ellipse 98"/>
            <p:cNvSpPr/>
            <p:nvPr/>
          </p:nvSpPr>
          <p:spPr>
            <a:xfrm>
              <a:off x="10325100" y="1695450"/>
              <a:ext cx="609600" cy="609600"/>
            </a:xfrm>
            <a:prstGeom prst="ellipse">
              <a:avLst/>
            </a:prstGeom>
            <a:solidFill>
              <a:srgbClr val="EEF4FF"/>
            </a:solidFill>
            <a:ln>
              <a:noFill/>
            </a:ln>
          </p:spPr>
        </p:sp>
        <p:sp>
          <p:nvSpPr>
            <p:cNvPr id="99" name="Ellipse 99"/>
            <p:cNvSpPr/>
            <p:nvPr/>
          </p:nvSpPr>
          <p:spPr>
            <a:xfrm>
              <a:off x="10267950" y="1638300"/>
              <a:ext cx="723900" cy="723900"/>
            </a:xfrm>
            <a:prstGeom prst="ellipse">
              <a:avLst/>
            </a:prstGeom>
            <a:noFill/>
            <a:ln w="19050">
              <a:solidFill>
                <a:srgbClr val="7C3AED">
                  <a:alpha val="30000"/>
                </a:srgbClr>
              </a:solidFill>
            </a:ln>
          </p:spPr>
        </p:sp>
        <p:sp>
          <p:nvSpPr>
            <p:cNvPr id="100" name="Ellipse 100"/>
            <p:cNvSpPr/>
            <p:nvPr/>
          </p:nvSpPr>
          <p:spPr>
            <a:xfrm>
              <a:off x="10572750" y="1943100"/>
              <a:ext cx="114300" cy="114300"/>
            </a:xfrm>
            <a:prstGeom prst="ellipse">
              <a:avLst/>
            </a:prstGeom>
            <a:solidFill>
              <a:srgbClr val="7C3AED"/>
            </a:solidFill>
            <a:ln>
              <a:noFill/>
            </a:ln>
          </p:spPr>
        </p:sp>
        <p:sp>
          <p:nvSpPr>
            <p:cNvPr id="101" name="Ellipse 101"/>
            <p:cNvSpPr/>
            <p:nvPr/>
          </p:nvSpPr>
          <p:spPr>
            <a:xfrm rot="1800000">
              <a:off x="10439400" y="1943100"/>
              <a:ext cx="381000" cy="114300"/>
            </a:xfrm>
            <a:prstGeom prst="ellipse">
              <a:avLst/>
            </a:prstGeom>
            <a:noFill/>
            <a:ln w="28575">
              <a:solidFill>
                <a:srgbClr val="7C3AED"/>
              </a:solidFill>
            </a:ln>
          </p:spPr>
        </p:sp>
        <p:sp>
          <p:nvSpPr>
            <p:cNvPr id="102" name="Ellipse 102"/>
            <p:cNvSpPr/>
            <p:nvPr/>
          </p:nvSpPr>
          <p:spPr>
            <a:xfrm rot="-1800000">
              <a:off x="10439400" y="1943100"/>
              <a:ext cx="381000" cy="114300"/>
            </a:xfrm>
            <a:prstGeom prst="ellipse">
              <a:avLst/>
            </a:prstGeom>
            <a:noFill/>
            <a:ln w="28575">
              <a:solidFill>
                <a:srgbClr val="7C3AED"/>
              </a:solidFill>
            </a:ln>
          </p:spPr>
        </p:sp>
        <p:sp>
          <p:nvSpPr>
            <p:cNvPr id="103" name="Ellipse 103"/>
            <p:cNvSpPr/>
            <p:nvPr/>
          </p:nvSpPr>
          <p:spPr>
            <a:xfrm rot="5400000">
              <a:off x="10439400" y="1943100"/>
              <a:ext cx="381000" cy="114300"/>
            </a:xfrm>
            <a:prstGeom prst="ellipse">
              <a:avLst/>
            </a:prstGeom>
            <a:noFill/>
            <a:ln w="28575">
              <a:solidFill>
                <a:srgbClr val="7C3AED"/>
              </a:solidFill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9655273" y="2551748"/>
              <a:ext cx="194925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材料科学与工程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10278168" y="3087052"/>
              <a:ext cx="703463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4050" b="1" dirty="0">
                  <a:solidFill>
                    <a:srgbClr val="7C3AED"/>
                  </a:solidFill>
                  <a:latin typeface="Arial"/>
                  <a:ea typeface="Arial"/>
                  <a:cs typeface="Arial"/>
                </a:rPr>
                <a:t>A-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10075774" y="3950018"/>
              <a:ext cx="11082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2637A"/>
                  </a:solidFill>
                  <a:latin typeface="Arial"/>
                  <a:ea typeface="Microsoft YaHei"/>
                  <a:cs typeface="Arial"/>
                </a:rPr>
                <a:t>ESI全球前1%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9986962" y="42357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2637A"/>
                  </a:solidFill>
                  <a:latin typeface="Arial"/>
                  <a:ea typeface="Microsoft YaHei"/>
                  <a:cs typeface="Arial"/>
                </a:rPr>
                <a:t>国防新材料基地</a:t>
              </a:r>
            </a:p>
          </p:txBody>
        </p:sp>
      </p:grpSp>
      <p:grpSp>
        <p:nvGrpSpPr>
          <p:cNvPr id="111" name="Group 111"/>
          <p:cNvGrpSpPr/>
          <p:nvPr/>
        </p:nvGrpSpPr>
        <p:grpSpPr>
          <a:xfrm>
            <a:off x="566166" y="6458902"/>
            <a:ext cx="11059668" cy="205359"/>
            <a:chOff x="566166" y="6458902"/>
            <a:chExt cx="11059668" cy="205359"/>
          </a:xfrm>
        </p:grpSpPr>
        <p:sp>
          <p:nvSpPr>
            <p:cNvPr id="109" name="TextBox 109"/>
            <p:cNvSpPr txBox="1"/>
            <p:nvPr/>
          </p:nvSpPr>
          <p:spPr>
            <a:xfrm>
              <a:off x="566166" y="64589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DD7FF"/>
                  </a:solidFill>
                  <a:latin typeface="Arial"/>
                  <a:ea typeface="Microsoft YaHei"/>
                  <a:cs typeface="Arial"/>
                </a:rPr>
                <a:t>顶尖学科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111416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BDD7FF"/>
                  </a:solidFill>
                  <a:latin typeface="Arial"/>
                  <a:ea typeface="Arial"/>
                  <a:cs typeface="Arial"/>
                </a:rPr>
                <a:t>03 / 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EEF4FF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grpSp>
        <p:nvGrpSpPr>
          <p:cNvPr id="12" name="Group 1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Ellipse 3"/>
            <p:cNvSpPr/>
            <p:nvPr/>
          </p:nvSpPr>
          <p:spPr>
            <a:xfrm>
              <a:off x="3048000" y="381000"/>
              <a:ext cx="6096000" cy="6096000"/>
            </a:xfrm>
            <a:prstGeom prst="ellipse">
              <a:avLst/>
            </a:prstGeom>
            <a:noFill/>
            <a:ln w="9525">
              <a:solidFill>
                <a:srgbClr val="BDD7FF">
                  <a:alpha val="20000"/>
                </a:srgbClr>
              </a:solidFill>
            </a:ln>
          </p:spPr>
        </p:sp>
        <p:sp>
          <p:nvSpPr>
            <p:cNvPr id="4" name="Ellipse 4"/>
            <p:cNvSpPr/>
            <p:nvPr/>
          </p:nvSpPr>
          <p:spPr>
            <a:xfrm>
              <a:off x="3810000" y="1143000"/>
              <a:ext cx="4572000" cy="4572000"/>
            </a:xfrm>
            <a:prstGeom prst="ellipse">
              <a:avLst/>
            </a:prstGeom>
            <a:noFill/>
            <a:ln w="9525">
              <a:solidFill>
                <a:srgbClr val="BDD7FF">
                  <a:alpha val="30000"/>
                </a:srgbClr>
              </a:solidFill>
            </a:ln>
          </p:spPr>
        </p:sp>
        <p:sp>
          <p:nvSpPr>
            <p:cNvPr id="5" name="Ellipse 5"/>
            <p:cNvSpPr/>
            <p:nvPr/>
          </p:nvSpPr>
          <p:spPr>
            <a:xfrm>
              <a:off x="4572000" y="1905000"/>
              <a:ext cx="3048000" cy="3048000"/>
            </a:xfrm>
            <a:prstGeom prst="ellipse">
              <a:avLst/>
            </a:prstGeom>
            <a:noFill/>
            <a:ln w="9525">
              <a:solidFill>
                <a:srgbClr val="BDD7FF">
                  <a:alpha val="40000"/>
                </a:srgbClr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5334000" y="2667000"/>
              <a:ext cx="1524000" cy="1524000"/>
            </a:xfrm>
            <a:prstGeom prst="ellipse">
              <a:avLst/>
            </a:prstGeom>
            <a:noFill/>
            <a:ln w="9525">
              <a:solidFill>
                <a:srgbClr val="BDD7FF">
                  <a:alpha val="50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0" y="76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BDD7FF">
                  <a:alpha val="20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0" y="1524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BDD7FF">
                  <a:alpha val="10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BDD7FF">
                  <a:alpha val="200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152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BDD7FF">
                  <a:alpha val="100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1066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BDD7FF">
                  <a:alpha val="10000"/>
                </a:srgbClr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745998" y="517208"/>
            <a:ext cx="7948136" cy="1013459"/>
            <a:chOff x="745998" y="517208"/>
            <a:chExt cx="7948136" cy="1013459"/>
          </a:xfrm>
        </p:grpSpPr>
        <p:sp>
          <p:nvSpPr>
            <p:cNvPr id="13" name="TextBox 13"/>
            <p:cNvSpPr txBox="1"/>
            <p:nvPr/>
          </p:nvSpPr>
          <p:spPr>
            <a:xfrm>
              <a:off x="745998" y="517208"/>
              <a:ext cx="403930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国家贡献与未来发展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0570" y="1090612"/>
              <a:ext cx="794356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52637A"/>
                  </a:solidFill>
                  <a:latin typeface="Arial"/>
                  <a:ea typeface="Microsoft YaHei"/>
                  <a:cs typeface="Arial"/>
                </a:rPr>
                <a:t>阅兵装备研制数量全国第一 · 连续三年获国家科技奖一等奖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428750" y="2190750"/>
            <a:ext cx="8858250" cy="3524250"/>
            <a:chOff x="1428750" y="2190750"/>
            <a:chExt cx="8858250" cy="3524250"/>
          </a:xfrm>
        </p:grpSpPr>
        <p:sp>
          <p:nvSpPr>
            <p:cNvPr id="16" name="Freeform 16"/>
            <p:cNvSpPr/>
            <p:nvPr/>
          </p:nvSpPr>
          <p:spPr>
            <a:xfrm>
              <a:off x="1428750" y="2190750"/>
              <a:ext cx="8096250" cy="3524250"/>
            </a:xfrm>
            <a:custGeom>
              <a:avLst/>
              <a:gdLst/>
              <a:ahLst/>
              <a:cxnLst/>
              <a:rect l="l" t="t" r="r" b="b"/>
              <a:pathLst>
                <a:path w="8096250" h="3524250">
                  <a:moveTo>
                    <a:pt x="0" y="3143250"/>
                  </a:moveTo>
                  <a:lnTo>
                    <a:pt x="8096250" y="0"/>
                  </a:lnTo>
                  <a:lnTo>
                    <a:pt x="8096250" y="381000"/>
                  </a:lnTo>
                  <a:lnTo>
                    <a:pt x="476250" y="3524250"/>
                  </a:lnTo>
                  <a:close/>
                </a:path>
              </a:pathLst>
            </a:custGeom>
            <a:gradFill>
              <a:gsLst>
                <a:gs pos="0">
                  <a:srgbClr val="2563EB"/>
                </a:gs>
                <a:gs pos="100000">
                  <a:srgbClr val="7C3AED"/>
                </a:gs>
              </a:gsLst>
              <a:lin ang="18900000" scaled="1"/>
            </a:gra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9525000" y="2190750"/>
              <a:ext cx="762000" cy="381000"/>
            </a:xfrm>
            <a:custGeom>
              <a:avLst/>
              <a:gdLst/>
              <a:ahLst/>
              <a:cxnLst/>
              <a:rect l="l" t="t" r="r" b="b"/>
              <a:pathLst>
                <a:path w="762000" h="381000">
                  <a:moveTo>
                    <a:pt x="0" y="0"/>
                  </a:moveTo>
                  <a:lnTo>
                    <a:pt x="762000" y="190500"/>
                  </a:lnTo>
                  <a:lnTo>
                    <a:pt x="0" y="381000"/>
                  </a:lnTo>
                  <a:close/>
                </a:path>
              </a:pathLst>
            </a:custGeom>
            <a:gradFill>
              <a:gsLst>
                <a:gs pos="0">
                  <a:srgbClr val="2563EB"/>
                </a:gs>
                <a:gs pos="100000">
                  <a:srgbClr val="7C3AED"/>
                </a:gs>
              </a:gsLst>
              <a:lin ang="18900000" scaled="1"/>
            </a:gra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1428750" y="2190750"/>
              <a:ext cx="8096250" cy="3143250"/>
            </a:xfrm>
            <a:custGeom>
              <a:avLst/>
              <a:gdLst/>
              <a:ahLst/>
              <a:cxnLst/>
              <a:rect l="l" t="t" r="r" b="b"/>
              <a:pathLst>
                <a:path w="8096250" h="3143250">
                  <a:moveTo>
                    <a:pt x="0" y="3143250"/>
                  </a:moveTo>
                  <a:lnTo>
                    <a:pt x="8096250" y="0"/>
                  </a:lnTo>
                </a:path>
              </a:pathLst>
            </a:custGeom>
            <a:noFill/>
            <a:ln w="14288">
              <a:solidFill>
                <a:srgbClr val="FFFFFF">
                  <a:alpha val="40000"/>
                </a:srgbClr>
              </a:solidFill>
            </a:ln>
          </p:spPr>
        </p:sp>
      </p:grpSp>
      <p:grpSp>
        <p:nvGrpSpPr>
          <p:cNvPr id="46" name="Group 46"/>
          <p:cNvGrpSpPr/>
          <p:nvPr/>
        </p:nvGrpSpPr>
        <p:grpSpPr>
          <a:xfrm>
            <a:off x="1403804" y="1854518"/>
            <a:ext cx="8399764" cy="3502533"/>
            <a:chOff x="1403804" y="1854518"/>
            <a:chExt cx="8399764" cy="3502533"/>
          </a:xfrm>
        </p:grpSpPr>
        <p:grpSp>
          <p:nvGrpSpPr>
            <p:cNvPr id="24" name="Group 24"/>
            <p:cNvGrpSpPr/>
            <p:nvPr/>
          </p:nvGrpSpPr>
          <p:grpSpPr>
            <a:xfrm>
              <a:off x="1403804" y="4235768"/>
              <a:ext cx="2621642" cy="1121283"/>
              <a:chOff x="1403804" y="4235768"/>
              <a:chExt cx="2621642" cy="1121283"/>
            </a:xfrm>
          </p:grpSpPr>
          <p:sp>
            <p:nvSpPr>
              <p:cNvPr id="20" name="Ellipse 20"/>
              <p:cNvSpPr/>
              <p:nvPr/>
            </p:nvSpPr>
            <p:spPr>
              <a:xfrm>
                <a:off x="2428875" y="4452938"/>
                <a:ext cx="571500" cy="571500"/>
              </a:xfrm>
              <a:prstGeom prst="ellipse">
                <a:avLst/>
              </a:prstGeom>
              <a:gradFill>
                <a:gsLst>
                  <a:gs pos="0">
                    <a:srgbClr val="FFFFFF"/>
                  </a:gs>
                  <a:gs pos="100000">
                    <a:srgbClr val="EEF4FF"/>
                  </a:gs>
                </a:gsLst>
                <a:path path="circle">
                  <a:fillToRect l="50000" t="50000" r="50000" b="50000"/>
                </a:path>
              </a:gradFill>
              <a:ln w="28575">
                <a:solidFill>
                  <a:srgbClr val="2563EB"/>
                </a:solidFill>
              </a:ln>
            </p:spPr>
          </p:sp>
          <p:sp>
            <p:nvSpPr>
              <p:cNvPr id="21" name="Polygon 21"/>
              <p:cNvSpPr/>
              <p:nvPr/>
            </p:nvSpPr>
            <p:spPr>
              <a:xfrm>
                <a:off x="2571750" y="4572000"/>
                <a:ext cx="28575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266700">
                    <a:moveTo>
                      <a:pt x="142875" y="0"/>
                    </a:moveTo>
                    <a:lnTo>
                      <a:pt x="180975" y="95250"/>
                    </a:lnTo>
                    <a:lnTo>
                      <a:pt x="285750" y="95250"/>
                    </a:lnTo>
                    <a:lnTo>
                      <a:pt x="209550" y="161925"/>
                    </a:lnTo>
                    <a:lnTo>
                      <a:pt x="238125" y="266700"/>
                    </a:lnTo>
                    <a:lnTo>
                      <a:pt x="142875" y="209550"/>
                    </a:lnTo>
                    <a:lnTo>
                      <a:pt x="47625" y="266700"/>
                    </a:lnTo>
                    <a:lnTo>
                      <a:pt x="76200" y="161925"/>
                    </a:lnTo>
                    <a:lnTo>
                      <a:pt x="0" y="95250"/>
                    </a:lnTo>
                    <a:lnTo>
                      <a:pt x="104775" y="95250"/>
                    </a:lnTo>
                    <a:close/>
                  </a:path>
                </a:pathLst>
              </a:custGeom>
              <a:solidFill>
                <a:srgbClr val="38BDF8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2030342" y="4235768"/>
                <a:ext cx="136856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国庆70周年阅兵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403804" y="5093018"/>
                <a:ext cx="262164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52637A"/>
                    </a:solidFill>
                    <a:latin typeface="Arial"/>
                    <a:ea typeface="Microsoft YaHei"/>
                    <a:cs typeface="Arial"/>
                  </a:rPr>
                  <a:t>2019 · 装备数量居全国高校之首</a:t>
                </a: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3398196" y="3426142"/>
              <a:ext cx="2576208" cy="1121283"/>
              <a:chOff x="3398196" y="3426142"/>
              <a:chExt cx="2576208" cy="1121283"/>
            </a:xfrm>
          </p:grpSpPr>
          <p:sp>
            <p:nvSpPr>
              <p:cNvPr id="25" name="Ellipse 25"/>
              <p:cNvSpPr/>
              <p:nvPr/>
            </p:nvSpPr>
            <p:spPr>
              <a:xfrm>
                <a:off x="4400550" y="3686175"/>
                <a:ext cx="571500" cy="571500"/>
              </a:xfrm>
              <a:prstGeom prst="ellipse">
                <a:avLst/>
              </a:prstGeom>
              <a:gradFill>
                <a:gsLst>
                  <a:gs pos="0">
                    <a:srgbClr val="FFFFFF"/>
                  </a:gs>
                  <a:gs pos="100000">
                    <a:srgbClr val="EEF4FF"/>
                  </a:gs>
                </a:gsLst>
                <a:path path="circle">
                  <a:fillToRect l="50000" t="50000" r="50000" b="50000"/>
                </a:path>
              </a:gradFill>
              <a:ln w="28575">
                <a:solidFill>
                  <a:srgbClr val="2563EB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4552950" y="3857625"/>
                <a:ext cx="266700" cy="219075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219075">
                    <a:moveTo>
                      <a:pt x="38100" y="0"/>
                    </a:moveTo>
                    <a:lnTo>
                      <a:pt x="228600" y="0"/>
                    </a:lnTo>
                    <a:lnTo>
                      <a:pt x="266700" y="123825"/>
                    </a:lnTo>
                    <a:lnTo>
                      <a:pt x="190500" y="219075"/>
                    </a:lnTo>
                    <a:lnTo>
                      <a:pt x="76200" y="219075"/>
                    </a:lnTo>
                    <a:lnTo>
                      <a:pt x="0" y="123825"/>
                    </a:lnTo>
                    <a:close/>
                  </a:path>
                </a:pathLst>
              </a:custGeom>
              <a:solidFill>
                <a:srgbClr val="38BDF8"/>
              </a:solidFill>
              <a:ln>
                <a:noFill/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4537075" y="3857625"/>
                <a:ext cx="5397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123825">
                    <a:moveTo>
                      <a:pt x="53975" y="0"/>
                    </a:moveTo>
                    <a:cubicBezTo>
                      <a:pt x="9525" y="44450"/>
                      <a:pt x="0" y="85725"/>
                      <a:pt x="25400" y="123825"/>
                    </a:cubicBezTo>
                  </a:path>
                </a:pathLst>
              </a:custGeom>
              <a:noFill/>
              <a:ln w="19050">
                <a:solidFill>
                  <a:srgbClr val="38BDF8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4781550" y="3857625"/>
                <a:ext cx="5397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123825">
                    <a:moveTo>
                      <a:pt x="0" y="0"/>
                    </a:moveTo>
                    <a:cubicBezTo>
                      <a:pt x="44450" y="44450"/>
                      <a:pt x="53975" y="85725"/>
                      <a:pt x="28575" y="123825"/>
                    </a:cubicBezTo>
                  </a:path>
                </a:pathLst>
              </a:custGeom>
              <a:noFill/>
              <a:ln w="19050">
                <a:solidFill>
                  <a:srgbClr val="38BDF8"/>
                </a:solidFill>
              </a:ln>
            </p:spPr>
          </p:sp>
          <p:sp>
            <p:nvSpPr>
              <p:cNvPr id="29" name="Rectangle 29"/>
              <p:cNvSpPr/>
              <p:nvPr/>
            </p:nvSpPr>
            <p:spPr>
              <a:xfrm>
                <a:off x="4610100" y="4076700"/>
                <a:ext cx="152400" cy="38100"/>
              </a:xfrm>
              <a:prstGeom prst="roundRect">
                <a:avLst>
                  <a:gd name="adj" fmla="val 25000"/>
                </a:avLst>
              </a:prstGeom>
              <a:solidFill>
                <a:srgbClr val="38BDF8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3725323" y="3426142"/>
                <a:ext cx="192195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连续三年获国家科技奖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3398196" y="4283392"/>
                <a:ext cx="257620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52637A"/>
                    </a:solidFill>
                    <a:latin typeface="Arial"/>
                    <a:ea typeface="Microsoft YaHei"/>
                    <a:cs typeface="Arial"/>
                  </a:rPr>
                  <a:t>2020-2022 · 连续三年获一等奖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5614616" y="2626042"/>
              <a:ext cx="2258168" cy="1111759"/>
              <a:chOff x="5614616" y="2626042"/>
              <a:chExt cx="2258168" cy="1111759"/>
            </a:xfrm>
          </p:grpSpPr>
          <p:sp>
            <p:nvSpPr>
              <p:cNvPr id="33" name="Ellipse 33"/>
              <p:cNvSpPr/>
              <p:nvPr/>
            </p:nvSpPr>
            <p:spPr>
              <a:xfrm>
                <a:off x="6457950" y="2886075"/>
                <a:ext cx="571500" cy="571500"/>
              </a:xfrm>
              <a:prstGeom prst="ellipse">
                <a:avLst/>
              </a:prstGeom>
              <a:gradFill>
                <a:gsLst>
                  <a:gs pos="0">
                    <a:srgbClr val="FFFFFF"/>
                  </a:gs>
                  <a:gs pos="100000">
                    <a:srgbClr val="EEF4FF"/>
                  </a:gs>
                </a:gsLst>
                <a:path path="circle">
                  <a:fillToRect l="50000" t="50000" r="50000" b="50000"/>
                </a:path>
              </a:gradFill>
              <a:ln w="28575">
                <a:solidFill>
                  <a:srgbClr val="2563EB"/>
                </a:solidFill>
              </a:ln>
            </p:spPr>
          </p:sp>
          <p:sp>
            <p:nvSpPr>
              <p:cNvPr id="34" name="Polygon 34"/>
              <p:cNvSpPr/>
              <p:nvPr/>
            </p:nvSpPr>
            <p:spPr>
              <a:xfrm>
                <a:off x="6610350" y="3009900"/>
                <a:ext cx="266700" cy="32385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323850">
                    <a:moveTo>
                      <a:pt x="133350" y="0"/>
                    </a:moveTo>
                    <a:lnTo>
                      <a:pt x="266700" y="76200"/>
                    </a:lnTo>
                    <a:lnTo>
                      <a:pt x="266700" y="247650"/>
                    </a:lnTo>
                    <a:lnTo>
                      <a:pt x="133350" y="323850"/>
                    </a:lnTo>
                    <a:lnTo>
                      <a:pt x="0" y="24765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38BDF8"/>
              </a:solidFill>
              <a:ln>
                <a:noFill/>
              </a:ln>
            </p:spPr>
          </p:sp>
          <p:sp>
            <p:nvSpPr>
              <p:cNvPr id="35" name="Line 35"/>
              <p:cNvSpPr/>
              <p:nvPr/>
            </p:nvSpPr>
            <p:spPr>
              <a:xfrm>
                <a:off x="6743700" y="3086100"/>
                <a:ext cx="952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1450">
                    <a:moveTo>
                      <a:pt x="0" y="0"/>
                    </a:moveTo>
                    <a:lnTo>
                      <a:pt x="0" y="17145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6" name="Line 36"/>
              <p:cNvSpPr/>
              <p:nvPr/>
            </p:nvSpPr>
            <p:spPr>
              <a:xfrm>
                <a:off x="6667500" y="3171825"/>
                <a:ext cx="152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9525">
                    <a:moveTo>
                      <a:pt x="0" y="0"/>
                    </a:moveTo>
                    <a:lnTo>
                      <a:pt x="15240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5945463" y="2626042"/>
                <a:ext cx="159647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新建AI实践实验室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5614616" y="3473768"/>
                <a:ext cx="225816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52637A"/>
                    </a:solidFill>
                    <a:latin typeface="Arial"/>
                    <a:ea typeface="Microsoft YaHei"/>
                    <a:cs typeface="Arial"/>
                  </a:rPr>
                  <a:t>2023 · 智能无人系统研究院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7627182" y="1854518"/>
              <a:ext cx="2176386" cy="1121283"/>
              <a:chOff x="7627182" y="1854518"/>
              <a:chExt cx="2176386" cy="1121283"/>
            </a:xfrm>
          </p:grpSpPr>
          <p:sp>
            <p:nvSpPr>
              <p:cNvPr id="40" name="Ellipse 40"/>
              <p:cNvSpPr/>
              <p:nvPr/>
            </p:nvSpPr>
            <p:spPr>
              <a:xfrm>
                <a:off x="8429625" y="2119312"/>
                <a:ext cx="571500" cy="571500"/>
              </a:xfrm>
              <a:prstGeom prst="ellipse">
                <a:avLst/>
              </a:prstGeom>
              <a:gradFill>
                <a:gsLst>
                  <a:gs pos="0">
                    <a:srgbClr val="FFFFFF"/>
                  </a:gs>
                  <a:gs pos="100000">
                    <a:srgbClr val="EEF4FF"/>
                  </a:gs>
                </a:gsLst>
                <a:path path="circle">
                  <a:fillToRect l="50000" t="50000" r="50000" b="50000"/>
                </a:path>
              </a:gradFill>
              <a:ln w="28575">
                <a:solidFill>
                  <a:srgbClr val="2563EB"/>
                </a:solidFill>
              </a:ln>
            </p:spPr>
          </p:sp>
          <p:sp>
            <p:nvSpPr>
              <p:cNvPr id="41" name="Ellipse 41"/>
              <p:cNvSpPr/>
              <p:nvPr/>
            </p:nvSpPr>
            <p:spPr>
              <a:xfrm>
                <a:off x="8639175" y="2209800"/>
                <a:ext cx="152400" cy="152400"/>
              </a:xfrm>
              <a:prstGeom prst="ellipse">
                <a:avLst/>
              </a:prstGeom>
              <a:solidFill>
                <a:srgbClr val="38BDF8"/>
              </a:solidFill>
              <a:ln>
                <a:noFill/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601075" y="2470150"/>
                <a:ext cx="228600" cy="18732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87325">
                    <a:moveTo>
                      <a:pt x="0" y="82550"/>
                    </a:moveTo>
                    <a:cubicBezTo>
                      <a:pt x="76200" y="0"/>
                      <a:pt x="152400" y="0"/>
                      <a:pt x="228600" y="82550"/>
                    </a:cubicBezTo>
                    <a:lnTo>
                      <a:pt x="200025" y="187325"/>
                    </a:lnTo>
                    <a:lnTo>
                      <a:pt x="28575" y="187325"/>
                    </a:lnTo>
                    <a:close/>
                  </a:path>
                </a:pathLst>
              </a:custGeom>
              <a:solidFill>
                <a:srgbClr val="38BDF8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7754398" y="1854518"/>
                <a:ext cx="192195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为国防现代化持续输出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7627182" y="2711768"/>
                <a:ext cx="217638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52637A"/>
                    </a:solidFill>
                    <a:latin typeface="Arial"/>
                    <a:ea typeface="Microsoft YaHei"/>
                    <a:cs typeface="Arial"/>
                  </a:rPr>
                  <a:t>2024+ · 持续输出领军人才</a:t>
                </a:r>
              </a:p>
            </p:txBody>
          </p:sp>
        </p:grpSp>
      </p:grpSp>
      <p:grpSp>
        <p:nvGrpSpPr>
          <p:cNvPr id="49" name="Group 49"/>
          <p:cNvGrpSpPr/>
          <p:nvPr/>
        </p:nvGrpSpPr>
        <p:grpSpPr>
          <a:xfrm>
            <a:off x="1983778" y="5857875"/>
            <a:ext cx="8224443" cy="877252"/>
            <a:chOff x="1983778" y="5857875"/>
            <a:chExt cx="8224443" cy="877252"/>
          </a:xfrm>
        </p:grpSpPr>
        <p:sp>
          <p:nvSpPr>
            <p:cNvPr id="47" name="Rectangle 47"/>
            <p:cNvSpPr/>
            <p:nvPr/>
          </p:nvSpPr>
          <p:spPr>
            <a:xfrm>
              <a:off x="2095500" y="5857875"/>
              <a:ext cx="8001000" cy="762000"/>
            </a:xfrm>
            <a:prstGeom prst="roundRect">
              <a:avLst>
                <a:gd name="adj" fmla="val 50000"/>
              </a:avLst>
            </a:prstGeom>
            <a:solidFill>
              <a:srgbClr val="EEF4FF"/>
            </a:solidFill>
            <a:ln w="19050">
              <a:solidFill>
                <a:srgbClr val="BDD7FF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983778" y="5944552"/>
              <a:ext cx="8224443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050" b="1" dirty="0">
                  <a:solidFill>
                    <a:srgbClr val="2563EB"/>
                  </a:solidFill>
                  <a:latin typeface="Arial"/>
                  <a:ea typeface="Microsoft YaHei"/>
                  <a:cs typeface="Arial"/>
                </a:rPr>
                <a:t>装备最多 · 奖项最重 · 未来最远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1119188" y="6176962"/>
            <a:ext cx="10329862" cy="423863"/>
            <a:chOff x="1119188" y="6176962"/>
            <a:chExt cx="10329862" cy="423863"/>
          </a:xfrm>
        </p:grpSpPr>
        <p:sp>
          <p:nvSpPr>
            <p:cNvPr id="50" name="Ellipse 50"/>
            <p:cNvSpPr/>
            <p:nvPr/>
          </p:nvSpPr>
          <p:spPr>
            <a:xfrm>
              <a:off x="1119188" y="6453188"/>
              <a:ext cx="47625" cy="47625"/>
            </a:xfrm>
            <a:prstGeom prst="ellipse">
              <a:avLst/>
            </a:prstGeom>
            <a:solidFill>
              <a:srgbClr val="38BDF8"/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2652712" y="6176962"/>
              <a:ext cx="28575" cy="28575"/>
            </a:xfrm>
            <a:prstGeom prst="ellipse">
              <a:avLst/>
            </a:prstGeom>
            <a:solidFill>
              <a:srgbClr val="BDD7FF"/>
            </a:solidFill>
            <a:ln>
              <a:noFill/>
            </a:ln>
          </p:spPr>
        </p:sp>
        <p:sp>
          <p:nvSpPr>
            <p:cNvPr id="52" name="Ellipse 52"/>
            <p:cNvSpPr/>
            <p:nvPr/>
          </p:nvSpPr>
          <p:spPr>
            <a:xfrm>
              <a:off x="4543425" y="6543675"/>
              <a:ext cx="57150" cy="5715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53" name="Ellipse 53"/>
            <p:cNvSpPr/>
            <p:nvPr/>
          </p:nvSpPr>
          <p:spPr>
            <a:xfrm>
              <a:off x="6462712" y="6272212"/>
              <a:ext cx="28575" cy="28575"/>
            </a:xfrm>
            <a:prstGeom prst="ellipse">
              <a:avLst/>
            </a:prstGeom>
            <a:solidFill>
              <a:srgbClr val="BDD7FF"/>
            </a:solidFill>
            <a:ln>
              <a:noFill/>
            </a:ln>
          </p:spPr>
        </p:sp>
        <p:sp>
          <p:nvSpPr>
            <p:cNvPr id="54" name="Ellipse 54"/>
            <p:cNvSpPr/>
            <p:nvPr/>
          </p:nvSpPr>
          <p:spPr>
            <a:xfrm>
              <a:off x="8362950" y="6553200"/>
              <a:ext cx="38100" cy="38100"/>
            </a:xfrm>
            <a:prstGeom prst="ellipse">
              <a:avLst/>
            </a:prstGeom>
            <a:solidFill>
              <a:srgbClr val="38BDF8"/>
            </a:solidFill>
            <a:ln>
              <a:noFill/>
            </a:ln>
          </p:spPr>
        </p:sp>
        <p:sp>
          <p:nvSpPr>
            <p:cNvPr id="55" name="Ellipse 55"/>
            <p:cNvSpPr/>
            <p:nvPr/>
          </p:nvSpPr>
          <p:spPr>
            <a:xfrm>
              <a:off x="9977438" y="6357938"/>
              <a:ext cx="47625" cy="47625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56" name="Ellipse 56"/>
            <p:cNvSpPr/>
            <p:nvPr/>
          </p:nvSpPr>
          <p:spPr>
            <a:xfrm>
              <a:off x="11225212" y="6176962"/>
              <a:ext cx="28575" cy="28575"/>
            </a:xfrm>
            <a:prstGeom prst="ellipse">
              <a:avLst/>
            </a:prstGeom>
            <a:solidFill>
              <a:srgbClr val="BDD7FF"/>
            </a:solidFill>
            <a:ln>
              <a:noFill/>
            </a:ln>
          </p:spPr>
        </p:sp>
        <p:sp>
          <p:nvSpPr>
            <p:cNvPr id="57" name="Ellipse 57"/>
            <p:cNvSpPr/>
            <p:nvPr/>
          </p:nvSpPr>
          <p:spPr>
            <a:xfrm>
              <a:off x="11410950" y="6553200"/>
              <a:ext cx="38100" cy="38100"/>
            </a:xfrm>
            <a:prstGeom prst="ellipse">
              <a:avLst/>
            </a:prstGeom>
            <a:solidFill>
              <a:srgbClr val="38BDF8"/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2026-07-09T12:26:22Z</dcterms:created>
  <dcterms:modified xsi:type="dcterms:W3CDTF">2026-07-09T12:26:22Z</dcterms:modified>
  <cp:category/>
  <cp:contentStatus/>
</cp:coreProperties>
</file>