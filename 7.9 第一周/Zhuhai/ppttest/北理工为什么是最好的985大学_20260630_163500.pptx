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pattFill prst="ltUpDiag">
            <a:fgClr>
              <a:srgbClr val="BDD7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0" y="-1905000"/>
            <a:ext cx="5715000" cy="5715000"/>
          </a:xfrm>
          <a:prstGeom prst="ellipse">
            <a:avLst/>
          </a:prstGeom>
          <a:solidFill>
            <a:srgbClr val="EF4444">
              <a:alpha val="1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191250" y="-476250"/>
            <a:ext cx="2857500" cy="2857500"/>
          </a:xfrm>
          <a:prstGeom prst="ellipse">
            <a:avLst/>
          </a:prstGeom>
          <a:solidFill>
            <a:srgbClr val="EF4444">
              <a:alpha val="5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33450" y="531495"/>
            <a:ext cx="9677705" cy="1150239"/>
            <a:chOff x="933450" y="531495"/>
            <a:chExt cx="9677705" cy="1150239"/>
          </a:xfrm>
        </p:grpSpPr>
        <p:sp>
          <p:nvSpPr>
            <p:cNvPr id="7" name="TextBox 7"/>
            <p:cNvSpPr txBox="1"/>
            <p:nvPr/>
          </p:nvSpPr>
          <p:spPr>
            <a:xfrm>
              <a:off x="933450" y="531495"/>
              <a:ext cx="967770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spc="1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硬核工科：王牌学科群铸就国防脊梁</a:t>
              </a:r>
              <a:endParaRPr lang="zh-CN" sz="3900" b="1" spc="1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143000"/>
              <a:ext cx="571500" cy="571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329690"/>
              <a:ext cx="5759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75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兵器科学与技术、车辆工程、光电信息…群星闪耀</a:t>
              </a:r>
              <a:endParaRPr lang="zh-CN" sz="1800" spc="75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0" y="2857500"/>
            <a:ext cx="4191000" cy="4191000"/>
            <a:chOff x="5524500" y="2857500"/>
            <a:chExt cx="4191000" cy="4191000"/>
          </a:xfrm>
        </p:grpSpPr>
        <p:sp>
          <p:nvSpPr>
            <p:cNvPr id="11" name="Ellipse 11"/>
            <p:cNvSpPr/>
            <p:nvPr/>
          </p:nvSpPr>
          <p:spPr>
            <a:xfrm>
              <a:off x="5524500" y="2857500"/>
              <a:ext cx="4191000" cy="4191000"/>
            </a:xfrm>
            <a:prstGeom prst="ellipse">
              <a:avLst/>
            </a:prstGeom>
            <a:noFill/>
            <a:ln w="19050">
              <a:solidFill>
                <a:srgbClr val="2563EB">
                  <a:alpha val="20000"/>
                </a:srgbClr>
              </a:solidFill>
              <a:custDash>
                <a:ds d="400000" sp="4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5715000" y="30480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905500" y="3238500"/>
              <a:ext cx="3429000" cy="3429000"/>
            </a:xfrm>
            <a:prstGeom prst="ellipse">
              <a:avLst/>
            </a:prstGeom>
            <a:noFill/>
            <a:ln w="38100">
              <a:solidFill>
                <a:srgbClr val="2563EB">
                  <a:alpha val="15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096000" y="3429000"/>
              <a:ext cx="3048000" cy="3048000"/>
            </a:xfrm>
            <a:prstGeom prst="ellipse">
              <a:avLst/>
            </a:prstGeom>
            <a:gradFill>
              <a:gsLst>
                <a:gs pos="0">
                  <a:srgbClr val="38BDF8">
                    <a:alpha val="80000"/>
                  </a:srgbClr>
                </a:gs>
                <a:gs pos="70000">
                  <a:srgbClr val="2563EB">
                    <a:alpha val="50000"/>
                  </a:srgbClr>
                </a:gs>
                <a:gs pos="100000">
                  <a:srgbClr val="2563E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477000" y="3810000"/>
              <a:ext cx="2286000" cy="2286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515100" y="3848100"/>
              <a:ext cx="2209800" cy="2209800"/>
            </a:xfrm>
            <a:prstGeom prst="roundRect">
              <a:avLst>
                <a:gd name="adj" fmla="val 8621"/>
              </a:avLst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11595" y="434530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兵器科学与技术</a:t>
              </a:r>
              <a:endPara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6707" y="4560570"/>
              <a:ext cx="94658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spc="150" dirty="0">
                  <a:solidFill>
                    <a:srgbClr val="EF44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5400" b="1" spc="150" dirty="0">
                <a:solidFill>
                  <a:srgbClr val="EF44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37070" y="5331142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全国顶尖学科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0" y="56673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905250" y="2952750"/>
            <a:ext cx="1352550" cy="762000"/>
            <a:chOff x="3905250" y="2952750"/>
            <a:chExt cx="1352550" cy="762000"/>
          </a:xfrm>
        </p:grpSpPr>
        <p:sp>
          <p:nvSpPr>
            <p:cNvPr id="22" name="Rectangle 22"/>
            <p:cNvSpPr/>
            <p:nvPr/>
          </p:nvSpPr>
          <p:spPr>
            <a:xfrm>
              <a:off x="3905250" y="2952750"/>
              <a:ext cx="133350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3924300" y="2971800"/>
              <a:ext cx="1295400" cy="72390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61892" y="314039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车辆工程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6751" y="3391852"/>
              <a:ext cx="730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★ 王牌专业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Ellipse 26"/>
            <p:cNvSpPr/>
            <p:nvPr/>
          </p:nvSpPr>
          <p:spPr>
            <a:xfrm>
              <a:off x="5181600" y="32956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982200" y="2952750"/>
            <a:ext cx="1352550" cy="762000"/>
            <a:chOff x="9982200" y="2952750"/>
            <a:chExt cx="1352550" cy="762000"/>
          </a:xfrm>
        </p:grpSpPr>
        <p:sp>
          <p:nvSpPr>
            <p:cNvPr id="28" name="Rectangle 28"/>
            <p:cNvSpPr/>
            <p:nvPr/>
          </p:nvSpPr>
          <p:spPr>
            <a:xfrm>
              <a:off x="10001250" y="2952750"/>
              <a:ext cx="133350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10020300" y="2971800"/>
              <a:ext cx="1295400" cy="72390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57892" y="314039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光电信息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02751" y="3391852"/>
              <a:ext cx="730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★ 国家重点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Ellipse 32"/>
            <p:cNvSpPr/>
            <p:nvPr/>
          </p:nvSpPr>
          <p:spPr>
            <a:xfrm>
              <a:off x="9982200" y="32956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2952750" y="4572000"/>
            <a:ext cx="1352550" cy="762000"/>
            <a:chOff x="2952750" y="4572000"/>
            <a:chExt cx="1352550" cy="762000"/>
          </a:xfrm>
        </p:grpSpPr>
        <p:sp>
          <p:nvSpPr>
            <p:cNvPr id="34" name="Rectangle 34"/>
            <p:cNvSpPr/>
            <p:nvPr/>
          </p:nvSpPr>
          <p:spPr>
            <a:xfrm>
              <a:off x="2952750" y="4572000"/>
              <a:ext cx="133350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35" name="Rectangle 35"/>
            <p:cNvSpPr/>
            <p:nvPr/>
          </p:nvSpPr>
          <p:spPr>
            <a:xfrm>
              <a:off x="2971800" y="4591050"/>
              <a:ext cx="1295400" cy="72390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09392" y="475964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材料科学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67230" y="5011102"/>
              <a:ext cx="904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ESI全球前1%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Ellipse 38"/>
            <p:cNvSpPr/>
            <p:nvPr/>
          </p:nvSpPr>
          <p:spPr>
            <a:xfrm>
              <a:off x="4229100" y="49149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934700" y="4572000"/>
            <a:ext cx="1352550" cy="762000"/>
            <a:chOff x="10934700" y="4572000"/>
            <a:chExt cx="1352550" cy="762000"/>
          </a:xfrm>
        </p:grpSpPr>
        <p:sp>
          <p:nvSpPr>
            <p:cNvPr id="40" name="Rectangle 40"/>
            <p:cNvSpPr/>
            <p:nvPr/>
          </p:nvSpPr>
          <p:spPr>
            <a:xfrm>
              <a:off x="10953750" y="4572000"/>
              <a:ext cx="133350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41" name="Rectangle 41"/>
            <p:cNvSpPr/>
            <p:nvPr/>
          </p:nvSpPr>
          <p:spPr>
            <a:xfrm>
              <a:off x="10972800" y="4591050"/>
              <a:ext cx="1295400" cy="72390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210392" y="475964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控制工程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44120" y="50111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国家级平台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Ellipse 44"/>
            <p:cNvSpPr/>
            <p:nvPr/>
          </p:nvSpPr>
          <p:spPr>
            <a:xfrm>
              <a:off x="10934700" y="49149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3905250" y="6191250"/>
            <a:ext cx="1352550" cy="762000"/>
            <a:chOff x="3905250" y="6191250"/>
            <a:chExt cx="1352550" cy="762000"/>
          </a:xfrm>
        </p:grpSpPr>
        <p:sp>
          <p:nvSpPr>
            <p:cNvPr id="46" name="Rectangle 46"/>
            <p:cNvSpPr/>
            <p:nvPr/>
          </p:nvSpPr>
          <p:spPr>
            <a:xfrm>
              <a:off x="3905250" y="6191250"/>
              <a:ext cx="133350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3924300" y="6210300"/>
              <a:ext cx="1295400" cy="72390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61079" y="6378892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计算机科学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19730" y="6630352"/>
              <a:ext cx="904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ESI全球前1%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Ellipse 50"/>
            <p:cNvSpPr/>
            <p:nvPr/>
          </p:nvSpPr>
          <p:spPr>
            <a:xfrm>
              <a:off x="5181600" y="65341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982200" y="6191250"/>
            <a:ext cx="1352550" cy="762000"/>
            <a:chOff x="9982200" y="6191250"/>
            <a:chExt cx="1352550" cy="762000"/>
          </a:xfrm>
        </p:grpSpPr>
        <p:sp>
          <p:nvSpPr>
            <p:cNvPr id="52" name="Rectangle 52"/>
            <p:cNvSpPr/>
            <p:nvPr/>
          </p:nvSpPr>
          <p:spPr>
            <a:xfrm>
              <a:off x="10001250" y="6191250"/>
              <a:ext cx="133350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10020300" y="6210300"/>
              <a:ext cx="1295400" cy="72390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459517" y="6378892"/>
              <a:ext cx="41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力学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91620" y="66303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基础研究强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Ellipse 56"/>
            <p:cNvSpPr/>
            <p:nvPr/>
          </p:nvSpPr>
          <p:spPr>
            <a:xfrm>
              <a:off x="9982200" y="65341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572250" y="2047875"/>
            <a:ext cx="1333500" cy="666750"/>
            <a:chOff x="6572250" y="2047875"/>
            <a:chExt cx="1333500" cy="666750"/>
          </a:xfrm>
        </p:grpSpPr>
        <p:sp>
          <p:nvSpPr>
            <p:cNvPr id="58" name="Rectangle 58"/>
            <p:cNvSpPr/>
            <p:nvPr/>
          </p:nvSpPr>
          <p:spPr>
            <a:xfrm>
              <a:off x="6572250" y="2047875"/>
              <a:ext cx="1333500" cy="666750"/>
            </a:xfrm>
            <a:prstGeom prst="roundRect">
              <a:avLst>
                <a:gd name="adj" fmla="val 17143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59" name="Rectangle 59"/>
            <p:cNvSpPr/>
            <p:nvPr/>
          </p:nvSpPr>
          <p:spPr>
            <a:xfrm>
              <a:off x="6591300" y="2066925"/>
              <a:ext cx="1295400" cy="628650"/>
            </a:xfrm>
            <a:prstGeom prst="roundRect">
              <a:avLst>
                <a:gd name="adj" fmla="val 15152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28892" y="2235518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能源动力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36829" y="2458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国防特色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477250" y="2047875"/>
            <a:ext cx="1333500" cy="666750"/>
            <a:chOff x="8477250" y="2047875"/>
            <a:chExt cx="1333500" cy="666750"/>
          </a:xfrm>
        </p:grpSpPr>
        <p:sp>
          <p:nvSpPr>
            <p:cNvPr id="63" name="Rectangle 63"/>
            <p:cNvSpPr/>
            <p:nvPr/>
          </p:nvSpPr>
          <p:spPr>
            <a:xfrm>
              <a:off x="8477250" y="2047875"/>
              <a:ext cx="1333500" cy="666750"/>
            </a:xfrm>
            <a:prstGeom prst="roundRect">
              <a:avLst>
                <a:gd name="adj" fmla="val 17143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  <a:effectLst>
              <a:outerShdw blurRad="114300" dist="38100" dir="5400000" algn="ctr" rotWithShape="0">
                <a:srgbClr val="1F2937">
                  <a:alpha val="7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496300" y="2066925"/>
              <a:ext cx="1295400" cy="628650"/>
            </a:xfrm>
            <a:prstGeom prst="roundRect">
              <a:avLst>
                <a:gd name="adj" fmla="val 15152"/>
              </a:avLst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33892" y="2235518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航空航天</a:t>
              </a:r>
              <a:endPara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93410" y="24584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国家重点项目</a:t>
              </a:r>
              <a:endParaRPr lang="zh-CN" sz="10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8" name="Line 68"/>
          <p:cNvSpPr/>
          <p:nvPr/>
        </p:nvSpPr>
        <p:spPr>
          <a:xfrm>
            <a:off x="4572000" y="352425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428750" y="4762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69" name="Line 69"/>
          <p:cNvSpPr/>
          <p:nvPr/>
        </p:nvSpPr>
        <p:spPr>
          <a:xfrm>
            <a:off x="9239250" y="352425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0" y="47625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70" name="Line 70"/>
          <p:cNvSpPr/>
          <p:nvPr/>
        </p:nvSpPr>
        <p:spPr>
          <a:xfrm>
            <a:off x="4286250" y="4953000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71" name="Line 71"/>
          <p:cNvSpPr/>
          <p:nvPr/>
        </p:nvSpPr>
        <p:spPr>
          <a:xfrm>
            <a:off x="9334500" y="4953000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72" name="Line 72"/>
          <p:cNvSpPr/>
          <p:nvPr/>
        </p:nvSpPr>
        <p:spPr>
          <a:xfrm>
            <a:off x="4572000" y="5905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42875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73" name="Line 73"/>
          <p:cNvSpPr/>
          <p:nvPr/>
        </p:nvSpPr>
        <p:spPr>
          <a:xfrm>
            <a:off x="9239250" y="5905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0" y="0"/>
                </a:moveTo>
                <a:lnTo>
                  <a:pt x="1428750" y="47625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74" name="Line 74"/>
          <p:cNvSpPr/>
          <p:nvPr/>
        </p:nvSpPr>
        <p:spPr>
          <a:xfrm>
            <a:off x="7239000" y="2714625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8096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sp>
        <p:nvSpPr>
          <p:cNvPr id="75" name="Line 75"/>
          <p:cNvSpPr/>
          <p:nvPr/>
        </p:nvSpPr>
        <p:spPr>
          <a:xfrm>
            <a:off x="8001000" y="2714625"/>
            <a:ext cx="1143000" cy="809625"/>
          </a:xfrm>
          <a:custGeom>
            <a:avLst/>
            <a:gdLst/>
            <a:ahLst/>
            <a:cxnLst/>
            <a:rect l="l" t="t" r="r" b="b"/>
            <a:pathLst>
              <a:path w="1143000" h="809625">
                <a:moveTo>
                  <a:pt x="0" y="809625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2563EB">
                <a:alpha val="30000"/>
              </a:srgbClr>
            </a:solidFill>
            <a:prstDash val="dash"/>
          </a:ln>
        </p:spPr>
      </p:sp>
      <p:grpSp>
        <p:nvGrpSpPr>
          <p:cNvPr id="80" name="Group 80"/>
          <p:cNvGrpSpPr/>
          <p:nvPr/>
        </p:nvGrpSpPr>
        <p:grpSpPr>
          <a:xfrm>
            <a:off x="3781425" y="8067675"/>
            <a:ext cx="7677150" cy="311086"/>
            <a:chOff x="3781425" y="8067675"/>
            <a:chExt cx="7677150" cy="311086"/>
          </a:xfrm>
        </p:grpSpPr>
        <p:sp>
          <p:nvSpPr>
            <p:cNvPr id="76" name="Line 76"/>
            <p:cNvSpPr/>
            <p:nvPr/>
          </p:nvSpPr>
          <p:spPr>
            <a:xfrm>
              <a:off x="3810000" y="80962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3781425" y="806767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1401425" y="806767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317324" y="8173402"/>
              <a:ext cx="605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spc="1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 / 10</a:t>
              </a:r>
              <a:endParaRPr lang="en-US" sz="1050" spc="1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1" name="Rectangle 81"/>
          <p:cNvSpPr/>
          <p:nvPr/>
        </p:nvSpPr>
        <p:spPr>
          <a:xfrm>
            <a:off x="762000" y="1905000"/>
            <a:ext cx="38100" cy="47625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>
            <a:noFill/>
          </a:ln>
        </p:spPr>
      </p:sp>
      <p:sp>
        <p:nvSpPr>
          <p:cNvPr id="82" name="Rectangle 82"/>
          <p:cNvSpPr/>
          <p:nvPr/>
        </p:nvSpPr>
        <p:spPr>
          <a:xfrm>
            <a:off x="14439900" y="1905000"/>
            <a:ext cx="38100" cy="476250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0477500" y="-952500"/>
            <a:ext cx="6191250" cy="9525000"/>
            <a:chOff x="10477500" y="-952500"/>
            <a:chExt cx="6191250" cy="9525000"/>
          </a:xfrm>
        </p:grpSpPr>
        <p:sp>
          <p:nvSpPr>
            <p:cNvPr id="3" name="Freeform 3"/>
            <p:cNvSpPr/>
            <p:nvPr/>
          </p:nvSpPr>
          <p:spPr>
            <a:xfrm>
              <a:off x="13970000" y="0"/>
              <a:ext cx="1270000" cy="5715000"/>
            </a:xfrm>
            <a:custGeom>
              <a:avLst/>
              <a:gdLst/>
              <a:ahLst/>
              <a:cxnLst/>
              <a:rect l="l" t="t" r="r" b="b"/>
              <a:pathLst>
                <a:path w="1270000" h="5715000">
                  <a:moveTo>
                    <a:pt x="1270000" y="0"/>
                  </a:moveTo>
                  <a:cubicBezTo>
                    <a:pt x="0" y="1905000"/>
                    <a:pt x="0" y="3810000"/>
                    <a:pt x="1270000" y="5715000"/>
                  </a:cubicBez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0477500" y="6667500"/>
              <a:ext cx="4762500" cy="1905000"/>
            </a:xfrm>
            <a:custGeom>
              <a:avLst/>
              <a:gdLst/>
              <a:ahLst/>
              <a:cxnLst/>
              <a:rect l="l" t="t" r="r" b="b"/>
              <a:pathLst>
                <a:path w="4762500" h="1905000">
                  <a:moveTo>
                    <a:pt x="0" y="1905000"/>
                  </a:moveTo>
                  <a:cubicBezTo>
                    <a:pt x="1905000" y="0"/>
                    <a:pt x="3492500" y="0"/>
                    <a:pt x="4762500" y="1905000"/>
                  </a:cubicBezTo>
                  <a:close/>
                </a:path>
              </a:pathLst>
            </a:custGeom>
            <a:solidFill>
              <a:srgbClr val="7C3AED">
                <a:alpha val="4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906250" y="-952500"/>
              <a:ext cx="4762500" cy="4762500"/>
            </a:xfrm>
            <a:prstGeom prst="ellipse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715000" y="0"/>
            <a:ext cx="12436857" cy="8572500"/>
            <a:chOff x="5715000" y="0"/>
            <a:chExt cx="12436857" cy="8572500"/>
          </a:xfrm>
        </p:grpSpPr>
        <p:sp>
          <p:nvSpPr>
            <p:cNvPr id="7" name="Rectangle 7"/>
            <p:cNvSpPr/>
            <p:nvPr/>
          </p:nvSpPr>
          <p:spPr>
            <a:xfrm>
              <a:off x="5715000" y="0"/>
              <a:ext cx="9525000" cy="8572500"/>
            </a:xfrm>
            <a:prstGeom prst="rect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477500" y="952500"/>
              <a:ext cx="1905000" cy="19050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715000" y="3016250"/>
              <a:ext cx="9525000" cy="5556250"/>
            </a:xfrm>
            <a:custGeom>
              <a:avLst/>
              <a:gdLst/>
              <a:ahLst/>
              <a:cxnLst/>
              <a:rect l="l" t="t" r="r" b="b"/>
              <a:pathLst>
                <a:path w="9525000" h="5556250">
                  <a:moveTo>
                    <a:pt x="0" y="1270000"/>
                  </a:moveTo>
                  <a:cubicBezTo>
                    <a:pt x="1270000" y="0"/>
                    <a:pt x="2698750" y="0"/>
                    <a:pt x="4286250" y="1270000"/>
                  </a:cubicBezTo>
                  <a:cubicBezTo>
                    <a:pt x="5873750" y="2540000"/>
                    <a:pt x="7620000" y="2222500"/>
                    <a:pt x="9525000" y="317500"/>
                  </a:cubicBezTo>
                  <a:lnTo>
                    <a:pt x="9525000" y="5556250"/>
                  </a:lnTo>
                  <a:lnTo>
                    <a:pt x="0" y="5556250"/>
                  </a:lnTo>
                  <a:close/>
                </a:path>
              </a:pathLst>
            </a:custGeom>
            <a:solidFill>
              <a:srgbClr val="BDD7FF">
                <a:alpha val="7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620000" y="3968750"/>
              <a:ext cx="7620000" cy="4603750"/>
            </a:xfrm>
            <a:custGeom>
              <a:avLst/>
              <a:gdLst/>
              <a:ahLst/>
              <a:cxnLst/>
              <a:rect l="l" t="t" r="r" b="b"/>
              <a:pathLst>
                <a:path w="7620000" h="4603750">
                  <a:moveTo>
                    <a:pt x="0" y="1270000"/>
                  </a:moveTo>
                  <a:cubicBezTo>
                    <a:pt x="1270000" y="0"/>
                    <a:pt x="2698750" y="0"/>
                    <a:pt x="4286250" y="1270000"/>
                  </a:cubicBezTo>
                  <a:cubicBezTo>
                    <a:pt x="5873750" y="2540000"/>
                    <a:pt x="6985000" y="2222500"/>
                    <a:pt x="7620000" y="317500"/>
                  </a:cubicBezTo>
                  <a:lnTo>
                    <a:pt x="7620000" y="4603750"/>
                  </a:lnTo>
                  <a:lnTo>
                    <a:pt x="0" y="4603750"/>
                  </a:lnTo>
                  <a:close/>
                </a:path>
              </a:pathLst>
            </a:custGeom>
            <a:solidFill>
              <a:srgbClr val="38BDF8">
                <a:alpha val="5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572500" y="5238750"/>
              <a:ext cx="6667500" cy="3333750"/>
            </a:xfrm>
            <a:custGeom>
              <a:avLst/>
              <a:gdLst/>
              <a:ahLst/>
              <a:cxnLst/>
              <a:rect l="l" t="t" r="r" b="b"/>
              <a:pathLst>
                <a:path w="6667500" h="3333750">
                  <a:moveTo>
                    <a:pt x="0" y="952500"/>
                  </a:moveTo>
                  <a:cubicBezTo>
                    <a:pt x="1270000" y="0"/>
                    <a:pt x="2698750" y="0"/>
                    <a:pt x="4286250" y="952500"/>
                  </a:cubicBezTo>
                  <a:cubicBezTo>
                    <a:pt x="5873750" y="1905000"/>
                    <a:pt x="6667500" y="1746250"/>
                    <a:pt x="6667500" y="476250"/>
                  </a:cubicBezTo>
                  <a:lnTo>
                    <a:pt x="6667500" y="3333750"/>
                  </a:lnTo>
                  <a:lnTo>
                    <a:pt x="0" y="3333750"/>
                  </a:lnTo>
                  <a:close/>
                </a:path>
              </a:pathLst>
            </a:custGeom>
            <a:solidFill>
              <a:srgbClr val="2563EB">
                <a:alpha val="30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87000" y="2095500"/>
              <a:ext cx="428625" cy="1238250"/>
            </a:xfrm>
            <a:prstGeom prst="rect">
              <a:avLst/>
            </a:prstGeom>
            <a:solidFill>
              <a:srgbClr val="52637A"/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10287000" y="152400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0" y="571500"/>
                  </a:moveTo>
                  <a:lnTo>
                    <a:pt x="214312" y="0"/>
                  </a:lnTo>
                  <a:lnTo>
                    <a:pt x="428625" y="571500"/>
                  </a:lnTo>
                  <a:close/>
                </a:path>
              </a:pathLst>
            </a:custGeom>
            <a:solidFill>
              <a:srgbClr val="52637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382250" y="2190750"/>
              <a:ext cx="95250" cy="142875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620375" y="2190750"/>
              <a:ext cx="95250" cy="142875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334625" y="2667000"/>
              <a:ext cx="333375" cy="1143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334625" y="3048000"/>
              <a:ext cx="333375" cy="1143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858000" y="6159500"/>
              <a:ext cx="381000" cy="317500"/>
            </a:xfrm>
            <a:custGeom>
              <a:avLst/>
              <a:gdLst/>
              <a:ahLst/>
              <a:cxnLst/>
              <a:rect l="l" t="t" r="r" b="b"/>
              <a:pathLst>
                <a:path w="381000" h="317500">
                  <a:moveTo>
                    <a:pt x="0" y="317500"/>
                  </a:moveTo>
                  <a:cubicBezTo>
                    <a:pt x="127000" y="0"/>
                    <a:pt x="254000" y="0"/>
                    <a:pt x="381000" y="31750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810500" y="6445250"/>
              <a:ext cx="381000" cy="317500"/>
            </a:xfrm>
            <a:custGeom>
              <a:avLst/>
              <a:gdLst/>
              <a:ahLst/>
              <a:cxnLst/>
              <a:rect l="l" t="t" r="r" b="b"/>
              <a:pathLst>
                <a:path w="381000" h="317500">
                  <a:moveTo>
                    <a:pt x="0" y="317500"/>
                  </a:moveTo>
                  <a:cubicBezTo>
                    <a:pt x="127000" y="0"/>
                    <a:pt x="254000" y="0"/>
                    <a:pt x="381000" y="31750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763000" y="6731000"/>
              <a:ext cx="381000" cy="317500"/>
            </a:xfrm>
            <a:custGeom>
              <a:avLst/>
              <a:gdLst/>
              <a:ahLst/>
              <a:cxnLst/>
              <a:rect l="l" t="t" r="r" b="b"/>
              <a:pathLst>
                <a:path w="381000" h="317500">
                  <a:moveTo>
                    <a:pt x="0" y="317500"/>
                  </a:moveTo>
                  <a:cubicBezTo>
                    <a:pt x="127000" y="0"/>
                    <a:pt x="254000" y="0"/>
                    <a:pt x="381000" y="31750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0" y="6477000"/>
              <a:ext cx="381000" cy="857250"/>
            </a:xfrm>
            <a:prstGeom prst="rect">
              <a:avLst/>
            </a:prstGeom>
            <a:solidFill>
              <a:srgbClr val="1F2937">
                <a:alpha val="9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6762750"/>
              <a:ext cx="381000" cy="571500"/>
            </a:xfrm>
            <a:prstGeom prst="rect">
              <a:avLst/>
            </a:prstGeom>
            <a:solidFill>
              <a:srgbClr val="1F2937">
                <a:alpha val="90000"/>
              </a:srgb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763000" y="7048500"/>
              <a:ext cx="381000" cy="285750"/>
            </a:xfrm>
            <a:prstGeom prst="rect">
              <a:avLst/>
            </a:prstGeom>
            <a:solidFill>
              <a:srgbClr val="1F2937">
                <a:alpha val="90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0" y="0"/>
              <a:ext cx="9525000" cy="8572500"/>
            </a:xfrm>
            <a:prstGeom prst="rect">
              <a:avLst/>
            </a:prstGeom>
            <a:solidFill>
              <a:srgbClr val="1F2937">
                <a:alpha val="8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0" y="0"/>
              <a:ext cx="9525000" cy="8572500"/>
            </a:xfrm>
            <a:prstGeom prst="rect">
              <a:avLst/>
            </a:prstGeom>
            <a:gradFill>
              <a:gsLst>
                <a:gs pos="0">
                  <a:srgbClr val="2563EB">
                    <a:alpha val="85000"/>
                  </a:srgbClr>
                </a:gs>
                <a:gs pos="60000">
                  <a:srgbClr val="7C3AED">
                    <a:alpha val="40000"/>
                  </a:srgbClr>
                </a:gs>
                <a:gs pos="100000">
                  <a:srgbClr val="38BDF8">
                    <a:alpha val="60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 rot="-900000">
              <a:off x="13185141" y="2987857"/>
              <a:ext cx="4966716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0" b="1" dirty="0">
                  <a:solidFill>
                    <a:srgbClr val="FFFFFF">
                      <a:alphaMod val="12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1940</a:t>
              </a:r>
              <a:endParaRPr lang="en-US" sz="15000" b="1" dirty="0">
                <a:solidFill>
                  <a:srgbClr val="FFFFFF">
                    <a:alphaMod val="12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10250" y="95250"/>
              <a:ext cx="9334500" cy="8382000"/>
            </a:xfrm>
            <a:prstGeom prst="rect">
              <a:avLst/>
            </a:prstGeom>
            <a:noFill/>
            <a:ln w="28575">
              <a:solidFill>
                <a:srgbClr val="FFFFFF">
                  <a:alpha val="6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0" y="0"/>
              <a:ext cx="9525000" cy="8572500"/>
            </a:xfrm>
            <a:prstGeom prst="rect">
              <a:avLst/>
            </a:prstGeom>
            <a:noFill/>
            <a:ln w="9525">
              <a:solidFill>
                <a:srgbClr val="1F2937">
                  <a:alpha val="3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-190500" y="90488"/>
            <a:ext cx="3810000" cy="8482012"/>
            <a:chOff x="-190500" y="90488"/>
            <a:chExt cx="3810000" cy="8482012"/>
          </a:xfrm>
        </p:grpSpPr>
        <p:sp>
          <p:nvSpPr>
            <p:cNvPr id="30" name="Ellipse 30"/>
            <p:cNvSpPr/>
            <p:nvPr/>
          </p:nvSpPr>
          <p:spPr>
            <a:xfrm>
              <a:off x="-190500" y="2381250"/>
              <a:ext cx="3810000" cy="3810000"/>
            </a:xfrm>
            <a:prstGeom prst="ellipse">
              <a:avLst/>
            </a:prstGeom>
            <a:solidFill>
              <a:srgbClr val="2563EB">
                <a:alpha val="8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81000" y="2952750"/>
              <a:ext cx="2667000" cy="2667000"/>
            </a:xfrm>
            <a:prstGeom prst="ellipse">
              <a:avLst/>
            </a:prstGeom>
            <a:solidFill>
              <a:srgbClr val="2563EB">
                <a:alpha val="5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62250" y="476250"/>
              <a:ext cx="9525" cy="7143750"/>
            </a:xfrm>
            <a:custGeom>
              <a:avLst/>
              <a:gdLst/>
              <a:ahLst/>
              <a:cxnLst/>
              <a:rect l="l" t="t" r="r" b="b"/>
              <a:pathLst>
                <a:path w="9525" h="7143750">
                  <a:moveTo>
                    <a:pt x="0" y="0"/>
                  </a:moveTo>
                  <a:lnTo>
                    <a:pt x="0" y="7143750"/>
                  </a:lnTo>
                </a:path>
              </a:pathLst>
            </a:custGeom>
            <a:noFill/>
            <a:ln w="47625">
              <a:solidFill>
                <a:srgbClr val="2563EB">
                  <a:alpha val="4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4869" y="90488"/>
              <a:ext cx="1338262" cy="1910715"/>
            </a:xfrm>
            <a:prstGeom prst="rect">
              <a:avLst/>
            </a:prstGeom>
            <a:noFill/>
            <a:ln>
              <a:noFill/>
            </a:ln>
            <a:effectLst>
              <a:outerShdw blurRad="57150" dist="26941" dir="2700000" algn="tl" rotWithShape="0">
                <a:srgbClr val="1F2937">
                  <a:alpha val="18750"/>
                </a:srgbClr>
              </a:outerShdw>
            </a:effectLst>
          </p:spPr>
          <p:txBody>
            <a:bodyPr wrap="square" lIns="0" tIns="0" rIns="0" bIns="0" anchor="t" anchorCtr="0"/>
            <a:lstStyle/>
            <a:p>
              <a:pPr algn="ctr">
                <a:lnSpc>
                  <a:spcPts val="90"/>
                </a:lnSpc>
              </a:pPr>
              <a:r>
                <a:rPr lang="zh-CN" sz="97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</a:t>
              </a:r>
              <a:r>
                <a:rPr lang="zh-CN" sz="97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色</a:t>
              </a:r>
              <a:r>
                <a:rPr lang="zh-CN" sz="97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</a:t>
              </a:r>
              <a:r>
                <a:rPr lang="zh-CN" sz="97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</a:t>
              </a:r>
              <a:endParaRPr lang="zh-CN" sz="97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041" y="7727632"/>
              <a:ext cx="2849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spc="375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RED FOUNDING DNA</a:t>
              </a:r>
              <a:endParaRPr lang="en-US" sz="1650" b="1" spc="375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524000" y="76200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solidFill>
              <a:srgbClr val="000000"/>
            </a:solidFill>
            <a:ln w="57150">
              <a:solidFill>
                <a:srgbClr val="2563E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428750" y="7524750"/>
              <a:ext cx="190500" cy="190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460236" y="1929765"/>
            <a:ext cx="6440729" cy="4291774"/>
            <a:chOff x="6460236" y="1929765"/>
            <a:chExt cx="6440729" cy="4291774"/>
          </a:xfrm>
        </p:grpSpPr>
        <p:sp>
          <p:nvSpPr>
            <p:cNvPr id="38" name="TextBox 38"/>
            <p:cNvSpPr txBox="1"/>
            <p:nvPr/>
          </p:nvSpPr>
          <p:spPr>
            <a:xfrm>
              <a:off x="6460236" y="1929765"/>
              <a:ext cx="6440729" cy="645414"/>
            </a:xfrm>
            <a:prstGeom prst="rect">
              <a:avLst/>
            </a:prstGeom>
            <a:noFill/>
            <a:ln>
              <a:noFill/>
            </a:ln>
            <a:effectLst>
              <a:outerShdw blurRad="95250" dist="55540" dir="3542174" algn="tl" rotWithShape="0">
                <a:srgbClr val="1F2937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红色基因：唯一一所有着纯正</a:t>
              </a:r>
              <a:endParaRPr lang="zh-CN" sz="33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236" y="2453640"/>
              <a:ext cx="5775366" cy="645414"/>
            </a:xfrm>
            <a:prstGeom prst="rect">
              <a:avLst/>
            </a:prstGeom>
            <a:noFill/>
            <a:ln>
              <a:noFill/>
            </a:ln>
            <a:effectLst>
              <a:outerShdw blurRad="95250" dist="55540" dir="3542174" algn="tl" rotWithShape="0">
                <a:srgbClr val="1F2937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共产党血脉的985理工高校</a:t>
              </a:r>
              <a:endParaRPr lang="zh-CN" sz="33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7856" y="3187065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从延安自然科学院到新中国第一所国防工业大学</a:t>
              </a:r>
              <a:endParaRPr lang="zh-CN" sz="18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6477000" y="36195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28575">
              <a:solidFill>
                <a:srgbClr val="2563EB">
                  <a:alpha val="60000"/>
                </a:srgbClr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505575" y="3981450"/>
              <a:ext cx="6005932" cy="335089"/>
              <a:chOff x="6505575" y="3981450"/>
              <a:chExt cx="6005932" cy="335089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505575" y="398145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6572250" y="40290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19050"/>
                    </a:moveTo>
                    <a:lnTo>
                      <a:pt x="47625" y="114300"/>
                    </a:lnTo>
                    <a:lnTo>
                      <a:pt x="114300" y="0"/>
                    </a:lnTo>
                    <a:close/>
                  </a:path>
                </a:pathLst>
              </a:custGeom>
              <a:noFill/>
              <a:ln w="23812">
                <a:solidFill>
                  <a:srgbClr val="FFFFFF"/>
                </a:solidFill>
                <a:round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897243" y="3993832"/>
                <a:ext cx="56142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1940年由中国共产党创办，是党创办的第一所理工科大学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505575" y="4933950"/>
              <a:ext cx="3518154" cy="335089"/>
              <a:chOff x="6505575" y="4933950"/>
              <a:chExt cx="3518154" cy="335089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6505575" y="4933950"/>
                <a:ext cx="228600" cy="228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7" name="Polygon 47"/>
              <p:cNvSpPr/>
              <p:nvPr/>
            </p:nvSpPr>
            <p:spPr>
              <a:xfrm>
                <a:off x="6572250" y="49815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19050"/>
                    </a:moveTo>
                    <a:lnTo>
                      <a:pt x="47625" y="114300"/>
                    </a:lnTo>
                    <a:lnTo>
                      <a:pt x="114300" y="0"/>
                    </a:lnTo>
                    <a:close/>
                  </a:path>
                </a:pathLst>
              </a:custGeom>
              <a:noFill/>
              <a:ln w="23812">
                <a:solidFill>
                  <a:srgbClr val="FFFFFF"/>
                </a:solidFill>
                <a:round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897243" y="4946332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具有天然的红色基因和报国使命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505575" y="5886450"/>
              <a:ext cx="5295138" cy="335089"/>
              <a:chOff x="6505575" y="5886450"/>
              <a:chExt cx="5295138" cy="335089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6505575" y="5886450"/>
                <a:ext cx="228600" cy="2286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51" name="Polygon 51"/>
              <p:cNvSpPr/>
              <p:nvPr/>
            </p:nvSpPr>
            <p:spPr>
              <a:xfrm>
                <a:off x="6572250" y="59340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19050"/>
                    </a:moveTo>
                    <a:lnTo>
                      <a:pt x="47625" y="114300"/>
                    </a:lnTo>
                    <a:lnTo>
                      <a:pt x="114300" y="0"/>
                    </a:lnTo>
                    <a:close/>
                  </a:path>
                </a:pathLst>
              </a:custGeom>
              <a:noFill/>
              <a:ln w="23812">
                <a:solidFill>
                  <a:srgbClr val="FFFFFF"/>
                </a:solidFill>
                <a:round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897243" y="5898832"/>
                <a:ext cx="49034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与新中国国防事业同频共振，历史唯一性无可替代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0" y="7715250"/>
            <a:ext cx="15240000" cy="857250"/>
            <a:chOff x="0" y="7715250"/>
            <a:chExt cx="15240000" cy="857250"/>
          </a:xfrm>
        </p:grpSpPr>
        <p:sp>
          <p:nvSpPr>
            <p:cNvPr id="55" name="Rectangle 55"/>
            <p:cNvSpPr/>
            <p:nvPr/>
          </p:nvSpPr>
          <p:spPr>
            <a:xfrm>
              <a:off x="0" y="7715250"/>
              <a:ext cx="15240000" cy="857250"/>
            </a:xfrm>
            <a:prstGeom prst="rect">
              <a:avLst/>
            </a:prstGeom>
            <a:gradFill>
              <a:gsLst>
                <a:gs pos="0">
                  <a:srgbClr val="2563EB"/>
                </a:gs>
                <a:gs pos="40000">
                  <a:srgbClr val="7C3AED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0" y="7715250"/>
              <a:ext cx="15240000" cy="142875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800385" y="8060055"/>
              <a:ext cx="56392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spc="6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红色基因 · 国防重器 · 硬核工科</a:t>
              </a:r>
              <a:endParaRPr lang="zh-CN" sz="2100" b="1" spc="6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Ellipse 58"/>
            <p:cNvSpPr/>
            <p:nvPr/>
          </p:nvSpPr>
          <p:spPr>
            <a:xfrm>
              <a:off x="1390650" y="8105775"/>
              <a:ext cx="76200" cy="76200"/>
            </a:xfrm>
            <a:prstGeom prst="ellipse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3773150" y="8105775"/>
              <a:ext cx="76200" cy="76200"/>
            </a:xfrm>
            <a:prstGeom prst="ellipse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21590" y="-656590"/>
            <a:ext cx="15716250" cy="10477500"/>
            <a:chOff x="-476250" y="-476250"/>
            <a:chExt cx="15716250" cy="10477500"/>
          </a:xfrm>
        </p:grpSpPr>
        <p:sp>
          <p:nvSpPr>
            <p:cNvPr id="5" name="Ellipse 5"/>
            <p:cNvSpPr/>
            <p:nvPr/>
          </p:nvSpPr>
          <p:spPr>
            <a:xfrm>
              <a:off x="4286250" y="952500"/>
              <a:ext cx="6667500" cy="6667500"/>
            </a:xfrm>
            <a:prstGeom prst="ellipse">
              <a:avLst/>
            </a:prstGeom>
            <a:gradFill>
              <a:gsLst>
                <a:gs pos="0">
                  <a:srgbClr val="38BDF8">
                    <a:alpha val="15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430000" y="-476250"/>
              <a:ext cx="3810000" cy="3810000"/>
            </a:xfrm>
            <a:prstGeom prst="ellipse">
              <a:avLst/>
            </a:prstGeom>
            <a:gradFill>
              <a:gsLst>
                <a:gs pos="0">
                  <a:srgbClr val="38BDF8">
                    <a:alpha val="15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-476250" y="5238750"/>
              <a:ext cx="4762500" cy="4762500"/>
            </a:xfrm>
            <a:prstGeom prst="ellipse">
              <a:avLst/>
            </a:prstGeom>
            <a:gradFill>
              <a:gsLst>
                <a:gs pos="0">
                  <a:srgbClr val="38BDF8">
                    <a:alpha val="15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270000"/>
              <a:ext cx="15240000" cy="2063750"/>
            </a:xfrm>
            <a:custGeom>
              <a:avLst/>
              <a:gdLst/>
              <a:ahLst/>
              <a:cxnLst/>
              <a:rect l="l" t="t" r="r" b="b"/>
              <a:pathLst>
                <a:path w="15240000" h="2063750">
                  <a:moveTo>
                    <a:pt x="0" y="635000"/>
                  </a:moveTo>
                  <a:cubicBezTo>
                    <a:pt x="2540000" y="0"/>
                    <a:pt x="5080000" y="158750"/>
                    <a:pt x="7620000" y="1111250"/>
                  </a:cubicBezTo>
                  <a:cubicBezTo>
                    <a:pt x="10160000" y="2063750"/>
                    <a:pt x="12700000" y="1746250"/>
                    <a:pt x="15240000" y="158750"/>
                  </a:cubicBezTo>
                </a:path>
              </a:pathLst>
            </a:custGeom>
            <a:noFill/>
            <a:ln w="19050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635000"/>
              <a:ext cx="15240000" cy="2857500"/>
            </a:xfrm>
            <a:custGeom>
              <a:avLst/>
              <a:gdLst/>
              <a:ahLst/>
              <a:cxnLst/>
              <a:rect l="l" t="t" r="r" b="b"/>
              <a:pathLst>
                <a:path w="15240000" h="2857500">
                  <a:moveTo>
                    <a:pt x="0" y="2222500"/>
                  </a:moveTo>
                  <a:cubicBezTo>
                    <a:pt x="3175000" y="2857500"/>
                    <a:pt x="6032500" y="2540000"/>
                    <a:pt x="8572500" y="1270000"/>
                  </a:cubicBezTo>
                  <a:cubicBezTo>
                    <a:pt x="11112500" y="0"/>
                    <a:pt x="13335000" y="476250"/>
                    <a:pt x="15240000" y="2698750"/>
                  </a:cubicBezTo>
                </a:path>
              </a:pathLst>
            </a:custGeom>
            <a:noFill/>
            <a:ln w="9525">
              <a:solidFill>
                <a:srgbClr val="38BDF8">
                  <a:alpha val="6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5240000" cy="57150"/>
            <a:chOff x="0" y="0"/>
            <a:chExt cx="15240000" cy="57150"/>
          </a:xfrm>
        </p:grpSpPr>
        <p:sp>
          <p:nvSpPr>
            <p:cNvPr id="11" name="Rectangle 11"/>
            <p:cNvSpPr/>
            <p:nvPr/>
          </p:nvSpPr>
          <p:spPr>
            <a:xfrm>
              <a:off x="0" y="0"/>
              <a:ext cx="15240000" cy="5715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904875"/>
            <a:ext cx="6757340" cy="967359"/>
            <a:chOff x="762000" y="904875"/>
            <a:chExt cx="6757340" cy="967359"/>
          </a:xfrm>
        </p:grpSpPr>
        <p:sp>
          <p:nvSpPr>
            <p:cNvPr id="13" name="Rectangle 13"/>
            <p:cNvSpPr/>
            <p:nvPr/>
          </p:nvSpPr>
          <p:spPr>
            <a:xfrm>
              <a:off x="762000" y="904875"/>
              <a:ext cx="76200" cy="809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/>
                </a:gs>
                <a:gs pos="100000">
                  <a:srgbClr val="7C3AED">
                    <a:alpha val="2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611" y="929640"/>
              <a:ext cx="644072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历史沿革：从延安到世界一流</a:t>
              </a:r>
              <a:endParaRPr lang="zh-CN" sz="33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6231" y="1520190"/>
              <a:ext cx="4908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80余年薪火相传，每一步都踩在国家需求上</a:t>
              </a:r>
              <a:endParaRPr lang="zh-CN" sz="18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4000500"/>
            <a:ext cx="12954000" cy="9525"/>
            <a:chOff x="1143000" y="4000500"/>
            <a:chExt cx="12954000" cy="9525"/>
          </a:xfrm>
        </p:grpSpPr>
        <p:sp>
          <p:nvSpPr>
            <p:cNvPr id="17" name="Line 17"/>
            <p:cNvSpPr/>
            <p:nvPr/>
          </p:nvSpPr>
          <p:spPr>
            <a:xfrm>
              <a:off x="1143000" y="4000500"/>
              <a:ext cx="12954000" cy="9525"/>
            </a:xfrm>
            <a:custGeom>
              <a:avLst/>
              <a:gdLst/>
              <a:ahLst/>
              <a:cxnLst/>
              <a:rect l="l" t="t" r="r" b="b"/>
              <a:pathLst>
                <a:path w="12954000" h="9525">
                  <a:moveTo>
                    <a:pt x="0" y="0"/>
                  </a:moveTo>
                  <a:lnTo>
                    <a:pt x="12954000" y="0"/>
                  </a:lnTo>
                </a:path>
              </a:pathLst>
            </a:custGeom>
            <a:noFill/>
            <a:ln w="76200" cap="rnd">
              <a:solidFill>
                <a:srgbClr val="BDD7FF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143000" y="4000500"/>
              <a:ext cx="12954000" cy="9525"/>
            </a:xfrm>
            <a:custGeom>
              <a:avLst/>
              <a:gdLst/>
              <a:ahLst/>
              <a:cxnLst/>
              <a:rect l="l" t="t" r="r" b="b"/>
              <a:pathLst>
                <a:path w="12954000" h="9525">
                  <a:moveTo>
                    <a:pt x="0" y="0"/>
                  </a:moveTo>
                  <a:lnTo>
                    <a:pt x="12954000" y="0"/>
                  </a:lnTo>
                </a:path>
              </a:pathLst>
            </a:custGeom>
            <a:noFill/>
            <a:ln w="76200" cap="rnd">
              <a:solidFill>
                <a:srgbClr val="2563EB">
                  <a:alpha val="15000"/>
                </a:srgbClr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90500" y="3108008"/>
            <a:ext cx="1905000" cy="3032379"/>
            <a:chOff x="190500" y="3108008"/>
            <a:chExt cx="1905000" cy="3032379"/>
          </a:xfrm>
        </p:grpSpPr>
        <p:sp>
          <p:nvSpPr>
            <p:cNvPr id="20" name="Ellipse 20"/>
            <p:cNvSpPr/>
            <p:nvPr/>
          </p:nvSpPr>
          <p:spPr>
            <a:xfrm>
              <a:off x="876300" y="3733800"/>
              <a:ext cx="533400" cy="5334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71550" y="3829050"/>
              <a:ext cx="342900" cy="3429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28700" y="3886200"/>
              <a:ext cx="228600" cy="2286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0329" y="3108008"/>
              <a:ext cx="805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1940年</a:t>
              </a:r>
              <a:endParaRPr lang="zh-CN" sz="16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2034" y="3426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延安自然科学院成立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5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  <a:effectLst>
              <a:outerShdw blurRad="1524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1905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81000" y="4762500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0" y="857250"/>
                  </a:moveTo>
                  <a:lnTo>
                    <a:pt x="762000" y="0"/>
                  </a:lnTo>
                  <a:lnTo>
                    <a:pt x="1524000" y="857250"/>
                  </a:lnTo>
                  <a:close/>
                </a:path>
              </a:pathLst>
            </a:custGeom>
            <a:solidFill>
              <a:srgbClr val="BDD7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4953000"/>
              <a:ext cx="1143000" cy="666750"/>
            </a:xfrm>
            <a:custGeom>
              <a:avLst/>
              <a:gdLst/>
              <a:ahLst/>
              <a:cxnLst/>
              <a:rect l="l" t="t" r="r" b="b"/>
              <a:pathLst>
                <a:path w="1143000" h="666750">
                  <a:moveTo>
                    <a:pt x="0" y="666750"/>
                  </a:moveTo>
                  <a:lnTo>
                    <a:pt x="571500" y="0"/>
                  </a:lnTo>
                  <a:lnTo>
                    <a:pt x="1143000" y="66675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2500" y="52387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28700" y="4648200"/>
              <a:ext cx="228600" cy="228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0258" y="5935028"/>
              <a:ext cx="1205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延安时期办学旧址</a:t>
              </a:r>
              <a:endParaRPr lang="zh-CN" sz="1050" dirty="0">
                <a:solidFill>
                  <a:srgbClr val="52637A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29000" y="3108008"/>
            <a:ext cx="1905000" cy="3032379"/>
            <a:chOff x="3429000" y="3108008"/>
            <a:chExt cx="1905000" cy="3032379"/>
          </a:xfrm>
        </p:grpSpPr>
        <p:sp>
          <p:nvSpPr>
            <p:cNvPr id="33" name="Ellipse 33"/>
            <p:cNvSpPr/>
            <p:nvPr/>
          </p:nvSpPr>
          <p:spPr>
            <a:xfrm>
              <a:off x="4114800" y="3733800"/>
              <a:ext cx="533400" cy="5334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210050" y="3829050"/>
              <a:ext cx="342900" cy="3429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267200" y="3886200"/>
              <a:ext cx="228600" cy="2286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78829" y="3108008"/>
              <a:ext cx="805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1952年</a:t>
              </a:r>
              <a:endParaRPr lang="zh-CN" sz="16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0534" y="3426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更名为北京工业学院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290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  <a:effectLst>
              <a:outerShdw blurRad="1524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34290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619500" y="4762500"/>
              <a:ext cx="1524000" cy="857250"/>
            </a:xfrm>
            <a:prstGeom prst="roundRect">
              <a:avLst>
                <a:gd name="adj" fmla="val 6667"/>
              </a:avLst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714750" y="4857750"/>
              <a:ext cx="1333500" cy="666750"/>
            </a:xfrm>
            <a:prstGeom prst="roundRect">
              <a:avLst>
                <a:gd name="adj" fmla="val 5714"/>
              </a:avLst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4000500" y="523875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0" y="285750"/>
                  </a:moveTo>
                  <a:lnTo>
                    <a:pt x="762000" y="285750"/>
                  </a:lnTo>
                  <a:lnTo>
                    <a:pt x="76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95750" y="4953000"/>
              <a:ext cx="571500" cy="285750"/>
            </a:xfrm>
            <a:prstGeom prst="roundRect">
              <a:avLst>
                <a:gd name="adj" fmla="val 6667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04082" y="5935028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新中国国防院校奠基</a:t>
              </a:r>
              <a:endParaRPr lang="zh-CN" sz="1050" dirty="0">
                <a:solidFill>
                  <a:srgbClr val="52637A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67500" y="3108008"/>
            <a:ext cx="1905000" cy="3032379"/>
            <a:chOff x="6667500" y="3108008"/>
            <a:chExt cx="1905000" cy="3032379"/>
          </a:xfrm>
        </p:grpSpPr>
        <p:sp>
          <p:nvSpPr>
            <p:cNvPr id="46" name="Ellipse 46"/>
            <p:cNvSpPr/>
            <p:nvPr/>
          </p:nvSpPr>
          <p:spPr>
            <a:xfrm>
              <a:off x="7353300" y="3733800"/>
              <a:ext cx="533400" cy="5334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448550" y="3829050"/>
              <a:ext cx="342900" cy="3429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505700" y="3886200"/>
              <a:ext cx="228600" cy="2286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17329" y="3108008"/>
              <a:ext cx="805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1988年</a:t>
              </a:r>
              <a:endParaRPr lang="zh-CN" sz="16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49034" y="3426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更名为北京理工大学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675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  <a:effectLst>
              <a:outerShdw blurRad="1524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52" name="Rectangle 52"/>
            <p:cNvSpPr/>
            <p:nvPr/>
          </p:nvSpPr>
          <p:spPr>
            <a:xfrm>
              <a:off x="66675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239000" y="4667250"/>
              <a:ext cx="762000" cy="762000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334250" y="4762500"/>
              <a:ext cx="571500" cy="533400"/>
            </a:xfrm>
            <a:custGeom>
              <a:avLst/>
              <a:gdLst/>
              <a:ahLst/>
              <a:cxnLst/>
              <a:rect l="l" t="t" r="r" b="b"/>
              <a:pathLst>
                <a:path w="571500" h="533400">
                  <a:moveTo>
                    <a:pt x="285750" y="0"/>
                  </a:moveTo>
                  <a:lnTo>
                    <a:pt x="361950" y="190500"/>
                  </a:lnTo>
                  <a:lnTo>
                    <a:pt x="571500" y="190500"/>
                  </a:lnTo>
                  <a:lnTo>
                    <a:pt x="400050" y="323850"/>
                  </a:lnTo>
                  <a:lnTo>
                    <a:pt x="476250" y="533400"/>
                  </a:lnTo>
                  <a:lnTo>
                    <a:pt x="285750" y="400050"/>
                  </a:lnTo>
                  <a:lnTo>
                    <a:pt x="95250" y="533400"/>
                  </a:lnTo>
                  <a:lnTo>
                    <a:pt x="171450" y="323850"/>
                  </a:lnTo>
                  <a:lnTo>
                    <a:pt x="0" y="190500"/>
                  </a:lnTo>
                  <a:lnTo>
                    <a:pt x="209550" y="1905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42582" y="5935028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开启综合性大学篇章</a:t>
              </a:r>
              <a:endParaRPr lang="zh-CN" sz="1050" dirty="0">
                <a:solidFill>
                  <a:srgbClr val="52637A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906000" y="3108008"/>
            <a:ext cx="1905000" cy="3032379"/>
            <a:chOff x="9906000" y="3108008"/>
            <a:chExt cx="1905000" cy="3032379"/>
          </a:xfrm>
        </p:grpSpPr>
        <p:sp>
          <p:nvSpPr>
            <p:cNvPr id="57" name="Ellipse 57"/>
            <p:cNvSpPr/>
            <p:nvPr/>
          </p:nvSpPr>
          <p:spPr>
            <a:xfrm>
              <a:off x="10591800" y="3733800"/>
              <a:ext cx="533400" cy="5334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687050" y="3829050"/>
              <a:ext cx="342900" cy="3429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744200" y="3886200"/>
              <a:ext cx="228600" cy="2286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55829" y="3108008"/>
              <a:ext cx="805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2017年</a:t>
              </a:r>
              <a:endParaRPr lang="zh-CN" sz="16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534" y="3426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入选双一流建设高校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9060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  <a:effectLst>
              <a:outerShdw blurRad="1524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99060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10287000" y="4667250"/>
              <a:ext cx="1143000" cy="857250"/>
            </a:xfrm>
            <a:custGeom>
              <a:avLst/>
              <a:gdLst/>
              <a:ahLst/>
              <a:cxnLst/>
              <a:rect l="l" t="t" r="r" b="b"/>
              <a:pathLst>
                <a:path w="1143000" h="857250">
                  <a:moveTo>
                    <a:pt x="0" y="857250"/>
                  </a:moveTo>
                  <a:lnTo>
                    <a:pt x="0" y="0"/>
                  </a:lnTo>
                  <a:lnTo>
                    <a:pt x="1143000" y="190500"/>
                  </a:lnTo>
                  <a:lnTo>
                    <a:pt x="0" y="381000"/>
                  </a:lnTo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10287000" y="46672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57150" cap="rnd">
              <a:solidFill>
                <a:srgbClr val="2563EB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668000" y="4953000"/>
              <a:ext cx="381000" cy="381000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652112" y="5093970"/>
              <a:ext cx="4127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双一流</a:t>
              </a:r>
              <a:endParaRPr lang="zh-CN" sz="9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81082" y="5935028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迈进双一流建设行列</a:t>
              </a:r>
              <a:endParaRPr lang="zh-CN" sz="1050" dirty="0">
                <a:solidFill>
                  <a:srgbClr val="52637A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130022" y="3108008"/>
            <a:ext cx="1933956" cy="3032379"/>
            <a:chOff x="13130022" y="3108008"/>
            <a:chExt cx="1933956" cy="3032379"/>
          </a:xfrm>
        </p:grpSpPr>
        <p:sp>
          <p:nvSpPr>
            <p:cNvPr id="70" name="Ellipse 70"/>
            <p:cNvSpPr/>
            <p:nvPr/>
          </p:nvSpPr>
          <p:spPr>
            <a:xfrm>
              <a:off x="13830300" y="3733800"/>
              <a:ext cx="533400" cy="5334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13925550" y="3829050"/>
              <a:ext cx="342900" cy="3429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3982700" y="3886200"/>
              <a:ext cx="228600" cy="2286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694329" y="3108008"/>
              <a:ext cx="805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2023年</a:t>
              </a:r>
              <a:endParaRPr lang="zh-CN" sz="16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130022" y="3426142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多项国防科技成果突破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31445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  <a:effectLst>
              <a:outerShdw blurRad="1524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76" name="Rectangle 76"/>
            <p:cNvSpPr/>
            <p:nvPr/>
          </p:nvSpPr>
          <p:spPr>
            <a:xfrm>
              <a:off x="13144500" y="44767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13906500" y="4667250"/>
              <a:ext cx="381000" cy="571500"/>
            </a:xfrm>
            <a:custGeom>
              <a:avLst/>
              <a:gdLst/>
              <a:ahLst/>
              <a:cxnLst/>
              <a:rect l="l" t="t" r="r" b="b"/>
              <a:pathLst>
                <a:path w="381000" h="571500">
                  <a:moveTo>
                    <a:pt x="190500" y="0"/>
                  </a:moveTo>
                  <a:lnTo>
                    <a:pt x="0" y="571500"/>
                  </a:lnTo>
                  <a:lnTo>
                    <a:pt x="381000" y="571500"/>
                  </a:lnTo>
                  <a:close/>
                </a:path>
              </a:pathLst>
            </a:custGeom>
            <a:solidFill>
              <a:srgbClr val="BDD7F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3954125" y="5238750"/>
              <a:ext cx="285750" cy="190500"/>
            </a:xfrm>
            <a:prstGeom prst="roundRect">
              <a:avLst>
                <a:gd name="adj" fmla="val 15000"/>
              </a:avLst>
            </a:prstGeom>
            <a:solidFill>
              <a:srgbClr val="52637A"/>
            </a:solidFill>
            <a:ln>
              <a:noFill/>
            </a:ln>
          </p:spPr>
        </p:sp>
        <p:sp>
          <p:nvSpPr>
            <p:cNvPr id="79" name="Line 79"/>
            <p:cNvSpPr/>
            <p:nvPr/>
          </p:nvSpPr>
          <p:spPr>
            <a:xfrm>
              <a:off x="14097000" y="5429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38100" cap="rnd">
              <a:solidFill>
                <a:srgbClr val="7C3AED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4020800" y="4733925"/>
              <a:ext cx="152400" cy="152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13716000" y="5143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cubicBezTo>
                    <a:pt x="254000" y="0"/>
                    <a:pt x="508000" y="0"/>
                    <a:pt x="762000" y="381000"/>
                  </a:cubicBezTo>
                </a:path>
              </a:pathLst>
            </a:custGeom>
            <a:noFill/>
            <a:ln w="28575" cap="rnd">
              <a:solidFill>
                <a:srgbClr val="BDD7FF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3494258" y="5935028"/>
              <a:ext cx="1205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国防科技前沿突破</a:t>
              </a:r>
              <a:endParaRPr lang="zh-CN" sz="1050" dirty="0">
                <a:solidFill>
                  <a:srgbClr val="52637A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-476250" y="4114800"/>
            <a:ext cx="16192500" cy="4648200"/>
            <a:chOff x="-476250" y="4114800"/>
            <a:chExt cx="16192500" cy="4648200"/>
          </a:xfrm>
        </p:grpSpPr>
        <p:sp>
          <p:nvSpPr>
            <p:cNvPr id="84" name="Freeform 84"/>
            <p:cNvSpPr/>
            <p:nvPr/>
          </p:nvSpPr>
          <p:spPr>
            <a:xfrm>
              <a:off x="1143000" y="4191000"/>
              <a:ext cx="12954000" cy="9525"/>
            </a:xfrm>
            <a:custGeom>
              <a:avLst/>
              <a:gdLst/>
              <a:ahLst/>
              <a:cxnLst/>
              <a:rect l="l" t="t" r="r" b="b"/>
              <a:pathLst>
                <a:path w="12954000" h="9525">
                  <a:moveTo>
                    <a:pt x="0" y="0"/>
                  </a:moveTo>
                  <a:lnTo>
                    <a:pt x="12954000" y="0"/>
                  </a:lnTo>
                </a:path>
              </a:pathLst>
            </a:custGeom>
            <a:noFill/>
            <a:ln w="19050">
              <a:solidFill>
                <a:srgbClr val="2563EB">
                  <a:alpha val="20000"/>
                </a:srgbClr>
              </a:solidFill>
              <a:custDash>
                <a:ds d="400000" sp="400000"/>
              </a:custDash>
            </a:ln>
          </p:spPr>
        </p:sp>
        <p:sp>
          <p:nvSpPr>
            <p:cNvPr id="85" name="Freeform 85"/>
            <p:cNvSpPr/>
            <p:nvPr/>
          </p:nvSpPr>
          <p:spPr>
            <a:xfrm>
              <a:off x="13906500" y="411480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76200"/>
                  </a:lnTo>
                  <a:lnTo>
                    <a:pt x="0" y="152400"/>
                  </a:lnTo>
                </a:path>
              </a:pathLst>
            </a:custGeom>
            <a:solidFill>
              <a:srgbClr val="2563EB">
                <a:alpha val="30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0" y="8096250"/>
              <a:ext cx="15240000" cy="476250"/>
            </a:xfrm>
            <a:prstGeom prst="rect">
              <a:avLst/>
            </a:prstGeom>
            <a:gradFill>
              <a:gsLst>
                <a:gs pos="0">
                  <a:srgbClr val="7C3AED">
                    <a:alpha val="80000"/>
                  </a:srgbClr>
                </a:gs>
                <a:gs pos="100000">
                  <a:srgbClr val="7C3AED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4330134" y="8284845"/>
              <a:ext cx="438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FFFFFF">
                      <a:alphaMod val="5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 / 10</a:t>
              </a:r>
              <a:endParaRPr lang="en-US" sz="900" dirty="0">
                <a:solidFill>
                  <a:srgbClr val="FFFFFF">
                    <a:alphaMod val="5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8" name="Freeform 88"/>
            <p:cNvSpPr/>
            <p:nvPr/>
          </p:nvSpPr>
          <p:spPr>
            <a:xfrm>
              <a:off x="-476250" y="7905750"/>
              <a:ext cx="16192500" cy="857250"/>
            </a:xfrm>
            <a:custGeom>
              <a:avLst/>
              <a:gdLst/>
              <a:ahLst/>
              <a:cxnLst/>
              <a:rect l="l" t="t" r="r" b="b"/>
              <a:pathLst>
                <a:path w="16192500" h="857250">
                  <a:moveTo>
                    <a:pt x="0" y="476250"/>
                  </a:moveTo>
                  <a:cubicBezTo>
                    <a:pt x="2857500" y="95250"/>
                    <a:pt x="5556250" y="95250"/>
                    <a:pt x="8096250" y="476250"/>
                  </a:cubicBezTo>
                  <a:cubicBezTo>
                    <a:pt x="10636250" y="857250"/>
                    <a:pt x="13335000" y="698500"/>
                    <a:pt x="16192500" y="0"/>
                  </a:cubicBezTo>
                </a:path>
              </a:pathLst>
            </a:custGeom>
            <a:noFill/>
            <a:ln w="19050">
              <a:solidFill>
                <a:srgbClr val="FFFFFF">
                  <a:alpha val="15000"/>
                </a:srgbClr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pattFill prst="ltUpDiag">
            <a:fgClr>
              <a:srgbClr val="BDD7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952500" y="-952500"/>
            <a:ext cx="5715000" cy="5715000"/>
          </a:xfrm>
          <a:prstGeom prst="ellipse">
            <a:avLst/>
          </a:prstGeom>
          <a:solidFill>
            <a:srgbClr val="2563EB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525000" y="2857500"/>
            <a:ext cx="7620000" cy="7620000"/>
          </a:xfrm>
          <a:prstGeom prst="ellipse">
            <a:avLst/>
          </a:prstGeom>
          <a:solidFill>
            <a:srgbClr val="7C3AED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3333750" y="285750"/>
            <a:ext cx="8572500" cy="8572500"/>
          </a:xfrm>
          <a:prstGeom prst="ellipse">
            <a:avLst/>
          </a:prstGeom>
          <a:solidFill>
            <a:srgbClr val="38BDF8">
              <a:alpha val="2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5240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8534400"/>
            <a:ext cx="15240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941168" y="531495"/>
            <a:ext cx="9357665" cy="1258634"/>
            <a:chOff x="2941168" y="531495"/>
            <a:chExt cx="9357665" cy="1258634"/>
          </a:xfrm>
        </p:grpSpPr>
        <p:sp>
          <p:nvSpPr>
            <p:cNvPr id="9" name="TextBox 9"/>
            <p:cNvSpPr txBox="1"/>
            <p:nvPr/>
          </p:nvSpPr>
          <p:spPr>
            <a:xfrm>
              <a:off x="2941168" y="531495"/>
              <a:ext cx="935766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硬核工科：王牌学科群铸就国防脊梁</a:t>
              </a:r>
              <a:endParaRPr lang="zh-CN" sz="39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191250" y="1143000"/>
              <a:ext cx="2857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21454" y="1408748"/>
              <a:ext cx="59970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兵器科学与技术、车辆工程、光电信息…群星闪耀</a:t>
              </a:r>
              <a:endParaRPr lang="zh-CN" sz="19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40275" y="2524125"/>
            <a:ext cx="6832600" cy="4376420"/>
            <a:chOff x="4740275" y="2524125"/>
            <a:chExt cx="6832600" cy="4376420"/>
          </a:xfrm>
        </p:grpSpPr>
        <p:sp>
          <p:nvSpPr>
            <p:cNvPr id="13" name="Line 13"/>
            <p:cNvSpPr/>
            <p:nvPr/>
          </p:nvSpPr>
          <p:spPr>
            <a:xfrm>
              <a:off x="4740275" y="2753360"/>
              <a:ext cx="2879725" cy="1818640"/>
            </a:xfrm>
            <a:custGeom>
              <a:avLst/>
              <a:gdLst/>
              <a:ahLst/>
              <a:cxnLst/>
              <a:rect l="l" t="t" r="r" b="b"/>
              <a:pathLst>
                <a:path w="1762125" h="2047875">
                  <a:moveTo>
                    <a:pt x="1762125" y="2047875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38BDF8">
                  <a:alpha val="70000"/>
                </a:srgbClr>
              </a:solidFill>
              <a:custDash>
                <a:ds d="240000" sp="160000"/>
              </a:custDash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0" y="2524125"/>
              <a:ext cx="3952875" cy="2047875"/>
            </a:xfrm>
            <a:custGeom>
              <a:avLst/>
              <a:gdLst/>
              <a:ahLst/>
              <a:cxnLst/>
              <a:rect l="l" t="t" r="r" b="b"/>
              <a:pathLst>
                <a:path w="3952875" h="2047875">
                  <a:moveTo>
                    <a:pt x="0" y="2047875"/>
                  </a:moveTo>
                  <a:lnTo>
                    <a:pt x="3952875" y="0"/>
                  </a:lnTo>
                </a:path>
              </a:pathLst>
            </a:custGeom>
            <a:noFill/>
            <a:ln w="23812">
              <a:solidFill>
                <a:srgbClr val="38BDF8">
                  <a:alpha val="70000"/>
                </a:srgbClr>
              </a:solidFill>
              <a:custDash>
                <a:ds d="240000" sp="160000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5456555" y="4572000"/>
              <a:ext cx="2163445" cy="2328545"/>
            </a:xfrm>
            <a:custGeom>
              <a:avLst/>
              <a:gdLst/>
              <a:ahLst/>
              <a:cxnLst/>
              <a:rect l="l" t="t" r="r" b="b"/>
              <a:pathLst>
                <a:path w="1762125" h="1857375">
                  <a:moveTo>
                    <a:pt x="1762125" y="0"/>
                  </a:moveTo>
                  <a:lnTo>
                    <a:pt x="0" y="1857375"/>
                  </a:lnTo>
                </a:path>
              </a:pathLst>
            </a:custGeom>
            <a:noFill/>
            <a:ln w="23812">
              <a:solidFill>
                <a:srgbClr val="38BDF8">
                  <a:alpha val="70000"/>
                </a:srgbClr>
              </a:solidFill>
              <a:custDash>
                <a:ds d="240000" sp="160000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7620000" y="4572000"/>
              <a:ext cx="3952875" cy="1857375"/>
            </a:xfrm>
            <a:custGeom>
              <a:avLst/>
              <a:gdLst/>
              <a:ahLst/>
              <a:cxnLst/>
              <a:rect l="l" t="t" r="r" b="b"/>
              <a:pathLst>
                <a:path w="3952875" h="1857375">
                  <a:moveTo>
                    <a:pt x="0" y="0"/>
                  </a:moveTo>
                  <a:lnTo>
                    <a:pt x="3952875" y="1857375"/>
                  </a:lnTo>
                </a:path>
              </a:pathLst>
            </a:custGeom>
            <a:noFill/>
            <a:ln w="23812">
              <a:solidFill>
                <a:srgbClr val="38BDF8">
                  <a:alpha val="70000"/>
                </a:srgbClr>
              </a:solidFill>
              <a:custDash>
                <a:ds d="240000" sp="160000"/>
              </a:custDash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645025" y="2476500"/>
            <a:ext cx="6975475" cy="4423410"/>
            <a:chOff x="4645025" y="2476500"/>
            <a:chExt cx="6975475" cy="4423410"/>
          </a:xfrm>
        </p:grpSpPr>
        <p:sp>
          <p:nvSpPr>
            <p:cNvPr id="18" name="Ellipse 18"/>
            <p:cNvSpPr/>
            <p:nvPr/>
          </p:nvSpPr>
          <p:spPr>
            <a:xfrm>
              <a:off x="4645025" y="2635885"/>
              <a:ext cx="95250" cy="952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525250" y="2476500"/>
              <a:ext cx="95250" cy="952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082540" y="6804660"/>
              <a:ext cx="95250" cy="952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525250" y="6381750"/>
              <a:ext cx="95250" cy="952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619500" y="1905000"/>
            <a:ext cx="8001000" cy="5334000"/>
            <a:chOff x="3619500" y="1905000"/>
            <a:chExt cx="8001000" cy="5334000"/>
          </a:xfrm>
        </p:grpSpPr>
        <p:sp>
          <p:nvSpPr>
            <p:cNvPr id="23" name="Ellipse 23"/>
            <p:cNvSpPr/>
            <p:nvPr/>
          </p:nvSpPr>
          <p:spPr>
            <a:xfrm>
              <a:off x="3619500" y="1905000"/>
              <a:ext cx="8001000" cy="5334000"/>
            </a:xfrm>
            <a:prstGeom prst="ellipse">
              <a:avLst/>
            </a:prstGeom>
            <a:noFill/>
            <a:ln w="19050">
              <a:solidFill>
                <a:srgbClr val="BDD7FF">
                  <a:alpha val="60000"/>
                </a:srgbClr>
              </a:solidFill>
              <a:custDash>
                <a:ds d="400000" sp="400000"/>
              </a:custDash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143625" y="3095625"/>
            <a:ext cx="2952750" cy="2952750"/>
            <a:chOff x="6143625" y="3095625"/>
            <a:chExt cx="2952750" cy="2952750"/>
          </a:xfrm>
          <a:effectLst>
            <a:outerShdw blurRad="381000" dist="95250" dir="5400000" algn="ctr" rotWithShape="0">
              <a:srgbClr val="2563EB">
                <a:alpha val="18750"/>
              </a:srgbClr>
            </a:outerShdw>
          </a:effectLst>
        </p:grpSpPr>
        <p:sp>
          <p:nvSpPr>
            <p:cNvPr id="25" name="Ellipse 25"/>
            <p:cNvSpPr/>
            <p:nvPr/>
          </p:nvSpPr>
          <p:spPr>
            <a:xfrm>
              <a:off x="6143625" y="3095625"/>
              <a:ext cx="2952750" cy="29527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</p:sp>
        <p:sp>
          <p:nvSpPr>
            <p:cNvPr id="26" name="Ellipse 26"/>
            <p:cNvSpPr/>
            <p:nvPr/>
          </p:nvSpPr>
          <p:spPr>
            <a:xfrm>
              <a:off x="6143625" y="3095625"/>
              <a:ext cx="2952750" cy="2952750"/>
            </a:xfrm>
            <a:prstGeom prst="ellipse">
              <a:avLst/>
            </a:prstGeom>
            <a:noFill/>
            <a:ln w="38100">
              <a:solidFill>
                <a:srgbClr val="38BDF8"/>
              </a:solidFill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6238875" y="3190875"/>
              <a:ext cx="2762250" cy="2762250"/>
            </a:xfrm>
            <a:prstGeom prst="ellipse">
              <a:avLst/>
            </a:prstGeom>
            <a:noFill/>
            <a:ln w="14288">
              <a:solidFill>
                <a:srgbClr val="FFFFFF">
                  <a:alpha val="30000"/>
                </a:srgbClr>
              </a:solidFill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</p:sp>
        <p:sp>
          <p:nvSpPr>
            <p:cNvPr id="28" name="Ellipse 28"/>
            <p:cNvSpPr/>
            <p:nvPr/>
          </p:nvSpPr>
          <p:spPr>
            <a:xfrm>
              <a:off x="6429375" y="3381375"/>
              <a:ext cx="2381250" cy="2381250"/>
            </a:xfrm>
            <a:prstGeom prst="ellipse">
              <a:avLst/>
            </a:prstGeom>
            <a:noFill/>
            <a:ln w="9525">
              <a:solidFill>
                <a:srgbClr val="FFFFFF">
                  <a:alpha val="15000"/>
                </a:srgbClr>
              </a:solidFill>
              <a:custDash>
                <a:ds d="300000" sp="500000"/>
              </a:custDash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</p:sp>
        <p:sp>
          <p:nvSpPr>
            <p:cNvPr id="29" name="Ellipse 29"/>
            <p:cNvSpPr/>
            <p:nvPr/>
          </p:nvSpPr>
          <p:spPr>
            <a:xfrm>
              <a:off x="7143750" y="4476750"/>
              <a:ext cx="952500" cy="95250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6345488" y="3963352"/>
              <a:ext cx="2549023" cy="498729"/>
            </a:xfrm>
            <a:prstGeom prst="rect">
              <a:avLst/>
            </a:prstGeom>
            <a:noFill/>
            <a:ln>
              <a:noFill/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兵器科学与技术</a:t>
              </a:r>
              <a:endParaRPr lang="zh-CN" sz="25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2731" y="4480560"/>
              <a:ext cx="974537" cy="1104900"/>
            </a:xfrm>
            <a:prstGeom prst="rect">
              <a:avLst/>
            </a:prstGeom>
            <a:noFill/>
            <a:ln>
              <a:noFill/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700" b="1" dirty="0">
                  <a:solidFill>
                    <a:srgbClr val="EF44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5700" b="1" dirty="0">
                <a:solidFill>
                  <a:srgbClr val="EF44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2731" y="4480560"/>
              <a:ext cx="974537" cy="1104900"/>
            </a:xfrm>
            <a:prstGeom prst="rect">
              <a:avLst/>
            </a:prstGeom>
            <a:noFill/>
            <a:ln>
              <a:noFill/>
            </a:ln>
            <a:effectLst>
              <a:outerShdw blurRad="381000" dist="95250" dir="5400000" algn="ctr" rotWithShape="0">
                <a:srgbClr val="2563EB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700" b="1" dirty="0">
                  <a:ln w="28575">
                    <a:solidFill>
                      <a:srgbClr val="EF4444">
                        <a:alphaMod val="60000"/>
                      </a:srgbClr>
                    </a:solidFill>
                  </a:ln>
                  <a:noFill/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5700" b="1" dirty="0">
                <a:ln w="28575">
                  <a:solidFill>
                    <a:srgbClr val="EF4444">
                      <a:alphaMod val="60000"/>
                    </a:srgbClr>
                  </a:solidFill>
                </a:ln>
                <a:noFill/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76145" y="2000250"/>
            <a:ext cx="2857500" cy="1047750"/>
            <a:chOff x="4286250" y="2000250"/>
            <a:chExt cx="2857500" cy="1047750"/>
          </a:xfrm>
          <a:effectLst>
            <a:outerShdw blurRad="228600" dist="76200" dir="5400000" algn="ctr" rotWithShape="0">
              <a:srgbClr val="2563EB">
                <a:alpha val="600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4286250" y="200025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35" name="Ellipse 35"/>
            <p:cNvSpPr/>
            <p:nvPr/>
          </p:nvSpPr>
          <p:spPr>
            <a:xfrm>
              <a:off x="4343400" y="2295525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4460189" y="2445068"/>
              <a:ext cx="22362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39867" y="2301240"/>
              <a:ext cx="1036015" cy="352044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车辆工程</a:t>
              </a:r>
              <a:endParaRPr lang="zh-CN" sz="1800" b="1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24069" y="2635568"/>
              <a:ext cx="146761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中国军用车辆摇篮</a:t>
              </a:r>
              <a:endParaRPr lang="zh-CN" sz="1350" dirty="0">
                <a:solidFill>
                  <a:srgbClr val="52637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286250" y="200025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114300"/>
                  </a:moveTo>
                  <a:lnTo>
                    <a:pt x="95250" y="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2563EB">
                <a:alpha val="20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</p:grpSp>
      <p:grpSp>
        <p:nvGrpSpPr>
          <p:cNvPr id="47" name="Group 47"/>
          <p:cNvGrpSpPr/>
          <p:nvPr/>
        </p:nvGrpSpPr>
        <p:grpSpPr>
          <a:xfrm>
            <a:off x="10001250" y="2000250"/>
            <a:ext cx="2857500" cy="1047750"/>
            <a:chOff x="10001250" y="2000250"/>
            <a:chExt cx="2857500" cy="1047750"/>
          </a:xfrm>
          <a:effectLst>
            <a:outerShdw blurRad="228600" dist="76200" dir="5400000" algn="ctr" rotWithShape="0">
              <a:srgbClr val="2563EB">
                <a:alpha val="6000"/>
              </a:srgbClr>
            </a:outerShdw>
          </a:effectLst>
        </p:grpSpPr>
        <p:sp>
          <p:nvSpPr>
            <p:cNvPr id="41" name="Rectangle 41"/>
            <p:cNvSpPr/>
            <p:nvPr/>
          </p:nvSpPr>
          <p:spPr>
            <a:xfrm>
              <a:off x="10001250" y="200025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42" name="Ellipse 42"/>
            <p:cNvSpPr/>
            <p:nvPr/>
          </p:nvSpPr>
          <p:spPr>
            <a:xfrm>
              <a:off x="10058400" y="2295525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10175189" y="2445068"/>
              <a:ext cx="22362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54867" y="2301240"/>
              <a:ext cx="1036015" cy="352044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光学工程</a:t>
              </a:r>
              <a:endParaRPr lang="zh-CN" sz="1800" b="1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39069" y="2635568"/>
              <a:ext cx="146761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信息光电技术顶尖</a:t>
              </a:r>
              <a:endParaRPr lang="zh-CN" sz="1350" dirty="0">
                <a:solidFill>
                  <a:srgbClr val="52637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0001250" y="200025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114300"/>
                  </a:moveTo>
                  <a:lnTo>
                    <a:pt x="95250" y="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2563EB">
                <a:alpha val="20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</p:grpSp>
      <p:grpSp>
        <p:nvGrpSpPr>
          <p:cNvPr id="54" name="Group 54"/>
          <p:cNvGrpSpPr/>
          <p:nvPr/>
        </p:nvGrpSpPr>
        <p:grpSpPr>
          <a:xfrm>
            <a:off x="2872105" y="5905500"/>
            <a:ext cx="2857500" cy="1492885"/>
            <a:chOff x="2872105" y="5905500"/>
            <a:chExt cx="2857500" cy="1492885"/>
          </a:xfrm>
          <a:effectLst>
            <a:outerShdw blurRad="228600" dist="76200" dir="5400000" algn="ctr" rotWithShape="0">
              <a:srgbClr val="2563EB">
                <a:alpha val="6000"/>
              </a:srgbClr>
            </a:outerShdw>
          </a:effectLst>
        </p:grpSpPr>
        <p:sp>
          <p:nvSpPr>
            <p:cNvPr id="48" name="Rectangle 48"/>
            <p:cNvSpPr/>
            <p:nvPr/>
          </p:nvSpPr>
          <p:spPr>
            <a:xfrm>
              <a:off x="2872105" y="6350635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49" name="Ellipse 49"/>
            <p:cNvSpPr/>
            <p:nvPr/>
          </p:nvSpPr>
          <p:spPr>
            <a:xfrm>
              <a:off x="2929255" y="664591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3046044" y="6795453"/>
              <a:ext cx="22362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44075" y="6651625"/>
              <a:ext cx="1799311" cy="352044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信息与通信工程</a:t>
              </a:r>
              <a:endParaRPr lang="zh-CN" sz="1800" b="1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09924" y="6985953"/>
              <a:ext cx="146761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国防通信骨干学科</a:t>
              </a:r>
              <a:endParaRPr lang="zh-CN" sz="1350" dirty="0">
                <a:solidFill>
                  <a:srgbClr val="52637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3" name="Freeform 53"/>
            <p:cNvSpPr/>
            <p:nvPr/>
          </p:nvSpPr>
          <p:spPr>
            <a:xfrm>
              <a:off x="4286250" y="59055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114300"/>
                  </a:moveTo>
                  <a:lnTo>
                    <a:pt x="95250" y="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2563EB">
                <a:alpha val="20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</p:grpSp>
      <p:grpSp>
        <p:nvGrpSpPr>
          <p:cNvPr id="61" name="Group 61"/>
          <p:cNvGrpSpPr/>
          <p:nvPr/>
        </p:nvGrpSpPr>
        <p:grpSpPr>
          <a:xfrm>
            <a:off x="10001250" y="5905500"/>
            <a:ext cx="2857500" cy="1047750"/>
            <a:chOff x="10001250" y="5905500"/>
            <a:chExt cx="2857500" cy="1047750"/>
          </a:xfrm>
          <a:effectLst>
            <a:outerShdw blurRad="228600" dist="76200" dir="5400000" algn="ctr" rotWithShape="0">
              <a:srgbClr val="2563EB">
                <a:alpha val="6000"/>
              </a:srgbClr>
            </a:outerShdw>
          </a:effectLst>
        </p:grpSpPr>
        <p:sp>
          <p:nvSpPr>
            <p:cNvPr id="55" name="Rectangle 55"/>
            <p:cNvSpPr/>
            <p:nvPr/>
          </p:nvSpPr>
          <p:spPr>
            <a:xfrm>
              <a:off x="10001250" y="59055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56" name="Ellipse 56"/>
            <p:cNvSpPr/>
            <p:nvPr/>
          </p:nvSpPr>
          <p:spPr>
            <a:xfrm>
              <a:off x="10058400" y="6200775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  <p:sp>
          <p:nvSpPr>
            <p:cNvPr id="57" name="TextBox 57"/>
            <p:cNvSpPr txBox="1"/>
            <p:nvPr/>
          </p:nvSpPr>
          <p:spPr>
            <a:xfrm>
              <a:off x="10175189" y="6350318"/>
              <a:ext cx="223622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04</a:t>
              </a:r>
              <a:endParaRPr lang="en-US" sz="13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73220" y="6206490"/>
              <a:ext cx="1799311" cy="352044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国家重点实验室</a:t>
              </a:r>
              <a:endParaRPr lang="zh-CN" sz="1800" b="1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48200" y="6540818"/>
              <a:ext cx="1649349" cy="264033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多个国家级科研平台</a:t>
              </a:r>
              <a:endParaRPr lang="zh-CN" sz="1350" dirty="0">
                <a:solidFill>
                  <a:srgbClr val="52637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0001250" y="59055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114300"/>
                  </a:moveTo>
                  <a:lnTo>
                    <a:pt x="95250" y="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2563EB">
                <a:alpha val="20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2563EB">
                  <a:alpha val="6000"/>
                </a:srgbClr>
              </a:outerShdw>
            </a:effectLst>
          </p:spPr>
        </p:sp>
      </p:grpSp>
      <p:grpSp>
        <p:nvGrpSpPr>
          <p:cNvPr id="64" name="Group 64"/>
          <p:cNvGrpSpPr/>
          <p:nvPr/>
        </p:nvGrpSpPr>
        <p:grpSpPr>
          <a:xfrm>
            <a:off x="754380" y="8029575"/>
            <a:ext cx="13731240" cy="293370"/>
            <a:chOff x="754380" y="8029575"/>
            <a:chExt cx="13731240" cy="293370"/>
          </a:xfrm>
        </p:grpSpPr>
        <p:sp>
          <p:nvSpPr>
            <p:cNvPr id="62" name="TextBox 62"/>
            <p:cNvSpPr txBox="1"/>
            <p:nvPr/>
          </p:nvSpPr>
          <p:spPr>
            <a:xfrm>
              <a:off x="754380" y="8029575"/>
              <a:ext cx="292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北理工为什么是最好的985大学</a:t>
              </a:r>
              <a:endParaRPr lang="zh-CN" sz="15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3872972" y="8029575"/>
              <a:ext cx="612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 / 10</a:t>
              </a:r>
              <a:endParaRPr lang="en-US" sz="150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905000" y="-1428750"/>
            <a:ext cx="11430000" cy="11430000"/>
          </a:xfrm>
          <a:prstGeom prst="ellipse">
            <a:avLst/>
          </a:prstGeom>
          <a:gradFill>
            <a:gsLst>
              <a:gs pos="0">
                <a:srgbClr val="38BDF8">
                  <a:alpha val="15000"/>
                </a:srgbClr>
              </a:gs>
              <a:gs pos="100000">
                <a:srgbClr val="F8F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2834800" y="405765"/>
            <a:ext cx="957040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国防特色 vs 综合985：北理工的不可替代性</a:t>
            </a:r>
            <a:endParaRPr lang="zh-CN" sz="33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50536" y="1091565"/>
            <a:ext cx="51389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聚焦国防、服务国家，这是北理工的独特赛道</a:t>
            </a:r>
            <a:endParaRPr lang="zh-CN" sz="1800" dirty="0">
              <a:solidFill>
                <a:srgbClr val="5263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667500" y="1619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562850" y="156210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762000" y="2095500"/>
            <a:ext cx="6381750" cy="5715000"/>
            <a:chOff x="762000" y="2095500"/>
            <a:chExt cx="6381750" cy="5715000"/>
          </a:xfrm>
          <a:effectLst>
            <a:outerShdw blurRad="228600" dist="76200" dir="5400000" algn="ctr" rotWithShape="0">
              <a:srgbClr val="1F2937">
                <a:alpha val="4500"/>
              </a:srgbClr>
            </a:outerShdw>
          </a:effectLst>
        </p:grpSpPr>
        <p:sp>
          <p:nvSpPr>
            <p:cNvPr id="8" name="Rectangle 8"/>
            <p:cNvSpPr/>
            <p:nvPr/>
          </p:nvSpPr>
          <p:spPr>
            <a:xfrm>
              <a:off x="762000" y="2095500"/>
              <a:ext cx="6381750" cy="57150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762000" y="2095500"/>
              <a:ext cx="6381750" cy="666750"/>
            </a:xfrm>
            <a:custGeom>
              <a:avLst/>
              <a:gdLst/>
              <a:ahLst/>
              <a:cxnLst/>
              <a:rect l="l" t="t" r="r" b="b"/>
              <a:pathLst>
                <a:path w="6381750" h="666750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6229350" y="0"/>
                  </a:lnTo>
                  <a:cubicBezTo>
                    <a:pt x="6330950" y="0"/>
                    <a:pt x="6381750" y="50800"/>
                    <a:pt x="6381750" y="152400"/>
                  </a:cubicBezTo>
                  <a:lnTo>
                    <a:pt x="638175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8FBFF"/>
            </a:solidFill>
            <a:ln>
              <a:noFill/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2569632" y="2265045"/>
              <a:ext cx="2766487" cy="469392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传统综合985大学</a:t>
              </a:r>
              <a:endParaRPr lang="zh-CN" sz="2400" b="1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143000" y="3079432"/>
              <a:ext cx="3909822" cy="2037207"/>
              <a:chOff x="1143000" y="3079432"/>
              <a:chExt cx="3909822" cy="2037207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143000" y="3190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 cap="rnd">
                <a:solidFill>
                  <a:srgbClr val="BDD7FF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15618" y="3079432"/>
                <a:ext cx="3302508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8600" dist="76200" dir="5400000" algn="ctr" rotWithShape="0">
                  <a:srgbClr val="1F29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学科门类齐全，但发展方向泛化</a:t>
                </a:r>
                <a:endParaRPr lang="zh-CN" sz="16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1143000" y="3619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 cap="rnd">
                <a:solidFill>
                  <a:srgbClr val="BDD7FF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515618" y="3508058"/>
                <a:ext cx="353720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8600" dist="76200" dir="5400000" algn="ctr" rotWithShape="0">
                  <a:srgbClr val="1F29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科研项目分散，国防领域占比较低</a:t>
                </a:r>
                <a:endParaRPr lang="zh-CN" sz="16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143000" y="404812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 cap="rnd">
                <a:solidFill>
                  <a:srgbClr val="BDD7FF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15618" y="3936682"/>
                <a:ext cx="3302508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8600" dist="76200" dir="5400000" algn="ctr" rotWithShape="0">
                  <a:srgbClr val="1F29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人才培养以通用型、学术型为主</a:t>
                </a:r>
                <a:endParaRPr lang="zh-CN" sz="16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1143000" y="44767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 cap="rnd">
                <a:solidFill>
                  <a:srgbClr val="BDD7FF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515618" y="4365308"/>
                <a:ext cx="353720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8600" dist="76200" dir="5400000" algn="ctr" rotWithShape="0">
                  <a:srgbClr val="1F29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对国家核心安全领域支撑相对有限</a:t>
                </a:r>
                <a:endParaRPr lang="zh-CN" sz="16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143000" y="49053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 cap="rnd">
                <a:solidFill>
                  <a:srgbClr val="BDD7FF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515618" y="4793932"/>
                <a:ext cx="3302508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8600" dist="76200" dir="5400000" algn="ctr" rotWithShape="0">
                  <a:srgbClr val="1F29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高精尖武器系统研发参与度较弱</a:t>
                </a:r>
                <a:endParaRPr lang="zh-CN" sz="16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762000" y="7239000"/>
              <a:ext cx="6381750" cy="571500"/>
            </a:xfrm>
            <a:prstGeom prst="roundRect">
              <a:avLst>
                <a:gd name="adj" fmla="val 13333"/>
              </a:avLst>
            </a:prstGeom>
            <a:solidFill>
              <a:srgbClr val="F8FBFF"/>
            </a:solidFill>
            <a:ln>
              <a:noFill/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2418969" y="7422832"/>
              <a:ext cx="3067812" cy="322707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对国家核心领域支撑能力有限</a:t>
              </a:r>
              <a:endParaRPr lang="zh-CN" sz="16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2095500"/>
            <a:ext cx="6381750" cy="5715000"/>
            <a:chOff x="8096250" y="2095500"/>
            <a:chExt cx="6381750" cy="5715000"/>
          </a:xfrm>
          <a:effectLst>
            <a:outerShdw blurRad="304800" dist="76200" dir="5400000" algn="ctr" rotWithShape="0">
              <a:srgbClr val="2563EB">
                <a:alpha val="11250"/>
              </a:srgbClr>
            </a:outerShdw>
          </a:effectLst>
        </p:grpSpPr>
        <p:sp>
          <p:nvSpPr>
            <p:cNvPr id="25" name="Rectangle 25"/>
            <p:cNvSpPr/>
            <p:nvPr/>
          </p:nvSpPr>
          <p:spPr>
            <a:xfrm>
              <a:off x="8096250" y="2095500"/>
              <a:ext cx="6381750" cy="5715000"/>
            </a:xfrm>
            <a:prstGeom prst="roundRect">
              <a:avLst>
                <a:gd name="adj" fmla="val 2667"/>
              </a:avLst>
            </a:prstGeom>
            <a:solidFill>
              <a:srgbClr val="38BDF8">
                <a:alpha val="15000"/>
              </a:srgbClr>
            </a:solidFill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</p:sp>
        <p:sp>
          <p:nvSpPr>
            <p:cNvPr id="26" name="Freeform 26"/>
            <p:cNvSpPr/>
            <p:nvPr/>
          </p:nvSpPr>
          <p:spPr>
            <a:xfrm>
              <a:off x="8096250" y="2095500"/>
              <a:ext cx="6381750" cy="666750"/>
            </a:xfrm>
            <a:custGeom>
              <a:avLst/>
              <a:gdLst/>
              <a:ahLst/>
              <a:cxnLst/>
              <a:rect l="l" t="t" r="r" b="b"/>
              <a:pathLst>
                <a:path w="6381750" h="666750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6229350" y="0"/>
                  </a:lnTo>
                  <a:cubicBezTo>
                    <a:pt x="6330950" y="0"/>
                    <a:pt x="6381750" y="50800"/>
                    <a:pt x="6381750" y="152400"/>
                  </a:cubicBezTo>
                  <a:lnTo>
                    <a:pt x="638175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9303487" y="2265045"/>
              <a:ext cx="3967277" cy="469392"/>
            </a:xfrm>
            <a:prstGeom prst="rect">
              <a:avLst/>
            </a:prstGeom>
            <a:noFill/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北理工（国防特色强校）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3668375" y="2209800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7C3AED"/>
            </a:solidFill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13708289" y="2320290"/>
              <a:ext cx="377373" cy="352044"/>
            </a:xfrm>
            <a:prstGeom prst="rect">
              <a:avLst/>
            </a:prstGeom>
            <a:noFill/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001125" y="3048000"/>
              <a:ext cx="4446788" cy="2068639"/>
              <a:chOff x="9001125" y="3048000"/>
              <a:chExt cx="4446788" cy="206863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001125" y="304800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38125" y="0"/>
                    </a:lnTo>
                  </a:path>
                </a:pathLst>
              </a:custGeom>
              <a:noFill/>
              <a:ln w="38100" cap="rnd">
                <a:solidFill>
                  <a:srgbClr val="2563EB"/>
                </a:solidFill>
                <a:round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421368" y="3079432"/>
                <a:ext cx="4026545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聚焦国防：兵器科学与技术 A+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9001125" y="3476625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38125" y="0"/>
                    </a:lnTo>
                  </a:path>
                </a:pathLst>
              </a:custGeom>
              <a:noFill/>
              <a:ln w="38100" cap="rnd">
                <a:solidFill>
                  <a:srgbClr val="2563EB"/>
                </a:solidFill>
                <a:round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421368" y="3508058"/>
                <a:ext cx="3713226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国防重大项目数量多、经费特别高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001125" y="39052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38125" y="0"/>
                    </a:lnTo>
                  </a:path>
                </a:pathLst>
              </a:custGeom>
              <a:noFill/>
              <a:ln w="38100" cap="rnd">
                <a:solidFill>
                  <a:srgbClr val="2563EB"/>
                </a:solidFill>
                <a:round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421368" y="3936682"/>
                <a:ext cx="3959657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科研成果直指武器装备，转化率极高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9001125" y="4333875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38125" y="0"/>
                    </a:lnTo>
                  </a:path>
                </a:pathLst>
              </a:custGeom>
              <a:noFill/>
              <a:ln w="38100" cap="rnd">
                <a:solidFill>
                  <a:srgbClr val="2563EB"/>
                </a:solidFill>
                <a:round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421368" y="4365308"/>
                <a:ext cx="3713226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国家不可或缺的关键核心支撑力量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9001125" y="476250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38125" y="0"/>
                    </a:lnTo>
                  </a:path>
                </a:pathLst>
              </a:custGeom>
              <a:noFill/>
              <a:ln w="38100" cap="rnd">
                <a:solidFill>
                  <a:srgbClr val="2563EB"/>
                </a:solidFill>
                <a:round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421368" y="4793932"/>
                <a:ext cx="399662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304800" dist="76200" dir="5400000" algn="ctr" rotWithShape="0">
                  <a:srgbClr val="2563EB">
                    <a:alpha val="1125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红色基因 + 国防情怀，使命驱动创新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8096250" y="7239000"/>
              <a:ext cx="6381750" cy="571500"/>
            </a:xfrm>
            <a:prstGeom prst="roundRect">
              <a:avLst>
                <a:gd name="adj" fmla="val 13333"/>
              </a:avLst>
            </a:prstGeom>
            <a:solidFill>
              <a:srgbClr val="BDD7FF"/>
            </a:solidFill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9676943" y="7422832"/>
              <a:ext cx="3220364" cy="322707"/>
            </a:xfrm>
            <a:prstGeom prst="rect">
              <a:avLst/>
            </a:prstGeom>
            <a:noFill/>
            <a:ln>
              <a:noFill/>
            </a:ln>
            <a:effectLst>
              <a:outerShdw blurRad="304800" dist="76200" dir="5400000" algn="ctr" rotWithShape="0">
                <a:srgbClr val="2563EB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不可替代的国家科技战略力量</a:t>
              </a:r>
              <a:endParaRPr lang="zh-CN" sz="16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Rectangle 44"/>
          <p:cNvSpPr/>
          <p:nvPr/>
        </p:nvSpPr>
        <p:spPr>
          <a:xfrm>
            <a:off x="8096250" y="1905000"/>
            <a:ext cx="1714500" cy="190500"/>
          </a:xfrm>
          <a:prstGeom prst="roundRect">
            <a:avLst>
              <a:gd name="adj" fmla="val 50000"/>
            </a:avLst>
          </a:pr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532045" y="1941195"/>
            <a:ext cx="84290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 心 竞 争 力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7120814" y="3901440"/>
            <a:ext cx="1093622" cy="1575435"/>
            <a:chOff x="7120814" y="3901440"/>
            <a:chExt cx="1093622" cy="1575435"/>
          </a:xfrm>
        </p:grpSpPr>
        <p:sp>
          <p:nvSpPr>
            <p:cNvPr id="46" name="TextBox 46"/>
            <p:cNvSpPr txBox="1"/>
            <p:nvPr/>
          </p:nvSpPr>
          <p:spPr>
            <a:xfrm>
              <a:off x="7120814" y="39014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核心优势</a:t>
              </a:r>
              <a:endParaRPr lang="zh-CN" sz="1800" b="1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43750" y="4429125"/>
              <a:ext cx="1047750" cy="1047750"/>
            </a:xfrm>
            <a:prstGeom prst="ellipse">
              <a:avLst/>
            </a:prstGeom>
            <a:noFill/>
            <a:ln w="28575">
              <a:solidFill>
                <a:srgbClr val="7C3AED"/>
              </a:solidFill>
              <a:custDash>
                <a:ds d="266666" sp="266666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7334250" y="4524375"/>
              <a:ext cx="666750" cy="857250"/>
            </a:xfrm>
            <a:custGeom>
              <a:avLst/>
              <a:gdLst/>
              <a:ahLst/>
              <a:cxnLst/>
              <a:rect l="l" t="t" r="r" b="b"/>
              <a:pathLst>
                <a:path w="666750" h="857250">
                  <a:moveTo>
                    <a:pt x="0" y="238125"/>
                  </a:moveTo>
                  <a:lnTo>
                    <a:pt x="476250" y="238125"/>
                  </a:lnTo>
                  <a:lnTo>
                    <a:pt x="476250" y="0"/>
                  </a:lnTo>
                  <a:lnTo>
                    <a:pt x="666750" y="428625"/>
                  </a:lnTo>
                  <a:lnTo>
                    <a:pt x="476250" y="857250"/>
                  </a:lnTo>
                  <a:lnTo>
                    <a:pt x="476250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429500" y="4762500"/>
              <a:ext cx="428625" cy="381000"/>
            </a:xfrm>
            <a:custGeom>
              <a:avLst/>
              <a:gdLst/>
              <a:ahLst/>
              <a:cxnLst/>
              <a:rect l="l" t="t" r="r" b="b"/>
              <a:pathLst>
                <a:path w="428625" h="381000">
                  <a:moveTo>
                    <a:pt x="0" y="95250"/>
                  </a:moveTo>
                  <a:lnTo>
                    <a:pt x="285750" y="95250"/>
                  </a:lnTo>
                  <a:lnTo>
                    <a:pt x="285750" y="0"/>
                  </a:lnTo>
                  <a:lnTo>
                    <a:pt x="428625" y="190500"/>
                  </a:lnTo>
                  <a:lnTo>
                    <a:pt x="285750" y="381000"/>
                  </a:lnTo>
                  <a:lnTo>
                    <a:pt x="28575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</p:sp>
      </p:grpSp>
      <p:sp>
        <p:nvSpPr>
          <p:cNvPr id="51" name="Rectangle 51"/>
          <p:cNvSpPr/>
          <p:nvPr/>
        </p:nvSpPr>
        <p:spPr>
          <a:xfrm>
            <a:off x="762000" y="8001000"/>
            <a:ext cx="13716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8FBFF"/>
              </a:gs>
              <a:gs pos="50000">
                <a:srgbClr val="2563EB"/>
              </a:gs>
              <a:gs pos="100000">
                <a:srgbClr val="F8FBFF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857250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5240000" cy="8572500"/>
            </a:xfrm>
            <a:prstGeom prst="rect">
              <a:avLst/>
            </a:prstGeom>
            <a:pattFill prst="ltUpDiag">
              <a:fgClr>
                <a:srgbClr val="2563EB"/>
              </a:fgClr>
              <a:bgClr>
                <a:srgbClr val="FFFFFF"/>
              </a:bgClr>
            </a:patt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-1428750" y="-952500"/>
            <a:ext cx="19335750" cy="11715750"/>
            <a:chOff x="-1428750" y="-952500"/>
            <a:chExt cx="19335750" cy="11715750"/>
          </a:xfrm>
        </p:grpSpPr>
        <p:sp>
          <p:nvSpPr>
            <p:cNvPr id="5" name="Ellipse 5"/>
            <p:cNvSpPr/>
            <p:nvPr/>
          </p:nvSpPr>
          <p:spPr>
            <a:xfrm>
              <a:off x="-1428750" y="-952500"/>
              <a:ext cx="6667500" cy="6667500"/>
            </a:xfrm>
            <a:prstGeom prst="ellipse">
              <a:avLst/>
            </a:prstGeom>
            <a:noFill/>
            <a:ln w="28575">
              <a:solidFill>
                <a:srgbClr val="2563EB">
                  <a:alpha val="4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048750" y="1905000"/>
              <a:ext cx="8572500" cy="8572500"/>
            </a:xfrm>
            <a:prstGeom prst="ellipse">
              <a:avLst/>
            </a:prstGeom>
            <a:noFill/>
            <a:ln w="28575">
              <a:solidFill>
                <a:srgbClr val="38BDF8">
                  <a:alpha val="4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763000" y="1619250"/>
              <a:ext cx="9144000" cy="9144000"/>
            </a:xfrm>
            <a:prstGeom prst="ellipse">
              <a:avLst/>
            </a:prstGeom>
            <a:noFill/>
            <a:ln w="9525">
              <a:solidFill>
                <a:srgbClr val="7C3AED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62000" y="952500"/>
              <a:ext cx="9525" cy="6667500"/>
            </a:xfrm>
            <a:custGeom>
              <a:avLst/>
              <a:gdLst/>
              <a:ahLst/>
              <a:cxnLst/>
              <a:rect l="l" t="t" r="r" b="b"/>
              <a:pathLst>
                <a:path w="9525" h="6667500">
                  <a:moveTo>
                    <a:pt x="0" y="0"/>
                  </a:moveTo>
                  <a:lnTo>
                    <a:pt x="0" y="6667500"/>
                  </a:lnTo>
                </a:path>
              </a:pathLst>
            </a:custGeom>
            <a:noFill/>
            <a:ln w="19050">
              <a:solidFill>
                <a:srgbClr val="BDD7FF">
                  <a:alpha val="60000"/>
                </a:srgbClr>
              </a:solidFill>
              <a:custDash>
                <a:ds d="500000" sp="5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14478000" y="952500"/>
              <a:ext cx="9525" cy="6667500"/>
            </a:xfrm>
            <a:custGeom>
              <a:avLst/>
              <a:gdLst/>
              <a:ahLst/>
              <a:cxnLst/>
              <a:rect l="l" t="t" r="r" b="b"/>
              <a:pathLst>
                <a:path w="9525" h="6667500">
                  <a:moveTo>
                    <a:pt x="0" y="0"/>
                  </a:moveTo>
                  <a:lnTo>
                    <a:pt x="0" y="6667500"/>
                  </a:lnTo>
                </a:path>
              </a:pathLst>
            </a:custGeom>
            <a:noFill/>
            <a:ln w="19050">
              <a:solidFill>
                <a:srgbClr val="BDD7FF">
                  <a:alpha val="60000"/>
                </a:srgbClr>
              </a:solidFill>
              <a:custDash>
                <a:ds d="500000" sp="5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914400" y="1676400"/>
              <a:ext cx="76200" cy="76200"/>
            </a:xfrm>
            <a:prstGeom prst="ellipse">
              <a:avLst/>
            </a:prstGeom>
            <a:solidFill>
              <a:srgbClr val="2563EB">
                <a:alpha val="6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4230350" y="1847850"/>
              <a:ext cx="114300" cy="114300"/>
            </a:xfrm>
            <a:prstGeom prst="ellipse">
              <a:avLst/>
            </a:prstGeom>
            <a:solidFill>
              <a:srgbClr val="38BDF8">
                <a:alpha val="5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91425" y="1114425"/>
              <a:ext cx="57150" cy="57150"/>
            </a:xfrm>
            <a:prstGeom prst="ellipse">
              <a:avLst/>
            </a:prstGeom>
            <a:solidFill>
              <a:srgbClr val="7C3AED">
                <a:alpha val="4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809875" y="7096125"/>
              <a:ext cx="95250" cy="95250"/>
            </a:xfrm>
            <a:prstGeom prst="ellipse">
              <a:avLst/>
            </a:prstGeom>
            <a:solidFill>
              <a:srgbClr val="2563EB">
                <a:alpha val="3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44400" y="6629400"/>
              <a:ext cx="76200" cy="76200"/>
            </a:xfrm>
            <a:prstGeom prst="ellipse">
              <a:avLst/>
            </a:prstGeom>
            <a:solidFill>
              <a:srgbClr val="38BDF8">
                <a:alpha val="6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62000" y="643890"/>
            <a:ext cx="13534644" cy="1032510"/>
            <a:chOff x="762000" y="643890"/>
            <a:chExt cx="13534644" cy="1032510"/>
          </a:xfrm>
        </p:grpSpPr>
        <p:sp>
          <p:nvSpPr>
            <p:cNvPr id="16" name="Line 16"/>
            <p:cNvSpPr/>
            <p:nvPr/>
          </p:nvSpPr>
          <p:spPr>
            <a:xfrm>
              <a:off x="762000" y="666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0986" y="643890"/>
              <a:ext cx="7919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硬核工科：王牌学科群铸就国防脊梁</a:t>
              </a:r>
              <a:endParaRPr lang="zh-CN" sz="33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8606" y="1282065"/>
              <a:ext cx="55357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兵器科学与技术、车辆工程、光电信息…群星闪耀</a:t>
              </a:r>
              <a:endParaRPr lang="zh-CN" sz="18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1047750" y="1666875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377763" y="805815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 / 10</a:t>
              </a:r>
              <a:endParaRPr lang="en-US" sz="1800" b="1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13525500" y="10001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381750" y="2476500"/>
            <a:ext cx="2476500" cy="4953000"/>
            <a:chOff x="6381750" y="2476500"/>
            <a:chExt cx="2476500" cy="4953000"/>
          </a:xfrm>
        </p:grpSpPr>
        <p:sp>
          <p:nvSpPr>
            <p:cNvPr id="23" name="Line 23"/>
            <p:cNvSpPr/>
            <p:nvPr/>
          </p:nvSpPr>
          <p:spPr>
            <a:xfrm>
              <a:off x="7620000" y="2476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2476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DD7FF"/>
              </a:solidFill>
              <a:custDash>
                <a:ds d="200000" sp="200000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7620000" y="2809875"/>
              <a:ext cx="1238250" cy="2143125"/>
            </a:xfrm>
            <a:custGeom>
              <a:avLst/>
              <a:gdLst/>
              <a:ahLst/>
              <a:cxnLst/>
              <a:rect l="l" t="t" r="r" b="b"/>
              <a:pathLst>
                <a:path w="1238250" h="2143125">
                  <a:moveTo>
                    <a:pt x="0" y="2143125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BDD7FF"/>
              </a:solidFill>
              <a:custDash>
                <a:ds d="200000" sp="200000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4953000"/>
              <a:ext cx="1238250" cy="2143125"/>
            </a:xfrm>
            <a:custGeom>
              <a:avLst/>
              <a:gdLst/>
              <a:ahLst/>
              <a:cxnLst/>
              <a:rect l="l" t="t" r="r" b="b"/>
              <a:pathLst>
                <a:path w="1238250" h="2143125">
                  <a:moveTo>
                    <a:pt x="0" y="0"/>
                  </a:moveTo>
                  <a:lnTo>
                    <a:pt x="1238250" y="2143125"/>
                  </a:lnTo>
                </a:path>
              </a:pathLst>
            </a:custGeom>
            <a:noFill/>
            <a:ln w="28575">
              <a:solidFill>
                <a:srgbClr val="BDD7FF"/>
              </a:solidFill>
              <a:custDash>
                <a:ds d="200000" sp="200000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7620000" y="49530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28575">
              <a:solidFill>
                <a:srgbClr val="BDD7FF"/>
              </a:solidFill>
              <a:custDash>
                <a:ds d="200000" sp="200000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6381750" y="4953000"/>
              <a:ext cx="1238250" cy="2143125"/>
            </a:xfrm>
            <a:custGeom>
              <a:avLst/>
              <a:gdLst/>
              <a:ahLst/>
              <a:cxnLst/>
              <a:rect l="l" t="t" r="r" b="b"/>
              <a:pathLst>
                <a:path w="1238250" h="2143125">
                  <a:moveTo>
                    <a:pt x="1238250" y="0"/>
                  </a:moveTo>
                  <a:lnTo>
                    <a:pt x="0" y="2143125"/>
                  </a:lnTo>
                </a:path>
              </a:pathLst>
            </a:custGeom>
            <a:noFill/>
            <a:ln w="28575">
              <a:solidFill>
                <a:srgbClr val="BDD7FF"/>
              </a:solidFill>
              <a:custDash>
                <a:ds d="200000" sp="200000"/>
              </a:custDash>
            </a:ln>
          </p:spPr>
        </p:sp>
        <p:sp>
          <p:nvSpPr>
            <p:cNvPr id="28" name="Line 28"/>
            <p:cNvSpPr/>
            <p:nvPr/>
          </p:nvSpPr>
          <p:spPr>
            <a:xfrm>
              <a:off x="6381750" y="2809875"/>
              <a:ext cx="1238250" cy="2143125"/>
            </a:xfrm>
            <a:custGeom>
              <a:avLst/>
              <a:gdLst/>
              <a:ahLst/>
              <a:cxnLst/>
              <a:rect l="l" t="t" r="r" b="b"/>
              <a:pathLst>
                <a:path w="1238250" h="2143125">
                  <a:moveTo>
                    <a:pt x="1238250" y="21431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DD7FF"/>
              </a:solidFill>
              <a:custDash>
                <a:ds d="200000" sp="200000"/>
              </a:custDash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96000" y="3429000"/>
            <a:ext cx="3048000" cy="3048000"/>
            <a:chOff x="6096000" y="3429000"/>
            <a:chExt cx="3048000" cy="3048000"/>
          </a:xfrm>
        </p:grpSpPr>
        <p:sp>
          <p:nvSpPr>
            <p:cNvPr id="30" name="Ellipse 30"/>
            <p:cNvSpPr/>
            <p:nvPr/>
          </p:nvSpPr>
          <p:spPr>
            <a:xfrm>
              <a:off x="6096000" y="3429000"/>
              <a:ext cx="3048000" cy="3048000"/>
            </a:xfrm>
            <a:prstGeom prst="ellipse">
              <a:avLst/>
            </a:prstGeom>
            <a:noFill/>
            <a:ln w="28575">
              <a:solidFill>
                <a:srgbClr val="2563EB">
                  <a:alpha val="15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286500" y="3619500"/>
              <a:ext cx="2667000" cy="266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6511595" y="444055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兵器科学与技术</a:t>
              </a:r>
              <a:endPara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2475" y="4733925"/>
              <a:ext cx="12350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2563EB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6000" b="1" dirty="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67500" y="5619750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76397" y="5702618"/>
              <a:ext cx="1687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全国第一 王牌学科</a:t>
              </a:r>
              <a:endParaRPr lang="zh-CN" sz="1350" b="1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953250" y="1809750"/>
            <a:ext cx="1333500" cy="1333500"/>
            <a:chOff x="6953250" y="1809750"/>
            <a:chExt cx="1333500" cy="1333500"/>
          </a:xfrm>
        </p:grpSpPr>
        <p:sp>
          <p:nvSpPr>
            <p:cNvPr id="37" name="Ellipse 37"/>
            <p:cNvSpPr/>
            <p:nvPr/>
          </p:nvSpPr>
          <p:spPr>
            <a:xfrm>
              <a:off x="6953250" y="1809750"/>
              <a:ext cx="1333500" cy="1333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7164324" y="22669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车辆工程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86625" y="257175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4209" y="2632710"/>
              <a:ext cx="251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91500" y="2143125"/>
            <a:ext cx="1333500" cy="1333500"/>
            <a:chOff x="8191500" y="2143125"/>
            <a:chExt cx="1333500" cy="1333500"/>
          </a:xfrm>
        </p:grpSpPr>
        <p:sp>
          <p:nvSpPr>
            <p:cNvPr id="42" name="Ellipse 42"/>
            <p:cNvSpPr/>
            <p:nvPr/>
          </p:nvSpPr>
          <p:spPr>
            <a:xfrm>
              <a:off x="8191500" y="2143125"/>
              <a:ext cx="1333500" cy="1333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8402574" y="260032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光电信息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24875" y="2905125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32459" y="2966085"/>
              <a:ext cx="251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91500" y="6429375"/>
            <a:ext cx="1333500" cy="1333500"/>
            <a:chOff x="8191500" y="6429375"/>
            <a:chExt cx="1333500" cy="1333500"/>
          </a:xfrm>
        </p:grpSpPr>
        <p:sp>
          <p:nvSpPr>
            <p:cNvPr id="47" name="Ellipse 47"/>
            <p:cNvSpPr/>
            <p:nvPr/>
          </p:nvSpPr>
          <p:spPr>
            <a:xfrm>
              <a:off x="8191500" y="6429375"/>
              <a:ext cx="1333500" cy="1333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8290560" y="68865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计算机科学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524875" y="7191375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92307" y="7252335"/>
              <a:ext cx="131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200" b="1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953250" y="6762750"/>
            <a:ext cx="1333500" cy="1333500"/>
            <a:chOff x="6953250" y="6762750"/>
            <a:chExt cx="1333500" cy="1333500"/>
          </a:xfrm>
        </p:grpSpPr>
        <p:sp>
          <p:nvSpPr>
            <p:cNvPr id="52" name="Ellipse 52"/>
            <p:cNvSpPr/>
            <p:nvPr/>
          </p:nvSpPr>
          <p:spPr>
            <a:xfrm>
              <a:off x="6953250" y="6762750"/>
              <a:ext cx="1333500" cy="1333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7164324" y="7219950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材料科学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86625" y="752475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54057" y="7585710"/>
              <a:ext cx="131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200" b="1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0" y="6429375"/>
            <a:ext cx="1333500" cy="1333500"/>
            <a:chOff x="5715000" y="6429375"/>
            <a:chExt cx="1333500" cy="1333500"/>
          </a:xfrm>
        </p:grpSpPr>
        <p:sp>
          <p:nvSpPr>
            <p:cNvPr id="57" name="Ellipse 57"/>
            <p:cNvSpPr/>
            <p:nvPr/>
          </p:nvSpPr>
          <p:spPr>
            <a:xfrm>
              <a:off x="5715000" y="6429375"/>
              <a:ext cx="1333500" cy="1333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5926074" y="688657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控制科学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48375" y="7191375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55959" y="7252335"/>
              <a:ext cx="251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0" y="2143125"/>
            <a:ext cx="1333500" cy="1333500"/>
            <a:chOff x="5715000" y="2143125"/>
            <a:chExt cx="1333500" cy="1333500"/>
          </a:xfrm>
        </p:grpSpPr>
        <p:sp>
          <p:nvSpPr>
            <p:cNvPr id="62" name="Ellipse 62"/>
            <p:cNvSpPr/>
            <p:nvPr/>
          </p:nvSpPr>
          <p:spPr>
            <a:xfrm>
              <a:off x="5715000" y="2143125"/>
              <a:ext cx="1333500" cy="1333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190500" dist="57150" dir="5400000" algn="ctr" rotWithShape="0">
                <a:srgbClr val="2563EB">
                  <a:alpha val="9000"/>
                </a:srgbClr>
              </a:outerShdw>
            </a:effectLst>
          </p:spPr>
        </p:sp>
        <p:sp>
          <p:nvSpPr>
            <p:cNvPr id="63" name="TextBox 63"/>
            <p:cNvSpPr txBox="1"/>
            <p:nvPr/>
          </p:nvSpPr>
          <p:spPr>
            <a:xfrm>
              <a:off x="6150102" y="2600325"/>
              <a:ext cx="46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力学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48375" y="2905125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15807" y="2966085"/>
              <a:ext cx="131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200" b="1" dirty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0" y="3810000"/>
            <a:ext cx="7620000" cy="7620000"/>
          </a:xfrm>
          <a:prstGeom prst="ellipse">
            <a:avLst/>
          </a:prstGeom>
          <a:solidFill>
            <a:srgbClr val="2563EB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430000" y="-1905000"/>
            <a:ext cx="5715000" cy="5715000"/>
          </a:xfrm>
          <a:prstGeom prst="ellipse">
            <a:avLst/>
          </a:prstGeom>
          <a:solidFill>
            <a:srgbClr val="7C3AED">
              <a:alpha val="3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8572500"/>
                </a:lnTo>
              </a:path>
            </a:pathLst>
          </a:custGeom>
          <a:solidFill>
            <a:srgbClr val="000000"/>
          </a:solidFill>
          <a:ln w="9525">
            <a:solidFill>
              <a:srgbClr val="2563EB">
                <a:alpha val="4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15240000" y="0"/>
                </a:moveTo>
                <a:lnTo>
                  <a:pt x="0" y="8572500"/>
                </a:lnTo>
              </a:path>
            </a:pathLst>
          </a:custGeom>
          <a:solidFill>
            <a:srgbClr val="000000"/>
          </a:solidFill>
          <a:ln w="9525">
            <a:solidFill>
              <a:srgbClr val="2563EB">
                <a:alpha val="4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153205" y="358140"/>
            <a:ext cx="693359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顶尖人才与科研产出：数据说话</a:t>
            </a:r>
            <a:endParaRPr lang="zh-CN" sz="33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63058" y="996315"/>
            <a:ext cx="53138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1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院士、科研经费、论文、专利——全方位领先</a:t>
            </a:r>
            <a:endParaRPr lang="zh-CN" sz="1800" spc="150" dirty="0">
              <a:solidFill>
                <a:srgbClr val="5263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7048500" y="1428750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1428750" y="2000250"/>
            <a:ext cx="5334000" cy="2571750"/>
            <a:chOff x="1428750" y="2000250"/>
            <a:chExt cx="5334000" cy="2571750"/>
          </a:xfrm>
        </p:grpSpPr>
        <p:sp>
          <p:nvSpPr>
            <p:cNvPr id="11" name="Rectangle 11"/>
            <p:cNvSpPr/>
            <p:nvPr/>
          </p:nvSpPr>
          <p:spPr>
            <a:xfrm>
              <a:off x="1428750" y="2000250"/>
              <a:ext cx="5334000" cy="2571750"/>
            </a:xfrm>
            <a:prstGeom prst="roundRect">
              <a:avLst>
                <a:gd name="adj" fmla="val 592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9525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12" name="Freeform 12"/>
            <p:cNvSpPr/>
            <p:nvPr/>
          </p:nvSpPr>
          <p:spPr>
            <a:xfrm>
              <a:off x="1428750" y="2000250"/>
              <a:ext cx="5334000" cy="228600"/>
            </a:xfrm>
            <a:custGeom>
              <a:avLst/>
              <a:gdLst/>
              <a:ahLst/>
              <a:cxnLst/>
              <a:rect l="l" t="t" r="r" b="b"/>
              <a:pathLst>
                <a:path w="5334000" h="228600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5181600" y="0"/>
                  </a:lnTo>
                  <a:cubicBezTo>
                    <a:pt x="5283200" y="0"/>
                    <a:pt x="5334000" y="50800"/>
                    <a:pt x="5334000" y="152400"/>
                  </a:cubicBezTo>
                  <a:lnTo>
                    <a:pt x="533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924300" y="2447925"/>
              <a:ext cx="342900" cy="342900"/>
            </a:xfrm>
            <a:prstGeom prst="ellipse">
              <a:avLst/>
            </a:prstGeom>
            <a:noFill/>
            <a:ln w="28575">
              <a:solidFill>
                <a:srgbClr val="2563EB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10000" y="2905125"/>
              <a:ext cx="571500" cy="190500"/>
            </a:xfrm>
            <a:custGeom>
              <a:avLst/>
              <a:gdLst/>
              <a:ahLst/>
              <a:cxnLst/>
              <a:rect l="l" t="t" r="r" b="b"/>
              <a:pathLst>
                <a:path w="571500" h="190500">
                  <a:moveTo>
                    <a:pt x="0" y="190500"/>
                  </a:moveTo>
                  <a:cubicBezTo>
                    <a:pt x="190500" y="0"/>
                    <a:pt x="381000" y="0"/>
                    <a:pt x="571500" y="190500"/>
                  </a:cubicBezTo>
                </a:path>
              </a:pathLst>
            </a:custGeom>
            <a:noFill/>
            <a:ln w="28575" cap="rnd">
              <a:solidFill>
                <a:srgbClr val="2563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85266" y="3053715"/>
              <a:ext cx="122096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7C3A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39+</a:t>
              </a:r>
              <a:endParaRPr lang="en-US" sz="4800" b="1" dirty="0">
                <a:solidFill>
                  <a:srgbClr val="7C3A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31948" y="3886200"/>
              <a:ext cx="292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两院院士数量在工信部高校中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61410" y="41719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名列前茅</a:t>
              </a:r>
              <a:endParaRPr lang="zh-CN" sz="15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77250" y="2000250"/>
            <a:ext cx="5334000" cy="2571750"/>
            <a:chOff x="8477250" y="2000250"/>
            <a:chExt cx="5334000" cy="2571750"/>
          </a:xfrm>
        </p:grpSpPr>
        <p:sp>
          <p:nvSpPr>
            <p:cNvPr id="19" name="Rectangle 19"/>
            <p:cNvSpPr/>
            <p:nvPr/>
          </p:nvSpPr>
          <p:spPr>
            <a:xfrm>
              <a:off x="8477250" y="2000250"/>
              <a:ext cx="5334000" cy="2571750"/>
            </a:xfrm>
            <a:prstGeom prst="roundRect">
              <a:avLst>
                <a:gd name="adj" fmla="val 592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9525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8477250" y="2000250"/>
              <a:ext cx="5334000" cy="228600"/>
            </a:xfrm>
            <a:custGeom>
              <a:avLst/>
              <a:gdLst/>
              <a:ahLst/>
              <a:cxnLst/>
              <a:rect l="l" t="t" r="r" b="b"/>
              <a:pathLst>
                <a:path w="5334000" h="228600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5181600" y="0"/>
                  </a:lnTo>
                  <a:cubicBezTo>
                    <a:pt x="5283200" y="0"/>
                    <a:pt x="5334000" y="50800"/>
                    <a:pt x="5334000" y="152400"/>
                  </a:cubicBezTo>
                  <a:lnTo>
                    <a:pt x="533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906125" y="2428875"/>
              <a:ext cx="114300" cy="333375"/>
            </a:xfrm>
            <a:prstGeom prst="roundRect">
              <a:avLst>
                <a:gd name="adj" fmla="val 16667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096625" y="2238375"/>
              <a:ext cx="114300" cy="523875"/>
            </a:xfrm>
            <a:prstGeom prst="roundRect">
              <a:avLst>
                <a:gd name="adj" fmla="val 16667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287125" y="2524125"/>
              <a:ext cx="114300" cy="238125"/>
            </a:xfrm>
            <a:prstGeom prst="roundRect">
              <a:avLst>
                <a:gd name="adj" fmla="val 16667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477625" y="2333625"/>
              <a:ext cx="114300" cy="428625"/>
            </a:xfrm>
            <a:prstGeom prst="roundRect">
              <a:avLst>
                <a:gd name="adj" fmla="val 16667"/>
              </a:avLst>
            </a:prstGeom>
            <a:solidFill>
              <a:srgbClr val="2563EB">
                <a:alpha val="6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75321" y="3053715"/>
              <a:ext cx="193785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50亿+</a:t>
              </a:r>
              <a:endParaRPr lang="zh-CN" sz="4800" b="1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64546" y="3886200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年度科研经费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56470" y="417195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（人均经费位居全国前五）</a:t>
              </a:r>
              <a:endParaRPr lang="zh-CN" sz="15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28750" y="5238750"/>
            <a:ext cx="5334000" cy="2571750"/>
            <a:chOff x="1428750" y="5238750"/>
            <a:chExt cx="5334000" cy="2571750"/>
          </a:xfrm>
        </p:grpSpPr>
        <p:sp>
          <p:nvSpPr>
            <p:cNvPr id="29" name="Rectangle 29"/>
            <p:cNvSpPr/>
            <p:nvPr/>
          </p:nvSpPr>
          <p:spPr>
            <a:xfrm>
              <a:off x="1428750" y="5238750"/>
              <a:ext cx="5334000" cy="2571750"/>
            </a:xfrm>
            <a:prstGeom prst="roundRect">
              <a:avLst>
                <a:gd name="adj" fmla="val 592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9525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30" name="Freeform 30"/>
            <p:cNvSpPr/>
            <p:nvPr/>
          </p:nvSpPr>
          <p:spPr>
            <a:xfrm>
              <a:off x="1428750" y="5238750"/>
              <a:ext cx="5334000" cy="228600"/>
            </a:xfrm>
            <a:custGeom>
              <a:avLst/>
              <a:gdLst/>
              <a:ahLst/>
              <a:cxnLst/>
              <a:rect l="l" t="t" r="r" b="b"/>
              <a:pathLst>
                <a:path w="5334000" h="228600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5181600" y="0"/>
                  </a:lnTo>
                  <a:cubicBezTo>
                    <a:pt x="5283200" y="0"/>
                    <a:pt x="5334000" y="50800"/>
                    <a:pt x="5334000" y="152400"/>
                  </a:cubicBezTo>
                  <a:lnTo>
                    <a:pt x="533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886200" y="5648325"/>
              <a:ext cx="419100" cy="419100"/>
            </a:xfrm>
            <a:prstGeom prst="ellipse">
              <a:avLst/>
            </a:prstGeom>
            <a:noFill/>
            <a:ln w="28575">
              <a:solidFill>
                <a:srgbClr val="2563EB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000500" y="5648325"/>
              <a:ext cx="190500" cy="419100"/>
            </a:xfrm>
            <a:prstGeom prst="ellipse">
              <a:avLst/>
            </a:prstGeom>
            <a:noFill/>
            <a:ln w="19050">
              <a:solidFill>
                <a:srgbClr val="2563E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886200" y="58578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924300" y="5715000"/>
              <a:ext cx="342900" cy="95250"/>
            </a:xfrm>
            <a:custGeom>
              <a:avLst/>
              <a:gdLst/>
              <a:ahLst/>
              <a:cxnLst/>
              <a:rect l="l" t="t" r="r" b="b"/>
              <a:pathLst>
                <a:path w="342900" h="95250">
                  <a:moveTo>
                    <a:pt x="0" y="0"/>
                  </a:moveTo>
                  <a:cubicBezTo>
                    <a:pt x="114300" y="95250"/>
                    <a:pt x="228600" y="95250"/>
                    <a:pt x="342900" y="0"/>
                  </a:cubicBez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924300" y="5905500"/>
              <a:ext cx="342900" cy="95250"/>
            </a:xfrm>
            <a:custGeom>
              <a:avLst/>
              <a:gdLst/>
              <a:ahLst/>
              <a:cxnLst/>
              <a:rect l="l" t="t" r="r" b="b"/>
              <a:pathLst>
                <a:path w="342900" h="95250">
                  <a:moveTo>
                    <a:pt x="0" y="95250"/>
                  </a:moveTo>
                  <a:cubicBezTo>
                    <a:pt x="114300" y="0"/>
                    <a:pt x="228600" y="0"/>
                    <a:pt x="342900" y="95250"/>
                  </a:cubicBez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82411" y="6292215"/>
              <a:ext cx="82667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7C3A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4+</a:t>
              </a:r>
              <a:endParaRPr lang="en-US" sz="4800" b="1" dirty="0">
                <a:solidFill>
                  <a:srgbClr val="7C3A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12833" y="7124700"/>
              <a:ext cx="1565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ESI前1%学科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07970" y="741045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工程、材料、化学、计算机</a:t>
              </a:r>
              <a:endParaRPr lang="zh-CN" sz="15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477250" y="5238750"/>
            <a:ext cx="5334000" cy="2571750"/>
            <a:chOff x="8477250" y="5238750"/>
            <a:chExt cx="5334000" cy="2571750"/>
          </a:xfrm>
        </p:grpSpPr>
        <p:sp>
          <p:nvSpPr>
            <p:cNvPr id="40" name="Rectangle 40"/>
            <p:cNvSpPr/>
            <p:nvPr/>
          </p:nvSpPr>
          <p:spPr>
            <a:xfrm>
              <a:off x="8477250" y="5238750"/>
              <a:ext cx="5334000" cy="2571750"/>
            </a:xfrm>
            <a:prstGeom prst="roundRect">
              <a:avLst>
                <a:gd name="adj" fmla="val 592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9525">
              <a:solidFill>
                <a:srgbClr val="BDD7FF"/>
              </a:solidFill>
            </a:ln>
            <a:effectLst>
              <a:outerShdw blurRad="228600" dist="76200" dir="5400000" algn="ctr" rotWithShape="0">
                <a:srgbClr val="1F2937">
                  <a:alpha val="4500"/>
                </a:srgbClr>
              </a:outerShdw>
            </a:effectLst>
          </p:spPr>
        </p:sp>
        <p:sp>
          <p:nvSpPr>
            <p:cNvPr id="41" name="Freeform 41"/>
            <p:cNvSpPr/>
            <p:nvPr/>
          </p:nvSpPr>
          <p:spPr>
            <a:xfrm>
              <a:off x="8477250" y="5238750"/>
              <a:ext cx="5334000" cy="228600"/>
            </a:xfrm>
            <a:custGeom>
              <a:avLst/>
              <a:gdLst/>
              <a:ahLst/>
              <a:cxnLst/>
              <a:rect l="l" t="t" r="r" b="b"/>
              <a:pathLst>
                <a:path w="5334000" h="228600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5181600" y="0"/>
                  </a:lnTo>
                  <a:cubicBezTo>
                    <a:pt x="5283200" y="0"/>
                    <a:pt x="5334000" y="50800"/>
                    <a:pt x="5334000" y="152400"/>
                  </a:cubicBezTo>
                  <a:lnTo>
                    <a:pt x="533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001375" y="5667375"/>
              <a:ext cx="171450" cy="266700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2563EB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11049000" y="57626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11049000" y="5829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287125" y="5728853"/>
              <a:ext cx="167087" cy="210418"/>
            </a:xfrm>
            <a:custGeom>
              <a:avLst/>
              <a:gdLst/>
              <a:ahLst/>
              <a:cxnLst/>
              <a:rect l="l" t="t" r="r" b="b"/>
              <a:pathLst>
                <a:path w="167087" h="210418">
                  <a:moveTo>
                    <a:pt x="0" y="33772"/>
                  </a:moveTo>
                  <a:cubicBezTo>
                    <a:pt x="38293" y="0"/>
                    <a:pt x="96405" y="2429"/>
                    <a:pt x="131746" y="39279"/>
                  </a:cubicBezTo>
                  <a:cubicBezTo>
                    <a:pt x="167087" y="76128"/>
                    <a:pt x="167087" y="134290"/>
                    <a:pt x="131746" y="171140"/>
                  </a:cubicBezTo>
                  <a:cubicBezTo>
                    <a:pt x="96405" y="207989"/>
                    <a:pt x="38293" y="210418"/>
                    <a:pt x="0" y="176647"/>
                  </a:cubicBezTo>
                </a:path>
              </a:pathLst>
            </a:custGeom>
            <a:noFill/>
            <a:ln w="28575" cap="rnd">
              <a:solidFill>
                <a:srgbClr val="7C3AE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1287125" y="595312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28575" cap="rnd">
              <a:solidFill>
                <a:srgbClr val="7C3AED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16261" y="6324600"/>
              <a:ext cx="225597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rgbClr val="7C3A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10000+</a:t>
              </a:r>
              <a:endParaRPr lang="en-US" sz="4500" b="1" dirty="0">
                <a:solidFill>
                  <a:srgbClr val="7C3A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52532" y="7124700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发明专利授权量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56470" y="741045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连续多年位居全国高校前列</a:t>
              </a:r>
              <a:endParaRPr lang="zh-CN" sz="15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1" name="Line 51"/>
          <p:cNvSpPr/>
          <p:nvPr/>
        </p:nvSpPr>
        <p:spPr>
          <a:xfrm>
            <a:off x="6762750" y="32385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rgbClr val="BDD7FF"/>
            </a:solidFill>
            <a:custDash>
              <a:ds d="300000" sp="300000"/>
            </a:custDash>
          </a:ln>
        </p:spPr>
      </p:sp>
      <p:sp>
        <p:nvSpPr>
          <p:cNvPr id="52" name="Line 52"/>
          <p:cNvSpPr/>
          <p:nvPr/>
        </p:nvSpPr>
        <p:spPr>
          <a:xfrm>
            <a:off x="6762750" y="657225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rgbClr val="BDD7FF"/>
            </a:solidFill>
            <a:custDash>
              <a:ds d="300000" sp="300000"/>
            </a:custDash>
          </a:ln>
        </p:spPr>
      </p:sp>
      <p:sp>
        <p:nvSpPr>
          <p:cNvPr id="53" name="Line 53"/>
          <p:cNvSpPr/>
          <p:nvPr/>
        </p:nvSpPr>
        <p:spPr>
          <a:xfrm>
            <a:off x="4095750" y="45720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BDD7FF"/>
            </a:solidFill>
            <a:custDash>
              <a:ds d="300000" sp="300000"/>
            </a:custDash>
          </a:ln>
        </p:spPr>
      </p:sp>
      <p:sp>
        <p:nvSpPr>
          <p:cNvPr id="54" name="Line 54"/>
          <p:cNvSpPr/>
          <p:nvPr/>
        </p:nvSpPr>
        <p:spPr>
          <a:xfrm>
            <a:off x="11144250" y="45720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BDD7FF"/>
            </a:solidFill>
            <a:custDash>
              <a:ds d="300000" sp="300000"/>
            </a:custDash>
          </a:ln>
        </p:spPr>
      </p:sp>
      <p:sp>
        <p:nvSpPr>
          <p:cNvPr id="55" name="Ellipse 55"/>
          <p:cNvSpPr/>
          <p:nvPr/>
        </p:nvSpPr>
        <p:spPr>
          <a:xfrm>
            <a:off x="6724650" y="32004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439150" y="32004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6724650" y="653415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8439150" y="653415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4057650" y="45339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4057650" y="520065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11106150" y="45339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11106150" y="520065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grpSp>
        <p:nvGrpSpPr>
          <p:cNvPr id="73" name="Group 73"/>
          <p:cNvGrpSpPr/>
          <p:nvPr/>
        </p:nvGrpSpPr>
        <p:grpSpPr>
          <a:xfrm>
            <a:off x="381000" y="381000"/>
            <a:ext cx="6858000" cy="7810500"/>
            <a:chOff x="381000" y="381000"/>
            <a:chExt cx="6858000" cy="7810500"/>
          </a:xfrm>
        </p:grpSpPr>
        <p:sp>
          <p:nvSpPr>
            <p:cNvPr id="3" name="Rectangle 3"/>
            <p:cNvSpPr/>
            <p:nvPr/>
          </p:nvSpPr>
          <p:spPr>
            <a:xfrm>
              <a:off x="381000" y="381000"/>
              <a:ext cx="6858000" cy="78105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2700000" scaled="1"/>
            </a:gradFill>
            <a:ln>
              <a:noFill/>
            </a:ln>
            <a:effectLst>
              <a:outerShdw blurRad="228600" dist="76200" dir="5400000" algn="ctr" rotWithShape="0">
                <a:srgbClr val="2563EB">
                  <a:alpha val="11250"/>
                </a:srgbClr>
              </a:outerShdw>
            </a:effectLst>
          </p:spPr>
        </p:sp>
        <p:sp>
          <p:nvSpPr>
            <p:cNvPr id="4" name="Rectangle 4"/>
            <p:cNvSpPr/>
            <p:nvPr/>
          </p:nvSpPr>
          <p:spPr>
            <a:xfrm>
              <a:off x="571500" y="571500"/>
              <a:ext cx="6477000" cy="7429500"/>
            </a:xfrm>
            <a:prstGeom prst="roundRect">
              <a:avLst>
                <a:gd name="adj" fmla="val 2353"/>
              </a:avLst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571500"/>
              <a:ext cx="6477000" cy="7429500"/>
            </a:xfrm>
            <a:prstGeom prst="roundRect">
              <a:avLst>
                <a:gd name="adj" fmla="val 2353"/>
              </a:avLst>
            </a:prstGeom>
            <a:noFill/>
            <a:ln w="57150">
              <a:solidFill>
                <a:srgbClr val="7C3AED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66750" y="666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0" y="381000"/>
                  </a:lnTo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572250" y="666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381000" y="381000"/>
                  </a:lnTo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66750" y="7524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0"/>
                  </a:lnTo>
                  <a:moveTo>
                    <a:pt x="0" y="381000"/>
                  </a:moveTo>
                  <a:lnTo>
                    <a:pt x="381000" y="381000"/>
                  </a:ln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572250" y="7524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381000"/>
                  </a:moveTo>
                  <a:lnTo>
                    <a:pt x="381000" y="0"/>
                  </a:lnTo>
                  <a:moveTo>
                    <a:pt x="381000" y="381000"/>
                  </a:moveTo>
                  <a:lnTo>
                    <a:pt x="0" y="381000"/>
                  </a:ln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5238750"/>
              <a:ext cx="6477000" cy="2762250"/>
            </a:xfrm>
            <a:prstGeom prst="rect">
              <a:avLst/>
            </a:prstGeom>
            <a:pattFill prst="ltUpDiag">
              <a:fgClr>
                <a:srgbClr val="BDD7FF"/>
              </a:fgClr>
              <a:bgClr>
                <a:srgbClr val="FFFFFF"/>
              </a:bgClr>
            </a:patt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905000" y="2857500"/>
              <a:ext cx="3810000" cy="3810000"/>
            </a:xfrm>
            <a:prstGeom prst="ellipse">
              <a:avLst/>
            </a:prstGeom>
            <a:noFill/>
            <a:ln w="19050">
              <a:solidFill>
                <a:srgbClr val="38BDF8">
                  <a:alpha val="80000"/>
                </a:srgbClr>
              </a:solidFill>
              <a:custDash>
                <a:ds d="600000" sp="8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1333500" y="2286000"/>
              <a:ext cx="4953000" cy="4953000"/>
            </a:xfrm>
            <a:prstGeom prst="ellipse">
              <a:avLst/>
            </a:prstGeom>
            <a:noFill/>
            <a:ln w="9525">
              <a:solidFill>
                <a:srgbClr val="38BDF8">
                  <a:alpha val="50000"/>
                </a:srgbClr>
              </a:solidFill>
              <a:custDash>
                <a:ds d="600000" sp="20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571500" y="47625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38BDF8">
                  <a:alpha val="50000"/>
                </a:srgbClr>
              </a:solidFill>
              <a:custDash>
                <a:ds d="400000" sp="800000"/>
              </a:custDash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851916" y="839152"/>
              <a:ext cx="6308102" cy="6780848"/>
              <a:chOff x="851916" y="839152"/>
              <a:chExt cx="6308102" cy="6780848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143000" y="7239000"/>
                <a:ext cx="5334000" cy="381000"/>
              </a:xfrm>
              <a:prstGeom prst="ellipse">
                <a:avLst/>
              </a:prstGeom>
              <a:solidFill>
                <a:srgbClr val="1F2937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33500" y="6096000"/>
                <a:ext cx="5143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381000">
                    <a:moveTo>
                      <a:pt x="0" y="381000"/>
                    </a:moveTo>
                    <a:lnTo>
                      <a:pt x="190500" y="0"/>
                    </a:lnTo>
                    <a:lnTo>
                      <a:pt x="4762500" y="0"/>
                    </a:lnTo>
                    <a:lnTo>
                      <a:pt x="5143500" y="381000"/>
                    </a:lnTo>
                    <a:close/>
                  </a:path>
                </a:pathLst>
              </a:cu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714500" y="6477000"/>
                <a:ext cx="4381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905000" y="5715000"/>
                <a:ext cx="4191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71500">
                    <a:moveTo>
                      <a:pt x="0" y="571500"/>
                    </a:moveTo>
                    <a:lnTo>
                      <a:pt x="190500" y="0"/>
                    </a:lnTo>
                    <a:lnTo>
                      <a:pt x="4000500" y="0"/>
                    </a:lnTo>
                    <a:lnTo>
                      <a:pt x="4191000" y="571500"/>
                    </a:lnTo>
                    <a:close/>
                  </a:path>
                </a:pathLst>
              </a:cu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000250" y="6096000"/>
                <a:ext cx="4000500" cy="190500"/>
              </a:xfrm>
              <a:prstGeom prst="rect">
                <a:avLst/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619250" y="4953000"/>
                <a:ext cx="1714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714500" y="5048250"/>
                <a:ext cx="15240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714500" y="5048250"/>
                <a:ext cx="7620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8FB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2476500" y="43815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52637A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2419350" y="4276725"/>
                <a:ext cx="114300" cy="1143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86000" y="4313441"/>
                <a:ext cx="381000" cy="68059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68059">
                    <a:moveTo>
                      <a:pt x="0" y="68059"/>
                    </a:moveTo>
                    <a:cubicBezTo>
                      <a:pt x="117882" y="0"/>
                      <a:pt x="263118" y="0"/>
                      <a:pt x="381000" y="68059"/>
                    </a:cubicBezTo>
                  </a:path>
                </a:pathLst>
              </a:custGeom>
              <a:noFill/>
              <a:ln w="28575">
                <a:solidFill>
                  <a:srgbClr val="38BDF8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3619500" y="2857500"/>
                <a:ext cx="2286000" cy="3238500"/>
              </a:xfrm>
              <a:prstGeom prst="roundRect">
                <a:avLst>
                  <a:gd name="adj" fmla="val 5000"/>
                </a:avLst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714750" y="2952750"/>
                <a:ext cx="2095500" cy="3048000"/>
              </a:xfrm>
              <a:prstGeom prst="roundRect">
                <a:avLst>
                  <a:gd name="adj" fmla="val 3636"/>
                </a:avLst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3810000" y="3048000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0000" y="5905500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3139969" y="2736747"/>
                <a:ext cx="1245369" cy="2879530"/>
                <a:chOff x="3139969" y="2736747"/>
                <a:chExt cx="1245369" cy="2879530"/>
              </a:xfrm>
            </p:grpSpPr>
            <p:sp>
              <p:nvSpPr>
                <p:cNvPr id="29" name="Rectangle 29"/>
                <p:cNvSpPr/>
                <p:nvPr/>
              </p:nvSpPr>
              <p:spPr>
                <a:xfrm rot="1080000">
                  <a:off x="3513286" y="3141513"/>
                  <a:ext cx="381000" cy="2476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7C3AED"/>
                </a:solidFill>
                <a:ln>
                  <a:noFill/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 rot="1080000">
                  <a:off x="3958268" y="3061574"/>
                  <a:ext cx="28575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7C3AED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887103" y="2736747"/>
                  <a:ext cx="498235" cy="465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235" h="465371">
                      <a:moveTo>
                        <a:pt x="18147" y="406503"/>
                      </a:moveTo>
                      <a:lnTo>
                        <a:pt x="0" y="0"/>
                      </a:lnTo>
                      <a:lnTo>
                        <a:pt x="498235" y="161886"/>
                      </a:lnTo>
                      <a:lnTo>
                        <a:pt x="199323" y="465371"/>
                      </a:lnTo>
                      <a:close/>
                    </a:path>
                  </a:pathLst>
                </a:custGeom>
                <a:solidFill>
                  <a:srgbClr val="7C3AED"/>
                </a:solidFill>
                <a:ln>
                  <a:noFill/>
                </a:ln>
              </p:spPr>
            </p:sp>
            <p:sp>
              <p:nvSpPr>
                <p:cNvPr id="32" name="Rectangle 32"/>
                <p:cNvSpPr/>
                <p:nvPr/>
              </p:nvSpPr>
              <p:spPr>
                <a:xfrm rot="1080000">
                  <a:off x="3590345" y="4098675"/>
                  <a:ext cx="285750" cy="381000"/>
                </a:xfrm>
                <a:prstGeom prst="rect">
                  <a:avLst/>
                </a:prstGeom>
                <a:solidFill>
                  <a:srgbClr val="1F2937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 rot="1080000">
                  <a:off x="3237138" y="5185733"/>
                  <a:ext cx="285750" cy="381000"/>
                </a:xfrm>
                <a:prstGeom prst="rect">
                  <a:avLst/>
                </a:prstGeom>
                <a:solidFill>
                  <a:srgbClr val="1F2937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025272" y="2900919"/>
                  <a:ext cx="58868" cy="181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68" h="181176">
                      <a:moveTo>
                        <a:pt x="0" y="181176"/>
                      </a:moveTo>
                      <a:lnTo>
                        <a:pt x="58868" y="0"/>
                      </a:lnTo>
                    </a:path>
                  </a:pathLst>
                </a:custGeom>
                <a:solidFill>
                  <a:srgbClr val="000000"/>
                </a:solidFill>
                <a:ln w="19050">
                  <a:solidFill>
                    <a:srgbClr val="FFFFFF"/>
                  </a:solidFill>
                </a:ln>
              </p:spPr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3997219" y="2736747"/>
                <a:ext cx="1245369" cy="2879530"/>
                <a:chOff x="3997219" y="2736747"/>
                <a:chExt cx="1245369" cy="2879530"/>
              </a:xfrm>
            </p:grpSpPr>
            <p:sp>
              <p:nvSpPr>
                <p:cNvPr id="36" name="Rectangle 36"/>
                <p:cNvSpPr/>
                <p:nvPr/>
              </p:nvSpPr>
              <p:spPr>
                <a:xfrm rot="1080000">
                  <a:off x="4370536" y="3141513"/>
                  <a:ext cx="381000" cy="2476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7C3AED"/>
                </a:solidFill>
                <a:ln>
                  <a:noFill/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 rot="1080000">
                  <a:off x="4815518" y="3061574"/>
                  <a:ext cx="28575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7C3AED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744353" y="2736747"/>
                  <a:ext cx="498235" cy="465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235" h="465371">
                      <a:moveTo>
                        <a:pt x="18147" y="406503"/>
                      </a:moveTo>
                      <a:lnTo>
                        <a:pt x="0" y="0"/>
                      </a:lnTo>
                      <a:lnTo>
                        <a:pt x="498235" y="161886"/>
                      </a:lnTo>
                      <a:lnTo>
                        <a:pt x="199323" y="465371"/>
                      </a:lnTo>
                      <a:close/>
                    </a:path>
                  </a:pathLst>
                </a:custGeom>
                <a:solidFill>
                  <a:srgbClr val="7C3AED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 rot="1080000">
                  <a:off x="4447595" y="4098675"/>
                  <a:ext cx="285750" cy="381000"/>
                </a:xfrm>
                <a:prstGeom prst="rect">
                  <a:avLst/>
                </a:prstGeom>
                <a:solidFill>
                  <a:srgbClr val="1F2937"/>
                </a:solidFill>
                <a:ln>
                  <a:noFill/>
                </a:ln>
              </p:spPr>
            </p:sp>
            <p:sp>
              <p:nvSpPr>
                <p:cNvPr id="40" name="Rectangle 40"/>
                <p:cNvSpPr/>
                <p:nvPr/>
              </p:nvSpPr>
              <p:spPr>
                <a:xfrm rot="1080000">
                  <a:off x="4094388" y="5185733"/>
                  <a:ext cx="285750" cy="381000"/>
                </a:xfrm>
                <a:prstGeom prst="rect">
                  <a:avLst/>
                </a:prstGeom>
                <a:solidFill>
                  <a:srgbClr val="1F2937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882522" y="2900919"/>
                  <a:ext cx="58868" cy="181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68" h="181176">
                      <a:moveTo>
                        <a:pt x="0" y="181176"/>
                      </a:moveTo>
                      <a:lnTo>
                        <a:pt x="58868" y="0"/>
                      </a:lnTo>
                    </a:path>
                  </a:pathLst>
                </a:custGeom>
                <a:solidFill>
                  <a:srgbClr val="000000"/>
                </a:solidFill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3" name="Rectangle 43"/>
              <p:cNvSpPr/>
              <p:nvPr/>
            </p:nvSpPr>
            <p:spPr>
              <a:xfrm>
                <a:off x="6096000" y="5524500"/>
                <a:ext cx="571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191250" y="5619750"/>
                <a:ext cx="381000" cy="190500"/>
              </a:xfrm>
              <a:prstGeom prst="roundRect">
                <a:avLst>
                  <a:gd name="adj" fmla="val 10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191250" y="5905500"/>
                <a:ext cx="381000" cy="190500"/>
              </a:xfrm>
              <a:prstGeom prst="roundRect">
                <a:avLst>
                  <a:gd name="adj" fmla="val 10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91250" y="6191250"/>
                <a:ext cx="381000" cy="190500"/>
              </a:xfrm>
              <a:prstGeom prst="roundRect">
                <a:avLst>
                  <a:gd name="adj" fmla="val 10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1666875" y="6429375"/>
                <a:ext cx="857250" cy="857250"/>
              </a:xfrm>
              <a:prstGeom prst="ellipse">
                <a:avLst/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1857375" y="6619875"/>
                <a:ext cx="476250" cy="47625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2019300" y="6781800"/>
                <a:ext cx="152400" cy="15240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3095625" y="6429375"/>
                <a:ext cx="857250" cy="857250"/>
              </a:xfrm>
              <a:prstGeom prst="ellipse">
                <a:avLst/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3286125" y="6619875"/>
                <a:ext cx="476250" cy="47625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3448050" y="6781800"/>
                <a:ext cx="152400" cy="15240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4524375" y="6429375"/>
                <a:ext cx="857250" cy="857250"/>
              </a:xfrm>
              <a:prstGeom prst="ellipse">
                <a:avLst/>
              </a:pr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4714875" y="6619875"/>
                <a:ext cx="476250" cy="47625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4876800" y="6781800"/>
                <a:ext cx="152400" cy="15240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857375" y="6619875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238125" y="0"/>
                    </a:moveTo>
                    <a:lnTo>
                      <a:pt x="238125" y="476250"/>
                    </a:lnTo>
                    <a:moveTo>
                      <a:pt x="0" y="238125"/>
                    </a:moveTo>
                    <a:lnTo>
                      <a:pt x="476250" y="238125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rgbClr val="52637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3286125" y="6619875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238125" y="0"/>
                    </a:moveTo>
                    <a:lnTo>
                      <a:pt x="238125" y="476250"/>
                    </a:lnTo>
                    <a:moveTo>
                      <a:pt x="0" y="238125"/>
                    </a:moveTo>
                    <a:lnTo>
                      <a:pt x="476250" y="238125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rgbClr val="52637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714875" y="6619875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238125" y="0"/>
                    </a:moveTo>
                    <a:lnTo>
                      <a:pt x="238125" y="476250"/>
                    </a:lnTo>
                    <a:moveTo>
                      <a:pt x="0" y="238125"/>
                    </a:moveTo>
                    <a:lnTo>
                      <a:pt x="476250" y="238125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rgbClr val="52637A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51916" y="839152"/>
                <a:ext cx="17282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8BDF8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</a:rPr>
                  <a:t>TGT: ACQ // RNG: 240KM</a:t>
                </a:r>
                <a:endParaRPr lang="en-US" sz="1050" dirty="0">
                  <a:solidFill>
                    <a:srgbClr val="38BDF8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51916" y="1029652"/>
                <a:ext cx="18551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8BDF8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</a:rPr>
                  <a:t>SYS: ONLINE // ARM: STBY</a:t>
                </a:r>
                <a:endParaRPr lang="en-US" sz="1050" dirty="0">
                  <a:solidFill>
                    <a:srgbClr val="38BDF8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endParaRPr>
              </a:p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686550" y="876300"/>
                <a:ext cx="152400" cy="1524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6900862" y="902970"/>
                <a:ext cx="25915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C3AED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</a:rPr>
                  <a:t>LIVE</a:t>
                </a:r>
                <a:endParaRPr lang="en-US" sz="900" dirty="0">
                  <a:solidFill>
                    <a:srgbClr val="7C3AED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endParaRP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6286500" y="72390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6286500" y="709612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142875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6286500" y="7239000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0"/>
                    </a:moveTo>
                    <a:lnTo>
                      <a:pt x="190500" y="142875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grpSp>
            <p:nvGrpSpPr>
              <p:cNvPr id="71" name="Group 71"/>
              <p:cNvGrpSpPr/>
              <p:nvPr/>
            </p:nvGrpSpPr>
            <p:grpSpPr>
              <a:xfrm>
                <a:off x="3143250" y="3143250"/>
                <a:ext cx="571500" cy="571500"/>
                <a:chOff x="3143250" y="3143250"/>
                <a:chExt cx="571500" cy="571500"/>
              </a:xfrm>
            </p:grpSpPr>
            <p:sp>
              <p:nvSpPr>
                <p:cNvPr id="66" name="Line 66"/>
                <p:cNvSpPr/>
                <p:nvPr/>
              </p:nvSpPr>
              <p:spPr>
                <a:xfrm>
                  <a:off x="3143250" y="3429000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7C3AED"/>
                  </a:solidFill>
                </a:ln>
              </p:spPr>
            </p:sp>
            <p:sp>
              <p:nvSpPr>
                <p:cNvPr id="67" name="Line 67"/>
                <p:cNvSpPr/>
                <p:nvPr/>
              </p:nvSpPr>
              <p:spPr>
                <a:xfrm>
                  <a:off x="3524250" y="3429000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7C3AED"/>
                  </a:solidFill>
                </a:ln>
              </p:spPr>
            </p:sp>
            <p:sp>
              <p:nvSpPr>
                <p:cNvPr id="68" name="Line 68"/>
                <p:cNvSpPr/>
                <p:nvPr/>
              </p:nvSpPr>
              <p:spPr>
                <a:xfrm>
                  <a:off x="3429000" y="314325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7C3AED"/>
                  </a:solidFill>
                </a:ln>
              </p:spPr>
            </p:sp>
            <p:sp>
              <p:nvSpPr>
                <p:cNvPr id="69" name="Line 69"/>
                <p:cNvSpPr/>
                <p:nvPr/>
              </p:nvSpPr>
              <p:spPr>
                <a:xfrm>
                  <a:off x="3429000" y="352425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7C3AED"/>
                  </a:solidFill>
                </a:ln>
              </p:spPr>
            </p:sp>
            <p:sp>
              <p:nvSpPr>
                <p:cNvPr id="70" name="Ellipse 70"/>
                <p:cNvSpPr/>
                <p:nvPr/>
              </p:nvSpPr>
              <p:spPr>
                <a:xfrm>
                  <a:off x="3286125" y="3286125"/>
                  <a:ext cx="285750" cy="285750"/>
                </a:xfrm>
                <a:prstGeom prst="ellipse">
                  <a:avLst/>
                </a:prstGeom>
                <a:noFill/>
                <a:ln w="9525">
                  <a:solidFill>
                    <a:srgbClr val="7C3AED"/>
                  </a:solidFill>
                </a:ln>
              </p:spPr>
            </p:sp>
          </p:grpSp>
        </p:grpSp>
      </p:grpSp>
      <p:grpSp>
        <p:nvGrpSpPr>
          <p:cNvPr id="98" name="Group 98"/>
          <p:cNvGrpSpPr/>
          <p:nvPr/>
        </p:nvGrpSpPr>
        <p:grpSpPr>
          <a:xfrm>
            <a:off x="7984998" y="952500"/>
            <a:ext cx="6493002" cy="6381750"/>
            <a:chOff x="7984998" y="952500"/>
            <a:chExt cx="6493002" cy="6381750"/>
          </a:xfrm>
        </p:grpSpPr>
        <p:sp>
          <p:nvSpPr>
            <p:cNvPr id="74" name="Rectangle 74"/>
            <p:cNvSpPr/>
            <p:nvPr/>
          </p:nvSpPr>
          <p:spPr>
            <a:xfrm>
              <a:off x="8001000" y="952500"/>
              <a:ext cx="1143000" cy="3238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162392" y="1025842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大国重器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84998" y="1564958"/>
              <a:ext cx="5207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震撼实物：大国重器中的</a:t>
              </a:r>
              <a:endParaRPr lang="zh-CN" sz="31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84998" y="2060258"/>
              <a:ext cx="23842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北理工元素</a:t>
              </a:r>
              <a:endParaRPr lang="zh-CN" sz="31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2667000"/>
              <a:ext cx="76200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991856" y="294894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看得见的硬核实力</a:t>
              </a:r>
              <a:endParaRPr lang="zh-CN" sz="180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85" name="Group 85"/>
            <p:cNvGrpSpPr/>
            <p:nvPr/>
          </p:nvGrpSpPr>
          <p:grpSpPr>
            <a:xfrm>
              <a:off x="8001000" y="3714750"/>
              <a:ext cx="6477000" cy="1047750"/>
              <a:chOff x="8001000" y="3714750"/>
              <a:chExt cx="6477000" cy="1047750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8001000" y="3714750"/>
                <a:ext cx="6477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  <a:effectLst>
                <a:outerShdw blurRad="114300" dist="38100" dir="5400000" algn="ctr" rotWithShape="0">
                  <a:srgbClr val="1F2937">
                    <a:alpha val="4500"/>
                  </a:srgbClr>
                </a:outerShdw>
              </a:effectLst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001000" y="3714750"/>
                <a:ext cx="190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47750">
                    <a:moveTo>
                      <a:pt x="0" y="190500"/>
                    </a:moveTo>
                    <a:cubicBezTo>
                      <a:pt x="0" y="63500"/>
                      <a:pt x="63500" y="0"/>
                      <a:pt x="190500" y="0"/>
                    </a:cubicBezTo>
                    <a:lnTo>
                      <a:pt x="190500" y="1047750"/>
                    </a:lnTo>
                    <a:lnTo>
                      <a:pt x="0" y="1047750"/>
                    </a:ln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8334375" y="4000500"/>
                <a:ext cx="190500" cy="190500"/>
              </a:xfrm>
              <a:prstGeom prst="roundRect">
                <a:avLst>
                  <a:gd name="adj" fmla="val 30000"/>
                </a:avLst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659368" y="3965258"/>
                <a:ext cx="19882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某型防空导弹系统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660892" y="4331018"/>
                <a:ext cx="27020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北理工研发的某型防空导弹系统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8001000" y="5000625"/>
              <a:ext cx="6477000" cy="1047750"/>
              <a:chOff x="8001000" y="5000625"/>
              <a:chExt cx="6477000" cy="104775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001000" y="5000625"/>
                <a:ext cx="6477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  <a:effectLst>
                <a:outerShdw blurRad="114300" dist="38100" dir="5400000" algn="ctr" rotWithShape="0">
                  <a:srgbClr val="1F2937">
                    <a:alpha val="4500"/>
                  </a:srgbClr>
                </a:outerShdw>
              </a:effectLst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001000" y="5000625"/>
                <a:ext cx="190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47750">
                    <a:moveTo>
                      <a:pt x="0" y="190500"/>
                    </a:moveTo>
                    <a:cubicBezTo>
                      <a:pt x="0" y="63500"/>
                      <a:pt x="63500" y="0"/>
                      <a:pt x="190500" y="0"/>
                    </a:cubicBezTo>
                    <a:lnTo>
                      <a:pt x="190500" y="1047750"/>
                    </a:lnTo>
                    <a:lnTo>
                      <a:pt x="0" y="1047750"/>
                    </a:ln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334375" y="5286375"/>
                <a:ext cx="190500" cy="190500"/>
              </a:xfrm>
              <a:prstGeom prst="roundRect">
                <a:avLst>
                  <a:gd name="adj" fmla="val 30000"/>
                </a:avLst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8659368" y="5251132"/>
                <a:ext cx="272750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军用无人战车与智能弹药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660892" y="5616892"/>
                <a:ext cx="30861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地面无人作战平台，智能化精确打击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8001000" y="6286500"/>
              <a:ext cx="6477000" cy="1047750"/>
              <a:chOff x="8001000" y="6286500"/>
              <a:chExt cx="6477000" cy="1047750"/>
            </a:xfrm>
          </p:grpSpPr>
          <p:sp>
            <p:nvSpPr>
              <p:cNvPr id="92" name="Rectangle 92"/>
              <p:cNvSpPr/>
              <p:nvPr/>
            </p:nvSpPr>
            <p:spPr>
              <a:xfrm>
                <a:off x="8001000" y="6286500"/>
                <a:ext cx="6477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  <a:effectLst>
                <a:outerShdw blurRad="114300" dist="38100" dir="5400000" algn="ctr" rotWithShape="0">
                  <a:srgbClr val="1F2937">
                    <a:alpha val="4500"/>
                  </a:srgbClr>
                </a:outerShdw>
              </a:effectLst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001000" y="6286500"/>
                <a:ext cx="190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47750">
                    <a:moveTo>
                      <a:pt x="0" y="190500"/>
                    </a:moveTo>
                    <a:cubicBezTo>
                      <a:pt x="0" y="63500"/>
                      <a:pt x="63500" y="0"/>
                      <a:pt x="190500" y="0"/>
                    </a:cubicBezTo>
                    <a:lnTo>
                      <a:pt x="190500" y="1047750"/>
                    </a:lnTo>
                    <a:lnTo>
                      <a:pt x="0" y="1047750"/>
                    </a:ln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8334375" y="6572250"/>
                <a:ext cx="190500" cy="190500"/>
              </a:xfrm>
              <a:prstGeom prst="roundRect">
                <a:avLst>
                  <a:gd name="adj" fmla="val 30000"/>
                </a:avLst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8659368" y="6537008"/>
                <a:ext cx="32203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冬奥会火炬机器人等创新应用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660892" y="6902768"/>
                <a:ext cx="36621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科技冬奥背后的北理工智慧，展现硬核实力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11" name="Group 111"/>
          <p:cNvGrpSpPr/>
          <p:nvPr/>
        </p:nvGrpSpPr>
        <p:grpSpPr>
          <a:xfrm>
            <a:off x="14573250" y="952500"/>
            <a:ext cx="571500" cy="6667500"/>
            <a:chOff x="14573250" y="952500"/>
            <a:chExt cx="571500" cy="6667500"/>
          </a:xfrm>
        </p:grpSpPr>
        <p:sp>
          <p:nvSpPr>
            <p:cNvPr id="99" name="Line 99"/>
            <p:cNvSpPr/>
            <p:nvPr/>
          </p:nvSpPr>
          <p:spPr>
            <a:xfrm>
              <a:off x="14859000" y="952500"/>
              <a:ext cx="9525" cy="6667500"/>
            </a:xfrm>
            <a:custGeom>
              <a:avLst/>
              <a:gdLst/>
              <a:ahLst/>
              <a:cxnLst/>
              <a:rect l="l" t="t" r="r" b="b"/>
              <a:pathLst>
                <a:path w="9525" h="6667500">
                  <a:moveTo>
                    <a:pt x="0" y="0"/>
                  </a:moveTo>
                  <a:lnTo>
                    <a:pt x="0" y="6667500"/>
                  </a:lnTo>
                </a:path>
              </a:pathLst>
            </a:custGeom>
            <a:noFill/>
            <a:ln w="38100" cap="rnd">
              <a:solidFill>
                <a:srgbClr val="BDD7FF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4771522" y="13154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4771522" y="19821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4771522" y="2648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4771522" y="33156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4771522" y="39824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05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4771522" y="46491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06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4771522" y="5315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07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4573250" y="5905500"/>
              <a:ext cx="571500" cy="3810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4741248" y="600741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08</a:t>
              </a:r>
              <a:endPara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4771522" y="66494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09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4771522" y="73161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</a:t>
              </a:r>
              <a:endParaRPr lang="en-US" sz="105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001000" y="8096250"/>
            <a:ext cx="6864096" cy="438531"/>
            <a:chOff x="8001000" y="8096250"/>
            <a:chExt cx="6864096" cy="438531"/>
          </a:xfrm>
        </p:grpSpPr>
        <p:sp>
          <p:nvSpPr>
            <p:cNvPr id="112" name="Freeform 112"/>
            <p:cNvSpPr/>
            <p:nvPr/>
          </p:nvSpPr>
          <p:spPr>
            <a:xfrm>
              <a:off x="8001000" y="80962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8001000" y="81915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  <a:prstDash val="dash"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14374978" y="8300085"/>
              <a:ext cx="4901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37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 / 10</a:t>
              </a:r>
              <a:endParaRPr lang="en-US" sz="1200" dirty="0">
                <a:solidFill>
                  <a:srgbClr val="52637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3810000" y="-3333750"/>
            <a:ext cx="21907500" cy="16192500"/>
            <a:chOff x="-3810000" y="-3333750"/>
            <a:chExt cx="21907500" cy="1619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5240000" cy="8572500"/>
            </a:xfrm>
            <a:prstGeom prst="rect">
              <a:avLst/>
            </a:prstGeom>
            <a:gradFill>
              <a:gsLst>
                <a:gs pos="0">
                  <a:srgbClr val="F8FBFF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5240000" cy="8572500"/>
            </a:xfrm>
            <a:prstGeom prst="rect">
              <a:avLst/>
            </a:prstGeom>
            <a:pattFill prst="ltUpDiag">
              <a:fgClr>
                <a:srgbClr val="2563EB"/>
              </a:fgClr>
              <a:bgClr>
                <a:srgbClr val="FFFFFF"/>
              </a:bgClr>
            </a:patt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3810000" y="3333750"/>
              <a:ext cx="9525000" cy="9525000"/>
            </a:xfrm>
            <a:prstGeom prst="ellipse">
              <a:avLst/>
            </a:prstGeom>
            <a:gradFill>
              <a:gsLst>
                <a:gs pos="0">
                  <a:srgbClr val="2563EB">
                    <a:alpha val="8000"/>
                  </a:srgbClr>
                </a:gs>
                <a:gs pos="100000">
                  <a:srgbClr val="2563E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477500" y="-3333750"/>
              <a:ext cx="7620000" cy="7620000"/>
            </a:xfrm>
            <a:prstGeom prst="ellipse">
              <a:avLst/>
            </a:prstGeom>
            <a:gradFill>
              <a:gsLst>
                <a:gs pos="0">
                  <a:srgbClr val="7C3AED">
                    <a:alpha val="6000"/>
                  </a:srgbClr>
                </a:gs>
                <a:gs pos="100000">
                  <a:srgbClr val="7C3AED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3712" y="468630"/>
            <a:ext cx="6488582" cy="1064895"/>
            <a:chOff x="743712" y="468630"/>
            <a:chExt cx="6488582" cy="1064895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468630"/>
              <a:ext cx="64885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为什么说北理工不可替代？</a:t>
              </a:r>
              <a:endParaRPr lang="zh-CN" sz="36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094" y="1075372"/>
              <a:ext cx="23881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1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四大核心优势总结</a:t>
              </a:r>
              <a:endParaRPr lang="zh-CN" sz="1950" spc="1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524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2095500"/>
            <a:ext cx="3238500" cy="5715000"/>
            <a:chOff x="571500" y="2095500"/>
            <a:chExt cx="3238500" cy="5715000"/>
          </a:xfrm>
        </p:grpSpPr>
        <p:sp>
          <p:nvSpPr>
            <p:cNvPr id="11" name="Rectangle 11"/>
            <p:cNvSpPr/>
            <p:nvPr/>
          </p:nvSpPr>
          <p:spPr>
            <a:xfrm>
              <a:off x="571500" y="2095500"/>
              <a:ext cx="3238500" cy="5715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>
              <a:noFill/>
            </a:ln>
            <a:effectLst>
              <a:outerShdw blurRad="304800" dist="76200" dir="5400000" algn="ctr" rotWithShape="0">
                <a:srgbClr val="1F2937">
                  <a:alpha val="60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2095500"/>
              <a:ext cx="3238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809750" y="2476500"/>
              <a:ext cx="762000" cy="762000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000250" y="27146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0" y="285750"/>
                  </a:lnTo>
                  <a:moveTo>
                    <a:pt x="0" y="0"/>
                  </a:moveTo>
                  <a:lnTo>
                    <a:pt x="285750" y="95250"/>
                  </a:lnTo>
                  <a:lnTo>
                    <a:pt x="0" y="19050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73784" y="3280410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唯一</a:t>
              </a:r>
              <a:endParaRPr lang="zh-CN" sz="2700" b="1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43076" y="3917632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红色基因唯一</a:t>
              </a:r>
              <a:endParaRPr lang="zh-CN" sz="16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1808" y="4331018"/>
              <a:ext cx="1357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党创办的第一所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3832" y="461676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理工科大学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1428750" y="5334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152650" y="5676900"/>
              <a:ext cx="76200" cy="7620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191000" y="2095500"/>
            <a:ext cx="3238500" cy="5715000"/>
            <a:chOff x="4191000" y="2095500"/>
            <a:chExt cx="3238500" cy="5715000"/>
          </a:xfrm>
        </p:grpSpPr>
        <p:sp>
          <p:nvSpPr>
            <p:cNvPr id="22" name="Rectangle 22"/>
            <p:cNvSpPr/>
            <p:nvPr/>
          </p:nvSpPr>
          <p:spPr>
            <a:xfrm>
              <a:off x="4191000" y="2095500"/>
              <a:ext cx="3238500" cy="5715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>
              <a:noFill/>
            </a:ln>
            <a:effectLst>
              <a:outerShdw blurRad="304800" dist="76200" dir="5400000" algn="ctr" rotWithShape="0">
                <a:srgbClr val="1F2937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191000" y="2095500"/>
              <a:ext cx="3238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429250" y="2476500"/>
              <a:ext cx="762000" cy="762000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667375" y="2714625"/>
              <a:ext cx="285750" cy="333375"/>
            </a:xfrm>
            <a:custGeom>
              <a:avLst/>
              <a:gdLst/>
              <a:ahLst/>
              <a:cxnLst/>
              <a:rect l="l" t="t" r="r" b="b"/>
              <a:pathLst>
                <a:path w="285750" h="333375">
                  <a:moveTo>
                    <a:pt x="142875" y="0"/>
                  </a:moveTo>
                  <a:lnTo>
                    <a:pt x="0" y="95250"/>
                  </a:lnTo>
                  <a:lnTo>
                    <a:pt x="0" y="238125"/>
                  </a:lnTo>
                  <a:lnTo>
                    <a:pt x="142875" y="333375"/>
                  </a:lnTo>
                  <a:lnTo>
                    <a:pt x="285750" y="238125"/>
                  </a:lnTo>
                  <a:lnTo>
                    <a:pt x="285750" y="95250"/>
                  </a:lnTo>
                  <a:close/>
                </a:path>
              </a:pathLst>
            </a:custGeom>
            <a:noFill/>
            <a:ln w="38100">
              <a:solidFill>
                <a:srgbClr val="2563E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84459" y="2804160"/>
              <a:ext cx="251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563EB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1200" b="1" dirty="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27220" y="3280410"/>
              <a:ext cx="5660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7C3A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A+</a:t>
              </a:r>
              <a:endParaRPr lang="en-US" sz="2700" b="1" dirty="0">
                <a:solidFill>
                  <a:srgbClr val="7C3A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62576" y="3917632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国防特色鲜明</a:t>
              </a:r>
              <a:endParaRPr lang="zh-CN" sz="16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59045" y="4331018"/>
              <a:ext cx="1902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兵器A+、车辆摇篮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5296" y="461676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国防科技中坚力量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5048250" y="5334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772150" y="5676900"/>
              <a:ext cx="76200" cy="7620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7810500" y="2095500"/>
            <a:ext cx="3238500" cy="5715000"/>
            <a:chOff x="7810500" y="2095500"/>
            <a:chExt cx="3238500" cy="5715000"/>
          </a:xfrm>
        </p:grpSpPr>
        <p:sp>
          <p:nvSpPr>
            <p:cNvPr id="34" name="Rectangle 34"/>
            <p:cNvSpPr/>
            <p:nvPr/>
          </p:nvSpPr>
          <p:spPr>
            <a:xfrm>
              <a:off x="7810500" y="2095500"/>
              <a:ext cx="3238500" cy="5715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>
              <a:noFill/>
            </a:ln>
            <a:effectLst>
              <a:outerShdw blurRad="304800" dist="76200" dir="5400000" algn="ctr" rotWithShape="0">
                <a:srgbClr val="1F2937">
                  <a:alpha val="6000"/>
                </a:srgbClr>
              </a:outerShdw>
            </a:effectLst>
          </p:spPr>
        </p:sp>
        <p:sp>
          <p:nvSpPr>
            <p:cNvPr id="35" name="Rectangle 35"/>
            <p:cNvSpPr/>
            <p:nvPr/>
          </p:nvSpPr>
          <p:spPr>
            <a:xfrm>
              <a:off x="7810500" y="2095500"/>
              <a:ext cx="3238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048750" y="2476500"/>
              <a:ext cx="762000" cy="762000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239250" y="27146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95250" y="285750"/>
                  </a:lnTo>
                  <a:lnTo>
                    <a:pt x="285750" y="285750"/>
                  </a:lnTo>
                  <a:lnTo>
                    <a:pt x="381000" y="0"/>
                  </a:lnTo>
                  <a:moveTo>
                    <a:pt x="95250" y="142875"/>
                  </a:moveTo>
                  <a:lnTo>
                    <a:pt x="285750" y="142875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  <a:round/>
            </a:ln>
          </p:spPr>
        </p:sp>
        <p:sp>
          <p:nvSpPr>
            <p:cNvPr id="38" name="Freeform 38"/>
            <p:cNvSpPr/>
            <p:nvPr/>
          </p:nvSpPr>
          <p:spPr>
            <a:xfrm>
              <a:off x="9286875" y="3000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 cap="rnd">
              <a:solidFill>
                <a:srgbClr val="2563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12784" y="3280410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贡献</a:t>
              </a:r>
              <a:endParaRPr lang="zh-CN" sz="2700" b="1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82076" y="3917632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贡献国家重大</a:t>
              </a:r>
              <a:endParaRPr lang="zh-CN" sz="16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54796" y="433101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阅兵、航天、冬奥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54796" y="461676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国家盛典背后力量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8667750" y="5334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391650" y="5676900"/>
              <a:ext cx="76200" cy="7620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1430000" y="2095500"/>
            <a:ext cx="3238500" cy="5715000"/>
            <a:chOff x="11430000" y="2095500"/>
            <a:chExt cx="3238500" cy="5715000"/>
          </a:xfrm>
        </p:grpSpPr>
        <p:sp>
          <p:nvSpPr>
            <p:cNvPr id="46" name="Rectangle 46"/>
            <p:cNvSpPr/>
            <p:nvPr/>
          </p:nvSpPr>
          <p:spPr>
            <a:xfrm>
              <a:off x="11430000" y="2095500"/>
              <a:ext cx="3238500" cy="5715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>
              <a:noFill/>
            </a:ln>
            <a:effectLst>
              <a:outerShdw blurRad="304800" dist="76200" dir="5400000" algn="ctr" rotWithShape="0">
                <a:srgbClr val="1F2937">
                  <a:alpha val="60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11430000" y="2095500"/>
              <a:ext cx="32385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2668250" y="2476500"/>
              <a:ext cx="762000" cy="762000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2954000" y="2686050"/>
              <a:ext cx="190500" cy="190500"/>
            </a:xfrm>
            <a:prstGeom prst="ellipse">
              <a:avLst/>
            </a:prstGeom>
            <a:noFill/>
            <a:ln w="38100">
              <a:solidFill>
                <a:srgbClr val="2563EB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2858750" y="293370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114300"/>
                  </a:moveTo>
                  <a:cubicBezTo>
                    <a:pt x="0" y="38100"/>
                    <a:pt x="63500" y="0"/>
                    <a:pt x="190500" y="0"/>
                  </a:cubicBezTo>
                  <a:cubicBezTo>
                    <a:pt x="317500" y="0"/>
                    <a:pt x="381000" y="38100"/>
                    <a:pt x="381000" y="114300"/>
                  </a:cubicBez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632284" y="3280410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C3A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</a:t>
              </a:r>
              <a:endParaRPr lang="zh-CN" sz="2700" b="1" dirty="0">
                <a:solidFill>
                  <a:srgbClr val="7C3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301576" y="3917632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人才产出顶尖</a:t>
              </a:r>
              <a:endParaRPr lang="zh-CN" sz="16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986260" y="4331018"/>
              <a:ext cx="2125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院士云集、科研经费充沛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370308" y="4616768"/>
              <a:ext cx="1357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高层次人才摇篮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12287250" y="5334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3011150" y="5676900"/>
              <a:ext cx="76200" cy="7620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</p:grpSp>
      <p:sp>
        <p:nvSpPr>
          <p:cNvPr id="58" name="Rectangle 58"/>
          <p:cNvSpPr/>
          <p:nvPr/>
        </p:nvSpPr>
        <p:spPr>
          <a:xfrm>
            <a:off x="0" y="8191500"/>
            <a:ext cx="15240000" cy="381000"/>
          </a:xfrm>
          <a:prstGeom prst="rect">
            <a:avLst/>
          </a:prstGeom>
          <a:gradFill>
            <a:gsLst>
              <a:gs pos="0">
                <a:srgbClr val="2563EB">
                  <a:alpha val="0"/>
                </a:srgbClr>
              </a:gs>
              <a:gs pos="50000">
                <a:srgbClr val="7C3AED">
                  <a:alpha val="15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F8FBFF"/>
              </a:gs>
            </a:gsLst>
            <a:lin ang="27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-3810000" y="-1238250"/>
            <a:ext cx="20478750" cy="14097000"/>
            <a:chOff x="-3810000" y="-1238250"/>
            <a:chExt cx="20478750" cy="14097000"/>
          </a:xfrm>
        </p:grpSpPr>
        <p:sp>
          <p:nvSpPr>
            <p:cNvPr id="3" name="Ellipse 3"/>
            <p:cNvSpPr/>
            <p:nvPr/>
          </p:nvSpPr>
          <p:spPr>
            <a:xfrm>
              <a:off x="-762000" y="-1238250"/>
              <a:ext cx="5334000" cy="5334000"/>
            </a:xfrm>
            <a:prstGeom prst="ellipse">
              <a:avLst/>
            </a:prstGeom>
            <a:noFill/>
            <a:ln w="14288">
              <a:solidFill>
                <a:srgbClr val="2563EB">
                  <a:alpha val="10000"/>
                </a:srgbClr>
              </a:solidFill>
              <a:custDash>
                <a:ds d="666666" sp="666666"/>
              </a:custDash>
            </a:ln>
          </p:spPr>
        </p:sp>
        <p:sp>
          <p:nvSpPr>
            <p:cNvPr id="4" name="Ellipse 4"/>
            <p:cNvSpPr/>
            <p:nvPr/>
          </p:nvSpPr>
          <p:spPr>
            <a:xfrm>
              <a:off x="10001250" y="3810000"/>
              <a:ext cx="6667500" cy="6667500"/>
            </a:xfrm>
            <a:prstGeom prst="ellipse">
              <a:avLst/>
            </a:prstGeom>
            <a:noFill/>
            <a:ln w="19050">
              <a:solidFill>
                <a:srgbClr val="38BDF8">
                  <a:alpha val="10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-3810000" y="3333750"/>
              <a:ext cx="9525000" cy="9525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-476250" y="952500"/>
              <a:ext cx="16192500" cy="2698750"/>
            </a:xfrm>
            <a:custGeom>
              <a:avLst/>
              <a:gdLst/>
              <a:ahLst/>
              <a:cxnLst/>
              <a:rect l="l" t="t" r="r" b="b"/>
              <a:pathLst>
                <a:path w="16192500" h="2698750">
                  <a:moveTo>
                    <a:pt x="0" y="952500"/>
                  </a:moveTo>
                  <a:cubicBezTo>
                    <a:pt x="2857500" y="0"/>
                    <a:pt x="5556250" y="158750"/>
                    <a:pt x="8096250" y="1428750"/>
                  </a:cubicBezTo>
                  <a:cubicBezTo>
                    <a:pt x="10636250" y="2698750"/>
                    <a:pt x="13335000" y="2381250"/>
                    <a:pt x="16192500" y="476250"/>
                  </a:cubicBezTo>
                </a:path>
              </a:pathLst>
            </a:custGeom>
            <a:noFill/>
            <a:ln w="2857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-476250" y="2063750"/>
              <a:ext cx="16192500" cy="2698750"/>
            </a:xfrm>
            <a:custGeom>
              <a:avLst/>
              <a:gdLst/>
              <a:ahLst/>
              <a:cxnLst/>
              <a:rect l="l" t="t" r="r" b="b"/>
              <a:pathLst>
                <a:path w="16192500" h="2698750">
                  <a:moveTo>
                    <a:pt x="0" y="1746250"/>
                  </a:moveTo>
                  <a:cubicBezTo>
                    <a:pt x="2857500" y="2698750"/>
                    <a:pt x="5556250" y="2540000"/>
                    <a:pt x="8096250" y="1270000"/>
                  </a:cubicBezTo>
                  <a:cubicBezTo>
                    <a:pt x="10636250" y="0"/>
                    <a:pt x="13335000" y="317500"/>
                    <a:pt x="16192500" y="2222500"/>
                  </a:cubicBezTo>
                </a:path>
              </a:pathLst>
            </a:custGeom>
            <a:noFill/>
            <a:ln w="14288">
              <a:solidFill>
                <a:srgbClr val="BDD7FF">
                  <a:alpha val="2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54382" y="952500"/>
            <a:ext cx="6131237" cy="1776984"/>
            <a:chOff x="4554382" y="952500"/>
            <a:chExt cx="6131237" cy="1776984"/>
          </a:xfrm>
        </p:grpSpPr>
        <p:sp>
          <p:nvSpPr>
            <p:cNvPr id="9" name="Rectangle 9"/>
            <p:cNvSpPr/>
            <p:nvPr/>
          </p:nvSpPr>
          <p:spPr>
            <a:xfrm>
              <a:off x="6858000" y="95250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48357" y="1038225"/>
              <a:ext cx="543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spc="1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总 结</a:t>
              </a:r>
              <a:endParaRPr lang="zh-CN" sz="1500" b="1" spc="15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54382" y="1579245"/>
              <a:ext cx="613123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spc="1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北理工是最好的985大学</a:t>
              </a:r>
              <a:endParaRPr lang="zh-CN" sz="3900" b="1" spc="1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48388" y="2377440"/>
              <a:ext cx="4343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spc="300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红色基因 · 国防重器 · 硬核工科</a:t>
              </a:r>
              <a:endParaRPr lang="zh-CN" sz="1800" b="1" spc="300" dirty="0">
                <a:solidFill>
                  <a:srgbClr val="2563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3238500"/>
            <a:ext cx="11811000" cy="2476500"/>
            <a:chOff x="1714500" y="3238500"/>
            <a:chExt cx="11811000" cy="2476500"/>
          </a:xfrm>
        </p:grpSpPr>
        <p:grpSp>
          <p:nvGrpSpPr>
            <p:cNvPr id="20" name="Group 20"/>
            <p:cNvGrpSpPr/>
            <p:nvPr/>
          </p:nvGrpSpPr>
          <p:grpSpPr>
            <a:xfrm>
              <a:off x="1714500" y="3238500"/>
              <a:ext cx="3429000" cy="2476500"/>
              <a:chOff x="1714500" y="3238500"/>
              <a:chExt cx="3429000" cy="2476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714500" y="3238500"/>
                <a:ext cx="34290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285750" dist="95250" dir="5400000" algn="ctr" rotWithShape="0">
                  <a:srgbClr val="1F2937">
                    <a:alpha val="6000"/>
                  </a:srgbClr>
                </a:outerShdw>
              </a:effectLst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43250" y="3571875"/>
                <a:ext cx="571500" cy="5715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279919" y="37585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01</a:t>
                </a:r>
                <a:endPara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910992" y="42824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历史选择</a:t>
                </a:r>
                <a:endPara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286000" y="47625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  <a:custDash>
                  <a:ds d="300000" sp="200000"/>
                </a:custDash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292339" y="5029200"/>
                <a:ext cx="22733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52637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唯一由党创办的理工985</a:t>
                </a:r>
                <a:endParaRPr lang="zh-CN" sz="1500" b="1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905500" y="3238500"/>
              <a:ext cx="3429000" cy="2476500"/>
              <a:chOff x="5905500" y="3238500"/>
              <a:chExt cx="3429000" cy="2476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905500" y="3238500"/>
                <a:ext cx="34290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285750" dist="95250" dir="5400000" algn="ctr" rotWithShape="0">
                  <a:srgbClr val="1F2937">
                    <a:alpha val="6000"/>
                  </a:srgbClr>
                </a:outerShdw>
              </a:effectLst>
            </p:spPr>
          </p:sp>
          <p:sp>
            <p:nvSpPr>
              <p:cNvPr id="22" name="Ellipse 22"/>
              <p:cNvSpPr/>
              <p:nvPr/>
            </p:nvSpPr>
            <p:spPr>
              <a:xfrm>
                <a:off x="7334250" y="3571875"/>
                <a:ext cx="571500" cy="5715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470919" y="37585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02</a:t>
                </a:r>
                <a:endPara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01992" y="42824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实力支撑</a:t>
                </a:r>
                <a:endPara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6477000" y="47625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  <a:custDash>
                  <a:ds d="300000" sp="200000"/>
                </a:custDash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128194" y="5029200"/>
                <a:ext cx="29836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52637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王牌学科、重大贡献、顶尖人才</a:t>
                </a:r>
                <a:endParaRPr lang="zh-CN" sz="1500" b="1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096500" y="3238500"/>
              <a:ext cx="3429000" cy="2476500"/>
              <a:chOff x="10096500" y="3238500"/>
              <a:chExt cx="3429000" cy="2476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096500" y="3238500"/>
                <a:ext cx="34290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285750" dist="95250" dir="5400000" algn="ctr" rotWithShape="0">
                  <a:srgbClr val="1F2937">
                    <a:alpha val="6000"/>
                  </a:srgbClr>
                </a:outerShdw>
              </a:effectLst>
            </p:spPr>
          </p:sp>
          <p:sp>
            <p:nvSpPr>
              <p:cNvPr id="29" name="Ellipse 29"/>
              <p:cNvSpPr/>
              <p:nvPr/>
            </p:nvSpPr>
            <p:spPr>
              <a:xfrm>
                <a:off x="11525250" y="3571875"/>
                <a:ext cx="571500" cy="5715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661919" y="37585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03</a:t>
                </a:r>
                <a:endParaRPr lang="en-US" sz="1800" b="1" dirty="0">
                  <a:solidFill>
                    <a:srgbClr val="FFFF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92992" y="42824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未来使命</a:t>
                </a:r>
                <a:endParaRPr lang="zh-CN" sz="180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10668000" y="47625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  <a:custDash>
                  <a:ds d="300000" sp="200000"/>
                </a:custDash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213181" y="5029200"/>
                <a:ext cx="31956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52637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继续服务国家战略，引领科技前沿</a:t>
                </a:r>
                <a:endParaRPr lang="zh-CN" sz="1500" b="1" dirty="0">
                  <a:solidFill>
                    <a:srgbClr val="52637A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0" y="6096000"/>
            <a:ext cx="15240000" cy="2476500"/>
            <a:chOff x="0" y="6096000"/>
            <a:chExt cx="15240000" cy="2476500"/>
          </a:xfrm>
        </p:grpSpPr>
        <p:sp>
          <p:nvSpPr>
            <p:cNvPr id="36" name="Freeform 36"/>
            <p:cNvSpPr/>
            <p:nvPr/>
          </p:nvSpPr>
          <p:spPr>
            <a:xfrm>
              <a:off x="0" y="6096000"/>
              <a:ext cx="15240000" cy="2476500"/>
            </a:xfrm>
            <a:custGeom>
              <a:avLst/>
              <a:gdLst/>
              <a:ahLst/>
              <a:cxnLst/>
              <a:rect l="l" t="t" r="r" b="b"/>
              <a:pathLst>
                <a:path w="15240000" h="2476500">
                  <a:moveTo>
                    <a:pt x="0" y="381000"/>
                  </a:moveTo>
                  <a:cubicBezTo>
                    <a:pt x="3810000" y="0"/>
                    <a:pt x="11430000" y="762000"/>
                    <a:pt x="15240000" y="381000"/>
                  </a:cubicBezTo>
                  <a:lnTo>
                    <a:pt x="15240000" y="2476500"/>
                  </a:lnTo>
                  <a:lnTo>
                    <a:pt x="0" y="2476500"/>
                  </a:lnTo>
                  <a:close/>
                </a:path>
              </a:pathLst>
            </a:custGeom>
            <a:gradFill>
              <a:gsLst>
                <a:gs pos="0">
                  <a:srgbClr val="2563EB"/>
                </a:gs>
                <a:gs pos="50000">
                  <a:srgbClr val="7C3AED"/>
                </a:gs>
                <a:gs pos="100000">
                  <a:srgbClr val="2563E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0" y="6096000"/>
              <a:ext cx="15240000" cy="2476500"/>
            </a:xfrm>
            <a:custGeom>
              <a:avLst/>
              <a:gdLst/>
              <a:ahLst/>
              <a:cxnLst/>
              <a:rect l="l" t="t" r="r" b="b"/>
              <a:pathLst>
                <a:path w="15240000" h="2476500">
                  <a:moveTo>
                    <a:pt x="0" y="381000"/>
                  </a:moveTo>
                  <a:cubicBezTo>
                    <a:pt x="3810000" y="0"/>
                    <a:pt x="11430000" y="762000"/>
                    <a:pt x="15240000" y="381000"/>
                  </a:cubicBezTo>
                  <a:lnTo>
                    <a:pt x="15240000" y="2476500"/>
                  </a:lnTo>
                  <a:lnTo>
                    <a:pt x="0" y="247650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70466" y="7075170"/>
              <a:ext cx="64990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spc="225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传承延安根 · 铸牢国防魂 · 勇担强国梦</a:t>
              </a:r>
              <a:endParaRPr lang="zh-CN" sz="2400" b="1" spc="22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87371" y="7727632"/>
              <a:ext cx="4065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spc="150" dirty="0">
                  <a:solidFill>
                    <a:srgbClr val="FFFFFF">
                      <a:alphaMod val="8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—— 这就是北理工不可替代的理由 ——</a:t>
              </a:r>
              <a:endParaRPr lang="zh-CN" sz="1650" b="1" spc="150" dirty="0">
                <a:solidFill>
                  <a:srgbClr val="FFFFFF">
                    <a:alphaMod val="8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</Words>
  <Application>WPS 演示</Application>
  <PresentationFormat>On-screen Show (16:9)</PresentationFormat>
  <Paragraphs>356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Times New Roman</vt:lpstr>
      <vt:lpstr>Segoe UI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又又又又又又又又又又又又又改名了</cp:lastModifiedBy>
  <cp:revision>2</cp:revision>
  <dcterms:created xsi:type="dcterms:W3CDTF">2026-06-30T08:35:00Z</dcterms:created>
  <dcterms:modified xsi:type="dcterms:W3CDTF">2026-07-06T06:01:01Z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DBAA602B885947BAB6BD8869BF003B63_12</vt:lpwstr>
  </property>
</Properties>
</file>