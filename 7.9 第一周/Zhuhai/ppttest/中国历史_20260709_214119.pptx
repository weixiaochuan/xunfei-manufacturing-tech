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  <Relationship Id="rId13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围绕确认 Prompt 讲解本页重点：主题与一句话价值主张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围绕确认 Prompt 讲解本页重点：说明为什么需要这个方案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围绕确认 Prompt 讲解本页重点：说明方案如何解决问题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围绕确认 Prompt 讲解本页重点：用流程化结构表达输入到输出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围绕确认 Prompt 讲解本页重点：说明最小闭环如何演示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围绕确认 Prompt 讲解本页重点：归纳价值、亮点与后续拓展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34290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4762">
            <a:solidFill>
              <a:srgbClr val="BDD7FF">
                <a:alpha val="40000"/>
              </a:srgbClr>
            </a:solidFill>
          </a:ln>
        </p:spPr>
      </p:sp>
      <p:sp>
        <p:nvSpPr>
          <p:cNvPr id="4" name="Line 4"/>
          <p:cNvSpPr/>
          <p:nvPr/>
        </p:nvSpPr>
        <p:spPr>
          <a:xfrm>
            <a:off x="60960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4762">
            <a:solidFill>
              <a:srgbClr val="BDD7FF">
                <a:alpha val="40000"/>
              </a:srgbClr>
            </a:solidFill>
          </a:ln>
        </p:spPr>
      </p:sp>
      <p:sp>
        <p:nvSpPr>
          <p:cNvPr id="5" name="Ellipse 5"/>
          <p:cNvSpPr/>
          <p:nvPr/>
        </p:nvSpPr>
        <p:spPr>
          <a:xfrm>
            <a:off x="4953000" y="762000"/>
            <a:ext cx="5334000" cy="5334000"/>
          </a:xfrm>
          <a:prstGeom prst="ellipse">
            <a:avLst/>
          </a:prstGeom>
          <a:noFill/>
          <a:ln w="9525">
            <a:solidFill>
              <a:srgbClr val="2563EB"/>
            </a:solidFill>
            <a:custDash>
              <a:ds d="800000" sp="800000"/>
            </a:custDash>
          </a:ln>
        </p:spPr>
      </p:sp>
      <p:sp>
        <p:nvSpPr>
          <p:cNvPr id="6" name="Ellipse 6"/>
          <p:cNvSpPr/>
          <p:nvPr/>
        </p:nvSpPr>
        <p:spPr>
          <a:xfrm>
            <a:off x="5524500" y="1333500"/>
            <a:ext cx="4191000" cy="4191000"/>
          </a:xfrm>
          <a:prstGeom prst="ellipse">
            <a:avLst/>
          </a:prstGeom>
          <a:noFill/>
          <a:ln w="9525">
            <a:solidFill>
              <a:srgbClr val="38BDF8">
                <a:alpha val="60000"/>
              </a:srgbClr>
            </a:solidFill>
          </a:ln>
        </p:spPr>
      </p:sp>
      <p:sp>
        <p:nvSpPr>
          <p:cNvPr id="7" name="Ellipse 7"/>
          <p:cNvSpPr/>
          <p:nvPr/>
        </p:nvSpPr>
        <p:spPr>
          <a:xfrm>
            <a:off x="6191250" y="2000250"/>
            <a:ext cx="2857500" cy="2857500"/>
          </a:xfrm>
          <a:prstGeom prst="ellipse">
            <a:avLst/>
          </a:prstGeom>
          <a:noFill/>
          <a:ln w="19050">
            <a:solidFill>
              <a:srgbClr val="2563EB"/>
            </a:solidFill>
          </a:ln>
        </p:spPr>
      </p:sp>
      <p:sp>
        <p:nvSpPr>
          <p:cNvPr id="8" name="Ellipse 8"/>
          <p:cNvSpPr/>
          <p:nvPr/>
        </p:nvSpPr>
        <p:spPr>
          <a:xfrm>
            <a:off x="7239000" y="3048000"/>
            <a:ext cx="762000" cy="762000"/>
          </a:xfrm>
          <a:prstGeom prst="ellipse">
            <a:avLst/>
          </a:prstGeom>
          <a:solidFill>
            <a:srgbClr val="38BDF8">
              <a:alpha val="10000"/>
            </a:srgbClr>
          </a:solidFill>
          <a:ln w="9525">
            <a:solidFill>
              <a:srgbClr val="38BDF8"/>
            </a:solidFill>
          </a:ln>
        </p:spPr>
      </p:sp>
      <p:sp>
        <p:nvSpPr>
          <p:cNvPr id="9" name="Polygon 9"/>
          <p:cNvSpPr/>
          <p:nvPr/>
        </p:nvSpPr>
        <p:spPr>
          <a:xfrm>
            <a:off x="6553200" y="2190750"/>
            <a:ext cx="2133600" cy="2476500"/>
          </a:xfrm>
          <a:custGeom>
            <a:avLst/>
            <a:gdLst/>
            <a:ahLst/>
            <a:cxnLst/>
            <a:rect l="l" t="t" r="r" b="b"/>
            <a:pathLst>
              <a:path w="2133600" h="2476500">
                <a:moveTo>
                  <a:pt x="1066800" y="0"/>
                </a:moveTo>
                <a:lnTo>
                  <a:pt x="2133600" y="619125"/>
                </a:lnTo>
                <a:lnTo>
                  <a:pt x="2133600" y="1857375"/>
                </a:lnTo>
                <a:lnTo>
                  <a:pt x="1066800" y="2476500"/>
                </a:lnTo>
                <a:lnTo>
                  <a:pt x="0" y="1857375"/>
                </a:lnTo>
                <a:lnTo>
                  <a:pt x="0" y="619125"/>
                </a:lnTo>
                <a:close/>
              </a:path>
            </a:pathLst>
          </a:custGeom>
          <a:noFill/>
          <a:ln w="14288">
            <a:solidFill>
              <a:srgbClr val="38BDF8">
                <a:alpha val="70000"/>
              </a:srgbClr>
            </a:solidFill>
          </a:ln>
        </p:spPr>
      </p:sp>
      <p:sp>
        <p:nvSpPr>
          <p:cNvPr id="10" name="Line 10"/>
          <p:cNvSpPr/>
          <p:nvPr/>
        </p:nvSpPr>
        <p:spPr>
          <a:xfrm>
            <a:off x="7620000" y="762000"/>
            <a:ext cx="9525" cy="1428750"/>
          </a:xfrm>
          <a:custGeom>
            <a:avLst/>
            <a:gdLst/>
            <a:ahLst/>
            <a:cxnLst/>
            <a:rect l="l" t="t" r="r" b="b"/>
            <a:pathLst>
              <a:path w="9525" h="1428750">
                <a:moveTo>
                  <a:pt x="0" y="142875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11" name="Line 11"/>
          <p:cNvSpPr/>
          <p:nvPr/>
        </p:nvSpPr>
        <p:spPr>
          <a:xfrm>
            <a:off x="8686800" y="2809875"/>
            <a:ext cx="1600200" cy="619125"/>
          </a:xfrm>
          <a:custGeom>
            <a:avLst/>
            <a:gdLst/>
            <a:ahLst/>
            <a:cxnLst/>
            <a:rect l="l" t="t" r="r" b="b"/>
            <a:pathLst>
              <a:path w="1600200" h="619125">
                <a:moveTo>
                  <a:pt x="0" y="0"/>
                </a:moveTo>
                <a:lnTo>
                  <a:pt x="1600200" y="619125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12" name="Line 12"/>
          <p:cNvSpPr/>
          <p:nvPr/>
        </p:nvSpPr>
        <p:spPr>
          <a:xfrm>
            <a:off x="8686800" y="3429000"/>
            <a:ext cx="1600200" cy="619125"/>
          </a:xfrm>
          <a:custGeom>
            <a:avLst/>
            <a:gdLst/>
            <a:ahLst/>
            <a:cxnLst/>
            <a:rect l="l" t="t" r="r" b="b"/>
            <a:pathLst>
              <a:path w="1600200" h="619125">
                <a:moveTo>
                  <a:pt x="0" y="619125"/>
                </a:moveTo>
                <a:lnTo>
                  <a:pt x="1600200" y="0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13" name="Line 13"/>
          <p:cNvSpPr/>
          <p:nvPr/>
        </p:nvSpPr>
        <p:spPr>
          <a:xfrm>
            <a:off x="7620000" y="4667250"/>
            <a:ext cx="9525" cy="1428750"/>
          </a:xfrm>
          <a:custGeom>
            <a:avLst/>
            <a:gdLst/>
            <a:ahLst/>
            <a:cxnLst/>
            <a:rect l="l" t="t" r="r" b="b"/>
            <a:pathLst>
              <a:path w="9525" h="1428750">
                <a:moveTo>
                  <a:pt x="0" y="0"/>
                </a:moveTo>
                <a:lnTo>
                  <a:pt x="0" y="1428750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14" name="Line 14"/>
          <p:cNvSpPr/>
          <p:nvPr/>
        </p:nvSpPr>
        <p:spPr>
          <a:xfrm>
            <a:off x="4953000" y="3429000"/>
            <a:ext cx="1600200" cy="619125"/>
          </a:xfrm>
          <a:custGeom>
            <a:avLst/>
            <a:gdLst/>
            <a:ahLst/>
            <a:cxnLst/>
            <a:rect l="l" t="t" r="r" b="b"/>
            <a:pathLst>
              <a:path w="1600200" h="619125">
                <a:moveTo>
                  <a:pt x="1600200" y="619125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15" name="Line 15"/>
          <p:cNvSpPr/>
          <p:nvPr/>
        </p:nvSpPr>
        <p:spPr>
          <a:xfrm>
            <a:off x="4953000" y="2809875"/>
            <a:ext cx="1600200" cy="619125"/>
          </a:xfrm>
          <a:custGeom>
            <a:avLst/>
            <a:gdLst/>
            <a:ahLst/>
            <a:cxnLst/>
            <a:rect l="l" t="t" r="r" b="b"/>
            <a:pathLst>
              <a:path w="1600200" h="619125">
                <a:moveTo>
                  <a:pt x="1600200" y="0"/>
                </a:moveTo>
                <a:lnTo>
                  <a:pt x="0" y="619125"/>
                </a:lnTo>
              </a:path>
            </a:pathLst>
          </a:custGeom>
          <a:noFill/>
          <a:ln w="9525">
            <a:solidFill>
              <a:srgbClr val="2563EB">
                <a:alpha val="50000"/>
              </a:srgbClr>
            </a:solidFill>
          </a:ln>
        </p:spPr>
      </p:sp>
      <p:sp>
        <p:nvSpPr>
          <p:cNvPr id="16" name="Ellipse 16"/>
          <p:cNvSpPr/>
          <p:nvPr/>
        </p:nvSpPr>
        <p:spPr>
          <a:xfrm>
            <a:off x="7581900" y="7239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10248900" y="33909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7581900" y="60579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4914900" y="3390900"/>
            <a:ext cx="76200" cy="76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Ellipse 20"/>
          <p:cNvSpPr/>
          <p:nvPr/>
        </p:nvSpPr>
        <p:spPr>
          <a:xfrm>
            <a:off x="7591425" y="2162175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1" name="Ellipse 21"/>
          <p:cNvSpPr/>
          <p:nvPr/>
        </p:nvSpPr>
        <p:spPr>
          <a:xfrm>
            <a:off x="8658225" y="2781300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8658225" y="4019550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3" name="Ellipse 23"/>
          <p:cNvSpPr/>
          <p:nvPr/>
        </p:nvSpPr>
        <p:spPr>
          <a:xfrm>
            <a:off x="7591425" y="4638675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6524625" y="4019550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6524625" y="2781300"/>
            <a:ext cx="57150" cy="5715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62000" y="2667000"/>
            <a:ext cx="5715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742950" y="2861310"/>
            <a:ext cx="3321482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700" b="1" spc="150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中国历史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0570" y="3805238"/>
            <a:ext cx="314267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spc="75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主题与一句话价值主张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5142" y="4283392"/>
            <a:ext cx="278419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spc="75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多元起源 · 帝国延续 · 近代转型</a:t>
            </a:r>
          </a:p>
        </p:txBody>
      </p:sp>
      <p:sp>
        <p:nvSpPr>
          <p:cNvPr id="30" name="Line 30"/>
          <p:cNvSpPr/>
          <p:nvPr/>
        </p:nvSpPr>
        <p:spPr>
          <a:xfrm>
            <a:off x="762000" y="61912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BDD7F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756666" y="63636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01 / 06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807964" y="6363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中国历史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41535" y="6363652"/>
            <a:ext cx="15937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BDD7FF"/>
                </a:solidFill>
                <a:latin typeface="Consolas"/>
                <a:ea typeface="Consolas"/>
                <a:cs typeface="Consolas"/>
              </a:rPr>
              <a:t>PPT-MASTER EXECUTOR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grpSp>
        <p:nvGrpSpPr>
          <p:cNvPr id="26" name="Group 26"/>
          <p:cNvGrpSpPr/>
          <p:nvPr/>
        </p:nvGrpSpPr>
        <p:grpSpPr>
          <a:xfrm>
            <a:off x="533400" y="1714500"/>
            <a:ext cx="11134725" cy="4581525"/>
            <a:chOff x="533400" y="1714500"/>
            <a:chExt cx="11134725" cy="4581525"/>
          </a:xfrm>
        </p:grpSpPr>
        <p:sp>
          <p:nvSpPr>
            <p:cNvPr id="3" name="Line 3"/>
            <p:cNvSpPr/>
            <p:nvPr/>
          </p:nvSpPr>
          <p:spPr>
            <a:xfrm>
              <a:off x="533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1295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2057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2819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581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343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5105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867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629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391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153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8915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9677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10439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12014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1658600" y="1714500"/>
              <a:ext cx="9525" cy="4572000"/>
            </a:xfrm>
            <a:custGeom>
              <a:avLst/>
              <a:gdLst/>
              <a:ahLst/>
              <a:cxnLst/>
              <a:rect l="l" t="t" r="r" b="b"/>
              <a:pathLst>
                <a:path w="9525" h="4572000">
                  <a:moveTo>
                    <a:pt x="0" y="0"/>
                  </a:moveTo>
                  <a:lnTo>
                    <a:pt x="0" y="457200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" y="1714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33400" y="2476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33400" y="3238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533400" y="4000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33400" y="4762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533400" y="5524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533400" y="62865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40000"/>
                </a:srgbClr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096500" y="0"/>
            <a:ext cx="1714500" cy="2448602"/>
            <a:chOff x="10096500" y="0"/>
            <a:chExt cx="1714500" cy="2448602"/>
          </a:xfrm>
        </p:grpSpPr>
        <p:sp>
          <p:nvSpPr>
            <p:cNvPr id="27" name="Ellipse 27"/>
            <p:cNvSpPr/>
            <p:nvPr/>
          </p:nvSpPr>
          <p:spPr>
            <a:xfrm>
              <a:off x="10096500" y="0"/>
              <a:ext cx="1714500" cy="1714500"/>
            </a:xfrm>
            <a:prstGeom prst="ellipse">
              <a:avLst/>
            </a:prstGeom>
            <a:noFill/>
            <a:ln w="19050">
              <a:solidFill>
                <a:srgbClr val="BDD7FF">
                  <a:alpha val="50000"/>
                </a:srgbClr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10287000" y="190500"/>
              <a:ext cx="1333500" cy="1333500"/>
            </a:xfrm>
            <a:prstGeom prst="ellipse">
              <a:avLst/>
            </a:prstGeom>
            <a:noFill/>
            <a:ln w="9525">
              <a:solidFill>
                <a:srgbClr val="2563EB">
                  <a:alpha val="50000"/>
                </a:srgbClr>
              </a:solidFill>
              <a:custDash>
                <a:ds d="1200000" sp="800000"/>
              </a:custDash>
            </a:ln>
          </p:spPr>
        </p:sp>
        <p:sp>
          <p:nvSpPr>
            <p:cNvPr id="29" name="Ellipse 29"/>
            <p:cNvSpPr/>
            <p:nvPr/>
          </p:nvSpPr>
          <p:spPr>
            <a:xfrm>
              <a:off x="10477500" y="381000"/>
              <a:ext cx="952500" cy="952500"/>
            </a:xfrm>
            <a:prstGeom prst="ellipse">
              <a:avLst/>
            </a:prstGeom>
            <a:noFill/>
            <a:ln w="14288">
              <a:solidFill>
                <a:srgbClr val="38BDF8">
                  <a:alpha val="70000"/>
                </a:srgbClr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10810875" y="714375"/>
              <a:ext cx="285750" cy="285750"/>
            </a:xfrm>
            <a:prstGeom prst="ellipse">
              <a:avLst/>
            </a:prstGeom>
            <a:solidFill>
              <a:srgbClr val="38BDF8">
                <a:alpha val="40000"/>
              </a:srgbClr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10906125" y="809625"/>
              <a:ext cx="95250" cy="952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10953750" y="1714500"/>
              <a:ext cx="9525" cy="666750"/>
            </a:xfrm>
            <a:custGeom>
              <a:avLst/>
              <a:gdLst/>
              <a:ahLst/>
              <a:cxnLst/>
              <a:rect l="l" t="t" r="r" b="b"/>
              <a:pathLst>
                <a:path w="9525" h="666750">
                  <a:moveTo>
                    <a:pt x="0" y="0"/>
                  </a:moveTo>
                  <a:lnTo>
                    <a:pt x="0" y="666750"/>
                  </a:lnTo>
                </a:path>
              </a:pathLst>
            </a:custGeom>
            <a:noFill/>
            <a:ln w="14288">
              <a:solidFill>
                <a:srgbClr val="38BDF8">
                  <a:alpha val="60000"/>
                </a:srgbClr>
              </a:solidFill>
              <a:prstDash val="dash"/>
            </a:ln>
          </p:spPr>
        </p:sp>
        <p:sp>
          <p:nvSpPr>
            <p:cNvPr id="33" name="Rectangle 33"/>
            <p:cNvSpPr/>
            <p:nvPr/>
          </p:nvSpPr>
          <p:spPr>
            <a:xfrm rot="2700000">
              <a:off x="10906125" y="2333625"/>
              <a:ext cx="95250" cy="9525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45998" y="705802"/>
            <a:ext cx="4466844" cy="1534287"/>
            <a:chOff x="745998" y="705802"/>
            <a:chExt cx="4466844" cy="1534287"/>
          </a:xfrm>
        </p:grpSpPr>
        <p:sp>
          <p:nvSpPr>
            <p:cNvPr id="35" name="Line 35"/>
            <p:cNvSpPr/>
            <p:nvPr/>
          </p:nvSpPr>
          <p:spPr>
            <a:xfrm>
              <a:off x="762000" y="7620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94916" y="705802"/>
              <a:ext cx="12534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PAGE 02 / 痛点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5998" y="108870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背景痛点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62000" y="16192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47625" cap="rnd">
              <a:gradFill>
                <a:gsLst>
                  <a:gs pos="0">
                    <a:srgbClr val="2563EB"/>
                  </a:gs>
                  <a:gs pos="100000">
                    <a:srgbClr val="38BDF8"/>
                  </a:gs>
                </a:gsLst>
                <a:lin ang="2700000" scaled="1"/>
              </a:gra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810000" y="1524000"/>
              <a:ext cx="1143000" cy="228600"/>
            </a:xfrm>
            <a:prstGeom prst="roundRect">
              <a:avLst>
                <a:gd name="adj" fmla="val 50000"/>
              </a:avLst>
            </a:prstGeom>
            <a:solidFill>
              <a:srgbClr val="EEF4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52684" y="1579245"/>
              <a:ext cx="8576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为何需要改变？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3618" y="191738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传统史学框架面临三重挑战，亟待系统性重构</a:t>
              </a:r>
            </a:p>
          </p:txBody>
        </p:sp>
      </p:grpSp>
      <p:sp>
        <p:nvSpPr>
          <p:cNvPr id="43" name="Rectangle 43"/>
          <p:cNvSpPr/>
          <p:nvPr/>
        </p:nvSpPr>
        <p:spPr>
          <a:xfrm>
            <a:off x="552450" y="2686050"/>
            <a:ext cx="3429000" cy="3429000"/>
          </a:xfrm>
          <a:prstGeom prst="roundRect">
            <a:avLst>
              <a:gd name="adj" fmla="val 3333"/>
            </a:avLst>
          </a:prstGeom>
          <a:solidFill>
            <a:srgbClr val="BDD7FF">
              <a:alpha val="30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4305300" y="2686050"/>
            <a:ext cx="3429000" cy="3429000"/>
          </a:xfrm>
          <a:prstGeom prst="roundRect">
            <a:avLst>
              <a:gd name="adj" fmla="val 3333"/>
            </a:avLst>
          </a:prstGeom>
          <a:solidFill>
            <a:srgbClr val="BDD7FF">
              <a:alpha val="30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8058150" y="2686050"/>
            <a:ext cx="3429000" cy="3429000"/>
          </a:xfrm>
          <a:prstGeom prst="roundRect">
            <a:avLst>
              <a:gd name="adj" fmla="val 3333"/>
            </a:avLst>
          </a:prstGeom>
          <a:solidFill>
            <a:srgbClr val="BDD7FF">
              <a:alpha val="30000"/>
            </a:srgbClr>
          </a:solidFill>
          <a:ln>
            <a:noFill/>
          </a:ln>
        </p:spPr>
      </p:sp>
      <p:grpSp>
        <p:nvGrpSpPr>
          <p:cNvPr id="56" name="Group 56"/>
          <p:cNvGrpSpPr/>
          <p:nvPr/>
        </p:nvGrpSpPr>
        <p:grpSpPr>
          <a:xfrm>
            <a:off x="533400" y="2667000"/>
            <a:ext cx="3429000" cy="3429000"/>
            <a:chOff x="533400" y="2667000"/>
            <a:chExt cx="3429000" cy="3429000"/>
          </a:xfrm>
        </p:grpSpPr>
        <p:sp>
          <p:nvSpPr>
            <p:cNvPr id="46" name="Rectangle 46"/>
            <p:cNvSpPr/>
            <p:nvPr/>
          </p:nvSpPr>
          <p:spPr>
            <a:xfrm>
              <a:off x="533400" y="2667000"/>
              <a:ext cx="3429000" cy="34290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 w="19050">
              <a:solidFill>
                <a:srgbClr val="EEF4FF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533400" y="2667000"/>
              <a:ext cx="3429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563EB"/>
                </a:gs>
                <a:gs pos="100000">
                  <a:srgbClr val="38BDF8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23900" y="295275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90165" y="30575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229106" y="2996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多重叙事困境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723900" y="33813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38BDF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7042" y="3569018"/>
              <a:ext cx="2414016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传统单一线性史观难以容纳</a:t>
              </a: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多元文明起源的考古证据，</a:t>
              </a: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教学与公众认知存在显著断裂。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95325" y="5876925"/>
              <a:ext cx="57150" cy="5715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4" name="Line 54"/>
            <p:cNvSpPr/>
            <p:nvPr/>
          </p:nvSpPr>
          <p:spPr>
            <a:xfrm>
              <a:off x="723900" y="590550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9525">
              <a:solidFill>
                <a:srgbClr val="2563EB">
                  <a:alpha val="50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328738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563EB"/>
                  </a:solidFill>
                  <a:latin typeface="Consolas"/>
                  <a:ea typeface="Microsoft YaHei"/>
                  <a:cs typeface="Consolas"/>
                </a:rPr>
                <a:t>认知诊断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4286250" y="2667000"/>
            <a:ext cx="3429000" cy="3429000"/>
            <a:chOff x="4286250" y="2667000"/>
            <a:chExt cx="3429000" cy="3429000"/>
          </a:xfrm>
        </p:grpSpPr>
        <p:sp>
          <p:nvSpPr>
            <p:cNvPr id="57" name="Rectangle 57"/>
            <p:cNvSpPr/>
            <p:nvPr/>
          </p:nvSpPr>
          <p:spPr>
            <a:xfrm>
              <a:off x="4286250" y="2667000"/>
              <a:ext cx="3429000" cy="34290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 w="19050">
              <a:solidFill>
                <a:srgbClr val="EEF4FF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4286250" y="2667000"/>
              <a:ext cx="34290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C3AED"/>
                </a:gs>
                <a:gs pos="100000">
                  <a:srgbClr val="2563EB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4476750" y="295275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543015" y="30575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81956" y="2996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认知框架缺失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4476750" y="33813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469892" y="3569018"/>
              <a:ext cx="2242566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王朝更替与制度演化的深层</a:t>
              </a: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逻辑常被忽略，导致对历史</a:t>
              </a: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连续性与变革动力理解不足。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4448175" y="5876925"/>
              <a:ext cx="57150" cy="5715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4476750" y="590550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9525">
              <a:solidFill>
                <a:srgbClr val="7C3AED">
                  <a:alpha val="50000"/>
                </a:srgbClr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081588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C3AED"/>
                  </a:solidFill>
                  <a:latin typeface="Consolas"/>
                  <a:ea typeface="Microsoft YaHei"/>
                  <a:cs typeface="Consolas"/>
                </a:rPr>
                <a:t>结构分析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039100" y="2667000"/>
            <a:ext cx="3429000" cy="3429000"/>
            <a:chOff x="8039100" y="2667000"/>
            <a:chExt cx="3429000" cy="3429000"/>
          </a:xfrm>
        </p:grpSpPr>
        <p:sp>
          <p:nvSpPr>
            <p:cNvPr id="68" name="Rectangle 68"/>
            <p:cNvSpPr/>
            <p:nvPr/>
          </p:nvSpPr>
          <p:spPr>
            <a:xfrm>
              <a:off x="8039100" y="2667000"/>
              <a:ext cx="3429000" cy="3429000"/>
            </a:xfrm>
            <a:prstGeom prst="roundRect">
              <a:avLst>
                <a:gd name="adj" fmla="val 3333"/>
              </a:avLst>
            </a:prstGeom>
            <a:gradFill>
              <a:gsLst>
                <a:gs pos="0">
                  <a:srgbClr val="FFFFFF"/>
                </a:gs>
                <a:gs pos="100000">
                  <a:srgbClr val="F8FBFF"/>
                </a:gs>
              </a:gsLst>
              <a:lin ang="5400000" scaled="1"/>
            </a:gradFill>
            <a:ln w="19050">
              <a:solidFill>
                <a:srgbClr val="EEF4FF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8039100" y="2667000"/>
              <a:ext cx="3429000" cy="5715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229600" y="2952750"/>
              <a:ext cx="381000" cy="381000"/>
            </a:xfrm>
            <a:prstGeom prst="roundRect">
              <a:avLst>
                <a:gd name="adj" fmla="val 2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95865" y="30575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734806" y="2996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传播载体滞后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8229600" y="33813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7C3AED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8222742" y="3569018"/>
              <a:ext cx="2242566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静态图文与单向灌输模式</a:t>
              </a: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难以激发当代受众对宏大</a:t>
              </a:r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历史脉络的探索兴趣与思考。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8201025" y="5876925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6" name="Line 76"/>
            <p:cNvSpPr/>
            <p:nvPr/>
          </p:nvSpPr>
          <p:spPr>
            <a:xfrm>
              <a:off x="8229600" y="5905500"/>
              <a:ext cx="514350" cy="9525"/>
            </a:xfrm>
            <a:custGeom>
              <a:avLst/>
              <a:gdLst/>
              <a:ahLst/>
              <a:cxnLst/>
              <a:rect l="l" t="t" r="r" b="b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9525">
              <a:solidFill>
                <a:srgbClr val="38BDF8">
                  <a:alpha val="50000"/>
                </a:srgbClr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8834438" y="58464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8BDF8"/>
                  </a:solidFill>
                  <a:latin typeface="Consolas"/>
                  <a:ea typeface="Microsoft YaHei"/>
                  <a:cs typeface="Consolas"/>
                </a:rPr>
                <a:t>体验升级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533400" y="3429000"/>
            <a:ext cx="11125200" cy="3373204"/>
            <a:chOff x="533400" y="3429000"/>
            <a:chExt cx="11125200" cy="3373204"/>
          </a:xfrm>
        </p:grpSpPr>
        <p:sp>
          <p:nvSpPr>
            <p:cNvPr id="79" name="Line 79"/>
            <p:cNvSpPr/>
            <p:nvPr/>
          </p:nvSpPr>
          <p:spPr>
            <a:xfrm>
              <a:off x="2247900" y="3429000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0"/>
                  </a:moveTo>
                  <a:lnTo>
                    <a:pt x="0" y="3143250"/>
                  </a:lnTo>
                </a:path>
              </a:pathLst>
            </a:custGeom>
            <a:noFill/>
            <a:ln w="14288">
              <a:solidFill>
                <a:srgbClr val="2563EB">
                  <a:alpha val="30000"/>
                </a:srgbClr>
              </a:solidFill>
              <a:custDash>
                <a:ds d="400000" sp="266666"/>
              </a:custDash>
            </a:ln>
          </p:spPr>
        </p:sp>
        <p:sp>
          <p:nvSpPr>
            <p:cNvPr id="80" name="Line 80"/>
            <p:cNvSpPr/>
            <p:nvPr/>
          </p:nvSpPr>
          <p:spPr>
            <a:xfrm>
              <a:off x="6000750" y="3429000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0"/>
                  </a:moveTo>
                  <a:lnTo>
                    <a:pt x="0" y="3143250"/>
                  </a:lnTo>
                </a:path>
              </a:pathLst>
            </a:custGeom>
            <a:noFill/>
            <a:ln w="14288">
              <a:solidFill>
                <a:srgbClr val="7C3AED">
                  <a:alpha val="30000"/>
                </a:srgbClr>
              </a:solidFill>
              <a:custDash>
                <a:ds d="400000" sp="266666"/>
              </a:custDash>
            </a:ln>
          </p:spPr>
        </p:sp>
        <p:sp>
          <p:nvSpPr>
            <p:cNvPr id="81" name="Line 81"/>
            <p:cNvSpPr/>
            <p:nvPr/>
          </p:nvSpPr>
          <p:spPr>
            <a:xfrm>
              <a:off x="9753600" y="3429000"/>
              <a:ext cx="9525" cy="3143250"/>
            </a:xfrm>
            <a:custGeom>
              <a:avLst/>
              <a:gdLst/>
              <a:ahLst/>
              <a:cxnLst/>
              <a:rect l="l" t="t" r="r" b="b"/>
              <a:pathLst>
                <a:path w="9525" h="3143250">
                  <a:moveTo>
                    <a:pt x="0" y="0"/>
                  </a:moveTo>
                  <a:lnTo>
                    <a:pt x="0" y="3143250"/>
                  </a:lnTo>
                </a:path>
              </a:pathLst>
            </a:custGeom>
            <a:noFill/>
            <a:ln w="14288">
              <a:solidFill>
                <a:srgbClr val="38BDF8">
                  <a:alpha val="30000"/>
                </a:srgbClr>
              </a:solidFill>
              <a:custDash>
                <a:ds d="400000" sp="266666"/>
              </a:custDash>
            </a:ln>
          </p:spPr>
        </p:sp>
        <p:sp>
          <p:nvSpPr>
            <p:cNvPr id="82" name="Line 82"/>
            <p:cNvSpPr/>
            <p:nvPr/>
          </p:nvSpPr>
          <p:spPr>
            <a:xfrm>
              <a:off x="533400" y="6477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/>
              </a:solidFill>
            </a:ln>
          </p:spPr>
        </p:sp>
        <p:sp>
          <p:nvSpPr>
            <p:cNvPr id="83" name="Ellipse 83"/>
            <p:cNvSpPr/>
            <p:nvPr/>
          </p:nvSpPr>
          <p:spPr>
            <a:xfrm>
              <a:off x="2209800" y="643890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84" name="Ellipse 84"/>
            <p:cNvSpPr/>
            <p:nvPr/>
          </p:nvSpPr>
          <p:spPr>
            <a:xfrm>
              <a:off x="5962650" y="6438900"/>
              <a:ext cx="76200" cy="762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85" name="Ellipse 85"/>
            <p:cNvSpPr/>
            <p:nvPr/>
          </p:nvSpPr>
          <p:spPr>
            <a:xfrm>
              <a:off x="9715500" y="64389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 rot="2700000">
              <a:off x="5905500" y="6572250"/>
              <a:ext cx="190500" cy="1905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</p:spPr>
        </p:sp>
        <p:sp>
          <p:nvSpPr>
            <p:cNvPr id="87" name="Line 87"/>
            <p:cNvSpPr/>
            <p:nvPr/>
          </p:nvSpPr>
          <p:spPr>
            <a:xfrm>
              <a:off x="6000750" y="66675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14288">
              <a:solidFill>
                <a:srgbClr val="1F2937"/>
              </a:solidFill>
            </a:ln>
          </p:spPr>
        </p:sp>
      </p:grpSp>
      <p:sp>
        <p:nvSpPr>
          <p:cNvPr id="89" name="TextBox 89"/>
          <p:cNvSpPr txBox="1"/>
          <p:nvPr/>
        </p:nvSpPr>
        <p:spPr>
          <a:xfrm>
            <a:off x="5732745" y="6611302"/>
            <a:ext cx="7265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spc="300" dirty="0">
                <a:solidFill>
                  <a:srgbClr val="52637A"/>
                </a:solidFill>
                <a:latin typeface="Consolas"/>
                <a:ea typeface="Consolas"/>
                <a:cs typeface="Consolas"/>
              </a:rPr>
              <a:t>02 / 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-3810000" y="-5715000"/>
            <a:ext cx="21717000" cy="16383000"/>
            <a:chOff x="-3810000" y="-5715000"/>
            <a:chExt cx="21717000" cy="16383000"/>
          </a:xfrm>
        </p:grpSpPr>
        <p:sp>
          <p:nvSpPr>
            <p:cNvPr id="3" name="Ellipse 3"/>
            <p:cNvSpPr/>
            <p:nvPr/>
          </p:nvSpPr>
          <p:spPr>
            <a:xfrm>
              <a:off x="6477000" y="-5715000"/>
              <a:ext cx="11430000" cy="11430000"/>
            </a:xfrm>
            <a:prstGeom prst="ellipse">
              <a:avLst/>
            </a:prstGeom>
            <a:solidFill>
              <a:srgbClr val="2563EB">
                <a:alpha val="3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3810000" y="3048000"/>
              <a:ext cx="7620000" cy="7620000"/>
            </a:xfrm>
            <a:prstGeom prst="ellipse">
              <a:avLst/>
            </a:prstGeom>
            <a:solidFill>
              <a:srgbClr val="38BDF8">
                <a:alpha val="3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333500" y="-1333500"/>
              <a:ext cx="9525000" cy="9525000"/>
            </a:xfrm>
            <a:prstGeom prst="ellipse">
              <a:avLst/>
            </a:prstGeom>
            <a:noFill/>
            <a:ln w="4762">
              <a:solidFill>
                <a:srgbClr val="BDD7FF">
                  <a:alpha val="30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Line 7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rgbClr val="BDD7FF">
                  <a:alpha val="4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762">
              <a:solidFill>
                <a:srgbClr val="BDD7FF">
                  <a:alpha val="40000"/>
                </a:srgb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3400" y="419100"/>
            <a:ext cx="11134725" cy="6029325"/>
            <a:chOff x="533400" y="419100"/>
            <a:chExt cx="11134725" cy="6029325"/>
          </a:xfrm>
        </p:grpSpPr>
        <p:sp>
          <p:nvSpPr>
            <p:cNvPr id="11" name="Line 11"/>
            <p:cNvSpPr/>
            <p:nvPr/>
          </p:nvSpPr>
          <p:spPr>
            <a:xfrm>
              <a:off x="533400" y="419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5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533400" y="64389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DD7FF">
                  <a:alpha val="5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533400" y="419100"/>
              <a:ext cx="9525" cy="6019800"/>
            </a:xfrm>
            <a:custGeom>
              <a:avLst/>
              <a:gdLst/>
              <a:ahLst/>
              <a:cxnLst/>
              <a:rect l="l" t="t" r="r" b="b"/>
              <a:pathLst>
                <a:path w="9525" h="6019800">
                  <a:moveTo>
                    <a:pt x="0" y="0"/>
                  </a:moveTo>
                  <a:lnTo>
                    <a:pt x="0" y="6019800"/>
                  </a:lnTo>
                </a:path>
              </a:pathLst>
            </a:custGeom>
            <a:noFill/>
            <a:ln w="9525">
              <a:solidFill>
                <a:srgbClr val="BDD7FF">
                  <a:alpha val="5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11658600" y="419100"/>
              <a:ext cx="9525" cy="6019800"/>
            </a:xfrm>
            <a:custGeom>
              <a:avLst/>
              <a:gdLst/>
              <a:ahLst/>
              <a:cxnLst/>
              <a:rect l="l" t="t" r="r" b="b"/>
              <a:pathLst>
                <a:path w="9525" h="6019800">
                  <a:moveTo>
                    <a:pt x="0" y="0"/>
                  </a:moveTo>
                  <a:lnTo>
                    <a:pt x="0" y="6019800"/>
                  </a:lnTo>
                </a:path>
              </a:pathLst>
            </a:custGeom>
            <a:noFill/>
            <a:ln w="9525">
              <a:solidFill>
                <a:srgbClr val="BDD7FF">
                  <a:alpha val="50000"/>
                </a:srgbClr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876300" y="685800"/>
            <a:ext cx="152400" cy="152400"/>
            <a:chOff x="876300" y="685800"/>
            <a:chExt cx="152400" cy="152400"/>
          </a:xfrm>
        </p:grpSpPr>
        <p:sp>
          <p:nvSpPr>
            <p:cNvPr id="16" name="Ellipse 16"/>
            <p:cNvSpPr/>
            <p:nvPr/>
          </p:nvSpPr>
          <p:spPr>
            <a:xfrm>
              <a:off x="914400" y="723900"/>
              <a:ext cx="76200" cy="762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76300" y="685800"/>
              <a:ext cx="152400" cy="152400"/>
            </a:xfrm>
            <a:prstGeom prst="ellipse">
              <a:avLst/>
            </a:prstGeom>
            <a:noFill/>
            <a:ln w="9525">
              <a:solidFill>
                <a:srgbClr val="38BDF8">
                  <a:alpha val="50000"/>
                </a:srgbClr>
              </a:solidFill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936498" y="898208"/>
            <a:ext cx="18130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1F2937"/>
                </a:solidFill>
                <a:latin typeface="Arial"/>
                <a:ea typeface="Microsoft YaHei"/>
                <a:cs typeface="Arial"/>
              </a:rPr>
              <a:t>核心方案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" y="1471612"/>
            <a:ext cx="3051810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说明方案如何解决问题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" y="2047875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22" name="Line 22"/>
          <p:cNvSpPr/>
          <p:nvPr/>
        </p:nvSpPr>
        <p:spPr>
          <a:xfrm>
            <a:off x="3810000" y="2047875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9525">
            <a:solidFill>
              <a:srgbClr val="BDD7FF"/>
            </a:solidFill>
          </a:ln>
        </p:spPr>
      </p:sp>
      <p:grpSp>
        <p:nvGrpSpPr>
          <p:cNvPr id="44" name="Group 44"/>
          <p:cNvGrpSpPr/>
          <p:nvPr/>
        </p:nvGrpSpPr>
        <p:grpSpPr>
          <a:xfrm>
            <a:off x="952500" y="2667000"/>
            <a:ext cx="4953000" cy="3286125"/>
            <a:chOff x="952500" y="2667000"/>
            <a:chExt cx="4953000" cy="3286125"/>
          </a:xfrm>
        </p:grpSpPr>
        <p:sp>
          <p:nvSpPr>
            <p:cNvPr id="23" name="Rectangle 23"/>
            <p:cNvSpPr/>
            <p:nvPr/>
          </p:nvSpPr>
          <p:spPr>
            <a:xfrm>
              <a:off x="952500" y="2667000"/>
              <a:ext cx="49530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952500" y="2667000"/>
              <a:ext cx="76200" cy="9048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71550" y="2667000"/>
              <a:ext cx="38100" cy="904875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60000"/>
              </a:srgbClr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085850" y="3062288"/>
              <a:ext cx="114300" cy="1143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1047750" y="3024188"/>
              <a:ext cx="190500" cy="190500"/>
            </a:xfrm>
            <a:prstGeom prst="ellipse">
              <a:avLst/>
            </a:prstGeom>
            <a:noFill/>
            <a:ln w="9525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71981" y="2872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提炼关键事实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74267" y="3207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从背景中识别核心假设与逻辑链条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952500" y="3857625"/>
              <a:ext cx="49530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952500" y="3857625"/>
              <a:ext cx="76200" cy="9048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71550" y="3857625"/>
              <a:ext cx="38100" cy="904875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60000"/>
              </a:srgbClr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1085850" y="4252912"/>
              <a:ext cx="114300" cy="1143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1047750" y="4214812"/>
              <a:ext cx="190500" cy="190500"/>
            </a:xfrm>
            <a:prstGeom prst="ellipse">
              <a:avLst/>
            </a:prstGeom>
            <a:noFill/>
            <a:ln w="9525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371981" y="40633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突出价值点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74267" y="4397692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将方案内容与听众直接利益对齐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52500" y="5048250"/>
              <a:ext cx="4953000" cy="904875"/>
            </a:xfrm>
            <a:prstGeom prst="roundRect">
              <a:avLst>
                <a:gd name="adj" fmla="val 12632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952500" y="5048250"/>
              <a:ext cx="76200" cy="904875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971550" y="5048250"/>
              <a:ext cx="38100" cy="904875"/>
            </a:xfrm>
            <a:prstGeom prst="roundRect">
              <a:avLst>
                <a:gd name="adj" fmla="val 50000"/>
              </a:avLst>
            </a:prstGeom>
            <a:solidFill>
              <a:srgbClr val="38BDF8">
                <a:alpha val="60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1085850" y="5443538"/>
              <a:ext cx="114300" cy="11430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1047750" y="5405438"/>
              <a:ext cx="190500" cy="190500"/>
            </a:xfrm>
            <a:prstGeom prst="ellipse">
              <a:avLst/>
            </a:prstGeom>
            <a:noFill/>
            <a:ln w="9525">
              <a:solidFill>
                <a:srgbClr val="38BDF8">
                  <a:alpha val="40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371981" y="52539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结构化表达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374267" y="55883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使用短句和清晰逻辑传递信息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6477000" y="2476500"/>
            <a:ext cx="4381500" cy="3333750"/>
            <a:chOff x="6477000" y="2476500"/>
            <a:chExt cx="4381500" cy="3333750"/>
          </a:xfrm>
        </p:grpSpPr>
        <p:sp>
          <p:nvSpPr>
            <p:cNvPr id="45" name="Rectangle 45"/>
            <p:cNvSpPr/>
            <p:nvPr/>
          </p:nvSpPr>
          <p:spPr>
            <a:xfrm>
              <a:off x="6477000" y="2476500"/>
              <a:ext cx="4381500" cy="3333750"/>
            </a:xfrm>
            <a:prstGeom prst="roundRect">
              <a:avLst>
                <a:gd name="adj" fmla="val 4571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477000" y="2476500"/>
              <a:ext cx="4381500" cy="3333750"/>
            </a:xfrm>
            <a:prstGeom prst="roundRect">
              <a:avLst>
                <a:gd name="adj" fmla="val 4571"/>
              </a:avLst>
            </a:prstGeom>
            <a:noFill/>
            <a:ln w="9525">
              <a:solidFill>
                <a:srgbClr val="2563EB">
                  <a:alpha val="20000"/>
                </a:srgbClr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477000" y="2476500"/>
              <a:ext cx="4381500" cy="476250"/>
            </a:xfrm>
            <a:custGeom>
              <a:avLst/>
              <a:gdLst/>
              <a:ahLst/>
              <a:cxnLst/>
              <a:rect l="l" t="t" r="r" b="b"/>
              <a:pathLst>
                <a:path w="4381500" h="476250">
                  <a:moveTo>
                    <a:pt x="0" y="152400"/>
                  </a:moveTo>
                  <a:cubicBezTo>
                    <a:pt x="0" y="68232"/>
                    <a:pt x="68232" y="0"/>
                    <a:pt x="152400" y="0"/>
                  </a:cubicBezTo>
                  <a:lnTo>
                    <a:pt x="4229100" y="0"/>
                  </a:lnTo>
                  <a:cubicBezTo>
                    <a:pt x="4313268" y="0"/>
                    <a:pt x="4381500" y="68232"/>
                    <a:pt x="4381500" y="152400"/>
                  </a:cubicBezTo>
                  <a:lnTo>
                    <a:pt x="4381500" y="476250"/>
                  </a:lnTo>
                  <a:lnTo>
                    <a:pt x="0" y="476250"/>
                  </a:lnTo>
                  <a:close/>
                </a:path>
              </a:pathLst>
            </a:custGeom>
            <a:solidFill>
              <a:srgbClr val="EEF4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993009" y="266414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方案结构示意图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7524750" y="3571875"/>
              <a:ext cx="1143000" cy="904875"/>
            </a:xfrm>
            <a:custGeom>
              <a:avLst/>
              <a:gdLst/>
              <a:ahLst/>
              <a:cxnLst/>
              <a:rect l="l" t="t" r="r" b="b"/>
              <a:pathLst>
                <a:path w="1143000" h="904875">
                  <a:moveTo>
                    <a:pt x="0" y="0"/>
                  </a:moveTo>
                  <a:lnTo>
                    <a:pt x="1143000" y="904875"/>
                  </a:lnTo>
                </a:path>
              </a:pathLst>
            </a:custGeom>
            <a:noFill/>
            <a:ln w="14288">
              <a:solidFill>
                <a:srgbClr val="BDD7FF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629650" y="443865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8667750" y="3571875"/>
              <a:ext cx="1143000" cy="904875"/>
            </a:xfrm>
            <a:custGeom>
              <a:avLst/>
              <a:gdLst/>
              <a:ahLst/>
              <a:cxnLst/>
              <a:rect l="l" t="t" r="r" b="b"/>
              <a:pathLst>
                <a:path w="1143000" h="904875">
                  <a:moveTo>
                    <a:pt x="1143000" y="0"/>
                  </a:moveTo>
                  <a:lnTo>
                    <a:pt x="0" y="904875"/>
                  </a:lnTo>
                </a:path>
              </a:pathLst>
            </a:custGeom>
            <a:noFill/>
            <a:ln w="14288">
              <a:solidFill>
                <a:srgbClr val="BDD7FF"/>
              </a:solidFill>
            </a:ln>
          </p:spPr>
        </p:sp>
        <p:sp>
          <p:nvSpPr>
            <p:cNvPr id="52" name="Ellipse 52"/>
            <p:cNvSpPr/>
            <p:nvPr/>
          </p:nvSpPr>
          <p:spPr>
            <a:xfrm>
              <a:off x="8629650" y="4438650"/>
              <a:ext cx="76200" cy="762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7524750" y="4476750"/>
              <a:ext cx="1143000" cy="904875"/>
            </a:xfrm>
            <a:custGeom>
              <a:avLst/>
              <a:gdLst/>
              <a:ahLst/>
              <a:cxnLst/>
              <a:rect l="l" t="t" r="r" b="b"/>
              <a:pathLst>
                <a:path w="1143000" h="904875">
                  <a:moveTo>
                    <a:pt x="0" y="904875"/>
                  </a:moveTo>
                  <a:lnTo>
                    <a:pt x="1143000" y="0"/>
                  </a:lnTo>
                </a:path>
              </a:pathLst>
            </a:custGeom>
            <a:noFill/>
            <a:ln w="14288">
              <a:solidFill>
                <a:srgbClr val="BDD7FF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8667750" y="4476750"/>
              <a:ext cx="1143000" cy="904875"/>
            </a:xfrm>
            <a:custGeom>
              <a:avLst/>
              <a:gdLst/>
              <a:ahLst/>
              <a:cxnLst/>
              <a:rect l="l" t="t" r="r" b="b"/>
              <a:pathLst>
                <a:path w="1143000" h="904875">
                  <a:moveTo>
                    <a:pt x="1143000" y="904875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BDD7FF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8191500" y="4000500"/>
              <a:ext cx="952500" cy="952500"/>
              <a:chOff x="8191500" y="4000500"/>
              <a:chExt cx="952500" cy="952500"/>
            </a:xfrm>
          </p:grpSpPr>
          <p:sp>
            <p:nvSpPr>
              <p:cNvPr id="55" name="Ellipse 55"/>
              <p:cNvSpPr/>
              <p:nvPr/>
            </p:nvSpPr>
            <p:spPr>
              <a:xfrm>
                <a:off x="8239125" y="4048125"/>
                <a:ext cx="857250" cy="857250"/>
              </a:xfrm>
              <a:prstGeom prst="ellipse">
                <a:avLst/>
              </a:prstGeom>
              <a:solidFill>
                <a:srgbClr val="F8FBFF"/>
              </a:solidFill>
              <a:ln w="28575">
                <a:solidFill>
                  <a:srgbClr val="2563EB"/>
                </a:solidFill>
              </a:ln>
            </p:spPr>
          </p:sp>
          <p:sp>
            <p:nvSpPr>
              <p:cNvPr id="56" name="Ellipse 56"/>
              <p:cNvSpPr/>
              <p:nvPr/>
            </p:nvSpPr>
            <p:spPr>
              <a:xfrm>
                <a:off x="8286750" y="4095750"/>
                <a:ext cx="762000" cy="762000"/>
              </a:xfrm>
              <a:prstGeom prst="ellipse">
                <a:avLst/>
              </a:prstGeom>
              <a:noFill/>
              <a:ln w="14288">
                <a:solidFill>
                  <a:srgbClr val="38BDF8"/>
                </a:solidFill>
                <a:prstDash val="dash"/>
              </a:ln>
            </p:spPr>
          </p:sp>
          <p:sp>
            <p:nvSpPr>
              <p:cNvPr id="57" name="Ellipse 57"/>
              <p:cNvSpPr/>
              <p:nvPr/>
            </p:nvSpPr>
            <p:spPr>
              <a:xfrm>
                <a:off x="8191500" y="4000500"/>
                <a:ext cx="952500" cy="952500"/>
              </a:xfrm>
              <a:prstGeom prst="ellipse">
                <a:avLst/>
              </a:prstGeom>
              <a:noFill/>
              <a:ln w="9525">
                <a:solidFill>
                  <a:srgbClr val="2563EB">
                    <a:alpha val="30000"/>
                  </a:srgbClr>
                </a:solidFill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470068" y="4283392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核心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470068" y="4502468"/>
                <a:ext cx="3953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方案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7067550" y="3305175"/>
              <a:ext cx="914400" cy="549212"/>
              <a:chOff x="7067550" y="3305175"/>
              <a:chExt cx="914400" cy="549212"/>
            </a:xfrm>
          </p:grpSpPr>
          <p:sp>
            <p:nvSpPr>
              <p:cNvPr id="61" name="Rectangle 61"/>
              <p:cNvSpPr/>
              <p:nvPr/>
            </p:nvSpPr>
            <p:spPr>
              <a:xfrm>
                <a:off x="7067550" y="3305175"/>
                <a:ext cx="9144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222579" y="345852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事实提炼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095363" y="364902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关键驱动因素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9353550" y="3305175"/>
              <a:ext cx="914400" cy="549212"/>
              <a:chOff x="9353550" y="3305175"/>
              <a:chExt cx="914400" cy="549212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9353550" y="3305175"/>
                <a:ext cx="9144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508579" y="345852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价值对齐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452038" y="36490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听众利益点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7067550" y="5114925"/>
              <a:ext cx="914400" cy="549212"/>
              <a:chOff x="7067550" y="5114925"/>
              <a:chExt cx="914400" cy="549212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7067550" y="5114925"/>
                <a:ext cx="9144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7148370" y="5268278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结构化表达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7095363" y="545877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清晰逻辑框架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9353550" y="5114925"/>
              <a:ext cx="914400" cy="549212"/>
              <a:chOff x="9353550" y="5114925"/>
              <a:chExt cx="914400" cy="549212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353550" y="5114925"/>
                <a:ext cx="914400" cy="533400"/>
              </a:xfrm>
              <a:prstGeom prst="roundRect">
                <a:avLst>
                  <a:gd name="adj" fmla="val 14286"/>
                </a:avLst>
              </a:prstGeom>
              <a:solidFill>
                <a:srgbClr val="FFFFFF"/>
              </a:solidFill>
              <a:ln w="19050">
                <a:solidFill>
                  <a:srgbClr val="2563EB"/>
                </a:solidFill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9508579" y="526827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F2937"/>
                    </a:solidFill>
                    <a:latin typeface="Arial"/>
                    <a:ea typeface="Microsoft YaHei"/>
                    <a:cs typeface="Arial"/>
                  </a:rPr>
                  <a:t>精准传达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9381363" y="5458778"/>
                <a:ext cx="8587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52637A"/>
                    </a:solidFill>
                    <a:latin typeface="Arial"/>
                    <a:ea typeface="Microsoft YaHei"/>
                    <a:cs typeface="Arial"/>
                  </a:rPr>
                  <a:t>减少认知负荷</a:t>
                </a:r>
              </a:p>
            </p:txBody>
          </p:sp>
        </p:grpSp>
        <p:sp>
          <p:nvSpPr>
            <p:cNvPr id="77" name="Ellipse 77"/>
            <p:cNvSpPr/>
            <p:nvPr/>
          </p:nvSpPr>
          <p:spPr>
            <a:xfrm>
              <a:off x="7496175" y="3543300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9782175" y="3543300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7496175" y="5353050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80" name="Ellipse 80"/>
            <p:cNvSpPr/>
            <p:nvPr/>
          </p:nvSpPr>
          <p:spPr>
            <a:xfrm>
              <a:off x="9782175" y="5353050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</p:grpSp>
      <p:sp>
        <p:nvSpPr>
          <p:cNvPr id="82" name="TextBox 82"/>
          <p:cNvSpPr txBox="1"/>
          <p:nvPr/>
        </p:nvSpPr>
        <p:spPr>
          <a:xfrm>
            <a:off x="11335226" y="6554152"/>
            <a:ext cx="3287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BDD7FF"/>
                </a:solidFill>
                <a:latin typeface="Arial"/>
                <a:ea typeface="Arial"/>
                <a:cs typeface="Arial"/>
              </a:rPr>
              <a:t>3 / 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0096500" y="-190500"/>
            <a:ext cx="2286000" cy="228600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239500" y="1143000"/>
            <a:ext cx="1143000" cy="1143000"/>
          </a:xfrm>
          <a:prstGeom prst="ellipse">
            <a:avLst/>
          </a:prstGeom>
          <a:solidFill>
            <a:srgbClr val="7C3AED">
              <a:alpha val="12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0" y="4953000"/>
            <a:ext cx="2667000" cy="1524000"/>
          </a:xfrm>
          <a:prstGeom prst="roundRect">
            <a:avLst>
              <a:gd name="adj" fmla="val 18750"/>
            </a:avLst>
          </a:prstGeom>
          <a:solidFill>
            <a:srgbClr val="EEF4FF">
              <a:alpha val="60000"/>
            </a:srgbClr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745998" y="612458"/>
            <a:ext cx="10684002" cy="987742"/>
            <a:chOff x="745998" y="612458"/>
            <a:chExt cx="10684002" cy="987742"/>
          </a:xfrm>
        </p:grpSpPr>
        <p:sp>
          <p:nvSpPr>
            <p:cNvPr id="6" name="TextBox 6"/>
            <p:cNvSpPr txBox="1"/>
            <p:nvPr/>
          </p:nvSpPr>
          <p:spPr>
            <a:xfrm>
              <a:off x="745998" y="612458"/>
              <a:ext cx="181302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技术流程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2856" y="113919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Segoe UI"/>
                  <a:ea typeface="Microsoft YaHei"/>
                  <a:cs typeface="Segoe UI"/>
                </a:rPr>
                <a:t>用流程化结构表达输入到输出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762000" y="1571625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543050"/>
              <a:ext cx="1714500" cy="571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62000" y="1905000"/>
            <a:ext cx="3238500" cy="4000500"/>
            <a:chOff x="762000" y="1905000"/>
            <a:chExt cx="3238500" cy="4000500"/>
          </a:xfrm>
        </p:grpSpPr>
        <p:sp>
          <p:nvSpPr>
            <p:cNvPr id="11" name="Rectangle 11"/>
            <p:cNvSpPr/>
            <p:nvPr/>
          </p:nvSpPr>
          <p:spPr>
            <a:xfrm>
              <a:off x="762000" y="2286000"/>
              <a:ext cx="3238500" cy="36195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12" name="Ellipse 12"/>
            <p:cNvSpPr/>
            <p:nvPr/>
          </p:nvSpPr>
          <p:spPr>
            <a:xfrm>
              <a:off x="2000250" y="1905000"/>
              <a:ext cx="762000" cy="7620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88952" y="2154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4618" y="2965132"/>
              <a:ext cx="17268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提炼确认 Promp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4618" y="3298508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t 中的关键事实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000500" y="3962400"/>
            <a:ext cx="381000" cy="266700"/>
            <a:chOff x="4000500" y="3962400"/>
            <a:chExt cx="381000" cy="266700"/>
          </a:xfrm>
        </p:grpSpPr>
        <p:sp>
          <p:nvSpPr>
            <p:cNvPr id="17" name="Line 17"/>
            <p:cNvSpPr/>
            <p:nvPr/>
          </p:nvSpPr>
          <p:spPr>
            <a:xfrm>
              <a:off x="4000500" y="40957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4248150" y="3962400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133350" h="266700">
                  <a:moveTo>
                    <a:pt x="0" y="0"/>
                  </a:moveTo>
                  <a:lnTo>
                    <a:pt x="133350" y="133350"/>
                  </a:lnTo>
                  <a:lnTo>
                    <a:pt x="0" y="26670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  <a:round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4457700" y="1905000"/>
            <a:ext cx="3238500" cy="4000500"/>
            <a:chOff x="4457700" y="1905000"/>
            <a:chExt cx="3238500" cy="4000500"/>
          </a:xfrm>
        </p:grpSpPr>
        <p:sp>
          <p:nvSpPr>
            <p:cNvPr id="20" name="Rectangle 20"/>
            <p:cNvSpPr/>
            <p:nvPr/>
          </p:nvSpPr>
          <p:spPr>
            <a:xfrm>
              <a:off x="4457700" y="2286000"/>
              <a:ext cx="3238500" cy="36195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695950" y="1905000"/>
              <a:ext cx="762000" cy="7620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84652" y="2154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30318" y="296513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突出听众最关心的价值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830318" y="3298508"/>
              <a:ext cx="2499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点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696200" y="3962400"/>
            <a:ext cx="381000" cy="266700"/>
            <a:chOff x="7696200" y="3962400"/>
            <a:chExt cx="381000" cy="266700"/>
          </a:xfrm>
        </p:grpSpPr>
        <p:sp>
          <p:nvSpPr>
            <p:cNvPr id="26" name="Line 26"/>
            <p:cNvSpPr/>
            <p:nvPr/>
          </p:nvSpPr>
          <p:spPr>
            <a:xfrm>
              <a:off x="7696200" y="4095750"/>
              <a:ext cx="342900" cy="9525"/>
            </a:xfrm>
            <a:custGeom>
              <a:avLst/>
              <a:gdLst/>
              <a:ahLst/>
              <a:cxnLst/>
              <a:rect l="l" t="t" r="r" b="b"/>
              <a:pathLst>
                <a:path w="342900" h="9525">
                  <a:moveTo>
                    <a:pt x="0" y="0"/>
                  </a:moveTo>
                  <a:lnTo>
                    <a:pt x="342900" y="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7943850" y="3962400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133350" h="266700">
                  <a:moveTo>
                    <a:pt x="0" y="0"/>
                  </a:moveTo>
                  <a:lnTo>
                    <a:pt x="133350" y="133350"/>
                  </a:lnTo>
                  <a:lnTo>
                    <a:pt x="0" y="266700"/>
                  </a:lnTo>
                </a:path>
              </a:pathLst>
            </a:custGeom>
            <a:noFill/>
            <a:ln w="38100" cap="rnd">
              <a:solidFill>
                <a:srgbClr val="2563EB"/>
              </a:solidFill>
              <a:round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153400" y="1905000"/>
            <a:ext cx="3238500" cy="4000500"/>
            <a:chOff x="8153400" y="1905000"/>
            <a:chExt cx="3238500" cy="4000500"/>
          </a:xfrm>
        </p:grpSpPr>
        <p:sp>
          <p:nvSpPr>
            <p:cNvPr id="29" name="Rectangle 29"/>
            <p:cNvSpPr/>
            <p:nvPr/>
          </p:nvSpPr>
          <p:spPr>
            <a:xfrm>
              <a:off x="8153400" y="2286000"/>
              <a:ext cx="3238500" cy="3619500"/>
            </a:xfrm>
            <a:prstGeom prst="roundRect">
              <a:avLst>
                <a:gd name="adj" fmla="val 4706"/>
              </a:avLst>
            </a:prstGeom>
            <a:solidFill>
              <a:srgbClr val="FFFFFF"/>
            </a:solidFill>
            <a:ln w="19050">
              <a:solidFill>
                <a:srgbClr val="BDD7FF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391650" y="1905000"/>
              <a:ext cx="762000" cy="7620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680352" y="2154555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26018" y="2965132"/>
              <a:ext cx="23490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Segoe UI"/>
                  <a:ea typeface="Microsoft YaHei"/>
                  <a:cs typeface="Segoe UI"/>
                </a:rPr>
                <a:t>使用短句和结构化表达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5904" y="6347460"/>
            <a:ext cx="10680192" cy="234696"/>
            <a:chOff x="755904" y="6347460"/>
            <a:chExt cx="106801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755904" y="63474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04 / 06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18688" y="6347460"/>
              <a:ext cx="2117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52637A"/>
                  </a:solidFill>
                  <a:latin typeface="Segoe UI"/>
                  <a:ea typeface="Segoe UI"/>
                  <a:cs typeface="Segoe UI"/>
                </a:rPr>
                <a:t>Pomegranate · PPT Master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8FBFF"/>
              </a:gs>
              <a:gs pos="100000">
                <a:srgbClr val="EEF4FF"/>
              </a:gs>
            </a:gsLst>
            <a:lin ang="270000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30000"/>
                </a:srgbClr>
              </a:solidFill>
              <a:custDash>
                <a:ds d="400000" sp="1200000"/>
              </a:custDash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30000"/>
                </a:srgbClr>
              </a:solidFill>
              <a:custDash>
                <a:ds d="400000" sp="1200000"/>
              </a:custDash>
            </a:ln>
          </p:spPr>
        </p:sp>
        <p:sp>
          <p:nvSpPr>
            <p:cNvPr id="5" name="Ellipse 5"/>
            <p:cNvSpPr/>
            <p:nvPr/>
          </p:nvSpPr>
          <p:spPr>
            <a:xfrm>
              <a:off x="3238500" y="571500"/>
              <a:ext cx="5715000" cy="5715000"/>
            </a:xfrm>
            <a:prstGeom prst="ellipse">
              <a:avLst/>
            </a:prstGeom>
            <a:noFill/>
            <a:ln w="9525">
              <a:solidFill>
                <a:srgbClr val="BDD7FF">
                  <a:alpha val="30000"/>
                </a:srgbClr>
              </a:solidFill>
              <a:custDash>
                <a:ds d="200000" sp="600000"/>
              </a:custDash>
            </a:ln>
          </p:spPr>
        </p:sp>
        <p:sp>
          <p:nvSpPr>
            <p:cNvPr id="6" name="Ellipse 6"/>
            <p:cNvSpPr/>
            <p:nvPr/>
          </p:nvSpPr>
          <p:spPr>
            <a:xfrm>
              <a:off x="4000500" y="1333500"/>
              <a:ext cx="4191000" cy="4191000"/>
            </a:xfrm>
            <a:prstGeom prst="ellipse">
              <a:avLst/>
            </a:prstGeom>
            <a:noFill/>
            <a:ln w="9525">
              <a:solidFill>
                <a:srgbClr val="BDD7FF">
                  <a:alpha val="30000"/>
                </a:srgbClr>
              </a:solidFill>
              <a:custDash>
                <a:ds d="200000" sp="600000"/>
              </a:custDash>
            </a:ln>
          </p:spPr>
        </p:sp>
        <p:sp>
          <p:nvSpPr>
            <p:cNvPr id="7" name="Ellipse 7"/>
            <p:cNvSpPr/>
            <p:nvPr/>
          </p:nvSpPr>
          <p:spPr>
            <a:xfrm>
              <a:off x="4762500" y="2095500"/>
              <a:ext cx="2667000" cy="2667000"/>
            </a:xfrm>
            <a:prstGeom prst="ellipse">
              <a:avLst/>
            </a:prstGeom>
            <a:noFill/>
            <a:ln w="9525">
              <a:solidFill>
                <a:srgbClr val="BDD7FF">
                  <a:alpha val="30000"/>
                </a:srgbClr>
              </a:solidFill>
              <a:custDash>
                <a:ds d="200000" sp="600000"/>
              </a:custDash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381000" y="952500"/>
            <a:ext cx="11430000" cy="5334000"/>
            <a:chOff x="381000" y="952500"/>
            <a:chExt cx="11430000" cy="5334000"/>
          </a:xfrm>
        </p:grpSpPr>
        <p:sp>
          <p:nvSpPr>
            <p:cNvPr id="9" name="Polygon 9"/>
            <p:cNvSpPr/>
            <p:nvPr/>
          </p:nvSpPr>
          <p:spPr>
            <a:xfrm>
              <a:off x="762000" y="161925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285750"/>
                  </a:moveTo>
                  <a:lnTo>
                    <a:pt x="571500" y="0"/>
                  </a:lnTo>
                  <a:lnTo>
                    <a:pt x="1143000" y="285750"/>
                  </a:lnTo>
                  <a:lnTo>
                    <a:pt x="1143000" y="857250"/>
                  </a:lnTo>
                  <a:lnTo>
                    <a:pt x="571500" y="114300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10" name="Polygon 10"/>
            <p:cNvSpPr/>
            <p:nvPr/>
          </p:nvSpPr>
          <p:spPr>
            <a:xfrm>
              <a:off x="10287000" y="4476750"/>
              <a:ext cx="1143000" cy="1143000"/>
            </a:xfrm>
            <a:custGeom>
              <a:avLst/>
              <a:gdLst/>
              <a:ahLst/>
              <a:cxnLst/>
              <a:rect l="l" t="t" r="r" b="b"/>
              <a:pathLst>
                <a:path w="1143000" h="1143000">
                  <a:moveTo>
                    <a:pt x="0" y="285750"/>
                  </a:moveTo>
                  <a:lnTo>
                    <a:pt x="571500" y="0"/>
                  </a:lnTo>
                  <a:lnTo>
                    <a:pt x="1143000" y="285750"/>
                  </a:lnTo>
                  <a:lnTo>
                    <a:pt x="1143000" y="857250"/>
                  </a:lnTo>
                  <a:lnTo>
                    <a:pt x="571500" y="1143000"/>
                  </a:lnTo>
                  <a:lnTo>
                    <a:pt x="0" y="857250"/>
                  </a:lnTo>
                  <a:close/>
                </a:path>
              </a:pathLst>
            </a:cu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" y="5715000"/>
              <a:ext cx="571500" cy="571500"/>
            </a:xfrm>
            <a:prstGeom prst="roundRect">
              <a:avLst>
                <a:gd name="adj" fmla="val 6667"/>
              </a:avLst>
            </a:prstGeom>
            <a:solidFill>
              <a:srgbClr val="2563EB">
                <a:alpha val="4000"/>
              </a:srgbClr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1239500" y="952500"/>
              <a:ext cx="571500" cy="571500"/>
            </a:xfrm>
            <a:prstGeom prst="roundRect">
              <a:avLst>
                <a:gd name="adj" fmla="val 6667"/>
              </a:avLst>
            </a:prstGeom>
            <a:solidFill>
              <a:srgbClr val="2563EB">
                <a:alpha val="4000"/>
              </a:srgbClr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45998" y="231458"/>
            <a:ext cx="2448306" cy="1069276"/>
            <a:chOff x="745998" y="231458"/>
            <a:chExt cx="2448306" cy="1069276"/>
          </a:xfrm>
        </p:grpSpPr>
        <p:sp>
          <p:nvSpPr>
            <p:cNvPr id="14" name="TextBox 14"/>
            <p:cNvSpPr txBox="1"/>
            <p:nvPr/>
          </p:nvSpPr>
          <p:spPr>
            <a:xfrm>
              <a:off x="745998" y="231458"/>
              <a:ext cx="221575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spc="75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Demo 展示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8001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2856" y="948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说明最小闭环如何演示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2000" y="2286000"/>
            <a:ext cx="3048000" cy="3048000"/>
            <a:chOff x="4572000" y="2286000"/>
            <a:chExt cx="3048000" cy="3048000"/>
          </a:xfrm>
        </p:grpSpPr>
        <p:sp>
          <p:nvSpPr>
            <p:cNvPr id="18" name="Ellipse 18"/>
            <p:cNvSpPr/>
            <p:nvPr/>
          </p:nvSpPr>
          <p:spPr>
            <a:xfrm>
              <a:off x="4572000" y="2286000"/>
              <a:ext cx="3048000" cy="3048000"/>
            </a:xfrm>
            <a:prstGeom prst="ellipse">
              <a:avLst/>
            </a:prstGeom>
            <a:solidFill>
              <a:srgbClr val="EEF4FF"/>
            </a:solidFill>
            <a:ln w="19050">
              <a:solidFill>
                <a:srgbClr val="2563EB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667250" y="2381250"/>
              <a:ext cx="2857500" cy="2857500"/>
            </a:xfrm>
            <a:prstGeom prst="ellipse">
              <a:avLst/>
            </a:prstGeom>
            <a:noFill/>
            <a:ln w="19050">
              <a:solidFill>
                <a:srgbClr val="38BDF8"/>
              </a:solidFill>
              <a:custDash>
                <a:ds d="600000" sp="300000"/>
              </a:custDash>
            </a:ln>
          </p:spPr>
        </p:sp>
        <p:sp>
          <p:nvSpPr>
            <p:cNvPr id="20" name="Ellipse 20"/>
            <p:cNvSpPr/>
            <p:nvPr/>
          </p:nvSpPr>
          <p:spPr>
            <a:xfrm>
              <a:off x="4762500" y="2476500"/>
              <a:ext cx="2667000" cy="2667000"/>
            </a:xfrm>
            <a:prstGeom prst="ellipse">
              <a:avLst/>
            </a:prstGeom>
            <a:solidFill>
              <a:srgbClr val="FFFFFF">
                <a:alpha val="80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19980" y="3148965"/>
              <a:ext cx="2752039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闭环验证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34902" y="3886200"/>
              <a:ext cx="23221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spc="1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最小可行演示 (MVD)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905000" y="2476500"/>
            <a:ext cx="8382000" cy="2762250"/>
            <a:chOff x="1905000" y="2476500"/>
            <a:chExt cx="8382000" cy="2762250"/>
          </a:xfrm>
        </p:grpSpPr>
        <p:sp>
          <p:nvSpPr>
            <p:cNvPr id="24" name="Freeform 24"/>
            <p:cNvSpPr/>
            <p:nvPr/>
          </p:nvSpPr>
          <p:spPr>
            <a:xfrm>
              <a:off x="3048000" y="2476500"/>
              <a:ext cx="1333500" cy="762000"/>
            </a:xfrm>
            <a:custGeom>
              <a:avLst/>
              <a:gdLst/>
              <a:ahLst/>
              <a:cxnLst/>
              <a:rect l="l" t="t" r="r" b="b"/>
              <a:pathLst>
                <a:path w="1333500" h="762000">
                  <a:moveTo>
                    <a:pt x="1333500" y="762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  <a:prstDash val="dash"/>
            </a:ln>
          </p:spPr>
        </p:sp>
        <p:sp>
          <p:nvSpPr>
            <p:cNvPr id="25" name="Line 25"/>
            <p:cNvSpPr/>
            <p:nvPr/>
          </p:nvSpPr>
          <p:spPr>
            <a:xfrm>
              <a:off x="1905000" y="2476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1143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  <a:prstDash val="dash"/>
            </a:ln>
          </p:spPr>
        </p:sp>
        <p:sp>
          <p:nvSpPr>
            <p:cNvPr id="26" name="Freeform 26"/>
            <p:cNvSpPr/>
            <p:nvPr/>
          </p:nvSpPr>
          <p:spPr>
            <a:xfrm>
              <a:off x="7810500" y="2476500"/>
              <a:ext cx="1333500" cy="762000"/>
            </a:xfrm>
            <a:custGeom>
              <a:avLst/>
              <a:gdLst/>
              <a:ahLst/>
              <a:cxnLst/>
              <a:rect l="l" t="t" r="r" b="b"/>
              <a:pathLst>
                <a:path w="1333500" h="762000">
                  <a:moveTo>
                    <a:pt x="0" y="762000"/>
                  </a:moveTo>
                  <a:lnTo>
                    <a:pt x="13335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  <a:prstDash val="dash"/>
            </a:ln>
          </p:spPr>
        </p:sp>
        <p:sp>
          <p:nvSpPr>
            <p:cNvPr id="27" name="Line 27"/>
            <p:cNvSpPr/>
            <p:nvPr/>
          </p:nvSpPr>
          <p:spPr>
            <a:xfrm>
              <a:off x="9144000" y="247650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BDD7FF"/>
              </a:solidFill>
              <a:prstDash val="dash"/>
            </a:ln>
          </p:spPr>
        </p:sp>
        <p:sp>
          <p:nvSpPr>
            <p:cNvPr id="28" name="Line 28"/>
            <p:cNvSpPr/>
            <p:nvPr/>
          </p:nvSpPr>
          <p:spPr>
            <a:xfrm>
              <a:off x="6096000" y="47625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9050">
              <a:solidFill>
                <a:srgbClr val="BDD7FF"/>
              </a:solidFill>
              <a:prstDash val="dash"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2990850" y="2419350"/>
            <a:ext cx="6210300" cy="2400300"/>
            <a:chOff x="2990850" y="2419350"/>
            <a:chExt cx="6210300" cy="2400300"/>
          </a:xfrm>
        </p:grpSpPr>
        <p:sp>
          <p:nvSpPr>
            <p:cNvPr id="30" name="Ellipse 30"/>
            <p:cNvSpPr/>
            <p:nvPr/>
          </p:nvSpPr>
          <p:spPr>
            <a:xfrm>
              <a:off x="4324350" y="31813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4352925" y="320992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2990850" y="24193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3019425" y="244792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7753350" y="31813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7781925" y="320992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9086850" y="24193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9115425" y="244792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6038850" y="4705350"/>
              <a:ext cx="114300" cy="1143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067425" y="473392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62000" y="2047875"/>
            <a:ext cx="2286000" cy="857250"/>
            <a:chOff x="762000" y="2047875"/>
            <a:chExt cx="2286000" cy="857250"/>
          </a:xfrm>
        </p:grpSpPr>
        <p:sp>
          <p:nvSpPr>
            <p:cNvPr id="41" name="Rectangle 41"/>
            <p:cNvSpPr/>
            <p:nvPr/>
          </p:nvSpPr>
          <p:spPr>
            <a:xfrm>
              <a:off x="762000" y="2047875"/>
              <a:ext cx="2286000" cy="857250"/>
            </a:xfrm>
            <a:prstGeom prst="roundRect">
              <a:avLst>
                <a:gd name="adj" fmla="val 13333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62000" y="2047875"/>
              <a:ext cx="2286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762000" y="2047875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325670" y="22355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提炼关键事实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79109" y="2553652"/>
              <a:ext cx="14517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从确认 Prompt 中萃取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144000" y="2047875"/>
            <a:ext cx="2286000" cy="857250"/>
            <a:chOff x="9144000" y="2047875"/>
            <a:chExt cx="2286000" cy="857250"/>
          </a:xfrm>
        </p:grpSpPr>
        <p:sp>
          <p:nvSpPr>
            <p:cNvPr id="47" name="Rectangle 47"/>
            <p:cNvSpPr/>
            <p:nvPr/>
          </p:nvSpPr>
          <p:spPr>
            <a:xfrm>
              <a:off x="9144000" y="2047875"/>
              <a:ext cx="2286000" cy="857250"/>
            </a:xfrm>
            <a:prstGeom prst="roundRect">
              <a:avLst>
                <a:gd name="adj" fmla="val 13333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9144000" y="2047875"/>
              <a:ext cx="2286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9144000" y="2047875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803082" y="22355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突出价值点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16262" y="25536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听众最关心的核心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953000" y="5238750"/>
            <a:ext cx="2286000" cy="857250"/>
            <a:chOff x="4953000" y="5238750"/>
            <a:chExt cx="2286000" cy="857250"/>
          </a:xfrm>
        </p:grpSpPr>
        <p:sp>
          <p:nvSpPr>
            <p:cNvPr id="53" name="Rectangle 53"/>
            <p:cNvSpPr/>
            <p:nvPr/>
          </p:nvSpPr>
          <p:spPr>
            <a:xfrm>
              <a:off x="4953000" y="5238750"/>
              <a:ext cx="2286000" cy="857250"/>
            </a:xfrm>
            <a:prstGeom prst="roundRect">
              <a:avLst>
                <a:gd name="adj" fmla="val 13333"/>
              </a:avLst>
            </a:prstGeom>
            <a:solidFill>
              <a:srgbClr val="000000">
                <a:alpha val="5000"/>
              </a:srgbClr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953000" y="5238750"/>
              <a:ext cx="2286000" cy="85725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BDD7FF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953000" y="5238750"/>
              <a:ext cx="57150" cy="85725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612082" y="54263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结构化表达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525262" y="5744528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使用短句清晰传达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756666" y="6363652"/>
            <a:ext cx="576072" cy="205359"/>
            <a:chOff x="756666" y="6363652"/>
            <a:chExt cx="576072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756666" y="63636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中国历史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0842193" y="6363652"/>
            <a:ext cx="593141" cy="205359"/>
            <a:chOff x="10842193" y="6363652"/>
            <a:chExt cx="593141" cy="205359"/>
          </a:xfrm>
        </p:grpSpPr>
        <p:sp>
          <p:nvSpPr>
            <p:cNvPr id="61" name="TextBox 61"/>
            <p:cNvSpPr txBox="1"/>
            <p:nvPr/>
          </p:nvSpPr>
          <p:spPr>
            <a:xfrm>
              <a:off x="10842193" y="6363652"/>
              <a:ext cx="5931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52637A"/>
                  </a:solidFill>
                  <a:latin typeface="Arial"/>
                  <a:ea typeface="Arial"/>
                  <a:cs typeface="Arial"/>
                </a:rPr>
                <a:t>P05 / 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Line 3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2000"/>
                </a:srgbClr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2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rgbClr val="BDD7FF">
                  <a:alpha val="12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2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2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rgbClr val="BDD7FF">
                  <a:alpha val="12000"/>
                </a:srgbClr>
              </a:solidFill>
            </a:ln>
          </p:spPr>
        </p:sp>
      </p:grpSp>
      <p:sp>
        <p:nvSpPr>
          <p:cNvPr id="10" name="Ellipse 10"/>
          <p:cNvSpPr/>
          <p:nvPr/>
        </p:nvSpPr>
        <p:spPr>
          <a:xfrm>
            <a:off x="3429000" y="952500"/>
            <a:ext cx="5334000" cy="5334000"/>
          </a:xfrm>
          <a:prstGeom prst="ellipse">
            <a:avLst/>
          </a:prstGeom>
          <a:gradFill>
            <a:gsLst>
              <a:gs pos="0">
                <a:srgbClr val="2563EB">
                  <a:alpha val="30000"/>
                </a:srgbClr>
              </a:gs>
              <a:gs pos="100000">
                <a:srgbClr val="1F2937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81000" y="571500"/>
            <a:ext cx="11430000" cy="5715000"/>
            <a:chOff x="381000" y="571500"/>
            <a:chExt cx="11430000" cy="5715000"/>
          </a:xfrm>
        </p:grpSpPr>
        <p:sp>
          <p:nvSpPr>
            <p:cNvPr id="11" name="Freeform 11"/>
            <p:cNvSpPr/>
            <p:nvPr/>
          </p:nvSpPr>
          <p:spPr>
            <a:xfrm>
              <a:off x="11430000" y="571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0"/>
                  </a:moveTo>
                  <a:lnTo>
                    <a:pt x="381000" y="381000"/>
                  </a:lnTo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2563EB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81000" y="5905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381000"/>
                  </a:moveTo>
                  <a:lnTo>
                    <a:pt x="0" y="0"/>
                  </a:lnTo>
                  <a:moveTo>
                    <a:pt x="0" y="381000"/>
                  </a:moveTo>
                  <a:lnTo>
                    <a:pt x="381000" y="381000"/>
                  </a:lnTo>
                </a:path>
              </a:pathLst>
            </a:custGeom>
            <a:noFill/>
            <a:ln w="19050">
              <a:solidFill>
                <a:srgbClr val="38BDF8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1430000" y="59055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1000" y="381000"/>
                  </a:moveTo>
                  <a:lnTo>
                    <a:pt x="381000" y="0"/>
                  </a:lnTo>
                  <a:moveTo>
                    <a:pt x="381000" y="38100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7C3AED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528066" y="648652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中国历史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8166" y="648652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/ 总结展望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51140" y="6486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52637A"/>
                </a:solidFill>
                <a:latin typeface="Arial"/>
                <a:ea typeface="Arial"/>
                <a:cs typeface="Arial"/>
              </a:rPr>
              <a:t>06 / 06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7398" y="1088708"/>
            <a:ext cx="18130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总结展望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24256" y="1615440"/>
            <a:ext cx="292608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52637A"/>
                </a:solidFill>
                <a:latin typeface="Arial"/>
                <a:ea typeface="Microsoft YaHei"/>
                <a:cs typeface="Arial"/>
              </a:rPr>
              <a:t>归纳价值、亮点与后续拓展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3190875" y="2428875"/>
            <a:ext cx="5810250" cy="1238250"/>
            <a:chOff x="3190875" y="2428875"/>
            <a:chExt cx="5810250" cy="1238250"/>
          </a:xfrm>
        </p:grpSpPr>
        <p:sp>
          <p:nvSpPr>
            <p:cNvPr id="20" name="Freeform 20"/>
            <p:cNvSpPr/>
            <p:nvPr/>
          </p:nvSpPr>
          <p:spPr>
            <a:xfrm>
              <a:off x="3238500" y="36195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20955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38BDF8"/>
                  </a:gs>
                  <a:gs pos="100000">
                    <a:srgbClr val="2563EB"/>
                  </a:gs>
                </a:gsLst>
                <a:lin ang="0" scaled="1"/>
              </a:gra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190875" y="3571875"/>
              <a:ext cx="95250" cy="952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6096000" y="24765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4762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7C3AED"/>
                  </a:gs>
                  <a:gs pos="100000">
                    <a:srgbClr val="2563EB"/>
                  </a:gs>
                </a:gsLst>
                <a:lin ang="5400000" scaled="1"/>
              </a:gra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048375" y="2428875"/>
              <a:ext cx="95250" cy="9525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6858000" y="3619500"/>
              <a:ext cx="2095500" cy="9525"/>
            </a:xfrm>
            <a:custGeom>
              <a:avLst/>
              <a:gdLst/>
              <a:ahLst/>
              <a:cxnLst/>
              <a:rect l="l" t="t" r="r" b="b"/>
              <a:pathLst>
                <a:path w="2095500" h="9525">
                  <a:moveTo>
                    <a:pt x="0" y="0"/>
                  </a:moveTo>
                  <a:lnTo>
                    <a:pt x="209550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rgbClr val="2563EB"/>
                  </a:gs>
                  <a:gs pos="100000">
                    <a:srgbClr val="38BDF8"/>
                  </a:gs>
                </a:gsLst>
                <a:lin ang="0" scaled="1"/>
              </a:gra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8905875" y="3571875"/>
              <a:ext cx="95250" cy="952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5048250" y="2571750"/>
            <a:ext cx="2095500" cy="2095500"/>
            <a:chOff x="5048250" y="2571750"/>
            <a:chExt cx="2095500" cy="2095500"/>
          </a:xfrm>
        </p:grpSpPr>
        <p:sp>
          <p:nvSpPr>
            <p:cNvPr id="27" name="Ellipse 27"/>
            <p:cNvSpPr/>
            <p:nvPr/>
          </p:nvSpPr>
          <p:spPr>
            <a:xfrm>
              <a:off x="5048250" y="2571750"/>
              <a:ext cx="2095500" cy="2095500"/>
            </a:xfrm>
            <a:prstGeom prst="ellipse">
              <a:avLst/>
            </a:prstGeom>
            <a:noFill/>
            <a:ln w="9525">
              <a:solidFill>
                <a:srgbClr val="2563EB"/>
              </a:solidFill>
              <a:custDash>
                <a:ds d="300000" sp="500000"/>
              </a:custDash>
            </a:ln>
          </p:spPr>
        </p:sp>
        <p:sp>
          <p:nvSpPr>
            <p:cNvPr id="28" name="Ellipse 28"/>
            <p:cNvSpPr/>
            <p:nvPr/>
          </p:nvSpPr>
          <p:spPr>
            <a:xfrm>
              <a:off x="5191125" y="2714625"/>
              <a:ext cx="1809750" cy="1809750"/>
            </a:xfrm>
            <a:prstGeom prst="ellipse">
              <a:avLst/>
            </a:prstGeom>
            <a:noFill/>
            <a:ln w="14288">
              <a:solidFill>
                <a:srgbClr val="2563EB">
                  <a:alpha val="60000"/>
                </a:srgbClr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381625" y="2905125"/>
              <a:ext cx="1428750" cy="1428750"/>
            </a:xfrm>
            <a:prstGeom prst="ellipse">
              <a:avLst/>
            </a:prstGeom>
            <a:solidFill>
              <a:srgbClr val="2563EB">
                <a:alpha val="15000"/>
              </a:srgbClr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5524500" y="3048000"/>
              <a:ext cx="1143000" cy="11430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621160" y="33937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核心脉络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66816" y="36804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总结启示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2667000"/>
            <a:ext cx="2667000" cy="1714500"/>
            <a:chOff x="571500" y="2667000"/>
            <a:chExt cx="2667000" cy="1714500"/>
          </a:xfrm>
        </p:grpSpPr>
        <p:sp>
          <p:nvSpPr>
            <p:cNvPr id="34" name="Rectangle 34"/>
            <p:cNvSpPr/>
            <p:nvPr/>
          </p:nvSpPr>
          <p:spPr>
            <a:xfrm>
              <a:off x="571500" y="2667000"/>
              <a:ext cx="2667000" cy="1714500"/>
            </a:xfrm>
            <a:prstGeom prst="roundRect">
              <a:avLst>
                <a:gd name="adj" fmla="val 6667"/>
              </a:avLst>
            </a:prstGeom>
            <a:solidFill>
              <a:srgbClr val="1F2937"/>
            </a:solidFill>
            <a:ln w="14288">
              <a:solidFill>
                <a:srgbClr val="2563EB">
                  <a:alpha val="40000"/>
                </a:srgbClr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1500" y="266700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723900" y="2914650"/>
              <a:ext cx="171450" cy="171450"/>
            </a:xfrm>
            <a:prstGeom prst="ellipse">
              <a:avLst/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771525" y="2962275"/>
              <a:ext cx="76200" cy="76200"/>
            </a:xfrm>
            <a:prstGeom prst="ellipse">
              <a:avLst/>
            </a:prstGeom>
            <a:noFill/>
            <a:ln w="19050">
              <a:solidFill>
                <a:srgbClr val="38BDF8"/>
              </a:solidFill>
            </a:ln>
          </p:spPr>
        </p:sp>
        <p:sp>
          <p:nvSpPr>
            <p:cNvPr id="38" name="Ellipse 38"/>
            <p:cNvSpPr/>
            <p:nvPr/>
          </p:nvSpPr>
          <p:spPr>
            <a:xfrm>
              <a:off x="795338" y="2986088"/>
              <a:ext cx="28575" cy="28575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0130" y="2905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价值提炼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81050" y="3381375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7354" y="33280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多元文明起源与整合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81050" y="3619500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7354" y="35661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大一统制度延续演变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81050" y="3857625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7354" y="380428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近代冲击与转型脉络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953000" y="762000"/>
            <a:ext cx="2286000" cy="1714500"/>
            <a:chOff x="4953000" y="762000"/>
            <a:chExt cx="2286000" cy="1714500"/>
          </a:xfrm>
        </p:grpSpPr>
        <p:sp>
          <p:nvSpPr>
            <p:cNvPr id="47" name="Rectangle 47"/>
            <p:cNvSpPr/>
            <p:nvPr/>
          </p:nvSpPr>
          <p:spPr>
            <a:xfrm>
              <a:off x="4953000" y="762000"/>
              <a:ext cx="2286000" cy="1714500"/>
            </a:xfrm>
            <a:prstGeom prst="roundRect">
              <a:avLst>
                <a:gd name="adj" fmla="val 6667"/>
              </a:avLst>
            </a:prstGeom>
            <a:solidFill>
              <a:srgbClr val="1F2937"/>
            </a:solidFill>
            <a:ln w="14288">
              <a:solidFill>
                <a:srgbClr val="2563EB">
                  <a:alpha val="40000"/>
                </a:srgbClr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4953000" y="762000"/>
              <a:ext cx="2286000" cy="381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49" name="Freeform 49"/>
            <p:cNvSpPr/>
            <p:nvPr/>
          </p:nvSpPr>
          <p:spPr>
            <a:xfrm>
              <a:off x="5143500" y="1019175"/>
              <a:ext cx="190500" cy="123825"/>
            </a:xfrm>
            <a:custGeom>
              <a:avLst/>
              <a:gdLst/>
              <a:ahLst/>
              <a:cxnLst/>
              <a:rect l="l" t="t" r="r" b="b"/>
              <a:pathLst>
                <a:path w="190500" h="123825">
                  <a:moveTo>
                    <a:pt x="95250" y="76200"/>
                  </a:moveTo>
                  <a:lnTo>
                    <a:pt x="123825" y="9525"/>
                  </a:lnTo>
                  <a:lnTo>
                    <a:pt x="190500" y="0"/>
                  </a:lnTo>
                  <a:lnTo>
                    <a:pt x="142875" y="57150"/>
                  </a:lnTo>
                  <a:lnTo>
                    <a:pt x="161925" y="123825"/>
                  </a:lnTo>
                  <a:lnTo>
                    <a:pt x="95250" y="85725"/>
                  </a:lnTo>
                  <a:lnTo>
                    <a:pt x="28575" y="123825"/>
                  </a:lnTo>
                  <a:lnTo>
                    <a:pt x="47625" y="57150"/>
                  </a:lnTo>
                  <a:lnTo>
                    <a:pt x="0" y="0"/>
                  </a:lnTo>
                  <a:lnTo>
                    <a:pt x="66675" y="9525"/>
                  </a:lnTo>
                  <a:close/>
                </a:path>
              </a:pathLst>
            </a:custGeom>
            <a:solidFill>
              <a:srgbClr val="7C3AED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469255" y="1000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7C3AED"/>
                  </a:solidFill>
                  <a:latin typeface="Arial"/>
                  <a:ea typeface="Microsoft YaHei"/>
                  <a:cs typeface="Arial"/>
                </a:rPr>
                <a:t>核心亮点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5162550" y="1476375"/>
              <a:ext cx="57150" cy="5715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5308854" y="142303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宏观历史视角解读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5162550" y="1714500"/>
              <a:ext cx="57150" cy="5715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5308854" y="1661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四大关键转折节点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5162550" y="1952625"/>
              <a:ext cx="57150" cy="5715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308854" y="18992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清晰叙事逻辑构建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953500" y="2667000"/>
            <a:ext cx="2667000" cy="1714500"/>
            <a:chOff x="8953500" y="2667000"/>
            <a:chExt cx="2667000" cy="1714500"/>
          </a:xfrm>
        </p:grpSpPr>
        <p:sp>
          <p:nvSpPr>
            <p:cNvPr id="58" name="Rectangle 58"/>
            <p:cNvSpPr/>
            <p:nvPr/>
          </p:nvSpPr>
          <p:spPr>
            <a:xfrm>
              <a:off x="8953500" y="2667000"/>
              <a:ext cx="2667000" cy="1714500"/>
            </a:xfrm>
            <a:prstGeom prst="roundRect">
              <a:avLst>
                <a:gd name="adj" fmla="val 6667"/>
              </a:avLst>
            </a:prstGeom>
            <a:solidFill>
              <a:srgbClr val="1F2937"/>
            </a:solidFill>
            <a:ln w="14288">
              <a:solidFill>
                <a:srgbClr val="2563EB">
                  <a:alpha val="40000"/>
                </a:srgbClr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8953500" y="2667000"/>
              <a:ext cx="2667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0" name="Freeform 60"/>
            <p:cNvSpPr/>
            <p:nvPr/>
          </p:nvSpPr>
          <p:spPr>
            <a:xfrm>
              <a:off x="9144000" y="2952750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0" y="47625"/>
                  </a:moveTo>
                  <a:lnTo>
                    <a:pt x="95250" y="47625"/>
                  </a:lnTo>
                  <a:moveTo>
                    <a:pt x="47625" y="0"/>
                  </a:moveTo>
                  <a:lnTo>
                    <a:pt x="95250" y="47625"/>
                  </a:lnTo>
                  <a:lnTo>
                    <a:pt x="47625" y="95250"/>
                  </a:lnTo>
                </a:path>
              </a:pathLst>
            </a:custGeom>
            <a:noFill/>
            <a:ln w="19050" cap="rnd">
              <a:solidFill>
                <a:srgbClr val="38BDF8"/>
              </a:solidFill>
              <a:round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374505" y="2905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8BDF8"/>
                  </a:solidFill>
                  <a:latin typeface="Arial"/>
                  <a:ea typeface="Microsoft YaHei"/>
                  <a:cs typeface="Arial"/>
                </a:rPr>
                <a:t>后续拓展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9115425" y="3381375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261729" y="33280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专题深度研究与分析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9115425" y="3619500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261729" y="35661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跨区域比较与洞察</a:t>
              </a:r>
            </a:p>
          </p:txBody>
        </p:sp>
        <p:sp>
          <p:nvSpPr>
            <p:cNvPr id="66" name="Ellipse 66"/>
            <p:cNvSpPr/>
            <p:nvPr/>
          </p:nvSpPr>
          <p:spPr>
            <a:xfrm>
              <a:off x="9115425" y="3857625"/>
              <a:ext cx="57150" cy="57150"/>
            </a:xfrm>
            <a:prstGeom prst="ellipse">
              <a:avLst/>
            </a:prstGeom>
            <a:solidFill>
              <a:srgbClr val="38BDF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261729" y="38042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定制化报告与展示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3817429" y="6000750"/>
            <a:ext cx="4557141" cy="356425"/>
            <a:chOff x="3817429" y="6000750"/>
            <a:chExt cx="4557141" cy="356425"/>
          </a:xfrm>
        </p:grpSpPr>
        <p:sp>
          <p:nvSpPr>
            <p:cNvPr id="69" name="Line 69"/>
            <p:cNvSpPr/>
            <p:nvPr/>
          </p:nvSpPr>
          <p:spPr>
            <a:xfrm>
              <a:off x="5143500" y="60007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2563EB">
                  <a:alpha val="50000"/>
                </a:srgbClr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817429" y="6093142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2637A"/>
                  </a:solidFill>
                  <a:latin typeface="Arial"/>
                  <a:ea typeface="Microsoft YaHei"/>
                  <a:cs typeface="Arial"/>
                </a:rPr>
                <a:t>以宏观视角梳理中华文明脉络，洞察历史规律与转型启示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2026-07-09T13:41:19Z</dcterms:created>
  <dcterms:modified xsi:type="dcterms:W3CDTF">2026-07-09T13:41:19Z</dcterms:modified>
  <cp:category/>
  <cp:contentStatus/>
</cp:coreProperties>
</file>