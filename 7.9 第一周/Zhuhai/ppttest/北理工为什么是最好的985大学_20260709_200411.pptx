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  <Relationship Id="rId13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欢迎各位评委，今天我们将从历史、学科、科研、人才四个维度论证北理工的独特优势。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北理工的前身是1940年创建的延安自然科学院，是中国共产党创办的第一所理工科大学，红色血脉独一无二。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学科是大学的根基，北理工在军工领域拥有不可撼动的领先地位，工程学更是进入全球前万分之一。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科研贡献是北理工最闪亮的名片，连续三年国家科技奖一等奖和阅兵装备参与数量全国第一，证明其不可替代的国防地位。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人才培养的厚度决定了大学的未来，北理工走出了众多院士和国防总师，教学成果丰硕。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总结：北理工以红色基因为根，以国防脊梁为骨，以创新实力为翼，是当之无愧的最好985之一。谢谢评委。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EF4FF">
                  <a:alpha val="90000"/>
                </a:srgbClr>
              </a:gs>
              <a:gs pos="100000">
                <a:srgbClr val="F8FBFF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3048000" y="381000"/>
            <a:ext cx="6096000" cy="6096000"/>
          </a:xfrm>
          <a:prstGeom prst="ellipse">
            <a:avLst/>
          </a:prstGeom>
          <a:gradFill>
            <a:gsLst>
              <a:gs pos="0">
                <a:srgbClr val="38BDF8">
                  <a:alpha val="30000"/>
                </a:srgbClr>
              </a:gs>
              <a:gs pos="100000">
                <a:srgbClr val="F8FB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-190500" y="-190500"/>
            <a:ext cx="3810000" cy="3810000"/>
          </a:xfrm>
          <a:prstGeom prst="ellipse">
            <a:avLst/>
          </a:prstGeom>
          <a:gradFill>
            <a:gsLst>
              <a:gs pos="0">
                <a:srgbClr val="7C3AED">
                  <a:alpha val="20000"/>
                </a:srgbClr>
              </a:gs>
              <a:gs pos="100000">
                <a:srgbClr val="F8FB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8096250" y="3333750"/>
            <a:ext cx="4762500" cy="4762500"/>
          </a:xfrm>
          <a:prstGeom prst="ellipse">
            <a:avLst/>
          </a:prstGeom>
          <a:gradFill>
            <a:gsLst>
              <a:gs pos="0">
                <a:srgbClr val="38BDF8">
                  <a:alpha val="30000"/>
                </a:srgbClr>
              </a:gs>
              <a:gs pos="100000">
                <a:srgbClr val="F8FB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7" name="Line 7"/>
          <p:cNvSpPr/>
          <p:nvPr/>
        </p:nvSpPr>
        <p:spPr>
          <a:xfrm>
            <a:off x="0" y="0"/>
            <a:ext cx="3333750" cy="3333750"/>
          </a:xfrm>
          <a:custGeom>
            <a:avLst/>
            <a:gdLst/>
            <a:ahLst/>
            <a:cxnLst/>
            <a:rect l="l" t="t" r="r" b="b"/>
            <a:pathLst>
              <a:path w="3333750" h="3333750">
                <a:moveTo>
                  <a:pt x="0" y="0"/>
                </a:moveTo>
                <a:lnTo>
                  <a:pt x="3333750" y="3333750"/>
                </a:lnTo>
              </a:path>
            </a:pathLst>
          </a:custGeom>
          <a:noFill/>
          <a:ln w="19050">
            <a:solidFill>
              <a:srgbClr val="EEF4FF">
                <a:alpha val="60000"/>
              </a:srgbClr>
            </a:solidFill>
          </a:ln>
        </p:spPr>
      </p:sp>
      <p:sp>
        <p:nvSpPr>
          <p:cNvPr id="8" name="Line 8"/>
          <p:cNvSpPr/>
          <p:nvPr/>
        </p:nvSpPr>
        <p:spPr>
          <a:xfrm>
            <a:off x="8858250" y="0"/>
            <a:ext cx="3333750" cy="3333750"/>
          </a:xfrm>
          <a:custGeom>
            <a:avLst/>
            <a:gdLst/>
            <a:ahLst/>
            <a:cxnLst/>
            <a:rect l="l" t="t" r="r" b="b"/>
            <a:pathLst>
              <a:path w="3333750" h="3333750">
                <a:moveTo>
                  <a:pt x="3333750" y="0"/>
                </a:moveTo>
                <a:lnTo>
                  <a:pt x="0" y="3333750"/>
                </a:lnTo>
              </a:path>
            </a:pathLst>
          </a:custGeom>
          <a:noFill/>
          <a:ln w="19050">
            <a:solidFill>
              <a:srgbClr val="EEF4FF">
                <a:alpha val="60000"/>
              </a:srgbClr>
            </a:solidFill>
          </a:ln>
        </p:spPr>
      </p:sp>
      <p:sp>
        <p:nvSpPr>
          <p:cNvPr id="9" name="Line 9"/>
          <p:cNvSpPr/>
          <p:nvPr/>
        </p:nvSpPr>
        <p:spPr>
          <a:xfrm>
            <a:off x="0" y="3524250"/>
            <a:ext cx="3333750" cy="3333750"/>
          </a:xfrm>
          <a:custGeom>
            <a:avLst/>
            <a:gdLst/>
            <a:ahLst/>
            <a:cxnLst/>
            <a:rect l="l" t="t" r="r" b="b"/>
            <a:pathLst>
              <a:path w="3333750" h="3333750">
                <a:moveTo>
                  <a:pt x="0" y="3333750"/>
                </a:moveTo>
                <a:lnTo>
                  <a:pt x="3333750" y="0"/>
                </a:lnTo>
              </a:path>
            </a:pathLst>
          </a:custGeom>
          <a:noFill/>
          <a:ln w="19050">
            <a:solidFill>
              <a:srgbClr val="EEF4FF">
                <a:alpha val="60000"/>
              </a:srgbClr>
            </a:solidFill>
          </a:ln>
        </p:spPr>
      </p:sp>
      <p:sp>
        <p:nvSpPr>
          <p:cNvPr id="10" name="Line 10"/>
          <p:cNvSpPr/>
          <p:nvPr/>
        </p:nvSpPr>
        <p:spPr>
          <a:xfrm>
            <a:off x="8858250" y="3524250"/>
            <a:ext cx="3333750" cy="3333750"/>
          </a:xfrm>
          <a:custGeom>
            <a:avLst/>
            <a:gdLst/>
            <a:ahLst/>
            <a:cxnLst/>
            <a:rect l="l" t="t" r="r" b="b"/>
            <a:pathLst>
              <a:path w="3333750" h="3333750">
                <a:moveTo>
                  <a:pt x="3333750" y="333375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EEF4FF">
                <a:alpha val="60000"/>
              </a:srgbClr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2563EB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</p:sp>
      <p:grpSp>
        <p:nvGrpSpPr>
          <p:cNvPr id="22" name="Group 22"/>
          <p:cNvGrpSpPr/>
          <p:nvPr/>
        </p:nvGrpSpPr>
        <p:grpSpPr>
          <a:xfrm>
            <a:off x="10096500" y="552450"/>
            <a:ext cx="1562100" cy="809625"/>
            <a:chOff x="10096500" y="552450"/>
            <a:chExt cx="1562100" cy="809625"/>
          </a:xfrm>
        </p:grpSpPr>
        <p:sp>
          <p:nvSpPr>
            <p:cNvPr id="12" name="Ellipse 12"/>
            <p:cNvSpPr/>
            <p:nvPr/>
          </p:nvSpPr>
          <p:spPr>
            <a:xfrm>
              <a:off x="10096500" y="571500"/>
              <a:ext cx="762000" cy="762000"/>
            </a:xfrm>
            <a:prstGeom prst="ellipse">
              <a:avLst/>
            </a:prstGeom>
            <a:noFill/>
            <a:ln w="9525">
              <a:solidFill>
                <a:srgbClr val="38BDF8">
                  <a:alpha val="60000"/>
                </a:srgbClr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10287000" y="762000"/>
              <a:ext cx="381000" cy="381000"/>
            </a:xfrm>
            <a:prstGeom prst="ellipse">
              <a:avLst/>
            </a:prstGeom>
            <a:noFill/>
            <a:ln w="19050">
              <a:solidFill>
                <a:srgbClr val="38BDF8">
                  <a:alpha val="80000"/>
                </a:srgbClr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10439400" y="914400"/>
              <a:ext cx="76200" cy="762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15" name="Line 15"/>
            <p:cNvSpPr/>
            <p:nvPr/>
          </p:nvSpPr>
          <p:spPr>
            <a:xfrm>
              <a:off x="10477500" y="5715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rgbClr val="38BDF8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0477500" y="11430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rgbClr val="38BDF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10448925" y="1304925"/>
              <a:ext cx="57150" cy="57150"/>
            </a:xfrm>
            <a:prstGeom prst="ellipse">
              <a:avLst/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11239500" y="571500"/>
              <a:ext cx="381000" cy="762000"/>
            </a:xfrm>
            <a:custGeom>
              <a:avLst/>
              <a:gdLst/>
              <a:ahLst/>
              <a:cxnLst/>
              <a:rect l="l" t="t" r="r" b="b"/>
              <a:pathLst>
                <a:path w="381000" h="762000">
                  <a:moveTo>
                    <a:pt x="0" y="0"/>
                  </a:moveTo>
                  <a:lnTo>
                    <a:pt x="381000" y="381000"/>
                  </a:lnTo>
                  <a:lnTo>
                    <a:pt x="0" y="762000"/>
                  </a:lnTo>
                </a:path>
              </a:pathLst>
            </a:custGeom>
            <a:noFill/>
            <a:ln w="9525">
              <a:solidFill>
                <a:srgbClr val="38BDF8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11220450" y="552450"/>
              <a:ext cx="38100" cy="38100"/>
            </a:xfrm>
            <a:prstGeom prst="ellipse">
              <a:avLst/>
            </a:prstGeom>
            <a:solidFill>
              <a:srgbClr val="38BDF8"/>
            </a:solidFill>
            <a:ln w="9525">
              <a:solidFill>
                <a:srgbClr val="38BDF8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11582400" y="914400"/>
              <a:ext cx="76200" cy="76200"/>
            </a:xfrm>
            <a:prstGeom prst="ellipse">
              <a:avLst/>
            </a:prstGeom>
            <a:solidFill>
              <a:srgbClr val="2563EB"/>
            </a:solidFill>
            <a:ln w="9525">
              <a:solidFill>
                <a:srgbClr val="38BDF8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11220450" y="1314450"/>
              <a:ext cx="38100" cy="38100"/>
            </a:xfrm>
            <a:prstGeom prst="ellipse">
              <a:avLst/>
            </a:prstGeom>
            <a:solidFill>
              <a:srgbClr val="38BDF8"/>
            </a:solidFill>
            <a:ln w="9525">
              <a:solidFill>
                <a:srgbClr val="38BDF8"/>
              </a:solidFill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762000" y="5524500"/>
            <a:ext cx="1752600" cy="571500"/>
            <a:chOff x="762000" y="5524500"/>
            <a:chExt cx="1752600" cy="571500"/>
          </a:xfrm>
        </p:grpSpPr>
        <p:sp>
          <p:nvSpPr>
            <p:cNvPr id="23" name="Rectangle 23"/>
            <p:cNvSpPr/>
            <p:nvPr/>
          </p:nvSpPr>
          <p:spPr>
            <a:xfrm>
              <a:off x="762000" y="5524500"/>
              <a:ext cx="571500" cy="571500"/>
            </a:xfrm>
            <a:prstGeom prst="roundRect">
              <a:avLst>
                <a:gd name="adj" fmla="val 13333"/>
              </a:avLst>
            </a:prstGeom>
            <a:noFill/>
            <a:ln w="19050">
              <a:solidFill>
                <a:srgbClr val="2563EB">
                  <a:alpha val="50000"/>
                </a:srgbClr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857250" y="5619750"/>
              <a:ext cx="381000" cy="381000"/>
            </a:xfrm>
            <a:prstGeom prst="roundRect">
              <a:avLst>
                <a:gd name="adj" fmla="val 10000"/>
              </a:avLst>
            </a:prstGeom>
            <a:solidFill>
              <a:srgbClr val="EEF4FF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971550" y="5734050"/>
              <a:ext cx="152400" cy="152400"/>
            </a:xfrm>
            <a:prstGeom prst="ellipse">
              <a:avLst/>
            </a:prstGeom>
            <a:solidFill>
              <a:srgbClr val="2563EB">
                <a:alpha val="80000"/>
              </a:srgbClr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1524000" y="5619750"/>
              <a:ext cx="952500" cy="190500"/>
            </a:xfrm>
            <a:custGeom>
              <a:avLst/>
              <a:gdLst/>
              <a:ahLst/>
              <a:cxnLst/>
              <a:rect l="l" t="t" r="r" b="b"/>
              <a:pathLst>
                <a:path w="952500" h="190500">
                  <a:moveTo>
                    <a:pt x="0" y="190500"/>
                  </a:moveTo>
                  <a:lnTo>
                    <a:pt x="381000" y="190500"/>
                  </a:lnTo>
                  <a:lnTo>
                    <a:pt x="571500" y="0"/>
                  </a:lnTo>
                  <a:lnTo>
                    <a:pt x="9525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1495425" y="5781675"/>
              <a:ext cx="57150" cy="57150"/>
            </a:xfrm>
            <a:prstGeom prst="ellipse">
              <a:avLst/>
            </a:prstGeom>
            <a:solidFill>
              <a:srgbClr val="38BDF8"/>
            </a:solidFill>
            <a:ln w="19050">
              <a:solidFill>
                <a:srgbClr val="2563EB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2438400" y="5581650"/>
              <a:ext cx="76200" cy="76200"/>
            </a:xfrm>
            <a:prstGeom prst="ellipse">
              <a:avLst/>
            </a:prstGeom>
            <a:solidFill>
              <a:srgbClr val="38BDF8"/>
            </a:solidFill>
            <a:ln w="19050">
              <a:solidFill>
                <a:srgbClr val="2563EB"/>
              </a:solidFill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10001250" y="5486400"/>
            <a:ext cx="1847850" cy="895350"/>
            <a:chOff x="10001250" y="5486400"/>
            <a:chExt cx="1847850" cy="895350"/>
          </a:xfrm>
        </p:grpSpPr>
        <p:sp>
          <p:nvSpPr>
            <p:cNvPr id="30" name="Freeform 30"/>
            <p:cNvSpPr/>
            <p:nvPr/>
          </p:nvSpPr>
          <p:spPr>
            <a:xfrm>
              <a:off x="10668000" y="5524500"/>
              <a:ext cx="1143000" cy="381000"/>
            </a:xfrm>
            <a:custGeom>
              <a:avLst/>
              <a:gdLst/>
              <a:ahLst/>
              <a:cxnLst/>
              <a:rect l="l" t="t" r="r" b="b"/>
              <a:pathLst>
                <a:path w="1143000" h="381000">
                  <a:moveTo>
                    <a:pt x="0" y="381000"/>
                  </a:moveTo>
                  <a:lnTo>
                    <a:pt x="381000" y="381000"/>
                  </a:lnTo>
                  <a:lnTo>
                    <a:pt x="762000" y="0"/>
                  </a:lnTo>
                  <a:lnTo>
                    <a:pt x="1143000" y="0"/>
                  </a:lnTo>
                </a:path>
              </a:pathLst>
            </a:custGeom>
            <a:noFill/>
            <a:ln w="19050">
              <a:solidFill>
                <a:srgbClr val="BDD7FF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10629900" y="5867400"/>
              <a:ext cx="76200" cy="76200"/>
            </a:xfrm>
            <a:prstGeom prst="ellipse">
              <a:avLst/>
            </a:prstGeom>
            <a:solidFill>
              <a:srgbClr val="38BDF8"/>
            </a:solidFill>
            <a:ln w="19050">
              <a:solidFill>
                <a:srgbClr val="BDD7FF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11772900" y="5486400"/>
              <a:ext cx="76200" cy="76200"/>
            </a:xfrm>
            <a:prstGeom prst="ellipse">
              <a:avLst/>
            </a:prstGeom>
            <a:solidFill>
              <a:srgbClr val="38BDF8"/>
            </a:solidFill>
            <a:ln w="19050">
              <a:solidFill>
                <a:srgbClr val="BDD7FF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11401425" y="5495925"/>
              <a:ext cx="57150" cy="57150"/>
            </a:xfrm>
            <a:prstGeom prst="ellipse">
              <a:avLst/>
            </a:prstGeom>
            <a:solidFill>
              <a:srgbClr val="2563EB"/>
            </a:solidFill>
            <a:ln w="19050">
              <a:solidFill>
                <a:srgbClr val="BDD7FF"/>
              </a:solidFill>
            </a:ln>
          </p:spPr>
        </p:sp>
        <p:sp>
          <p:nvSpPr>
            <p:cNvPr id="34" name="Polygon 34"/>
            <p:cNvSpPr/>
            <p:nvPr/>
          </p:nvSpPr>
          <p:spPr>
            <a:xfrm>
              <a:off x="10001250" y="600075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190500"/>
                  </a:moveTo>
                  <a:lnTo>
                    <a:pt x="190500" y="0"/>
                  </a:lnTo>
                  <a:lnTo>
                    <a:pt x="381000" y="190500"/>
                  </a:lnTo>
                  <a:lnTo>
                    <a:pt x="190500" y="381000"/>
                  </a:lnTo>
                  <a:close/>
                </a:path>
              </a:pathLst>
            </a:custGeom>
            <a:noFill/>
            <a:ln w="9525">
              <a:solidFill>
                <a:srgbClr val="7C3AED"/>
              </a:solidFill>
            </a:ln>
          </p:spPr>
        </p:sp>
      </p:grpSp>
      <p:sp>
        <p:nvSpPr>
          <p:cNvPr id="36" name="Rectangle 36"/>
          <p:cNvSpPr/>
          <p:nvPr/>
        </p:nvSpPr>
        <p:spPr>
          <a:xfrm>
            <a:off x="571500" y="381000"/>
            <a:ext cx="571500" cy="5715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37" name="Freeform 37"/>
          <p:cNvSpPr/>
          <p:nvPr/>
        </p:nvSpPr>
        <p:spPr>
          <a:xfrm>
            <a:off x="762000" y="523875"/>
            <a:ext cx="190500" cy="285750"/>
          </a:xfrm>
          <a:custGeom>
            <a:avLst/>
            <a:gdLst/>
            <a:ahLst/>
            <a:cxnLst/>
            <a:rect l="l" t="t" r="r" b="b"/>
            <a:pathLst>
              <a:path w="190500" h="285750">
                <a:moveTo>
                  <a:pt x="0" y="0"/>
                </a:moveTo>
                <a:lnTo>
                  <a:pt x="190500" y="0"/>
                </a:lnTo>
                <a:lnTo>
                  <a:pt x="190500" y="190500"/>
                </a:lnTo>
                <a:lnTo>
                  <a:pt x="95250" y="285750"/>
                </a:lnTo>
                <a:lnTo>
                  <a:pt x="0" y="190500"/>
                </a:lnTo>
                <a:close/>
              </a:path>
            </a:pathLst>
          </a:custGeom>
          <a:noFill/>
          <a:ln w="28575">
            <a:solidFill>
              <a:srgbClr val="FFFFFF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709254" y="578168"/>
            <a:ext cx="29599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BIT</a:t>
            </a:r>
          </a:p>
        </p:txBody>
      </p:sp>
      <p:sp>
        <p:nvSpPr>
          <p:cNvPr id="39" name="Ellipse 39"/>
          <p:cNvSpPr/>
          <p:nvPr/>
        </p:nvSpPr>
        <p:spPr>
          <a:xfrm>
            <a:off x="285750" y="95250"/>
            <a:ext cx="1143000" cy="1143000"/>
          </a:xfrm>
          <a:prstGeom prst="ellipse">
            <a:avLst/>
          </a:prstGeom>
          <a:gradFill>
            <a:gsLst>
              <a:gs pos="0">
                <a:srgbClr val="38BDF8">
                  <a:alpha val="30000"/>
                </a:srgbClr>
              </a:gs>
              <a:gs pos="100000">
                <a:srgbClr val="F8FB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1428750" y="1714500"/>
            <a:ext cx="9334500" cy="3429000"/>
          </a:xfrm>
          <a:prstGeom prst="roundRect">
            <a:avLst>
              <a:gd name="adj" fmla="val 5556"/>
            </a:avLst>
          </a:prstGeom>
          <a:noFill/>
          <a:ln w="9525">
            <a:solidFill>
              <a:srgbClr val="38BDF8">
                <a:alpha val="60000"/>
              </a:srgbClr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1524000" y="1809750"/>
            <a:ext cx="9144000" cy="32385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EEF4FF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3256998" y="2146935"/>
            <a:ext cx="5678005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70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北理工为什么是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397995" y="2956560"/>
            <a:ext cx="5396010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70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最好的985大学</a:t>
            </a:r>
          </a:p>
        </p:txBody>
      </p:sp>
      <p:sp>
        <p:nvSpPr>
          <p:cNvPr id="44" name="Line 44"/>
          <p:cNvSpPr/>
          <p:nvPr/>
        </p:nvSpPr>
        <p:spPr>
          <a:xfrm>
            <a:off x="5143500" y="400050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28575" cap="rnd">
            <a:solidFill>
              <a:srgbClr val="2563EB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3838099" y="4281488"/>
            <a:ext cx="4515802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spc="30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红色基因·国防脊梁·创新引擎</a:t>
            </a:r>
          </a:p>
        </p:txBody>
      </p:sp>
      <p:sp>
        <p:nvSpPr>
          <p:cNvPr id="46" name="Rectangle 46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gradFill>
            <a:gsLst>
              <a:gs pos="0">
                <a:srgbClr val="1F2937"/>
              </a:gs>
              <a:gs pos="100000">
                <a:srgbClr val="2563EB"/>
              </a:gs>
            </a:gsLst>
            <a:lin ang="0" scaled="1"/>
          </a:gra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5453824" y="6585585"/>
            <a:ext cx="128435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spc="4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北京理工大学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57238" y="6617970"/>
            <a:ext cx="70721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FFFFFF">
                    <a:alphaMod val="80000"/>
                  </a:srgbClr>
                </a:solidFill>
                <a:latin typeface="Consolas"/>
                <a:ea typeface="Consolas"/>
                <a:cs typeface="Consolas"/>
              </a:rPr>
              <a:t>PPT MASTER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019358" y="6617970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FFFFFF">
                    <a:alphaMod val="80000"/>
                  </a:srgbClr>
                </a:solidFill>
                <a:latin typeface="Consolas"/>
                <a:ea typeface="Consolas"/>
                <a:cs typeface="Consolas"/>
              </a:rPr>
              <a:t>01 / 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4286250" y="0"/>
            <a:ext cx="790575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4286250" y="0"/>
            <a:ext cx="8001000" cy="6858000"/>
          </a:xfrm>
          <a:custGeom>
            <a:avLst/>
            <a:gdLst/>
            <a:ahLst/>
            <a:cxnLst/>
            <a:rect l="l" t="t" r="r" b="b"/>
            <a:pathLst>
              <a:path w="8001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0" y="381000"/>
                </a:moveTo>
                <a:lnTo>
                  <a:pt x="7905750" y="381000"/>
                </a:lnTo>
                <a:moveTo>
                  <a:pt x="0" y="762000"/>
                </a:moveTo>
                <a:lnTo>
                  <a:pt x="7905750" y="762000"/>
                </a:lnTo>
                <a:moveTo>
                  <a:pt x="0" y="1143000"/>
                </a:moveTo>
                <a:lnTo>
                  <a:pt x="7905750" y="1143000"/>
                </a:lnTo>
                <a:moveTo>
                  <a:pt x="0" y="1524000"/>
                </a:moveTo>
                <a:lnTo>
                  <a:pt x="7905750" y="1524000"/>
                </a:lnTo>
                <a:moveTo>
                  <a:pt x="0" y="1905000"/>
                </a:moveTo>
                <a:lnTo>
                  <a:pt x="7905750" y="1905000"/>
                </a:lnTo>
                <a:moveTo>
                  <a:pt x="0" y="2286000"/>
                </a:moveTo>
                <a:lnTo>
                  <a:pt x="7905750" y="2286000"/>
                </a:lnTo>
                <a:moveTo>
                  <a:pt x="0" y="2667000"/>
                </a:moveTo>
                <a:lnTo>
                  <a:pt x="7905750" y="2667000"/>
                </a:lnTo>
                <a:moveTo>
                  <a:pt x="0" y="3048000"/>
                </a:moveTo>
                <a:lnTo>
                  <a:pt x="7905750" y="3048000"/>
                </a:lnTo>
                <a:moveTo>
                  <a:pt x="0" y="3429000"/>
                </a:moveTo>
                <a:lnTo>
                  <a:pt x="7905750" y="3429000"/>
                </a:lnTo>
                <a:moveTo>
                  <a:pt x="0" y="3810000"/>
                </a:moveTo>
                <a:lnTo>
                  <a:pt x="7905750" y="3810000"/>
                </a:lnTo>
                <a:moveTo>
                  <a:pt x="0" y="4191000"/>
                </a:moveTo>
                <a:lnTo>
                  <a:pt x="7905750" y="4191000"/>
                </a:lnTo>
                <a:moveTo>
                  <a:pt x="0" y="4572000"/>
                </a:moveTo>
                <a:lnTo>
                  <a:pt x="7905750" y="4572000"/>
                </a:lnTo>
                <a:moveTo>
                  <a:pt x="0" y="4953000"/>
                </a:moveTo>
                <a:lnTo>
                  <a:pt x="7905750" y="4953000"/>
                </a:lnTo>
                <a:moveTo>
                  <a:pt x="0" y="5334000"/>
                </a:moveTo>
                <a:lnTo>
                  <a:pt x="7905750" y="5334000"/>
                </a:lnTo>
                <a:moveTo>
                  <a:pt x="0" y="5715000"/>
                </a:moveTo>
                <a:lnTo>
                  <a:pt x="7905750" y="5715000"/>
                </a:lnTo>
                <a:moveTo>
                  <a:pt x="0" y="6096000"/>
                </a:moveTo>
                <a:lnTo>
                  <a:pt x="7905750" y="6096000"/>
                </a:lnTo>
                <a:moveTo>
                  <a:pt x="0" y="6477000"/>
                </a:moveTo>
                <a:lnTo>
                  <a:pt x="7905750" y="6477000"/>
                </a:lnTo>
                <a:moveTo>
                  <a:pt x="0" y="6858000"/>
                </a:moveTo>
                <a:lnTo>
                  <a:pt x="7905750" y="6858000"/>
                </a:lnTo>
              </a:path>
            </a:pathLst>
          </a:custGeom>
          <a:noFill/>
          <a:ln w="4762">
            <a:solidFill>
              <a:srgbClr val="BDD7FF">
                <a:alpha val="30000"/>
              </a:srgbClr>
            </a:solidFill>
          </a:ln>
        </p:spPr>
      </p:sp>
      <p:sp>
        <p:nvSpPr>
          <p:cNvPr id="5" name="Rectangle 5"/>
          <p:cNvSpPr/>
          <p:nvPr/>
        </p:nvSpPr>
        <p:spPr>
          <a:xfrm>
            <a:off x="0" y="0"/>
            <a:ext cx="4286250" cy="6858000"/>
          </a:xfrm>
          <a:prstGeom prst="rect">
            <a:avLst/>
          </a:prstGeom>
          <a:gradFill>
            <a:gsLst>
              <a:gs pos="0">
                <a:srgbClr val="1F2937"/>
              </a:gs>
              <a:gs pos="100000">
                <a:srgbClr val="2563EB"/>
              </a:gs>
            </a:gsLst>
            <a:lin ang="2700000" scaled="1"/>
          </a:gra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-1238250" y="-1238250"/>
            <a:ext cx="3429000" cy="3429000"/>
          </a:xfrm>
          <a:prstGeom prst="ellipse">
            <a:avLst/>
          </a:prstGeom>
          <a:noFill/>
          <a:ln w="9525">
            <a:solidFill>
              <a:srgbClr val="38BDF8">
                <a:alpha val="15000"/>
              </a:srgbClr>
            </a:solidFill>
          </a:ln>
        </p:spPr>
      </p:sp>
      <p:sp>
        <p:nvSpPr>
          <p:cNvPr id="7" name="Ellipse 7"/>
          <p:cNvSpPr/>
          <p:nvPr/>
        </p:nvSpPr>
        <p:spPr>
          <a:xfrm>
            <a:off x="1714500" y="4095750"/>
            <a:ext cx="4191000" cy="4191000"/>
          </a:xfrm>
          <a:prstGeom prst="ellipse">
            <a:avLst/>
          </a:prstGeom>
          <a:noFill/>
          <a:ln w="19050">
            <a:solidFill>
              <a:srgbClr val="38BDF8">
                <a:alpha val="10000"/>
              </a:srgbClr>
            </a:solidFill>
          </a:ln>
        </p:spPr>
      </p:sp>
      <p:sp>
        <p:nvSpPr>
          <p:cNvPr id="8" name="Freeform 8"/>
          <p:cNvSpPr/>
          <p:nvPr/>
        </p:nvSpPr>
        <p:spPr>
          <a:xfrm>
            <a:off x="0" y="2857500"/>
            <a:ext cx="4286250" cy="3810000"/>
          </a:xfrm>
          <a:custGeom>
            <a:avLst/>
            <a:gdLst/>
            <a:ahLst/>
            <a:cxnLst/>
            <a:rect l="l" t="t" r="r" b="b"/>
            <a:pathLst>
              <a:path w="4286250" h="3810000">
                <a:moveTo>
                  <a:pt x="0" y="3810000"/>
                </a:moveTo>
                <a:lnTo>
                  <a:pt x="4286250" y="0"/>
                </a:lnTo>
              </a:path>
            </a:pathLst>
          </a:custGeom>
          <a:noFill/>
          <a:ln w="9525">
            <a:solidFill>
              <a:srgbClr val="38BDF8">
                <a:alpha val="20000"/>
              </a:srgbClr>
            </a:solidFill>
            <a:custDash>
              <a:ds d="800000" sp="600000"/>
            </a:custDash>
          </a:ln>
        </p:spPr>
      </p:sp>
      <p:sp>
        <p:nvSpPr>
          <p:cNvPr id="9" name="Freeform 9"/>
          <p:cNvSpPr/>
          <p:nvPr/>
        </p:nvSpPr>
        <p:spPr>
          <a:xfrm>
            <a:off x="0" y="1905000"/>
            <a:ext cx="4286250" cy="3810000"/>
          </a:xfrm>
          <a:custGeom>
            <a:avLst/>
            <a:gdLst/>
            <a:ahLst/>
            <a:cxnLst/>
            <a:rect l="l" t="t" r="r" b="b"/>
            <a:pathLst>
              <a:path w="4286250" h="3810000">
                <a:moveTo>
                  <a:pt x="0" y="3810000"/>
                </a:moveTo>
                <a:lnTo>
                  <a:pt x="4286250" y="0"/>
                </a:lnTo>
              </a:path>
            </a:pathLst>
          </a:custGeom>
          <a:noFill/>
          <a:ln w="9525">
            <a:solidFill>
              <a:srgbClr val="38BDF8">
                <a:alpha val="10000"/>
              </a:srgbClr>
            </a:solidFill>
            <a:custDash>
              <a:ds d="400000" sp="800000"/>
            </a:custDash>
          </a:ln>
        </p:spPr>
      </p:sp>
      <p:sp>
        <p:nvSpPr>
          <p:cNvPr id="10" name="Line 10"/>
          <p:cNvSpPr/>
          <p:nvPr/>
        </p:nvSpPr>
        <p:spPr>
          <a:xfrm>
            <a:off x="2381250" y="952500"/>
            <a:ext cx="9525" cy="4762500"/>
          </a:xfrm>
          <a:custGeom>
            <a:avLst/>
            <a:gdLst/>
            <a:ahLst/>
            <a:cxnLst/>
            <a:rect l="l" t="t" r="r" b="b"/>
            <a:pathLst>
              <a:path w="9525" h="4762500">
                <a:moveTo>
                  <a:pt x="0" y="0"/>
                </a:moveTo>
                <a:lnTo>
                  <a:pt x="0" y="4762500"/>
                </a:lnTo>
              </a:path>
            </a:pathLst>
          </a:custGeom>
          <a:noFill/>
          <a:ln w="19050">
            <a:solidFill>
              <a:srgbClr val="38BDF8">
                <a:alpha val="40000"/>
              </a:srgbClr>
            </a:solidFill>
          </a:ln>
        </p:spPr>
      </p:sp>
      <p:sp>
        <p:nvSpPr>
          <p:cNvPr id="11" name="Line 11"/>
          <p:cNvSpPr/>
          <p:nvPr/>
        </p:nvSpPr>
        <p:spPr>
          <a:xfrm>
            <a:off x="2476500" y="952500"/>
            <a:ext cx="9525" cy="4762500"/>
          </a:xfrm>
          <a:custGeom>
            <a:avLst/>
            <a:gdLst/>
            <a:ahLst/>
            <a:cxnLst/>
            <a:rect l="l" t="t" r="r" b="b"/>
            <a:pathLst>
              <a:path w="9525" h="4762500">
                <a:moveTo>
                  <a:pt x="0" y="0"/>
                </a:moveTo>
                <a:lnTo>
                  <a:pt x="0" y="4762500"/>
                </a:lnTo>
              </a:path>
            </a:pathLst>
          </a:custGeom>
          <a:noFill/>
          <a:ln w="9525">
            <a:solidFill>
              <a:srgbClr val="38BDF8">
                <a:alpha val="20000"/>
              </a:srgbClr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699260" y="819150"/>
            <a:ext cx="454533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根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99260" y="1343025"/>
            <a:ext cx="454533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正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99260" y="1866900"/>
            <a:ext cx="454533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苗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99260" y="2390775"/>
            <a:ext cx="454533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红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99260" y="2914650"/>
            <a:ext cx="263709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·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99260" y="3438525"/>
            <a:ext cx="454533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延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99260" y="3962400"/>
            <a:ext cx="454533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安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99260" y="4486275"/>
            <a:ext cx="454533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走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99260" y="5010150"/>
            <a:ext cx="454533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来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658618" y="2488882"/>
            <a:ext cx="188259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中国共产党创办的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658618" y="2822258"/>
            <a:ext cx="188259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第一所理工科大学</a:t>
            </a:r>
          </a:p>
        </p:txBody>
      </p:sp>
      <p:sp>
        <p:nvSpPr>
          <p:cNvPr id="23" name="Line 23"/>
          <p:cNvSpPr/>
          <p:nvPr/>
        </p:nvSpPr>
        <p:spPr>
          <a:xfrm>
            <a:off x="2667000" y="323850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19050">
            <a:solidFill>
              <a:srgbClr val="38BDF8">
                <a:alpha val="80000"/>
              </a:srgbClr>
            </a:solidFill>
          </a:ln>
        </p:spPr>
      </p:sp>
      <p:sp>
        <p:nvSpPr>
          <p:cNvPr id="24" name="Line 24"/>
          <p:cNvSpPr/>
          <p:nvPr/>
        </p:nvSpPr>
        <p:spPr>
          <a:xfrm>
            <a:off x="2667000" y="3286125"/>
            <a:ext cx="571500" cy="9525"/>
          </a:xfrm>
          <a:custGeom>
            <a:avLst/>
            <a:gdLst/>
            <a:ahLst/>
            <a:cxnLst/>
            <a:rect l="l" t="t" r="r" b="b"/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9525">
            <a:solidFill>
              <a:srgbClr val="38BDF8">
                <a:alpha val="40000"/>
              </a:srgbClr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4953000" y="571500"/>
            <a:ext cx="3048000" cy="47625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5108302" y="649605"/>
            <a:ext cx="2737395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根正苗红 · 延安走来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946142" y="1187768"/>
            <a:ext cx="530397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从延安自然科学院到双一流A类，北理工的红色血脉与生俱来。</a:t>
            </a:r>
          </a:p>
        </p:txBody>
      </p:sp>
      <p:sp>
        <p:nvSpPr>
          <p:cNvPr id="28" name="Ellipse 28"/>
          <p:cNvSpPr/>
          <p:nvPr/>
        </p:nvSpPr>
        <p:spPr>
          <a:xfrm>
            <a:off x="5010150" y="1962150"/>
            <a:ext cx="266700" cy="266700"/>
          </a:xfrm>
          <a:prstGeom prst="ellipse">
            <a:avLst/>
          </a:prstGeom>
          <a:gradFill>
            <a:gsLst>
              <a:gs pos="0">
                <a:srgbClr val="38BDF8"/>
              </a:gs>
              <a:gs pos="100000">
                <a:srgbClr val="2563EB"/>
              </a:gs>
            </a:gsLst>
            <a:lin ang="2700000" scaled="1"/>
          </a:gradFill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4914900" y="1866900"/>
            <a:ext cx="457200" cy="457200"/>
          </a:xfrm>
          <a:prstGeom prst="ellipse">
            <a:avLst/>
          </a:prstGeom>
          <a:noFill/>
          <a:ln w="19050">
            <a:solidFill>
              <a:srgbClr val="38BDF8">
                <a:alpha val="60000"/>
              </a:srgbClr>
            </a:solidFill>
          </a:ln>
        </p:spPr>
      </p:sp>
      <p:sp>
        <p:nvSpPr>
          <p:cNvPr id="30" name="Ellipse 30"/>
          <p:cNvSpPr/>
          <p:nvPr/>
        </p:nvSpPr>
        <p:spPr>
          <a:xfrm>
            <a:off x="4800600" y="1752600"/>
            <a:ext cx="685800" cy="685800"/>
          </a:xfrm>
          <a:prstGeom prst="ellipse">
            <a:avLst/>
          </a:prstGeom>
          <a:noFill/>
          <a:ln w="9525">
            <a:solidFill>
              <a:srgbClr val="38BDF8">
                <a:alpha val="30000"/>
              </a:srgbClr>
            </a:solidFill>
          </a:ln>
        </p:spPr>
      </p:sp>
      <p:sp>
        <p:nvSpPr>
          <p:cNvPr id="31" name="Line 31"/>
          <p:cNvSpPr/>
          <p:nvPr/>
        </p:nvSpPr>
        <p:spPr>
          <a:xfrm>
            <a:off x="5143500" y="2228850"/>
            <a:ext cx="9525" cy="1009650"/>
          </a:xfrm>
          <a:custGeom>
            <a:avLst/>
            <a:gdLst/>
            <a:ahLst/>
            <a:cxnLst/>
            <a:rect l="l" t="t" r="r" b="b"/>
            <a:pathLst>
              <a:path w="9525" h="1009650">
                <a:moveTo>
                  <a:pt x="0" y="0"/>
                </a:moveTo>
                <a:lnTo>
                  <a:pt x="0" y="1009650"/>
                </a:lnTo>
              </a:path>
            </a:pathLst>
          </a:custGeom>
          <a:noFill/>
          <a:ln w="28575">
            <a:solidFill>
              <a:srgbClr val="BDD7FF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5516118" y="1869758"/>
            <a:ext cx="223244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1940 延安自然科学院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517642" y="214026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独有红色基因</a:t>
            </a:r>
          </a:p>
        </p:txBody>
      </p:sp>
      <p:sp>
        <p:nvSpPr>
          <p:cNvPr id="34" name="Ellipse 34"/>
          <p:cNvSpPr/>
          <p:nvPr/>
        </p:nvSpPr>
        <p:spPr>
          <a:xfrm>
            <a:off x="5010150" y="3105150"/>
            <a:ext cx="266700" cy="266700"/>
          </a:xfrm>
          <a:prstGeom prst="ellipse">
            <a:avLst/>
          </a:prstGeom>
          <a:gradFill>
            <a:gsLst>
              <a:gs pos="0">
                <a:srgbClr val="38BDF8"/>
              </a:gs>
              <a:gs pos="100000">
                <a:srgbClr val="2563EB"/>
              </a:gs>
            </a:gsLst>
            <a:lin ang="2700000" scaled="1"/>
          </a:gradFill>
          <a:ln>
            <a:noFill/>
          </a:ln>
        </p:spPr>
      </p:sp>
      <p:sp>
        <p:nvSpPr>
          <p:cNvPr id="35" name="Ellipse 35"/>
          <p:cNvSpPr/>
          <p:nvPr/>
        </p:nvSpPr>
        <p:spPr>
          <a:xfrm>
            <a:off x="4914900" y="3009900"/>
            <a:ext cx="457200" cy="457200"/>
          </a:xfrm>
          <a:prstGeom prst="ellipse">
            <a:avLst/>
          </a:prstGeom>
          <a:noFill/>
          <a:ln w="19050">
            <a:solidFill>
              <a:srgbClr val="38BDF8">
                <a:alpha val="60000"/>
              </a:srgbClr>
            </a:solidFill>
          </a:ln>
        </p:spPr>
      </p:sp>
      <p:sp>
        <p:nvSpPr>
          <p:cNvPr id="36" name="Ellipse 36"/>
          <p:cNvSpPr/>
          <p:nvPr/>
        </p:nvSpPr>
        <p:spPr>
          <a:xfrm>
            <a:off x="4800600" y="2895600"/>
            <a:ext cx="685800" cy="685800"/>
          </a:xfrm>
          <a:prstGeom prst="ellipse">
            <a:avLst/>
          </a:prstGeom>
          <a:noFill/>
          <a:ln w="9525">
            <a:solidFill>
              <a:srgbClr val="38BDF8">
                <a:alpha val="30000"/>
              </a:srgbClr>
            </a:solidFill>
          </a:ln>
        </p:spPr>
      </p:sp>
      <p:sp>
        <p:nvSpPr>
          <p:cNvPr id="37" name="Line 37"/>
          <p:cNvSpPr/>
          <p:nvPr/>
        </p:nvSpPr>
        <p:spPr>
          <a:xfrm>
            <a:off x="5143500" y="3371850"/>
            <a:ext cx="9525" cy="1009650"/>
          </a:xfrm>
          <a:custGeom>
            <a:avLst/>
            <a:gdLst/>
            <a:ahLst/>
            <a:cxnLst/>
            <a:rect l="l" t="t" r="r" b="b"/>
            <a:pathLst>
              <a:path w="9525" h="1009650">
                <a:moveTo>
                  <a:pt x="0" y="0"/>
                </a:moveTo>
                <a:lnTo>
                  <a:pt x="0" y="1009650"/>
                </a:lnTo>
              </a:path>
            </a:pathLst>
          </a:custGeom>
          <a:noFill/>
          <a:ln w="28575">
            <a:solidFill>
              <a:srgbClr val="BDD7FF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5516118" y="301275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迁址北京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517642" y="3283268"/>
            <a:ext cx="221273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首批16所全国重点大学之一</a:t>
            </a:r>
          </a:p>
        </p:txBody>
      </p:sp>
      <p:sp>
        <p:nvSpPr>
          <p:cNvPr id="40" name="Ellipse 40"/>
          <p:cNvSpPr/>
          <p:nvPr/>
        </p:nvSpPr>
        <p:spPr>
          <a:xfrm>
            <a:off x="5010150" y="4248150"/>
            <a:ext cx="266700" cy="266700"/>
          </a:xfrm>
          <a:prstGeom prst="ellipse">
            <a:avLst/>
          </a:prstGeom>
          <a:gradFill>
            <a:gsLst>
              <a:gs pos="0">
                <a:srgbClr val="38BDF8"/>
              </a:gs>
              <a:gs pos="100000">
                <a:srgbClr val="2563EB"/>
              </a:gs>
            </a:gsLst>
            <a:lin ang="2700000" scaled="1"/>
          </a:gradFill>
          <a:ln>
            <a:noFill/>
          </a:ln>
        </p:spPr>
      </p:sp>
      <p:sp>
        <p:nvSpPr>
          <p:cNvPr id="41" name="Ellipse 41"/>
          <p:cNvSpPr/>
          <p:nvPr/>
        </p:nvSpPr>
        <p:spPr>
          <a:xfrm>
            <a:off x="4914900" y="4152900"/>
            <a:ext cx="457200" cy="457200"/>
          </a:xfrm>
          <a:prstGeom prst="ellipse">
            <a:avLst/>
          </a:prstGeom>
          <a:noFill/>
          <a:ln w="19050">
            <a:solidFill>
              <a:srgbClr val="38BDF8">
                <a:alpha val="60000"/>
              </a:srgbClr>
            </a:solidFill>
          </a:ln>
        </p:spPr>
      </p:sp>
      <p:sp>
        <p:nvSpPr>
          <p:cNvPr id="42" name="Ellipse 42"/>
          <p:cNvSpPr/>
          <p:nvPr/>
        </p:nvSpPr>
        <p:spPr>
          <a:xfrm>
            <a:off x="4800600" y="4038600"/>
            <a:ext cx="685800" cy="685800"/>
          </a:xfrm>
          <a:prstGeom prst="ellipse">
            <a:avLst/>
          </a:prstGeom>
          <a:noFill/>
          <a:ln w="9525">
            <a:solidFill>
              <a:srgbClr val="38BDF8">
                <a:alpha val="30000"/>
              </a:srgbClr>
            </a:solidFill>
          </a:ln>
        </p:spPr>
      </p:sp>
      <p:sp>
        <p:nvSpPr>
          <p:cNvPr id="43" name="Line 43"/>
          <p:cNvSpPr/>
          <p:nvPr/>
        </p:nvSpPr>
        <p:spPr>
          <a:xfrm>
            <a:off x="5143500" y="4514850"/>
            <a:ext cx="9525" cy="1009650"/>
          </a:xfrm>
          <a:custGeom>
            <a:avLst/>
            <a:gdLst/>
            <a:ahLst/>
            <a:cxnLst/>
            <a:rect l="l" t="t" r="r" b="b"/>
            <a:pathLst>
              <a:path w="9525" h="1009650">
                <a:moveTo>
                  <a:pt x="0" y="0"/>
                </a:moveTo>
                <a:lnTo>
                  <a:pt x="0" y="1009650"/>
                </a:lnTo>
              </a:path>
            </a:pathLst>
          </a:custGeom>
          <a:noFill/>
          <a:ln w="28575">
            <a:solidFill>
              <a:srgbClr val="BDD7FF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5516118" y="4155758"/>
            <a:ext cx="212374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双一流A类建设高校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517642" y="442626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工科底蕴深厚</a:t>
            </a:r>
          </a:p>
        </p:txBody>
      </p:sp>
      <p:sp>
        <p:nvSpPr>
          <p:cNvPr id="46" name="Ellipse 46"/>
          <p:cNvSpPr/>
          <p:nvPr/>
        </p:nvSpPr>
        <p:spPr>
          <a:xfrm>
            <a:off x="5010150" y="5391150"/>
            <a:ext cx="266700" cy="266700"/>
          </a:xfrm>
          <a:prstGeom prst="ellipse">
            <a:avLst/>
          </a:prstGeom>
          <a:gradFill>
            <a:gsLst>
              <a:gs pos="0">
                <a:srgbClr val="38BDF8"/>
              </a:gs>
              <a:gs pos="100000">
                <a:srgbClr val="2563EB"/>
              </a:gs>
            </a:gsLst>
            <a:lin ang="2700000" scaled="1"/>
          </a:gradFill>
          <a:ln>
            <a:noFill/>
          </a:ln>
        </p:spPr>
      </p:sp>
      <p:sp>
        <p:nvSpPr>
          <p:cNvPr id="47" name="Ellipse 47"/>
          <p:cNvSpPr/>
          <p:nvPr/>
        </p:nvSpPr>
        <p:spPr>
          <a:xfrm>
            <a:off x="4914900" y="5295900"/>
            <a:ext cx="457200" cy="457200"/>
          </a:xfrm>
          <a:prstGeom prst="ellipse">
            <a:avLst/>
          </a:prstGeom>
          <a:noFill/>
          <a:ln w="19050">
            <a:solidFill>
              <a:srgbClr val="38BDF8">
                <a:alpha val="60000"/>
              </a:srgbClr>
            </a:solidFill>
          </a:ln>
        </p:spPr>
      </p:sp>
      <p:sp>
        <p:nvSpPr>
          <p:cNvPr id="48" name="Ellipse 48"/>
          <p:cNvSpPr/>
          <p:nvPr/>
        </p:nvSpPr>
        <p:spPr>
          <a:xfrm>
            <a:off x="4800600" y="5181600"/>
            <a:ext cx="685800" cy="685800"/>
          </a:xfrm>
          <a:prstGeom prst="ellipse">
            <a:avLst/>
          </a:prstGeom>
          <a:noFill/>
          <a:ln w="9525">
            <a:solidFill>
              <a:srgbClr val="38BDF8">
                <a:alpha val="30000"/>
              </a:srgbClr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5516118" y="529875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薪火相传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517642" y="5569268"/>
            <a:ext cx="21945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从延安窑洞到科技创新高地</a:t>
            </a:r>
          </a:p>
        </p:txBody>
      </p:sp>
      <p:sp>
        <p:nvSpPr>
          <p:cNvPr id="51" name="Rectangle 51"/>
          <p:cNvSpPr/>
          <p:nvPr/>
        </p:nvSpPr>
        <p:spPr>
          <a:xfrm>
            <a:off x="8382000" y="1238250"/>
            <a:ext cx="11430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BDD7FF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8861202" y="1297305"/>
            <a:ext cx="18459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100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524113" y="1648778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唯一红色基因</a:t>
            </a:r>
          </a:p>
        </p:txBody>
      </p:sp>
      <p:grpSp>
        <p:nvGrpSpPr>
          <p:cNvPr id="69" name="Group 69"/>
          <p:cNvGrpSpPr/>
          <p:nvPr/>
        </p:nvGrpSpPr>
        <p:grpSpPr>
          <a:xfrm>
            <a:off x="8382000" y="2095500"/>
            <a:ext cx="3286125" cy="4143375"/>
            <a:chOff x="8382000" y="2095500"/>
            <a:chExt cx="3286125" cy="4143375"/>
          </a:xfrm>
        </p:grpSpPr>
        <p:sp>
          <p:nvSpPr>
            <p:cNvPr id="54" name="Rectangle 54"/>
            <p:cNvSpPr/>
            <p:nvPr/>
          </p:nvSpPr>
          <p:spPr>
            <a:xfrm>
              <a:off x="8429625" y="2143125"/>
              <a:ext cx="3238500" cy="4095750"/>
            </a:xfrm>
            <a:prstGeom prst="roundRect">
              <a:avLst>
                <a:gd name="adj" fmla="val 1765"/>
              </a:avLst>
            </a:prstGeom>
            <a:solidFill>
              <a:srgbClr val="EEF4FF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8382000" y="2095500"/>
              <a:ext cx="3238500" cy="4095750"/>
            </a:xfrm>
            <a:prstGeom prst="roundRect">
              <a:avLst>
                <a:gd name="adj" fmla="val 1765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8524875" y="2238375"/>
              <a:ext cx="2952750" cy="3524250"/>
            </a:xfrm>
            <a:prstGeom prst="roundRect">
              <a:avLst>
                <a:gd name="adj" fmla="val 1290"/>
              </a:avLst>
            </a:prstGeom>
            <a:solidFill>
              <a:srgbClr val="EEF4FF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8524875" y="2238375"/>
              <a:ext cx="2952750" cy="3524250"/>
            </a:xfrm>
            <a:prstGeom prst="roundRect">
              <a:avLst>
                <a:gd name="adj" fmla="val 1290"/>
              </a:avLst>
            </a:prstGeom>
            <a:noFill/>
            <a:ln w="9525">
              <a:solidFill>
                <a:srgbClr val="BDD7FF"/>
              </a:solidFill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8763000" y="3390900"/>
              <a:ext cx="2571750" cy="2333625"/>
              <a:chOff x="8763000" y="3390900"/>
              <a:chExt cx="2571750" cy="2333625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8858250" y="3810000"/>
                <a:ext cx="2000250" cy="1905000"/>
              </a:xfrm>
              <a:custGeom>
                <a:avLst/>
                <a:gdLst/>
                <a:ahLst/>
                <a:cxnLst/>
                <a:rect l="l" t="t" r="r" b="b"/>
                <a:pathLst>
                  <a:path w="2000250" h="1905000">
                    <a:moveTo>
                      <a:pt x="0" y="1905000"/>
                    </a:moveTo>
                    <a:lnTo>
                      <a:pt x="857250" y="0"/>
                    </a:lnTo>
                    <a:lnTo>
                      <a:pt x="2000250" y="1905000"/>
                    </a:lnTo>
                    <a:close/>
                  </a:path>
                </a:pathLst>
              </a:custGeom>
              <a:noFill/>
              <a:ln w="28575">
                <a:solidFill>
                  <a:srgbClr val="52637A">
                    <a:alpha val="60000"/>
                  </a:srgbClr>
                </a:solidFill>
                <a:round/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9334500" y="4572000"/>
                <a:ext cx="95250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952500" h="1143000">
                    <a:moveTo>
                      <a:pt x="0" y="1143000"/>
                    </a:moveTo>
                    <a:lnTo>
                      <a:pt x="381000" y="0"/>
                    </a:lnTo>
                    <a:lnTo>
                      <a:pt x="952500" y="1143000"/>
                    </a:lnTo>
                    <a:close/>
                  </a:path>
                </a:pathLst>
              </a:custGeom>
              <a:solidFill>
                <a:srgbClr val="BDD7FF">
                  <a:alpha val="50000"/>
                </a:srgbClr>
              </a:solidFill>
              <a:ln>
                <a:noFill/>
              </a:ln>
            </p:spPr>
          </p:sp>
          <p:sp>
            <p:nvSpPr>
              <p:cNvPr id="60" name="Rectangle 60"/>
              <p:cNvSpPr/>
              <p:nvPr/>
            </p:nvSpPr>
            <p:spPr>
              <a:xfrm>
                <a:off x="9572625" y="3619500"/>
                <a:ext cx="285750" cy="476250"/>
              </a:xfrm>
              <a:prstGeom prst="rect">
                <a:avLst/>
              </a:prstGeom>
              <a:noFill/>
              <a:ln w="28575">
                <a:solidFill>
                  <a:srgbClr val="52637A"/>
                </a:solidFill>
              </a:ln>
            </p:spPr>
          </p:sp>
          <p:sp>
            <p:nvSpPr>
              <p:cNvPr id="61" name="Polygon 61"/>
              <p:cNvSpPr/>
              <p:nvPr/>
            </p:nvSpPr>
            <p:spPr>
              <a:xfrm>
                <a:off x="9525000" y="3619500"/>
                <a:ext cx="38100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476250">
                    <a:moveTo>
                      <a:pt x="0" y="476250"/>
                    </a:moveTo>
                    <a:lnTo>
                      <a:pt x="190500" y="0"/>
                    </a:lnTo>
                    <a:lnTo>
                      <a:pt x="381000" y="476250"/>
                    </a:lnTo>
                    <a:close/>
                  </a:path>
                </a:pathLst>
              </a:custGeom>
              <a:noFill/>
              <a:ln w="28575">
                <a:solidFill>
                  <a:srgbClr val="52637A"/>
                </a:solidFill>
              </a:ln>
            </p:spPr>
          </p:sp>
          <p:sp>
            <p:nvSpPr>
              <p:cNvPr id="62" name="Line 62"/>
              <p:cNvSpPr/>
              <p:nvPr/>
            </p:nvSpPr>
            <p:spPr>
              <a:xfrm>
                <a:off x="9715500" y="3429000"/>
                <a:ext cx="95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0">
                    <a:moveTo>
                      <a:pt x="0" y="190500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rgbClr val="52637A"/>
                </a:solidFill>
              </a:ln>
            </p:spPr>
          </p:sp>
          <p:sp>
            <p:nvSpPr>
              <p:cNvPr id="63" name="Ellipse 63"/>
              <p:cNvSpPr/>
              <p:nvPr/>
            </p:nvSpPr>
            <p:spPr>
              <a:xfrm>
                <a:off x="9677400" y="3390900"/>
                <a:ext cx="76200" cy="76200"/>
              </a:xfrm>
              <a:prstGeom prst="ellipse">
                <a:avLst/>
              </a:prstGeom>
              <a:solidFill>
                <a:srgbClr val="52637A"/>
              </a:solidFill>
              <a:ln>
                <a:noFill/>
              </a:ln>
            </p:spPr>
          </p:sp>
          <p:sp>
            <p:nvSpPr>
              <p:cNvPr id="64" name="Rectangle 64"/>
              <p:cNvSpPr/>
              <p:nvPr/>
            </p:nvSpPr>
            <p:spPr>
              <a:xfrm>
                <a:off x="9667875" y="3905250"/>
                <a:ext cx="95250" cy="190500"/>
              </a:xfrm>
              <a:prstGeom prst="rect">
                <a:avLst/>
              </a:prstGeom>
              <a:solidFill>
                <a:srgbClr val="52637A"/>
              </a:solidFill>
              <a:ln>
                <a:noFill/>
              </a:ln>
            </p:spPr>
          </p:sp>
          <p:sp>
            <p:nvSpPr>
              <p:cNvPr id="65" name="Line 65"/>
              <p:cNvSpPr/>
              <p:nvPr/>
            </p:nvSpPr>
            <p:spPr>
              <a:xfrm>
                <a:off x="8763000" y="5715000"/>
                <a:ext cx="257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71750" h="9525">
                    <a:moveTo>
                      <a:pt x="0" y="0"/>
                    </a:moveTo>
                    <a:lnTo>
                      <a:pt x="2571750" y="0"/>
                    </a:lnTo>
                  </a:path>
                </a:pathLst>
              </a:custGeom>
              <a:noFill/>
              <a:ln w="19050">
                <a:solidFill>
                  <a:srgbClr val="52637A"/>
                </a:solidFill>
                <a:prstDash val="dash"/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9075491" y="5879306"/>
              <a:ext cx="18515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延安时期 · 自然科学院旧址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567166" y="5982652"/>
              <a:ext cx="4213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2637A"/>
                  </a:solidFill>
                  <a:latin typeface="Georgia"/>
                  <a:ea typeface="Georgia"/>
                  <a:cs typeface="Georgia"/>
                </a:rPr>
                <a:t>1940s</a:t>
              </a:r>
            </a:p>
          </p:txBody>
        </p:sp>
      </p:grpSp>
      <p:sp>
        <p:nvSpPr>
          <p:cNvPr id="70" name="Ellipse 70"/>
          <p:cNvSpPr/>
          <p:nvPr/>
        </p:nvSpPr>
        <p:spPr>
          <a:xfrm>
            <a:off x="10287000" y="-190500"/>
            <a:ext cx="2286000" cy="2286000"/>
          </a:xfrm>
          <a:prstGeom prst="ellipse">
            <a:avLst/>
          </a:prstGeom>
          <a:noFill/>
          <a:ln w="19050">
            <a:solidFill>
              <a:srgbClr val="38BDF8">
                <a:alpha val="8000"/>
              </a:srgbClr>
            </a:solidFill>
          </a:ln>
        </p:spPr>
      </p:sp>
      <p:sp>
        <p:nvSpPr>
          <p:cNvPr id="71" name="Ellipse 71"/>
          <p:cNvSpPr/>
          <p:nvPr/>
        </p:nvSpPr>
        <p:spPr>
          <a:xfrm>
            <a:off x="5429250" y="4476750"/>
            <a:ext cx="3429000" cy="3429000"/>
          </a:xfrm>
          <a:prstGeom prst="ellipse">
            <a:avLst/>
          </a:prstGeom>
          <a:noFill/>
          <a:ln w="9525">
            <a:solidFill>
              <a:srgbClr val="2563EB">
                <a:alpha val="8000"/>
              </a:srgbClr>
            </a:solidFill>
          </a:ln>
        </p:spPr>
      </p:sp>
      <p:sp>
        <p:nvSpPr>
          <p:cNvPr id="72" name="Line 72"/>
          <p:cNvSpPr/>
          <p:nvPr/>
        </p:nvSpPr>
        <p:spPr>
          <a:xfrm>
            <a:off x="428625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9525">
            <a:solidFill>
              <a:srgbClr val="BDD7FF">
                <a:alpha val="60000"/>
              </a:srgbClr>
            </a:solidFill>
          </a:ln>
        </p:spPr>
      </p:sp>
      <p:sp>
        <p:nvSpPr>
          <p:cNvPr id="73" name="TextBox 73"/>
          <p:cNvSpPr txBox="1"/>
          <p:nvPr/>
        </p:nvSpPr>
        <p:spPr>
          <a:xfrm>
            <a:off x="11332140" y="65541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52637A"/>
                </a:solidFill>
                <a:latin typeface="Arial"/>
                <a:ea typeface="Arial"/>
                <a:cs typeface="Arial"/>
              </a:rPr>
              <a:t>02 / 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0" y="3429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BDD7FF">
                <a:alpha val="25000"/>
              </a:srgbClr>
            </a:solidFill>
          </a:ln>
        </p:spPr>
      </p:sp>
      <p:sp>
        <p:nvSpPr>
          <p:cNvPr id="4" name="Line 4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BDD7FF">
                <a:alpha val="25000"/>
              </a:srgbClr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517398" y="345758"/>
            <a:ext cx="4106093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硬核学科 · 顶尖实力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21970" y="823912"/>
            <a:ext cx="8535924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4个双一流学科·6个中国顶尖学科·工程学ESI全球前万分之一</a:t>
            </a:r>
          </a:p>
        </p:txBody>
      </p:sp>
      <p:sp>
        <p:nvSpPr>
          <p:cNvPr id="7" name="Rectangle 7"/>
          <p:cNvSpPr/>
          <p:nvPr/>
        </p:nvSpPr>
        <p:spPr>
          <a:xfrm>
            <a:off x="533400" y="1524000"/>
            <a:ext cx="7239000" cy="2857500"/>
          </a:xfrm>
          <a:prstGeom prst="roundRect">
            <a:avLst>
              <a:gd name="adj" fmla="val 5333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1009650" y="1866900"/>
            <a:ext cx="1028700" cy="102870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</p:sp>
      <p:sp>
        <p:nvSpPr>
          <p:cNvPr id="9" name="Line 9"/>
          <p:cNvSpPr/>
          <p:nvPr/>
        </p:nvSpPr>
        <p:spPr>
          <a:xfrm>
            <a:off x="1333500" y="1952625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28575" cap="rnd">
            <a:solidFill>
              <a:srgbClr val="38BDF8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347520" y="2115502"/>
            <a:ext cx="352959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4050" b="1" dirty="0">
                <a:solidFill>
                  <a:srgbClr val="1F293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11555" y="2886075"/>
            <a:ext cx="102489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双一流学科</a:t>
            </a:r>
          </a:p>
        </p:txBody>
      </p:sp>
      <p:sp>
        <p:nvSpPr>
          <p:cNvPr id="12" name="Ellipse 12"/>
          <p:cNvSpPr/>
          <p:nvPr/>
        </p:nvSpPr>
        <p:spPr>
          <a:xfrm>
            <a:off x="3867150" y="1866900"/>
            <a:ext cx="1028700" cy="102870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</p:sp>
      <p:sp>
        <p:nvSpPr>
          <p:cNvPr id="13" name="Line 13"/>
          <p:cNvSpPr/>
          <p:nvPr/>
        </p:nvSpPr>
        <p:spPr>
          <a:xfrm>
            <a:off x="4191000" y="1952625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28575" cap="rnd">
            <a:solidFill>
              <a:srgbClr val="38BDF8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205020" y="2115502"/>
            <a:ext cx="352959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4050" b="1" dirty="0">
                <a:solidFill>
                  <a:srgbClr val="1F293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768090" y="2886075"/>
            <a:ext cx="12268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中国顶尖学科</a:t>
            </a:r>
          </a:p>
        </p:txBody>
      </p:sp>
      <p:sp>
        <p:nvSpPr>
          <p:cNvPr id="16" name="Ellipse 16"/>
          <p:cNvSpPr/>
          <p:nvPr/>
        </p:nvSpPr>
        <p:spPr>
          <a:xfrm>
            <a:off x="6686550" y="1828800"/>
            <a:ext cx="1104900" cy="110490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</p:sp>
      <p:sp>
        <p:nvSpPr>
          <p:cNvPr id="17" name="Line 17"/>
          <p:cNvSpPr/>
          <p:nvPr/>
        </p:nvSpPr>
        <p:spPr>
          <a:xfrm>
            <a:off x="7000875" y="1924050"/>
            <a:ext cx="476250" cy="9525"/>
          </a:xfrm>
          <a:custGeom>
            <a:avLst/>
            <a:gdLst/>
            <a:ahLst/>
            <a:cxnLst/>
            <a:rect l="l" t="t" r="r" b="b"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/>
          <a:ln w="28575" cap="rnd">
            <a:solidFill>
              <a:srgbClr val="38BDF8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940837" y="213550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600" b="1" dirty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1‰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137605" y="2902268"/>
            <a:ext cx="220279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工程学ESI全球前万分之一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286750" y="1524000"/>
            <a:ext cx="3333750" cy="333375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BDD7FF"/>
            </a:solidFill>
          </a:ln>
        </p:spPr>
      </p:sp>
      <p:sp>
        <p:nvSpPr>
          <p:cNvPr id="21" name="Polygon 21"/>
          <p:cNvSpPr/>
          <p:nvPr/>
        </p:nvSpPr>
        <p:spPr>
          <a:xfrm>
            <a:off x="9296400" y="2495550"/>
            <a:ext cx="1409700" cy="1343025"/>
          </a:xfrm>
          <a:custGeom>
            <a:avLst/>
            <a:gdLst/>
            <a:ahLst/>
            <a:cxnLst/>
            <a:rect l="l" t="t" r="r" b="b"/>
            <a:pathLst>
              <a:path w="1409700" h="1343025">
                <a:moveTo>
                  <a:pt x="704850" y="0"/>
                </a:moveTo>
                <a:lnTo>
                  <a:pt x="1409700" y="476250"/>
                </a:lnTo>
                <a:lnTo>
                  <a:pt x="1143000" y="1343025"/>
                </a:lnTo>
                <a:lnTo>
                  <a:pt x="266700" y="1343025"/>
                </a:lnTo>
                <a:lnTo>
                  <a:pt x="0" y="476250"/>
                </a:lnTo>
                <a:close/>
              </a:path>
            </a:pathLst>
          </a:custGeom>
          <a:noFill/>
          <a:ln w="7620">
            <a:solidFill>
              <a:srgbClr val="BDD7FF"/>
            </a:solidFill>
            <a:prstDash val="dash"/>
          </a:ln>
        </p:spPr>
      </p:sp>
      <p:sp>
        <p:nvSpPr>
          <p:cNvPr id="22" name="Polygon 22"/>
          <p:cNvSpPr/>
          <p:nvPr/>
        </p:nvSpPr>
        <p:spPr>
          <a:xfrm>
            <a:off x="9058275" y="2247900"/>
            <a:ext cx="1885950" cy="1790700"/>
          </a:xfrm>
          <a:custGeom>
            <a:avLst/>
            <a:gdLst/>
            <a:ahLst/>
            <a:cxnLst/>
            <a:rect l="l" t="t" r="r" b="b"/>
            <a:pathLst>
              <a:path w="1885950" h="1790700">
                <a:moveTo>
                  <a:pt x="942975" y="0"/>
                </a:moveTo>
                <a:lnTo>
                  <a:pt x="1885950" y="685800"/>
                </a:lnTo>
                <a:lnTo>
                  <a:pt x="1524000" y="1790700"/>
                </a:lnTo>
                <a:lnTo>
                  <a:pt x="361950" y="1790700"/>
                </a:lnTo>
                <a:lnTo>
                  <a:pt x="0" y="685800"/>
                </a:lnTo>
                <a:close/>
              </a:path>
            </a:pathLst>
          </a:custGeom>
          <a:noFill/>
          <a:ln w="7620">
            <a:solidFill>
              <a:srgbClr val="BDD7FF"/>
            </a:solidFill>
            <a:prstDash val="dash"/>
          </a:ln>
        </p:spPr>
      </p:sp>
      <p:sp>
        <p:nvSpPr>
          <p:cNvPr id="23" name="Line 23"/>
          <p:cNvSpPr/>
          <p:nvPr/>
        </p:nvSpPr>
        <p:spPr>
          <a:xfrm>
            <a:off x="10001250" y="2000250"/>
            <a:ext cx="9525" cy="1238250"/>
          </a:xfrm>
          <a:custGeom>
            <a:avLst/>
            <a:gdLst/>
            <a:ahLst/>
            <a:cxnLst/>
            <a:rect l="l" t="t" r="r" b="b"/>
            <a:pathLst>
              <a:path w="9525" h="1238250">
                <a:moveTo>
                  <a:pt x="0" y="0"/>
                </a:moveTo>
                <a:lnTo>
                  <a:pt x="0" y="1238250"/>
                </a:lnTo>
              </a:path>
            </a:pathLst>
          </a:custGeom>
          <a:noFill/>
          <a:ln w="7620">
            <a:solidFill>
              <a:srgbClr val="BDD7FF"/>
            </a:solidFill>
          </a:ln>
        </p:spPr>
      </p:sp>
      <p:sp>
        <p:nvSpPr>
          <p:cNvPr id="24" name="Line 24"/>
          <p:cNvSpPr/>
          <p:nvPr/>
        </p:nvSpPr>
        <p:spPr>
          <a:xfrm>
            <a:off x="10001250" y="2857500"/>
            <a:ext cx="1181100" cy="381000"/>
          </a:xfrm>
          <a:custGeom>
            <a:avLst/>
            <a:gdLst/>
            <a:ahLst/>
            <a:cxnLst/>
            <a:rect l="l" t="t" r="r" b="b"/>
            <a:pathLst>
              <a:path w="1181100" h="381000">
                <a:moveTo>
                  <a:pt x="1181100" y="0"/>
                </a:moveTo>
                <a:lnTo>
                  <a:pt x="0" y="381000"/>
                </a:lnTo>
              </a:path>
            </a:pathLst>
          </a:custGeom>
          <a:noFill/>
          <a:ln w="7620">
            <a:solidFill>
              <a:srgbClr val="BDD7FF"/>
            </a:solidFill>
          </a:ln>
        </p:spPr>
      </p:sp>
      <p:sp>
        <p:nvSpPr>
          <p:cNvPr id="25" name="Line 25"/>
          <p:cNvSpPr/>
          <p:nvPr/>
        </p:nvSpPr>
        <p:spPr>
          <a:xfrm>
            <a:off x="10001250" y="3238500"/>
            <a:ext cx="723900" cy="1000125"/>
          </a:xfrm>
          <a:custGeom>
            <a:avLst/>
            <a:gdLst/>
            <a:ahLst/>
            <a:cxnLst/>
            <a:rect l="l" t="t" r="r" b="b"/>
            <a:pathLst>
              <a:path w="723900" h="1000125">
                <a:moveTo>
                  <a:pt x="723900" y="1000125"/>
                </a:moveTo>
                <a:lnTo>
                  <a:pt x="0" y="0"/>
                </a:lnTo>
              </a:path>
            </a:pathLst>
          </a:custGeom>
          <a:noFill/>
          <a:ln w="7620">
            <a:solidFill>
              <a:srgbClr val="BDD7FF"/>
            </a:solidFill>
          </a:ln>
        </p:spPr>
      </p:sp>
      <p:sp>
        <p:nvSpPr>
          <p:cNvPr id="26" name="Line 26"/>
          <p:cNvSpPr/>
          <p:nvPr/>
        </p:nvSpPr>
        <p:spPr>
          <a:xfrm>
            <a:off x="9277350" y="3238500"/>
            <a:ext cx="723900" cy="1000125"/>
          </a:xfrm>
          <a:custGeom>
            <a:avLst/>
            <a:gdLst/>
            <a:ahLst/>
            <a:cxnLst/>
            <a:rect l="l" t="t" r="r" b="b"/>
            <a:pathLst>
              <a:path w="723900" h="1000125">
                <a:moveTo>
                  <a:pt x="0" y="1000125"/>
                </a:moveTo>
                <a:lnTo>
                  <a:pt x="723900" y="0"/>
                </a:lnTo>
              </a:path>
            </a:pathLst>
          </a:custGeom>
          <a:noFill/>
          <a:ln w="7620">
            <a:solidFill>
              <a:srgbClr val="BDD7FF"/>
            </a:solidFill>
          </a:ln>
        </p:spPr>
      </p:sp>
      <p:sp>
        <p:nvSpPr>
          <p:cNvPr id="27" name="Line 27"/>
          <p:cNvSpPr/>
          <p:nvPr/>
        </p:nvSpPr>
        <p:spPr>
          <a:xfrm>
            <a:off x="8820150" y="2857500"/>
            <a:ext cx="1181100" cy="381000"/>
          </a:xfrm>
          <a:custGeom>
            <a:avLst/>
            <a:gdLst/>
            <a:ahLst/>
            <a:cxnLst/>
            <a:rect l="l" t="t" r="r" b="b"/>
            <a:pathLst>
              <a:path w="1181100" h="381000">
                <a:moveTo>
                  <a:pt x="0" y="0"/>
                </a:moveTo>
                <a:lnTo>
                  <a:pt x="1181100" y="381000"/>
                </a:lnTo>
              </a:path>
            </a:pathLst>
          </a:custGeom>
          <a:noFill/>
          <a:ln w="7620">
            <a:solidFill>
              <a:srgbClr val="BDD7FF"/>
            </a:solidFill>
          </a:ln>
        </p:spPr>
      </p:sp>
      <p:sp>
        <p:nvSpPr>
          <p:cNvPr id="28" name="Polygon 28"/>
          <p:cNvSpPr/>
          <p:nvPr/>
        </p:nvSpPr>
        <p:spPr>
          <a:xfrm>
            <a:off x="8820150" y="2000250"/>
            <a:ext cx="2124075" cy="2038350"/>
          </a:xfrm>
          <a:custGeom>
            <a:avLst/>
            <a:gdLst/>
            <a:ahLst/>
            <a:cxnLst/>
            <a:rect l="l" t="t" r="r" b="b"/>
            <a:pathLst>
              <a:path w="2124075" h="2038350">
                <a:moveTo>
                  <a:pt x="1181100" y="0"/>
                </a:moveTo>
                <a:lnTo>
                  <a:pt x="2124075" y="933450"/>
                </a:lnTo>
                <a:lnTo>
                  <a:pt x="1762125" y="2038350"/>
                </a:lnTo>
                <a:lnTo>
                  <a:pt x="742950" y="1838325"/>
                </a:lnTo>
                <a:lnTo>
                  <a:pt x="0" y="857250"/>
                </a:lnTo>
                <a:close/>
              </a:path>
            </a:pathLst>
          </a:custGeom>
          <a:solidFill>
            <a:srgbClr val="2563EB">
              <a:alpha val="8000"/>
            </a:srgbClr>
          </a:solidFill>
          <a:ln w="23812">
            <a:solidFill>
              <a:srgbClr val="2563EB"/>
            </a:solidFill>
            <a:round/>
          </a:ln>
        </p:spPr>
      </p:sp>
      <p:sp>
        <p:nvSpPr>
          <p:cNvPr id="29" name="Polygon 29"/>
          <p:cNvSpPr/>
          <p:nvPr/>
        </p:nvSpPr>
        <p:spPr>
          <a:xfrm>
            <a:off x="9296400" y="2495550"/>
            <a:ext cx="1409700" cy="1543050"/>
          </a:xfrm>
          <a:custGeom>
            <a:avLst/>
            <a:gdLst/>
            <a:ahLst/>
            <a:cxnLst/>
            <a:rect l="l" t="t" r="r" b="b"/>
            <a:pathLst>
              <a:path w="1409700" h="1543050">
                <a:moveTo>
                  <a:pt x="704850" y="0"/>
                </a:moveTo>
                <a:lnTo>
                  <a:pt x="1409700" y="514350"/>
                </a:lnTo>
                <a:lnTo>
                  <a:pt x="1143000" y="1343025"/>
                </a:lnTo>
                <a:lnTo>
                  <a:pt x="123825" y="1543050"/>
                </a:lnTo>
                <a:lnTo>
                  <a:pt x="0" y="514350"/>
                </a:lnTo>
                <a:close/>
              </a:path>
            </a:pathLst>
          </a:custGeom>
          <a:noFill/>
          <a:ln w="19050">
            <a:solidFill>
              <a:srgbClr val="7C3AED"/>
            </a:solidFill>
            <a:custDash>
              <a:ds d="300000" sp="200000"/>
            </a:custDash>
            <a:round/>
          </a:ln>
        </p:spPr>
      </p:sp>
      <p:sp>
        <p:nvSpPr>
          <p:cNvPr id="30" name="TextBox 30"/>
          <p:cNvSpPr txBox="1"/>
          <p:nvPr/>
        </p:nvSpPr>
        <p:spPr>
          <a:xfrm>
            <a:off x="9833610" y="17564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兵器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167110" y="27755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光学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633710" y="43281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控制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976360" y="43281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机械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404860" y="27755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材料</a:t>
            </a:r>
          </a:p>
        </p:txBody>
      </p:sp>
      <p:sp>
        <p:nvSpPr>
          <p:cNvPr id="35" name="Rectangle 35"/>
          <p:cNvSpPr/>
          <p:nvPr/>
        </p:nvSpPr>
        <p:spPr>
          <a:xfrm>
            <a:off x="10668000" y="1695450"/>
            <a:ext cx="781050" cy="4000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4762">
            <a:solidFill>
              <a:srgbClr val="BDD7FF"/>
            </a:solidFill>
          </a:ln>
        </p:spPr>
      </p:sp>
      <p:sp>
        <p:nvSpPr>
          <p:cNvPr id="36" name="Line 36"/>
          <p:cNvSpPr/>
          <p:nvPr/>
        </p:nvSpPr>
        <p:spPr>
          <a:xfrm>
            <a:off x="10725150" y="184785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23812">
            <a:solidFill>
              <a:srgbClr val="2563EB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10968038" y="1798320"/>
            <a:ext cx="3729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北理工</a:t>
            </a:r>
          </a:p>
        </p:txBody>
      </p:sp>
      <p:sp>
        <p:nvSpPr>
          <p:cNvPr id="38" name="Line 38"/>
          <p:cNvSpPr/>
          <p:nvPr/>
        </p:nvSpPr>
        <p:spPr>
          <a:xfrm>
            <a:off x="10725150" y="2009775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9050">
            <a:solidFill>
              <a:srgbClr val="7C3AED"/>
            </a:solidFill>
            <a:custDash>
              <a:ds d="200000" sp="100000"/>
            </a:custDash>
          </a:ln>
        </p:spPr>
      </p:sp>
      <p:sp>
        <p:nvSpPr>
          <p:cNvPr id="39" name="TextBox 39"/>
          <p:cNvSpPr txBox="1"/>
          <p:nvPr/>
        </p:nvSpPr>
        <p:spPr>
          <a:xfrm>
            <a:off x="10968038" y="1960245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同类平均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33400" y="4762500"/>
            <a:ext cx="11125200" cy="1714500"/>
          </a:xfrm>
          <a:prstGeom prst="roundRect">
            <a:avLst>
              <a:gd name="adj" fmla="val 6667"/>
            </a:avLst>
          </a:prstGeom>
          <a:solidFill>
            <a:srgbClr val="EEF4FF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59892" y="4807268"/>
            <a:ext cx="116298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ESI 全球排名</a:t>
            </a:r>
          </a:p>
        </p:txBody>
      </p:sp>
      <p:sp>
        <p:nvSpPr>
          <p:cNvPr id="42" name="Rectangle 42"/>
          <p:cNvSpPr/>
          <p:nvPr/>
        </p:nvSpPr>
        <p:spPr>
          <a:xfrm>
            <a:off x="1143000" y="4267200"/>
            <a:ext cx="762000" cy="1828800"/>
          </a:xfrm>
          <a:prstGeom prst="roundRect">
            <a:avLst>
              <a:gd name="adj" fmla="val 5000"/>
            </a:avLst>
          </a:prstGeom>
          <a:gradFill>
            <a:gsLst>
              <a:gs pos="0">
                <a:srgbClr val="38BDF8"/>
              </a:gs>
              <a:gs pos="100000">
                <a:srgbClr val="2563EB"/>
              </a:gs>
            </a:gsLst>
            <a:lin ang="5400000" scaled="1"/>
          </a:gra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1361004" y="4023360"/>
            <a:ext cx="3259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38BDF8"/>
                </a:solidFill>
                <a:latin typeface="Arial"/>
                <a:ea typeface="Arial"/>
                <a:cs typeface="Arial"/>
              </a:rPr>
              <a:t>98%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244536" y="6617018"/>
            <a:ext cx="5589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工程学</a:t>
            </a:r>
          </a:p>
        </p:txBody>
      </p:sp>
      <p:sp>
        <p:nvSpPr>
          <p:cNvPr id="45" name="Rectangle 45"/>
          <p:cNvSpPr/>
          <p:nvPr/>
        </p:nvSpPr>
        <p:spPr>
          <a:xfrm>
            <a:off x="4000500" y="4505325"/>
            <a:ext cx="762000" cy="1590675"/>
          </a:xfrm>
          <a:prstGeom prst="roundRect">
            <a:avLst>
              <a:gd name="adj" fmla="val 5000"/>
            </a:avLst>
          </a:prstGeom>
          <a:gradFill>
            <a:gsLst>
              <a:gs pos="0">
                <a:srgbClr val="38BDF8"/>
              </a:gs>
              <a:gs pos="100000">
                <a:srgbClr val="2563EB"/>
              </a:gs>
            </a:gsLst>
            <a:lin ang="5400000" scaled="1"/>
          </a:gra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4218504" y="4261485"/>
            <a:ext cx="3259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38BDF8"/>
                </a:solidFill>
                <a:latin typeface="Arial"/>
                <a:ea typeface="Arial"/>
                <a:cs typeface="Arial"/>
              </a:rPr>
              <a:t>85%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011168" y="661701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材料科学</a:t>
            </a:r>
          </a:p>
        </p:txBody>
      </p:sp>
      <p:sp>
        <p:nvSpPr>
          <p:cNvPr id="48" name="Rectangle 48"/>
          <p:cNvSpPr/>
          <p:nvPr/>
        </p:nvSpPr>
        <p:spPr>
          <a:xfrm>
            <a:off x="6858000" y="4752975"/>
            <a:ext cx="762000" cy="1343025"/>
          </a:xfrm>
          <a:prstGeom prst="roundRect">
            <a:avLst>
              <a:gd name="adj" fmla="val 5000"/>
            </a:avLst>
          </a:prstGeom>
          <a:gradFill>
            <a:gsLst>
              <a:gs pos="0">
                <a:srgbClr val="38BDF8"/>
              </a:gs>
              <a:gs pos="100000">
                <a:srgbClr val="2563EB"/>
              </a:gs>
            </a:gsLst>
            <a:lin ang="5400000" scaled="1"/>
          </a:gra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7076004" y="4509135"/>
            <a:ext cx="3259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38BDF8"/>
                </a:solidFill>
                <a:latin typeface="Arial"/>
                <a:ea typeface="Arial"/>
                <a:cs typeface="Arial"/>
              </a:rPr>
              <a:t>72%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050405" y="6617018"/>
            <a:ext cx="37719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化学</a:t>
            </a:r>
          </a:p>
        </p:txBody>
      </p:sp>
      <p:sp>
        <p:nvSpPr>
          <p:cNvPr id="51" name="Rectangle 51"/>
          <p:cNvSpPr/>
          <p:nvPr/>
        </p:nvSpPr>
        <p:spPr>
          <a:xfrm>
            <a:off x="9715500" y="5257800"/>
            <a:ext cx="762000" cy="838200"/>
          </a:xfrm>
          <a:prstGeom prst="roundRect">
            <a:avLst>
              <a:gd name="adj" fmla="val 5000"/>
            </a:avLst>
          </a:prstGeom>
          <a:gradFill>
            <a:gsLst>
              <a:gs pos="0">
                <a:srgbClr val="38BDF8"/>
              </a:gs>
              <a:gs pos="100000">
                <a:srgbClr val="2563EB"/>
              </a:gs>
            </a:gsLst>
            <a:lin ang="5400000" scaled="1"/>
          </a:gra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9933504" y="5013960"/>
            <a:ext cx="3259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38BDF8"/>
                </a:solidFill>
                <a:latin typeface="Arial"/>
                <a:ea typeface="Arial"/>
                <a:cs typeface="Arial"/>
              </a:rPr>
              <a:t>45%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817036" y="6617018"/>
            <a:ext cx="5589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物理学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4395521" y="6554152"/>
            <a:ext cx="340095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37A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数据来源：ESI 2025年3月更新 · 全球前1‰学科占比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6858000"/>
                </a:lnTo>
              </a:path>
            </a:pathLst>
          </a:custGeom>
          <a:noFill/>
          <a:ln w="19050">
            <a:solidFill>
              <a:srgbClr val="BDD7FF">
                <a:alpha val="15000"/>
              </a:srgbClr>
            </a:solidFill>
          </a:ln>
        </p:spPr>
      </p:sp>
      <p:sp>
        <p:nvSpPr>
          <p:cNvPr id="4" name="Line 4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6858000"/>
                </a:lnTo>
              </a:path>
            </a:pathLst>
          </a:custGeom>
          <a:noFill/>
          <a:ln w="19050">
            <a:solidFill>
              <a:srgbClr val="BDD7FF">
                <a:alpha val="15000"/>
              </a:srgbClr>
            </a:solidFill>
          </a:ln>
        </p:spPr>
      </p:sp>
      <p:sp>
        <p:nvSpPr>
          <p:cNvPr id="5" name="Ellipse 5"/>
          <p:cNvSpPr/>
          <p:nvPr/>
        </p:nvSpPr>
        <p:spPr>
          <a:xfrm>
            <a:off x="3048000" y="381000"/>
            <a:ext cx="6096000" cy="6096000"/>
          </a:xfrm>
          <a:prstGeom prst="ellipse">
            <a:avLst/>
          </a:prstGeom>
          <a:noFill/>
          <a:ln w="57150">
            <a:solidFill>
              <a:srgbClr val="38BDF8">
                <a:alpha val="6000"/>
              </a:srgbClr>
            </a:solidFill>
          </a:ln>
        </p:spPr>
      </p:sp>
      <p:sp>
        <p:nvSpPr>
          <p:cNvPr id="6" name="Ellipse 6"/>
          <p:cNvSpPr/>
          <p:nvPr/>
        </p:nvSpPr>
        <p:spPr>
          <a:xfrm>
            <a:off x="4191000" y="1524000"/>
            <a:ext cx="3810000" cy="3810000"/>
          </a:xfrm>
          <a:prstGeom prst="ellipse">
            <a:avLst/>
          </a:prstGeom>
          <a:noFill/>
          <a:ln w="28575">
            <a:solidFill>
              <a:srgbClr val="7C3AED">
                <a:alpha val="6000"/>
              </a:srgbClr>
            </a:solidFill>
          </a:ln>
        </p:spPr>
      </p:sp>
      <p:sp>
        <p:nvSpPr>
          <p:cNvPr id="7" name="Freeform 7"/>
          <p:cNvSpPr/>
          <p:nvPr/>
        </p:nvSpPr>
        <p:spPr>
          <a:xfrm>
            <a:off x="476250" y="952500"/>
            <a:ext cx="952500" cy="762000"/>
          </a:xfrm>
          <a:custGeom>
            <a:avLst/>
            <a:gdLst/>
            <a:ahLst/>
            <a:cxnLst/>
            <a:rect l="l" t="t" r="r" b="b"/>
            <a:pathLst>
              <a:path w="952500" h="762000">
                <a:moveTo>
                  <a:pt x="476250" y="0"/>
                </a:moveTo>
                <a:lnTo>
                  <a:pt x="952500" y="190500"/>
                </a:lnTo>
                <a:lnTo>
                  <a:pt x="952500" y="571500"/>
                </a:lnTo>
                <a:lnTo>
                  <a:pt x="476250" y="762000"/>
                </a:lnTo>
                <a:lnTo>
                  <a:pt x="0" y="571500"/>
                </a:lnTo>
                <a:lnTo>
                  <a:pt x="0" y="190500"/>
                </a:lnTo>
                <a:close/>
              </a:path>
            </a:pathLst>
          </a:custGeom>
          <a:noFill/>
          <a:ln w="9525">
            <a:solidFill>
              <a:srgbClr val="38BDF8">
                <a:alpha val="20000"/>
              </a:srgbClr>
            </a:solidFill>
          </a:ln>
        </p:spPr>
      </p:sp>
      <p:sp>
        <p:nvSpPr>
          <p:cNvPr id="8" name="Freeform 8"/>
          <p:cNvSpPr/>
          <p:nvPr/>
        </p:nvSpPr>
        <p:spPr>
          <a:xfrm>
            <a:off x="10001250" y="5715000"/>
            <a:ext cx="952500" cy="762000"/>
          </a:xfrm>
          <a:custGeom>
            <a:avLst/>
            <a:gdLst/>
            <a:ahLst/>
            <a:cxnLst/>
            <a:rect l="l" t="t" r="r" b="b"/>
            <a:pathLst>
              <a:path w="952500" h="762000">
                <a:moveTo>
                  <a:pt x="476250" y="0"/>
                </a:moveTo>
                <a:lnTo>
                  <a:pt x="952500" y="190500"/>
                </a:lnTo>
                <a:lnTo>
                  <a:pt x="952500" y="571500"/>
                </a:lnTo>
                <a:lnTo>
                  <a:pt x="476250" y="762000"/>
                </a:lnTo>
                <a:lnTo>
                  <a:pt x="0" y="571500"/>
                </a:lnTo>
                <a:lnTo>
                  <a:pt x="0" y="190500"/>
                </a:lnTo>
                <a:close/>
              </a:path>
            </a:pathLst>
          </a:custGeom>
          <a:noFill/>
          <a:ln w="9525">
            <a:solidFill>
              <a:srgbClr val="7C3AED">
                <a:alpha val="20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1400175" y="1304925"/>
            <a:ext cx="57150" cy="57150"/>
          </a:xfrm>
          <a:prstGeom prst="ellipse">
            <a:avLst/>
          </a:prstGeom>
          <a:solidFill>
            <a:srgbClr val="38BDF8">
              <a:alpha val="40000"/>
            </a:srgbClr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448925" y="6067425"/>
            <a:ext cx="57150" cy="57150"/>
          </a:xfrm>
          <a:prstGeom prst="ellipse">
            <a:avLst/>
          </a:prstGeom>
          <a:solidFill>
            <a:srgbClr val="7C3AED">
              <a:alpha val="40000"/>
            </a:srgbClr>
          </a:solidFill>
          <a:ln>
            <a:noFill/>
          </a:ln>
        </p:spPr>
      </p:sp>
      <p:sp>
        <p:nvSpPr>
          <p:cNvPr id="11" name="Line 11"/>
          <p:cNvSpPr/>
          <p:nvPr/>
        </p:nvSpPr>
        <p:spPr>
          <a:xfrm>
            <a:off x="476250" y="1143000"/>
            <a:ext cx="952500" cy="190500"/>
          </a:xfrm>
          <a:custGeom>
            <a:avLst/>
            <a:gdLst/>
            <a:ahLst/>
            <a:cxnLst/>
            <a:rect l="l" t="t" r="r" b="b"/>
            <a:pathLst>
              <a:path w="952500" h="190500">
                <a:moveTo>
                  <a:pt x="0" y="0"/>
                </a:moveTo>
                <a:lnTo>
                  <a:pt x="952500" y="190500"/>
                </a:lnTo>
              </a:path>
            </a:pathLst>
          </a:custGeom>
          <a:noFill/>
          <a:ln w="9525">
            <a:solidFill>
              <a:srgbClr val="BDD7FF">
                <a:alpha val="20000"/>
              </a:srgbClr>
            </a:solidFill>
          </a:ln>
        </p:spPr>
      </p:sp>
      <p:sp>
        <p:nvSpPr>
          <p:cNvPr id="12" name="Line 12"/>
          <p:cNvSpPr/>
          <p:nvPr/>
        </p:nvSpPr>
        <p:spPr>
          <a:xfrm>
            <a:off x="10001250" y="5905500"/>
            <a:ext cx="476250" cy="190500"/>
          </a:xfrm>
          <a:custGeom>
            <a:avLst/>
            <a:gdLst/>
            <a:ahLst/>
            <a:cxnLst/>
            <a:rect l="l" t="t" r="r" b="b"/>
            <a:pathLst>
              <a:path w="476250" h="190500">
                <a:moveTo>
                  <a:pt x="0" y="0"/>
                </a:moveTo>
                <a:lnTo>
                  <a:pt x="476250" y="190500"/>
                </a:lnTo>
              </a:path>
            </a:pathLst>
          </a:custGeom>
          <a:noFill/>
          <a:ln w="9525">
            <a:solidFill>
              <a:srgbClr val="BDD7FF">
                <a:alpha val="20000"/>
              </a:srgbClr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555498" y="421958"/>
            <a:ext cx="4106093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国之重器 · 科研贡献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0832" y="963930"/>
            <a:ext cx="850239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连续三年国家科技奖一等奖不断线，阅兵装备参与数量全国高校第一</a:t>
            </a:r>
          </a:p>
        </p:txBody>
      </p:sp>
      <p:sp>
        <p:nvSpPr>
          <p:cNvPr id="15" name="Ellipse 15"/>
          <p:cNvSpPr/>
          <p:nvPr/>
        </p:nvSpPr>
        <p:spPr>
          <a:xfrm>
            <a:off x="1047750" y="1619250"/>
            <a:ext cx="1333500" cy="1333500"/>
          </a:xfrm>
          <a:prstGeom prst="ellipse">
            <a:avLst/>
          </a:prstGeom>
          <a:noFill/>
          <a:ln w="38100">
            <a:solidFill>
              <a:srgbClr val="2563EB">
                <a:alpha val="10000"/>
              </a:srgbClr>
            </a:solidFill>
          </a:ln>
        </p:spPr>
      </p:sp>
      <p:sp>
        <p:nvSpPr>
          <p:cNvPr id="16" name="Ellipse 16"/>
          <p:cNvSpPr/>
          <p:nvPr/>
        </p:nvSpPr>
        <p:spPr>
          <a:xfrm>
            <a:off x="1143000" y="1714500"/>
            <a:ext cx="1143000" cy="1143000"/>
          </a:xfrm>
          <a:prstGeom prst="ellipse">
            <a:avLst/>
          </a:prstGeom>
          <a:noFill/>
          <a:ln w="19050">
            <a:solidFill>
              <a:srgbClr val="38BDF8">
                <a:alpha val="30000"/>
              </a:srgbClr>
            </a:solidFill>
            <a:prstDash val="lgDash"/>
          </a:ln>
        </p:spPr>
      </p:sp>
      <p:sp>
        <p:nvSpPr>
          <p:cNvPr id="17" name="TextBox 17"/>
          <p:cNvSpPr txBox="1"/>
          <p:nvPr/>
        </p:nvSpPr>
        <p:spPr>
          <a:xfrm>
            <a:off x="1415575" y="1794510"/>
            <a:ext cx="597850" cy="1390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200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63118" y="2869882"/>
            <a:ext cx="26822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连续三年国家科技奖一等奖</a:t>
            </a:r>
          </a:p>
        </p:txBody>
      </p:sp>
      <p:sp>
        <p:nvSpPr>
          <p:cNvPr id="19" name="Ellipse 19"/>
          <p:cNvSpPr/>
          <p:nvPr/>
        </p:nvSpPr>
        <p:spPr>
          <a:xfrm>
            <a:off x="1047750" y="3429000"/>
            <a:ext cx="1333500" cy="1333500"/>
          </a:xfrm>
          <a:prstGeom prst="ellipse">
            <a:avLst/>
          </a:prstGeom>
          <a:noFill/>
          <a:ln w="38100">
            <a:solidFill>
              <a:srgbClr val="7C3AED">
                <a:alpha val="10000"/>
              </a:srgbClr>
            </a:solidFill>
          </a:ln>
        </p:spPr>
      </p:sp>
      <p:sp>
        <p:nvSpPr>
          <p:cNvPr id="20" name="Ellipse 20"/>
          <p:cNvSpPr/>
          <p:nvPr/>
        </p:nvSpPr>
        <p:spPr>
          <a:xfrm>
            <a:off x="1143000" y="3524250"/>
            <a:ext cx="1143000" cy="1143000"/>
          </a:xfrm>
          <a:prstGeom prst="ellipse">
            <a:avLst/>
          </a:prstGeom>
          <a:noFill/>
          <a:ln w="19050">
            <a:solidFill>
              <a:srgbClr val="7C3AED">
                <a:alpha val="30000"/>
              </a:srgbClr>
            </a:solidFill>
            <a:prstDash val="lgDash"/>
          </a:ln>
        </p:spPr>
      </p:sp>
      <p:sp>
        <p:nvSpPr>
          <p:cNvPr id="21" name="TextBox 21"/>
          <p:cNvSpPr txBox="1"/>
          <p:nvPr/>
        </p:nvSpPr>
        <p:spPr>
          <a:xfrm>
            <a:off x="1135700" y="3604260"/>
            <a:ext cx="1157600" cy="1390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7200" b="1" dirty="0">
                <a:solidFill>
                  <a:srgbClr val="7C3AE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63118" y="4679632"/>
            <a:ext cx="290436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阅兵装备方队参与数全国第一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191000" y="1524000"/>
            <a:ext cx="74295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4288">
            <a:solidFill>
              <a:srgbClr val="BDD7FF"/>
            </a:solidFill>
          </a:ln>
        </p:spPr>
      </p:sp>
      <p:sp>
        <p:nvSpPr>
          <p:cNvPr id="24" name="Freeform 24"/>
          <p:cNvSpPr/>
          <p:nvPr/>
        </p:nvSpPr>
        <p:spPr>
          <a:xfrm>
            <a:off x="4448175" y="1857375"/>
            <a:ext cx="304800" cy="190500"/>
          </a:xfrm>
          <a:custGeom>
            <a:avLst/>
            <a:gdLst/>
            <a:ahLst/>
            <a:cxnLst/>
            <a:rect l="l" t="t" r="r" b="b"/>
            <a:pathLst>
              <a:path w="304800" h="190500">
                <a:moveTo>
                  <a:pt x="76200" y="0"/>
                </a:moveTo>
                <a:lnTo>
                  <a:pt x="228600" y="0"/>
                </a:lnTo>
                <a:lnTo>
                  <a:pt x="304800" y="95250"/>
                </a:lnTo>
                <a:lnTo>
                  <a:pt x="228600" y="190500"/>
                </a:lnTo>
                <a:lnTo>
                  <a:pt x="76200" y="190500"/>
                </a:lnTo>
                <a:lnTo>
                  <a:pt x="0" y="95250"/>
                </a:lnTo>
                <a:close/>
              </a:path>
            </a:pathLst>
          </a:custGeom>
          <a:noFill/>
          <a:ln w="19050" cap="rnd">
            <a:solidFill>
              <a:srgbClr val="7C3AED"/>
            </a:solidFill>
            <a:round/>
          </a:ln>
        </p:spPr>
      </p:sp>
      <p:sp>
        <p:nvSpPr>
          <p:cNvPr id="25" name="Freeform 25"/>
          <p:cNvSpPr/>
          <p:nvPr/>
        </p:nvSpPr>
        <p:spPr>
          <a:xfrm>
            <a:off x="4524375" y="1857375"/>
            <a:ext cx="228600" cy="95250"/>
          </a:xfrm>
          <a:custGeom>
            <a:avLst/>
            <a:gdLst/>
            <a:ahLst/>
            <a:cxnLst/>
            <a:rect l="l" t="t" r="r" b="b"/>
            <a:pathLst>
              <a:path w="228600" h="95250">
                <a:moveTo>
                  <a:pt x="0" y="0"/>
                </a:moveTo>
                <a:lnTo>
                  <a:pt x="76200" y="95250"/>
                </a:lnTo>
                <a:lnTo>
                  <a:pt x="228600" y="95250"/>
                </a:lnTo>
              </a:path>
            </a:pathLst>
          </a:custGeom>
          <a:noFill/>
          <a:ln w="19050" cap="rnd">
            <a:solidFill>
              <a:srgbClr val="7C3AED"/>
            </a:solidFill>
            <a:round/>
          </a:ln>
        </p:spPr>
      </p:sp>
      <p:sp>
        <p:nvSpPr>
          <p:cNvPr id="26" name="Ellipse 26"/>
          <p:cNvSpPr/>
          <p:nvPr/>
        </p:nvSpPr>
        <p:spPr>
          <a:xfrm>
            <a:off x="4657725" y="1933575"/>
            <a:ext cx="38100" cy="381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4944618" y="1793558"/>
            <a:ext cx="400387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2019-2021连续三年获国家科技奖一等奖</a:t>
            </a:r>
          </a:p>
        </p:txBody>
      </p:sp>
      <p:sp>
        <p:nvSpPr>
          <p:cNvPr id="28" name="Rectangle 28"/>
          <p:cNvSpPr/>
          <p:nvPr/>
        </p:nvSpPr>
        <p:spPr>
          <a:xfrm>
            <a:off x="4191000" y="2381250"/>
            <a:ext cx="74295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4288">
            <a:solidFill>
              <a:srgbClr val="BDD7FF"/>
            </a:solidFill>
          </a:ln>
        </p:spPr>
      </p:sp>
      <p:sp>
        <p:nvSpPr>
          <p:cNvPr id="29" name="Ellipse 29"/>
          <p:cNvSpPr/>
          <p:nvPr/>
        </p:nvSpPr>
        <p:spPr>
          <a:xfrm>
            <a:off x="4505325" y="2619375"/>
            <a:ext cx="190500" cy="190500"/>
          </a:xfrm>
          <a:prstGeom prst="ellipse">
            <a:avLst/>
          </a:prstGeom>
          <a:noFill/>
          <a:ln w="19050">
            <a:solidFill>
              <a:srgbClr val="7C3AED"/>
            </a:solidFill>
          </a:ln>
        </p:spPr>
      </p:sp>
      <p:sp>
        <p:nvSpPr>
          <p:cNvPr id="30" name="Ellipse 30"/>
          <p:cNvSpPr/>
          <p:nvPr/>
        </p:nvSpPr>
        <p:spPr>
          <a:xfrm>
            <a:off x="4543425" y="2657475"/>
            <a:ext cx="114300" cy="114300"/>
          </a:xfrm>
          <a:prstGeom prst="ellipse">
            <a:avLst/>
          </a:prstGeom>
          <a:noFill/>
          <a:ln w="19050">
            <a:solidFill>
              <a:srgbClr val="7C3AED"/>
            </a:solidFill>
          </a:ln>
        </p:spPr>
      </p:sp>
      <p:sp>
        <p:nvSpPr>
          <p:cNvPr id="31" name="Ellipse 31"/>
          <p:cNvSpPr/>
          <p:nvPr/>
        </p:nvSpPr>
        <p:spPr>
          <a:xfrm>
            <a:off x="4581525" y="2695575"/>
            <a:ext cx="38100" cy="381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4944618" y="2650808"/>
            <a:ext cx="450364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国庆70周年阅兵中，北理工参与12个装备方队</a:t>
            </a:r>
          </a:p>
        </p:txBody>
      </p:sp>
      <p:sp>
        <p:nvSpPr>
          <p:cNvPr id="33" name="Rectangle 33"/>
          <p:cNvSpPr/>
          <p:nvPr/>
        </p:nvSpPr>
        <p:spPr>
          <a:xfrm>
            <a:off x="4191000" y="3238500"/>
            <a:ext cx="74295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4288">
            <a:solidFill>
              <a:srgbClr val="BDD7FF"/>
            </a:solidFill>
          </a:ln>
        </p:spPr>
      </p:sp>
      <p:sp>
        <p:nvSpPr>
          <p:cNvPr id="34" name="Ellipse 34"/>
          <p:cNvSpPr/>
          <p:nvPr/>
        </p:nvSpPr>
        <p:spPr>
          <a:xfrm>
            <a:off x="4514850" y="3448050"/>
            <a:ext cx="171450" cy="57150"/>
          </a:xfrm>
          <a:prstGeom prst="ellipse">
            <a:avLst/>
          </a:prstGeom>
          <a:noFill/>
          <a:ln w="19050">
            <a:solidFill>
              <a:srgbClr val="7C3AED"/>
            </a:solidFill>
          </a:ln>
        </p:spPr>
      </p:sp>
      <p:sp>
        <p:nvSpPr>
          <p:cNvPr id="35" name="Freeform 35"/>
          <p:cNvSpPr/>
          <p:nvPr/>
        </p:nvSpPr>
        <p:spPr>
          <a:xfrm>
            <a:off x="4514850" y="3476625"/>
            <a:ext cx="342900" cy="190500"/>
          </a:xfrm>
          <a:custGeom>
            <a:avLst/>
            <a:gdLst/>
            <a:ahLst/>
            <a:cxnLst/>
            <a:rect l="l" t="t" r="r" b="b"/>
            <a:pathLst>
              <a:path w="342900" h="190500">
                <a:moveTo>
                  <a:pt x="0" y="0"/>
                </a:moveTo>
                <a:lnTo>
                  <a:pt x="0" y="114300"/>
                </a:lnTo>
                <a:cubicBezTo>
                  <a:pt x="0" y="156210"/>
                  <a:pt x="77153" y="190500"/>
                  <a:pt x="171450" y="190500"/>
                </a:cubicBezTo>
                <a:cubicBezTo>
                  <a:pt x="265747" y="190500"/>
                  <a:pt x="342900" y="156210"/>
                  <a:pt x="342900" y="114300"/>
                </a:cubicBezTo>
                <a:lnTo>
                  <a:pt x="342900" y="0"/>
                </a:lnTo>
              </a:path>
            </a:pathLst>
          </a:custGeom>
          <a:noFill/>
          <a:ln w="19050">
            <a:solidFill>
              <a:srgbClr val="7C3AED"/>
            </a:solidFill>
          </a:ln>
        </p:spPr>
      </p:sp>
      <p:sp>
        <p:nvSpPr>
          <p:cNvPr id="36" name="Freeform 36"/>
          <p:cNvSpPr/>
          <p:nvPr/>
        </p:nvSpPr>
        <p:spPr>
          <a:xfrm>
            <a:off x="4514850" y="3533775"/>
            <a:ext cx="342900" cy="76200"/>
          </a:xfrm>
          <a:custGeom>
            <a:avLst/>
            <a:gdLst/>
            <a:ahLst/>
            <a:cxnLst/>
            <a:rect l="l" t="t" r="r" b="b"/>
            <a:pathLst>
              <a:path w="342900" h="76200">
                <a:moveTo>
                  <a:pt x="0" y="0"/>
                </a:moveTo>
                <a:cubicBezTo>
                  <a:pt x="0" y="41910"/>
                  <a:pt x="77153" y="76200"/>
                  <a:pt x="171450" y="76200"/>
                </a:cubicBezTo>
                <a:cubicBezTo>
                  <a:pt x="265747" y="76200"/>
                  <a:pt x="342900" y="41910"/>
                  <a:pt x="342900" y="0"/>
                </a:cubicBezTo>
              </a:path>
            </a:pathLst>
          </a:custGeom>
          <a:noFill/>
          <a:ln w="19050">
            <a:solidFill>
              <a:srgbClr val="7C3AED"/>
            </a:solidFill>
          </a:ln>
        </p:spPr>
      </p:sp>
      <p:sp>
        <p:nvSpPr>
          <p:cNvPr id="37" name="Freeform 37"/>
          <p:cNvSpPr/>
          <p:nvPr/>
        </p:nvSpPr>
        <p:spPr>
          <a:xfrm>
            <a:off x="4514850" y="3590925"/>
            <a:ext cx="342900" cy="76200"/>
          </a:xfrm>
          <a:custGeom>
            <a:avLst/>
            <a:gdLst/>
            <a:ahLst/>
            <a:cxnLst/>
            <a:rect l="l" t="t" r="r" b="b"/>
            <a:pathLst>
              <a:path w="342900" h="76200">
                <a:moveTo>
                  <a:pt x="0" y="0"/>
                </a:moveTo>
                <a:cubicBezTo>
                  <a:pt x="0" y="41910"/>
                  <a:pt x="77153" y="76200"/>
                  <a:pt x="171450" y="76200"/>
                </a:cubicBezTo>
                <a:cubicBezTo>
                  <a:pt x="265747" y="76200"/>
                  <a:pt x="342900" y="41910"/>
                  <a:pt x="342900" y="0"/>
                </a:cubicBezTo>
              </a:path>
            </a:pathLst>
          </a:custGeom>
          <a:noFill/>
          <a:ln w="19050">
            <a:solidFill>
              <a:srgbClr val="7C3AED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4944618" y="3508058"/>
            <a:ext cx="312648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国防科研经费稳居全国高校前列</a:t>
            </a:r>
          </a:p>
        </p:txBody>
      </p:sp>
      <p:sp>
        <p:nvSpPr>
          <p:cNvPr id="39" name="Rectangle 39"/>
          <p:cNvSpPr/>
          <p:nvPr/>
        </p:nvSpPr>
        <p:spPr>
          <a:xfrm>
            <a:off x="4191000" y="4095750"/>
            <a:ext cx="742950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4288">
            <a:solidFill>
              <a:srgbClr val="BDD7FF"/>
            </a:solidFill>
          </a:ln>
        </p:spPr>
      </p:sp>
      <p:sp>
        <p:nvSpPr>
          <p:cNvPr id="40" name="Freeform 40"/>
          <p:cNvSpPr/>
          <p:nvPr/>
        </p:nvSpPr>
        <p:spPr>
          <a:xfrm>
            <a:off x="4505325" y="4429125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9050" cap="rnd">
            <a:solidFill>
              <a:srgbClr val="7C3AED"/>
            </a:solidFill>
          </a:ln>
        </p:spPr>
      </p:sp>
      <p:sp>
        <p:nvSpPr>
          <p:cNvPr id="41" name="Freeform 41"/>
          <p:cNvSpPr/>
          <p:nvPr/>
        </p:nvSpPr>
        <p:spPr>
          <a:xfrm>
            <a:off x="4600575" y="4333875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19050" cap="rnd">
            <a:solidFill>
              <a:srgbClr val="7C3AED"/>
            </a:solidFill>
          </a:ln>
        </p:spPr>
      </p:sp>
      <p:sp>
        <p:nvSpPr>
          <p:cNvPr id="42" name="Freeform 42"/>
          <p:cNvSpPr/>
          <p:nvPr/>
        </p:nvSpPr>
        <p:spPr>
          <a:xfrm>
            <a:off x="4543425" y="43719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114300"/>
                </a:lnTo>
              </a:path>
            </a:pathLst>
          </a:custGeom>
          <a:noFill/>
          <a:ln w="19050" cap="rnd">
            <a:solidFill>
              <a:srgbClr val="7C3AED"/>
            </a:solidFill>
          </a:ln>
        </p:spPr>
      </p:sp>
      <p:sp>
        <p:nvSpPr>
          <p:cNvPr id="43" name="Freeform 43"/>
          <p:cNvSpPr/>
          <p:nvPr/>
        </p:nvSpPr>
        <p:spPr>
          <a:xfrm>
            <a:off x="4543425" y="437197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0"/>
                </a:moveTo>
                <a:lnTo>
                  <a:pt x="0" y="114300"/>
                </a:lnTo>
              </a:path>
            </a:pathLst>
          </a:custGeom>
          <a:noFill/>
          <a:ln w="19050" cap="rnd">
            <a:solidFill>
              <a:srgbClr val="7C3AED"/>
            </a:solidFill>
          </a:ln>
        </p:spPr>
      </p:sp>
      <p:sp>
        <p:nvSpPr>
          <p:cNvPr id="44" name="Rectangle 44"/>
          <p:cNvSpPr/>
          <p:nvPr/>
        </p:nvSpPr>
        <p:spPr>
          <a:xfrm>
            <a:off x="4505325" y="4333875"/>
            <a:ext cx="9525" cy="47625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45" name="Rectangle 45"/>
          <p:cNvSpPr/>
          <p:nvPr/>
        </p:nvSpPr>
        <p:spPr>
          <a:xfrm>
            <a:off x="4600575" y="4429125"/>
            <a:ext cx="47625" cy="9525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4944618" y="4365308"/>
            <a:ext cx="512559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多项关键技术应用于载人航天、北斗导航等重大工程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63118" y="5346382"/>
            <a:ext cx="377175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国庆70周年阅兵装备参与方队数对比</a:t>
            </a:r>
          </a:p>
        </p:txBody>
      </p:sp>
      <p:sp>
        <p:nvSpPr>
          <p:cNvPr id="48" name="Rectangle 48"/>
          <p:cNvSpPr/>
          <p:nvPr/>
        </p:nvSpPr>
        <p:spPr>
          <a:xfrm>
            <a:off x="1905000" y="5715000"/>
            <a:ext cx="5715000" cy="22860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7803642" y="5740718"/>
            <a:ext cx="216048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北京理工大学 · 12个方队</a:t>
            </a:r>
          </a:p>
        </p:txBody>
      </p:sp>
      <p:sp>
        <p:nvSpPr>
          <p:cNvPr id="50" name="Rectangle 50"/>
          <p:cNvSpPr/>
          <p:nvPr/>
        </p:nvSpPr>
        <p:spPr>
          <a:xfrm>
            <a:off x="1905000" y="6096000"/>
            <a:ext cx="4572000" cy="228600"/>
          </a:xfrm>
          <a:prstGeom prst="roundRect">
            <a:avLst>
              <a:gd name="adj" fmla="val 16667"/>
            </a:avLst>
          </a:prstGeom>
          <a:solidFill>
            <a:srgbClr val="BDD7FF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6660642" y="6121718"/>
            <a:ext cx="223999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哈尔滨工业大学 · 10个方队</a:t>
            </a:r>
          </a:p>
        </p:txBody>
      </p:sp>
      <p:sp>
        <p:nvSpPr>
          <p:cNvPr id="52" name="Rectangle 52"/>
          <p:cNvSpPr/>
          <p:nvPr/>
        </p:nvSpPr>
        <p:spPr>
          <a:xfrm>
            <a:off x="1905000" y="6477000"/>
            <a:ext cx="3429000" cy="228600"/>
          </a:xfrm>
          <a:prstGeom prst="roundRect">
            <a:avLst>
              <a:gd name="adj" fmla="val 16667"/>
            </a:avLst>
          </a:prstGeom>
          <a:solidFill>
            <a:srgbClr val="BDD7FF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5517642" y="6502718"/>
            <a:ext cx="232177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北京航空航天大学 · 8个方队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195323" y="6521768"/>
            <a:ext cx="6225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350" dirty="0">
                <a:solidFill>
                  <a:srgbClr val="BDD7FF"/>
                </a:solidFill>
                <a:latin typeface="Arial"/>
                <a:ea typeface="Arial"/>
                <a:cs typeface="Arial"/>
              </a:rPr>
              <a:t>04 / 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43000" y="0"/>
            <a:ext cx="1524000" cy="1524000"/>
          </a:xfrm>
          <a:prstGeom prst="ellipse">
            <a:avLst/>
          </a:prstGeom>
          <a:noFill/>
          <a:ln w="4762">
            <a:solidFill>
              <a:srgbClr val="BDD7FF"/>
            </a:solidFill>
          </a:ln>
        </p:spPr>
      </p:sp>
      <p:sp>
        <p:nvSpPr>
          <p:cNvPr id="4" name="Ellipse 4"/>
          <p:cNvSpPr/>
          <p:nvPr/>
        </p:nvSpPr>
        <p:spPr>
          <a:xfrm>
            <a:off x="762000" y="-381000"/>
            <a:ext cx="2286000" cy="2286000"/>
          </a:xfrm>
          <a:prstGeom prst="ellipse">
            <a:avLst/>
          </a:prstGeom>
          <a:noFill/>
          <a:ln w="4762">
            <a:solidFill>
              <a:srgbClr val="BDD7FF"/>
            </a:solidFill>
          </a:ln>
        </p:spPr>
      </p:sp>
      <p:sp>
        <p:nvSpPr>
          <p:cNvPr id="5" name="Ellipse 5"/>
          <p:cNvSpPr/>
          <p:nvPr/>
        </p:nvSpPr>
        <p:spPr>
          <a:xfrm>
            <a:off x="8572500" y="4381500"/>
            <a:ext cx="3429000" cy="3429000"/>
          </a:xfrm>
          <a:prstGeom prst="ellipse">
            <a:avLst/>
          </a:prstGeom>
          <a:noFill/>
          <a:ln w="4762">
            <a:solidFill>
              <a:srgbClr val="BDD7FF"/>
            </a:solidFill>
          </a:ln>
        </p:spPr>
      </p:sp>
      <p:sp>
        <p:nvSpPr>
          <p:cNvPr id="6" name="Ellipse 6"/>
          <p:cNvSpPr/>
          <p:nvPr/>
        </p:nvSpPr>
        <p:spPr>
          <a:xfrm>
            <a:off x="8001000" y="3810000"/>
            <a:ext cx="4572000" cy="4572000"/>
          </a:xfrm>
          <a:prstGeom prst="ellipse">
            <a:avLst/>
          </a:prstGeom>
          <a:noFill/>
          <a:ln w="4762">
            <a:solidFill>
              <a:srgbClr val="BDD7FF"/>
            </a:solidFill>
          </a:ln>
        </p:spPr>
      </p:sp>
      <p:sp>
        <p:nvSpPr>
          <p:cNvPr id="7" name="Line 7"/>
          <p:cNvSpPr/>
          <p:nvPr/>
        </p:nvSpPr>
        <p:spPr>
          <a:xfrm>
            <a:off x="609600" y="15240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BDD7FF"/>
            </a:solidFill>
          </a:ln>
        </p:spPr>
      </p:sp>
      <p:grpSp>
        <p:nvGrpSpPr>
          <p:cNvPr id="10" name="Group 10"/>
          <p:cNvGrpSpPr/>
          <p:nvPr/>
        </p:nvGrpSpPr>
        <p:grpSpPr>
          <a:xfrm>
            <a:off x="593598" y="517208"/>
            <a:ext cx="4106093" cy="878776"/>
            <a:chOff x="593598" y="517208"/>
            <a:chExt cx="4106093" cy="878776"/>
          </a:xfrm>
        </p:grpSpPr>
        <p:sp>
          <p:nvSpPr>
            <p:cNvPr id="8" name="TextBox 8"/>
            <p:cNvSpPr txBox="1"/>
            <p:nvPr/>
          </p:nvSpPr>
          <p:spPr>
            <a:xfrm>
              <a:off x="593598" y="517208"/>
              <a:ext cx="410609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英才辈出 · 领军摇篮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0456" y="1043940"/>
              <a:ext cx="324109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院士 · 总师 · 国家级教学名师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62000" y="1714500"/>
            <a:ext cx="3352800" cy="1524000"/>
            <a:chOff x="762000" y="1714500"/>
            <a:chExt cx="3352800" cy="1524000"/>
          </a:xfrm>
        </p:grpSpPr>
        <p:sp>
          <p:nvSpPr>
            <p:cNvPr id="11" name="Rectangle 11"/>
            <p:cNvSpPr/>
            <p:nvPr/>
          </p:nvSpPr>
          <p:spPr>
            <a:xfrm>
              <a:off x="762000" y="1714500"/>
              <a:ext cx="3352800" cy="1524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BDD7FF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762000" y="1714500"/>
              <a:ext cx="3352800" cy="381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857250" y="2095500"/>
              <a:ext cx="762000" cy="762000"/>
            </a:xfrm>
            <a:prstGeom prst="ellipse">
              <a:avLst/>
            </a:prstGeom>
            <a:solidFill>
              <a:srgbClr val="EEF4FF"/>
            </a:solidFill>
            <a:ln w="19050">
              <a:solidFill>
                <a:srgbClr val="2563EB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01890" y="2358390"/>
              <a:ext cx="2727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02130" y="221932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王小谟院士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03654" y="25184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中国预警机之父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809750" y="2800350"/>
              <a:ext cx="571500" cy="190500"/>
            </a:xfrm>
            <a:prstGeom prst="roundRect">
              <a:avLst>
                <a:gd name="adj" fmla="val 20000"/>
              </a:avLst>
            </a:prstGeom>
            <a:solidFill>
              <a:srgbClr val="EEF4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848422" y="28365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两院院士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419600" y="1714500"/>
            <a:ext cx="3352800" cy="1524000"/>
            <a:chOff x="4419600" y="1714500"/>
            <a:chExt cx="3352800" cy="1524000"/>
          </a:xfrm>
        </p:grpSpPr>
        <p:sp>
          <p:nvSpPr>
            <p:cNvPr id="20" name="Rectangle 20"/>
            <p:cNvSpPr/>
            <p:nvPr/>
          </p:nvSpPr>
          <p:spPr>
            <a:xfrm>
              <a:off x="4419600" y="1714500"/>
              <a:ext cx="3352800" cy="1524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BDD7FF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419600" y="1714500"/>
              <a:ext cx="3352800" cy="381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4514850" y="2095500"/>
              <a:ext cx="762000" cy="762000"/>
            </a:xfrm>
            <a:prstGeom prst="ellipse">
              <a:avLst/>
            </a:prstGeom>
            <a:solidFill>
              <a:srgbClr val="EEF4FF"/>
            </a:solidFill>
            <a:ln w="19050">
              <a:solidFill>
                <a:srgbClr val="2563E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759490" y="2358390"/>
              <a:ext cx="2727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毛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459730" y="221932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毛二可院士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461254" y="25184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雷达目标识别专家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467350" y="2800350"/>
              <a:ext cx="571500" cy="190500"/>
            </a:xfrm>
            <a:prstGeom prst="roundRect">
              <a:avLst>
                <a:gd name="adj" fmla="val 20000"/>
              </a:avLst>
            </a:prstGeom>
            <a:solidFill>
              <a:srgbClr val="EEF4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506021" y="28365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两院院士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077200" y="1714500"/>
            <a:ext cx="3352800" cy="1524000"/>
            <a:chOff x="8077200" y="1714500"/>
            <a:chExt cx="3352800" cy="1524000"/>
          </a:xfrm>
        </p:grpSpPr>
        <p:sp>
          <p:nvSpPr>
            <p:cNvPr id="29" name="Rectangle 29"/>
            <p:cNvSpPr/>
            <p:nvPr/>
          </p:nvSpPr>
          <p:spPr>
            <a:xfrm>
              <a:off x="8077200" y="1714500"/>
              <a:ext cx="3352800" cy="1524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BDD7FF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8077200" y="1714500"/>
              <a:ext cx="3352800" cy="381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8172450" y="2095500"/>
              <a:ext cx="762000" cy="762000"/>
            </a:xfrm>
            <a:prstGeom prst="ellipse">
              <a:avLst/>
            </a:prstGeom>
            <a:solidFill>
              <a:srgbClr val="EEF4FF"/>
            </a:solidFill>
            <a:ln w="19050">
              <a:solidFill>
                <a:srgbClr val="2563EB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417090" y="2358390"/>
              <a:ext cx="2727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吴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117330" y="221932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吴伟仁院士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118854" y="25184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中国探月工程总师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9124950" y="2800350"/>
              <a:ext cx="571500" cy="190500"/>
            </a:xfrm>
            <a:prstGeom prst="roundRect">
              <a:avLst>
                <a:gd name="adj" fmla="val 20000"/>
              </a:avLst>
            </a:prstGeom>
            <a:solidFill>
              <a:srgbClr val="EEF4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163622" y="28365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两院院士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62000" y="3619500"/>
            <a:ext cx="3352800" cy="1524000"/>
            <a:chOff x="762000" y="3619500"/>
            <a:chExt cx="3352800" cy="1524000"/>
          </a:xfrm>
        </p:grpSpPr>
        <p:sp>
          <p:nvSpPr>
            <p:cNvPr id="38" name="Rectangle 38"/>
            <p:cNvSpPr/>
            <p:nvPr/>
          </p:nvSpPr>
          <p:spPr>
            <a:xfrm>
              <a:off x="762000" y="3619500"/>
              <a:ext cx="3352800" cy="1524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BDD7FF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762000" y="3619500"/>
              <a:ext cx="3352800" cy="381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57250" y="4000500"/>
              <a:ext cx="762000" cy="762000"/>
            </a:xfrm>
            <a:prstGeom prst="ellipse">
              <a:avLst/>
            </a:prstGeom>
            <a:solidFill>
              <a:srgbClr val="EEF4FF"/>
            </a:solidFill>
            <a:ln w="19050">
              <a:solidFill>
                <a:srgbClr val="2563EB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101890" y="4263390"/>
              <a:ext cx="2727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周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802130" y="412432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周立伟院士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803654" y="44234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电子光学专家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809750" y="4705350"/>
              <a:ext cx="571500" cy="190500"/>
            </a:xfrm>
            <a:prstGeom prst="roundRect">
              <a:avLst>
                <a:gd name="adj" fmla="val 20000"/>
              </a:avLst>
            </a:prstGeom>
            <a:solidFill>
              <a:srgbClr val="EEF4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848422" y="47415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两院院士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4419600" y="3619500"/>
            <a:ext cx="3352800" cy="1524000"/>
            <a:chOff x="4419600" y="3619500"/>
            <a:chExt cx="3352800" cy="1524000"/>
          </a:xfrm>
        </p:grpSpPr>
        <p:sp>
          <p:nvSpPr>
            <p:cNvPr id="47" name="Rectangle 47"/>
            <p:cNvSpPr/>
            <p:nvPr/>
          </p:nvSpPr>
          <p:spPr>
            <a:xfrm>
              <a:off x="4419600" y="3619500"/>
              <a:ext cx="3352800" cy="1524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BDD7FF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4419600" y="3619500"/>
              <a:ext cx="3352800" cy="381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4514850" y="4000500"/>
              <a:ext cx="762000" cy="762000"/>
            </a:xfrm>
            <a:prstGeom prst="ellipse">
              <a:avLst/>
            </a:prstGeom>
            <a:solidFill>
              <a:srgbClr val="EEF4FF"/>
            </a:solidFill>
            <a:ln w="19050">
              <a:solidFill>
                <a:srgbClr val="2563EB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759490" y="4263390"/>
              <a:ext cx="2727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孙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459730" y="412432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孙逢春院士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461254" y="44234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电动车辆专家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467350" y="4705350"/>
              <a:ext cx="571500" cy="190500"/>
            </a:xfrm>
            <a:prstGeom prst="roundRect">
              <a:avLst>
                <a:gd name="adj" fmla="val 20000"/>
              </a:avLst>
            </a:prstGeom>
            <a:solidFill>
              <a:srgbClr val="EEF4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506021" y="47415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两院院士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8077200" y="3619500"/>
            <a:ext cx="3352800" cy="1524000"/>
            <a:chOff x="8077200" y="3619500"/>
            <a:chExt cx="3352800" cy="1524000"/>
          </a:xfrm>
        </p:grpSpPr>
        <p:sp>
          <p:nvSpPr>
            <p:cNvPr id="56" name="Rectangle 56"/>
            <p:cNvSpPr/>
            <p:nvPr/>
          </p:nvSpPr>
          <p:spPr>
            <a:xfrm>
              <a:off x="8077200" y="3619500"/>
              <a:ext cx="3352800" cy="1524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BDD7FF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8077200" y="3619500"/>
              <a:ext cx="3352800" cy="381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8172450" y="4000500"/>
              <a:ext cx="762000" cy="762000"/>
            </a:xfrm>
            <a:prstGeom prst="ellipse">
              <a:avLst/>
            </a:prstGeom>
            <a:solidFill>
              <a:srgbClr val="EEF4FF"/>
            </a:solidFill>
            <a:ln w="19050">
              <a:solidFill>
                <a:srgbClr val="2563EB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417090" y="4263390"/>
              <a:ext cx="2727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项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117330" y="412432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项昌乐院士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118854" y="44234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特种车辆传动专家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9124950" y="4705350"/>
              <a:ext cx="571500" cy="190500"/>
            </a:xfrm>
            <a:prstGeom prst="roundRect">
              <a:avLst>
                <a:gd name="adj" fmla="val 20000"/>
              </a:avLst>
            </a:prstGeom>
            <a:solidFill>
              <a:srgbClr val="EEF4F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163622" y="47415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两院院士</a:t>
              </a:r>
            </a:p>
          </p:txBody>
        </p:sp>
      </p:grpSp>
      <p:sp>
        <p:nvSpPr>
          <p:cNvPr id="65" name="Line 65"/>
          <p:cNvSpPr/>
          <p:nvPr/>
        </p:nvSpPr>
        <p:spPr>
          <a:xfrm>
            <a:off x="609600" y="53340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BDD7FF"/>
            </a:solidFill>
          </a:ln>
        </p:spPr>
      </p:sp>
      <p:grpSp>
        <p:nvGrpSpPr>
          <p:cNvPr id="69" name="Group 69"/>
          <p:cNvGrpSpPr/>
          <p:nvPr/>
        </p:nvGrpSpPr>
        <p:grpSpPr>
          <a:xfrm>
            <a:off x="762000" y="5524500"/>
            <a:ext cx="3333750" cy="952500"/>
            <a:chOff x="762000" y="5524500"/>
            <a:chExt cx="3333750" cy="952500"/>
          </a:xfrm>
        </p:grpSpPr>
        <p:sp>
          <p:nvSpPr>
            <p:cNvPr id="66" name="Rectangle 66"/>
            <p:cNvSpPr/>
            <p:nvPr/>
          </p:nvSpPr>
          <p:spPr>
            <a:xfrm>
              <a:off x="762000" y="5524500"/>
              <a:ext cx="3333750" cy="9525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BDD7FF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2045537" y="5708332"/>
              <a:ext cx="76667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150" b="1" dirty="0">
                  <a:solidFill>
                    <a:srgbClr val="2563EB"/>
                  </a:solidFill>
                  <a:latin typeface="Arial"/>
                  <a:ea typeface="Arial"/>
                  <a:cs typeface="Arial"/>
                </a:rPr>
                <a:t>30+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938147" y="61569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两院院士校友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4419600" y="5524500"/>
            <a:ext cx="3333750" cy="952500"/>
            <a:chOff x="4419600" y="5524500"/>
            <a:chExt cx="3333750" cy="952500"/>
          </a:xfrm>
        </p:grpSpPr>
        <p:sp>
          <p:nvSpPr>
            <p:cNvPr id="70" name="Rectangle 70"/>
            <p:cNvSpPr/>
            <p:nvPr/>
          </p:nvSpPr>
          <p:spPr>
            <a:xfrm>
              <a:off x="4419600" y="5524500"/>
              <a:ext cx="3333750" cy="9525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BDD7FF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825582" y="5708332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150" b="1" dirty="0">
                  <a:solidFill>
                    <a:srgbClr val="2563EB"/>
                  </a:solidFill>
                  <a:latin typeface="Arial"/>
                  <a:ea typeface="Arial"/>
                  <a:cs typeface="Arial"/>
                </a:rPr>
                <a:t>12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434203" y="61569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国家级教学成果奖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8077200" y="5524500"/>
            <a:ext cx="3333750" cy="952500"/>
            <a:chOff x="8077200" y="5524500"/>
            <a:chExt cx="3333750" cy="952500"/>
          </a:xfrm>
        </p:grpSpPr>
        <p:sp>
          <p:nvSpPr>
            <p:cNvPr id="74" name="Rectangle 74"/>
            <p:cNvSpPr/>
            <p:nvPr/>
          </p:nvSpPr>
          <p:spPr>
            <a:xfrm>
              <a:off x="8077200" y="5524500"/>
              <a:ext cx="3333750" cy="9525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BDD7FF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9238292" y="5708332"/>
              <a:ext cx="101156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150" b="1" dirty="0">
                  <a:solidFill>
                    <a:srgbClr val="2563EB"/>
                  </a:solidFill>
                  <a:latin typeface="Arial"/>
                  <a:ea typeface="Arial"/>
                  <a:cs typeface="Arial"/>
                </a:rPr>
                <a:t>100+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966606" y="6156960"/>
              <a:ext cx="15549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重大装备总师/总指挥</a:t>
              </a:r>
            </a:p>
          </p:txBody>
        </p:sp>
      </p:grpSp>
      <p:sp>
        <p:nvSpPr>
          <p:cNvPr id="78" name="TextBox 78"/>
          <p:cNvSpPr txBox="1"/>
          <p:nvPr/>
        </p:nvSpPr>
        <p:spPr>
          <a:xfrm>
            <a:off x="11103540" y="65541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52637A"/>
                </a:solidFill>
                <a:latin typeface="Arial"/>
                <a:ea typeface="Arial"/>
                <a:cs typeface="Arial"/>
              </a:rPr>
              <a:t>05 / 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8FBFF"/>
              </a:gs>
              <a:gs pos="100000">
                <a:srgbClr val="EEF4FF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419100"/>
            <a:ext cx="11125200" cy="6019800"/>
          </a:xfrm>
          <a:prstGeom prst="roundRect">
            <a:avLst>
              <a:gd name="adj" fmla="val 2532"/>
            </a:avLst>
          </a:prstGeom>
          <a:noFill/>
          <a:ln w="14288">
            <a:solidFill>
              <a:srgbClr val="BDD7FF">
                <a:alpha val="80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9525000" y="-95250"/>
            <a:ext cx="1905000" cy="190500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810875" y="904875"/>
            <a:ext cx="857250" cy="857250"/>
          </a:xfrm>
          <a:prstGeom prst="ellipse">
            <a:avLst/>
          </a:prstGeom>
          <a:solidFill>
            <a:srgbClr val="7C3AED">
              <a:alpha val="12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8953500" y="4476750"/>
            <a:ext cx="2667000" cy="17145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DD7FF">
                  <a:alpha val="40000"/>
                </a:srgbClr>
              </a:gs>
              <a:gs pos="100000">
                <a:srgbClr val="EEF4FF">
                  <a:alpha val="10000"/>
                </a:srgbClr>
              </a:gs>
            </a:gsLst>
            <a:lin ang="2700000" scaled="1"/>
          </a:gradFill>
          <a:ln>
            <a:noFill/>
          </a:ln>
        </p:spPr>
      </p:sp>
      <p:grpSp>
        <p:nvGrpSpPr>
          <p:cNvPr id="32" name="Group 32"/>
          <p:cNvGrpSpPr/>
          <p:nvPr/>
        </p:nvGrpSpPr>
        <p:grpSpPr>
          <a:xfrm>
            <a:off x="745998" y="707708"/>
            <a:ext cx="10493502" cy="5191315"/>
            <a:chOff x="745998" y="707708"/>
            <a:chExt cx="10493502" cy="5191315"/>
          </a:xfrm>
        </p:grpSpPr>
        <p:sp>
          <p:nvSpPr>
            <p:cNvPr id="7" name="TextBox 7"/>
            <p:cNvSpPr txBox="1"/>
            <p:nvPr/>
          </p:nvSpPr>
          <p:spPr>
            <a:xfrm>
              <a:off x="745998" y="707708"/>
              <a:ext cx="439550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02033"/>
                  </a:solidFill>
                  <a:latin typeface="Arial"/>
                  <a:ea typeface="Microsoft YaHei"/>
                  <a:cs typeface="Arial"/>
                </a:rPr>
                <a:t>最好的985 · 实至名归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4761" y="1227296"/>
              <a:ext cx="37456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根正苗红 · 国之重器 · 硬核实力 · 英才辈出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762000" y="161925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47625" cap="rnd">
              <a:solidFill>
                <a:srgbClr val="2563EB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952500" y="2333625"/>
              <a:ext cx="2667000" cy="2619375"/>
              <a:chOff x="952500" y="2333625"/>
              <a:chExt cx="2667000" cy="2619375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1666875" y="2333625"/>
                <a:ext cx="1238250" cy="1238250"/>
              </a:xfrm>
              <a:prstGeom prst="ellipse">
                <a:avLst/>
              </a:prstGeom>
              <a:solidFill>
                <a:srgbClr val="2563EB">
                  <a:alpha val="14000"/>
                </a:srgbClr>
              </a:solidFill>
              <a:ln>
                <a:noFill/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1924050" y="2590800"/>
                <a:ext cx="723900" cy="7239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2213480" y="2888932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1</a:t>
                </a:r>
              </a:p>
            </p:txBody>
          </p:sp>
          <p:sp>
            <p:nvSpPr>
              <p:cNvPr id="13" name="Rectangle 13"/>
              <p:cNvSpPr/>
              <p:nvPr/>
            </p:nvSpPr>
            <p:spPr>
              <a:xfrm>
                <a:off x="952500" y="3714750"/>
                <a:ext cx="2667000" cy="1238250"/>
              </a:xfrm>
              <a:prstGeom prst="roundRect">
                <a:avLst>
                  <a:gd name="adj" fmla="val 13846"/>
                </a:avLst>
              </a:prstGeom>
              <a:solidFill>
                <a:srgbClr val="FFFFFF"/>
              </a:solidFill>
              <a:ln w="19050">
                <a:solidFill>
                  <a:srgbClr val="BDD7FF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136142" y="3997642"/>
                <a:ext cx="77701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根正苗红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137666" y="4268152"/>
                <a:ext cx="142417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2637A"/>
                    </a:solidFill>
                    <a:latin typeface="Arial"/>
                    <a:ea typeface="Microsoft YaHei"/>
                    <a:cs typeface="Arial"/>
                  </a:rPr>
                  <a:t>唯一拥有延安红色血脉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4762500" y="2333625"/>
              <a:ext cx="2667000" cy="2619375"/>
              <a:chOff x="4762500" y="2333625"/>
              <a:chExt cx="2667000" cy="2619375"/>
            </a:xfrm>
          </p:grpSpPr>
          <p:sp>
            <p:nvSpPr>
              <p:cNvPr id="17" name="Ellipse 17"/>
              <p:cNvSpPr/>
              <p:nvPr/>
            </p:nvSpPr>
            <p:spPr>
              <a:xfrm>
                <a:off x="5476875" y="2333625"/>
                <a:ext cx="1238250" cy="1238250"/>
              </a:xfrm>
              <a:prstGeom prst="ellipse">
                <a:avLst/>
              </a:prstGeom>
              <a:solidFill>
                <a:srgbClr val="7C3AED">
                  <a:alpha val="14000"/>
                </a:srgbClr>
              </a:solidFill>
              <a:ln>
                <a:noFill/>
              </a:ln>
            </p:spPr>
          </p:sp>
          <p:sp>
            <p:nvSpPr>
              <p:cNvPr id="18" name="Ellipse 18"/>
              <p:cNvSpPr/>
              <p:nvPr/>
            </p:nvSpPr>
            <p:spPr>
              <a:xfrm>
                <a:off x="5734050" y="2590800"/>
                <a:ext cx="723900" cy="723900"/>
              </a:xfrm>
              <a:prstGeom prst="ellipse">
                <a:avLst/>
              </a:prstGeom>
              <a:solidFill>
                <a:srgbClr val="7C3AED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6023480" y="2888932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2</a:t>
                </a: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4762500" y="3714750"/>
                <a:ext cx="2667000" cy="1238250"/>
              </a:xfrm>
              <a:prstGeom prst="roundRect">
                <a:avLst>
                  <a:gd name="adj" fmla="val 13846"/>
                </a:avLst>
              </a:prstGeom>
              <a:solidFill>
                <a:srgbClr val="FFFFFF"/>
              </a:solidFill>
              <a:ln w="19050">
                <a:solidFill>
                  <a:srgbClr val="BDD7FF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4946142" y="3997642"/>
                <a:ext cx="77701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国之重器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947666" y="4268152"/>
                <a:ext cx="156552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2637A"/>
                    </a:solidFill>
                    <a:latin typeface="Arial"/>
                    <a:ea typeface="Microsoft YaHei"/>
                    <a:cs typeface="Arial"/>
                  </a:rPr>
                  <a:t>国防军工领域的绝对王者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8572500" y="2333625"/>
              <a:ext cx="2667000" cy="2619375"/>
              <a:chOff x="8572500" y="2333625"/>
              <a:chExt cx="2667000" cy="2619375"/>
            </a:xfrm>
          </p:grpSpPr>
          <p:sp>
            <p:nvSpPr>
              <p:cNvPr id="24" name="Ellipse 24"/>
              <p:cNvSpPr/>
              <p:nvPr/>
            </p:nvSpPr>
            <p:spPr>
              <a:xfrm>
                <a:off x="9286875" y="2333625"/>
                <a:ext cx="1238250" cy="1238250"/>
              </a:xfrm>
              <a:prstGeom prst="ellipse">
                <a:avLst/>
              </a:prstGeom>
              <a:solidFill>
                <a:srgbClr val="2563EB">
                  <a:alpha val="14000"/>
                </a:srgbClr>
              </a:solidFill>
              <a:ln>
                <a:noFill/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9544050" y="2590800"/>
                <a:ext cx="723900" cy="7239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9833480" y="2888932"/>
                <a:ext cx="1450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rgbClr val="FFFFFF"/>
                    </a:solidFill>
                    <a:latin typeface="Arial"/>
                    <a:ea typeface="Arial"/>
                    <a:cs typeface="Arial"/>
                  </a:rPr>
                  <a:t>3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8572500" y="3714750"/>
                <a:ext cx="2667000" cy="1238250"/>
              </a:xfrm>
              <a:prstGeom prst="roundRect">
                <a:avLst>
                  <a:gd name="adj" fmla="val 13846"/>
                </a:avLst>
              </a:prstGeom>
              <a:solidFill>
                <a:srgbClr val="FFFFFF"/>
              </a:solidFill>
              <a:ln w="19050">
                <a:solidFill>
                  <a:srgbClr val="BDD7FF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756142" y="3997642"/>
                <a:ext cx="77701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硬核实力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757666" y="4268152"/>
                <a:ext cx="17846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2637A"/>
                    </a:solidFill>
                    <a:latin typeface="Arial"/>
                    <a:ea typeface="Microsoft YaHei"/>
                    <a:cs typeface="Arial"/>
                  </a:rPr>
                  <a:t>顶尖学科集群+一流科研平台</a:t>
                </a:r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4653093" y="5488305"/>
              <a:ext cx="28858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102033"/>
                  </a:solidFill>
                  <a:latin typeface="Arial"/>
                  <a:ea typeface="Microsoft YaHei"/>
                  <a:cs typeface="Arial"/>
                </a:rPr>
                <a:t>北理工，最好的985！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28066" y="6363652"/>
            <a:ext cx="11135868" cy="205359"/>
            <a:chOff x="528066" y="6363652"/>
            <a:chExt cx="11135868" cy="205359"/>
          </a:xfrm>
        </p:grpSpPr>
        <p:sp>
          <p:nvSpPr>
            <p:cNvPr id="33" name="TextBox 33"/>
            <p:cNvSpPr txBox="1"/>
            <p:nvPr/>
          </p:nvSpPr>
          <p:spPr>
            <a:xfrm>
              <a:off x="528066" y="63636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2637A"/>
                  </a:solidFill>
                  <a:latin typeface="Arial"/>
                  <a:ea typeface="Arial"/>
                  <a:cs typeface="Arial"/>
                </a:rPr>
                <a:t>06 / 06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805160" y="63636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北京理工大学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2026-07-09T12:04:11Z</dcterms:created>
  <dcterms:modified xsi:type="dcterms:W3CDTF">2026-07-09T12:04:11Z</dcterms:modified>
  <cp:category/>
  <cp:contentStatus/>
</cp:coreProperties>
</file>