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BDD7FF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914400" y="1028700"/>
            <a:ext cx="12915900" cy="5715000"/>
            <a:chOff x="914400" y="1028700"/>
            <a:chExt cx="12915900" cy="5715000"/>
          </a:xfrm>
        </p:grpSpPr>
        <p:sp>
          <p:nvSpPr>
            <p:cNvPr id="7" name="Rectangle 7"/>
            <p:cNvSpPr/>
            <p:nvPr/>
          </p:nvSpPr>
          <p:spPr>
            <a:xfrm>
              <a:off x="914400" y="1028700"/>
              <a:ext cx="8667750" cy="5715000"/>
            </a:xfrm>
            <a:prstGeom prst="roundRect">
              <a:avLst>
                <a:gd name="adj" fmla="val 5667"/>
              </a:avLst>
            </a:prstGeom>
            <a:solidFill>
              <a:srgbClr val="FFFFFF">
                <a:alpha val="96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14400" y="1028700"/>
              <a:ext cx="95250" cy="5715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563EB"/>
                </a:gs>
                <a:gs pos="100000">
                  <a:srgbClr val="7C3AE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447800" y="186690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57150" cap="rnd">
              <a:solidFill>
                <a:srgbClr val="2563E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47800" y="2516505"/>
              <a:ext cx="4363441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93520" y="3967162"/>
              <a:ext cx="51720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从多元到一体：中华文明的形成与演进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58468" y="57273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评委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59230" y="62198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0115550" y="1581150"/>
              <a:ext cx="3714750" cy="4781550"/>
              <a:chOff x="10115550" y="1581150"/>
              <a:chExt cx="3714750" cy="478155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10115550" y="1581150"/>
                <a:ext cx="3352800" cy="3352800"/>
              </a:xfrm>
              <a:prstGeom prst="ellipse">
                <a:avLst/>
              </a:prstGeom>
              <a:gradFill>
                <a:gsLst>
                  <a:gs pos="0">
                    <a:srgbClr val="2563EB">
                      <a:alpha val="20000"/>
                    </a:srgbClr>
                  </a:gs>
                  <a:gs pos="100000">
                    <a:srgbClr val="7C3AED">
                      <a:alpha val="20000"/>
                    </a:srgbClr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10725150" y="2190750"/>
                <a:ext cx="2133600" cy="2133600"/>
              </a:xfrm>
              <a:prstGeom prst="ellipse">
                <a:avLst/>
              </a:prstGeom>
              <a:solidFill>
                <a:srgbClr val="FFFFFF">
                  <a:alpha val="88000"/>
                </a:srgbClr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11201400" y="2667000"/>
                <a:ext cx="1181100" cy="1181100"/>
              </a:xfrm>
              <a:prstGeom prst="ellipse">
                <a:avLst/>
              </a:prstGeom>
              <a:solidFill>
                <a:srgbClr val="2563E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572750" y="4267200"/>
                <a:ext cx="2857500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1409700">
                    <a:moveTo>
                      <a:pt x="0" y="552450"/>
                    </a:moveTo>
                    <a:cubicBezTo>
                      <a:pt x="809625" y="0"/>
                      <a:pt x="1571625" y="1409700"/>
                      <a:pt x="2857500" y="590550"/>
                    </a:cubicBezTo>
                  </a:path>
                </a:pathLst>
              </a:custGeom>
              <a:noFill/>
              <a:ln w="114300" cap="rnd">
                <a:solidFill>
                  <a:srgbClr val="7C3AED">
                    <a:alpha val="64000"/>
                  </a:srgbClr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363200" y="1676400"/>
                <a:ext cx="3467100" cy="3505200"/>
              </a:xfrm>
              <a:custGeom>
                <a:avLst/>
                <a:gdLst/>
                <a:ahLst/>
                <a:cxnLst/>
                <a:rect l="l" t="t" r="r" b="b"/>
                <a:pathLst>
                  <a:path w="3467100" h="3505200">
                    <a:moveTo>
                      <a:pt x="0" y="685800"/>
                    </a:moveTo>
                    <a:lnTo>
                      <a:pt x="2933700" y="0"/>
                    </a:lnTo>
                    <a:lnTo>
                      <a:pt x="3467100" y="2609850"/>
                    </a:lnTo>
                    <a:lnTo>
                      <a:pt x="723900" y="3505200"/>
                    </a:lnTo>
                    <a:close/>
                  </a:path>
                </a:pathLst>
              </a:custGeom>
              <a:noFill/>
              <a:ln w="28575">
                <a:solidFill>
                  <a:srgbClr val="BDD7FF">
                    <a:alpha val="95000"/>
                  </a:srgbClr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0429875" y="5829300"/>
                <a:ext cx="3143250" cy="5334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1690985" y="60102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科技蓝</a:t>
                </a: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870204" y="7604760"/>
            <a:ext cx="8913266" cy="234696"/>
            <a:chOff x="870204" y="7604760"/>
            <a:chExt cx="8913266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870204" y="7604760"/>
              <a:ext cx="89132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中华文明探源工程发现距今5800年前后多区域出现文明起源加速 | 良渚古城、陶寺遗址、石峁遗址等显示早期区域性权力中心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25" name="TextBox 25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37A"/>
                  </a:solidFill>
                  <a:latin typeface="Segoe UI"/>
                  <a:ea typeface="Segoe UI"/>
                  <a:cs typeface="Segoe UI"/>
                </a:rPr>
                <a:t>01 / 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266420" y="802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BDD7FF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859536" y="634365"/>
            <a:ext cx="13504164" cy="1099185"/>
            <a:chOff x="859536" y="634365"/>
            <a:chExt cx="13504164" cy="1099185"/>
          </a:xfrm>
        </p:grpSpPr>
        <p:sp>
          <p:nvSpPr>
            <p:cNvPr id="7" name="TextBox 7"/>
            <p:cNvSpPr txBox="1"/>
            <p:nvPr/>
          </p:nvSpPr>
          <p:spPr>
            <a:xfrm>
              <a:off x="859536" y="634365"/>
              <a:ext cx="70304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文明的摇篮：多元起源与早期探索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6968" y="1231582"/>
              <a:ext cx="76133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中华文明在距今5800年前后已在多个区域出现文明化进程，打破黄河中心论。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1714500"/>
              <a:ext cx="13487400" cy="9525"/>
            </a:xfrm>
            <a:custGeom>
              <a:avLst/>
              <a:gdLst/>
              <a:ahLst/>
              <a:cxnLst/>
              <a:rect l="l" t="t" r="r" b="b"/>
              <a:pathLst>
                <a:path w="13487400" h="9525">
                  <a:moveTo>
                    <a:pt x="0" y="0"/>
                  </a:moveTo>
                  <a:lnTo>
                    <a:pt x="134874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76300" y="167640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990600" y="2381250"/>
            <a:ext cx="4409324" cy="2076450"/>
            <a:chOff x="990600" y="2381250"/>
            <a:chExt cx="4409324" cy="2076450"/>
          </a:xfrm>
        </p:grpSpPr>
        <p:sp>
          <p:nvSpPr>
            <p:cNvPr id="12" name="Rectangle 12"/>
            <p:cNvSpPr/>
            <p:nvPr/>
          </p:nvSpPr>
          <p:spPr>
            <a:xfrm>
              <a:off x="990600" y="238125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181100" y="2571750"/>
              <a:ext cx="533400" cy="533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75280" y="27365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57756" y="2701290"/>
              <a:ext cx="35421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早期陶器与稻作: 江西仙人洞、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57756" y="30251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湖南玉蟾岩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95900" y="2381250"/>
            <a:ext cx="4409324" cy="2076450"/>
            <a:chOff x="5295900" y="2381250"/>
            <a:chExt cx="4409324" cy="2076450"/>
          </a:xfrm>
        </p:grpSpPr>
        <p:sp>
          <p:nvSpPr>
            <p:cNvPr id="18" name="Rectangle 18"/>
            <p:cNvSpPr/>
            <p:nvPr/>
          </p:nvSpPr>
          <p:spPr>
            <a:xfrm>
              <a:off x="5295900" y="238125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486400" y="2571750"/>
              <a:ext cx="533400" cy="5334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680580" y="27365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63056" y="2701290"/>
              <a:ext cx="35421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新石器时代文化: 仰韶、河姆渡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63056" y="30251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、红山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601200" y="2381250"/>
            <a:ext cx="3722359" cy="2076450"/>
            <a:chOff x="9601200" y="2381250"/>
            <a:chExt cx="3722359" cy="2076450"/>
          </a:xfrm>
        </p:grpSpPr>
        <p:sp>
          <p:nvSpPr>
            <p:cNvPr id="24" name="Rectangle 24"/>
            <p:cNvSpPr/>
            <p:nvPr/>
          </p:nvSpPr>
          <p:spPr>
            <a:xfrm>
              <a:off x="9601200" y="238125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791700" y="2571750"/>
              <a:ext cx="533400" cy="533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985880" y="27365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468356" y="2701290"/>
              <a:ext cx="28552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良渚古城: 距今约5300-4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68356" y="3025140"/>
              <a:ext cx="692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300年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90600" y="5143500"/>
            <a:ext cx="4409324" cy="2076450"/>
            <a:chOff x="990600" y="5143500"/>
            <a:chExt cx="4409324" cy="2076450"/>
          </a:xfrm>
        </p:grpSpPr>
        <p:sp>
          <p:nvSpPr>
            <p:cNvPr id="30" name="Rectangle 30"/>
            <p:cNvSpPr/>
            <p:nvPr/>
          </p:nvSpPr>
          <p:spPr>
            <a:xfrm>
              <a:off x="990600" y="514350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181100" y="5334000"/>
              <a:ext cx="533400" cy="5334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75280" y="54987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57756" y="5463540"/>
              <a:ext cx="35421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龙山时代城址群: 黄河、长江流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57756" y="57873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域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95900" y="5143500"/>
            <a:ext cx="3900461" cy="2076450"/>
            <a:chOff x="5295900" y="5143500"/>
            <a:chExt cx="3900461" cy="2076450"/>
          </a:xfrm>
        </p:grpSpPr>
        <p:sp>
          <p:nvSpPr>
            <p:cNvPr id="36" name="Rectangle 36"/>
            <p:cNvSpPr/>
            <p:nvPr/>
          </p:nvSpPr>
          <p:spPr>
            <a:xfrm>
              <a:off x="5295900" y="514350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5486400" y="5334000"/>
              <a:ext cx="533400" cy="533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80580" y="54987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63056" y="5463540"/>
              <a:ext cx="30333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陶寺与石峁: 区域政治中心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601200" y="5143500"/>
            <a:ext cx="3900461" cy="2076450"/>
            <a:chOff x="9601200" y="5143500"/>
            <a:chExt cx="3900461" cy="2076450"/>
          </a:xfrm>
        </p:grpSpPr>
        <p:sp>
          <p:nvSpPr>
            <p:cNvPr id="41" name="Rectangle 41"/>
            <p:cNvSpPr/>
            <p:nvPr/>
          </p:nvSpPr>
          <p:spPr>
            <a:xfrm>
              <a:off x="9601200" y="514350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9791700" y="5334000"/>
              <a:ext cx="533400" cy="5334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985880" y="54987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68356" y="5463540"/>
              <a:ext cx="30333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二里头文化: 王朝时代开端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70204" y="7604760"/>
            <a:ext cx="13299186" cy="234696"/>
            <a:chOff x="870204" y="7604760"/>
            <a:chExt cx="13299186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870204" y="7604760"/>
              <a:ext cx="132991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良渚古城遗址年代约为公元前3300年至前2300年，显示出大型土质建筑、城市规划、水利系统、稻作农业、玉礼器体系和墓葬等级分化 | 陶寺遗址和石峁遗址是距今4300-3800年阶段的重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37A"/>
                  </a:solidFill>
                  <a:latin typeface="Segoe UI"/>
                  <a:ea typeface="Segoe UI"/>
                  <a:cs typeface="Segoe UI"/>
                </a:rPr>
                <a:t>02 / 04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266420" y="802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BDD7FF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859536" y="634365"/>
            <a:ext cx="13504164" cy="1099185"/>
            <a:chOff x="859536" y="634365"/>
            <a:chExt cx="13504164" cy="1099185"/>
          </a:xfrm>
        </p:grpSpPr>
        <p:sp>
          <p:nvSpPr>
            <p:cNvPr id="7" name="TextBox 7"/>
            <p:cNvSpPr txBox="1"/>
            <p:nvPr/>
          </p:nvSpPr>
          <p:spPr>
            <a:xfrm>
              <a:off x="859536" y="634365"/>
              <a:ext cx="656394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国家的基石：夏商周的制度奠基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6968" y="1231582"/>
              <a:ext cx="86795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从二里头到西周，宗法、礼制、分封、郡县等奠基性制度逐步成型，奠定早期国家形态。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1714500"/>
              <a:ext cx="13487400" cy="9525"/>
            </a:xfrm>
            <a:custGeom>
              <a:avLst/>
              <a:gdLst/>
              <a:ahLst/>
              <a:cxnLst/>
              <a:rect l="l" t="t" r="r" b="b"/>
              <a:pathLst>
                <a:path w="13487400" h="9525">
                  <a:moveTo>
                    <a:pt x="0" y="0"/>
                  </a:moveTo>
                  <a:lnTo>
                    <a:pt x="134874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76300" y="167640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990600" y="2381250"/>
            <a:ext cx="4409324" cy="2076450"/>
            <a:chOff x="990600" y="2381250"/>
            <a:chExt cx="4409324" cy="2076450"/>
          </a:xfrm>
        </p:grpSpPr>
        <p:sp>
          <p:nvSpPr>
            <p:cNvPr id="12" name="Rectangle 12"/>
            <p:cNvSpPr/>
            <p:nvPr/>
          </p:nvSpPr>
          <p:spPr>
            <a:xfrm>
              <a:off x="990600" y="238125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181100" y="2571750"/>
              <a:ext cx="533400" cy="533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75280" y="27365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57756" y="2701290"/>
              <a:ext cx="35421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二里头与夏代: 早期国家与青铜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57756" y="30251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礼制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95900" y="2381250"/>
            <a:ext cx="4154893" cy="2076450"/>
            <a:chOff x="5295900" y="2381250"/>
            <a:chExt cx="4154893" cy="2076450"/>
          </a:xfrm>
        </p:grpSpPr>
        <p:sp>
          <p:nvSpPr>
            <p:cNvPr id="18" name="Rectangle 18"/>
            <p:cNvSpPr/>
            <p:nvPr/>
          </p:nvSpPr>
          <p:spPr>
            <a:xfrm>
              <a:off x="5295900" y="238125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486400" y="2571750"/>
              <a:ext cx="533400" cy="5334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680580" y="27365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63056" y="2701290"/>
              <a:ext cx="32877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商代文明: 成熟青铜与甲骨文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601200" y="2381250"/>
            <a:ext cx="4154893" cy="2076450"/>
            <a:chOff x="9601200" y="2381250"/>
            <a:chExt cx="4154893" cy="2076450"/>
          </a:xfrm>
        </p:grpSpPr>
        <p:sp>
          <p:nvSpPr>
            <p:cNvPr id="23" name="Rectangle 23"/>
            <p:cNvSpPr/>
            <p:nvPr/>
          </p:nvSpPr>
          <p:spPr>
            <a:xfrm>
              <a:off x="9601200" y="238125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9791700" y="2571750"/>
              <a:ext cx="533400" cy="533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985880" y="27365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68356" y="2701290"/>
              <a:ext cx="32877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西周秩序: 宗法、分封、礼乐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90600" y="5143500"/>
            <a:ext cx="4409324" cy="2076450"/>
            <a:chOff x="990600" y="5143500"/>
            <a:chExt cx="4409324" cy="2076450"/>
          </a:xfrm>
        </p:grpSpPr>
        <p:sp>
          <p:nvSpPr>
            <p:cNvPr id="28" name="Rectangle 28"/>
            <p:cNvSpPr/>
            <p:nvPr/>
          </p:nvSpPr>
          <p:spPr>
            <a:xfrm>
              <a:off x="990600" y="514350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181100" y="5334000"/>
              <a:ext cx="533400" cy="5334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75280" y="54987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57756" y="5463540"/>
              <a:ext cx="35421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春秋战国变革: 郡县萌芽与成文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57756" y="57873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法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95900" y="5143500"/>
            <a:ext cx="3695700" cy="2076450"/>
            <a:chOff x="5295900" y="5143500"/>
            <a:chExt cx="3695700" cy="2076450"/>
          </a:xfrm>
        </p:grpSpPr>
        <p:sp>
          <p:nvSpPr>
            <p:cNvPr id="34" name="Rectangle 34"/>
            <p:cNvSpPr/>
            <p:nvPr/>
          </p:nvSpPr>
          <p:spPr>
            <a:xfrm>
              <a:off x="5295900" y="514350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5486400" y="5334000"/>
              <a:ext cx="533400" cy="533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80580" y="54987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63056" y="5463540"/>
              <a:ext cx="22700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诸子百家: 思想奠基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70204" y="7604760"/>
            <a:ext cx="9365590" cy="234696"/>
            <a:chOff x="870204" y="7604760"/>
            <a:chExt cx="9365590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870204" y="7604760"/>
              <a:ext cx="9365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西周建立以宗法、礼制和分封为基础的统治秩序 | 春秋战国时期出现政治、军事、经济和思想变革，孔子、老子等诸子学派相继活跃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41" name="TextBox 41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37A"/>
                  </a:solidFill>
                  <a:latin typeface="Segoe UI"/>
                  <a:ea typeface="Segoe UI"/>
                  <a:cs typeface="Segoe UI"/>
                </a:rPr>
                <a:t>03 / 04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266420" y="802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BDD7FF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971550" y="893445"/>
            <a:ext cx="12268200" cy="6377178"/>
            <a:chOff x="971550" y="893445"/>
            <a:chExt cx="12268200" cy="6377178"/>
          </a:xfrm>
        </p:grpSpPr>
        <p:sp>
          <p:nvSpPr>
            <p:cNvPr id="7" name="TextBox 7"/>
            <p:cNvSpPr txBox="1"/>
            <p:nvPr/>
          </p:nvSpPr>
          <p:spPr>
            <a:xfrm>
              <a:off x="971550" y="893445"/>
              <a:ext cx="830713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帝国的逻辑：秦至清的治理与整合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9556" y="15582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历史的启示：统一与多样下的韧性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90600" y="209550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66675" cap="rnd">
              <a:solidFill>
                <a:srgbClr val="2563EB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428750" y="2771775"/>
              <a:ext cx="3583393" cy="3419475"/>
              <a:chOff x="1428750" y="2771775"/>
              <a:chExt cx="3583393" cy="3419475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2343150" y="2771775"/>
                <a:ext cx="1600200" cy="1600200"/>
              </a:xfrm>
              <a:prstGeom prst="ellipse">
                <a:avLst/>
              </a:prstGeom>
              <a:solidFill>
                <a:srgbClr val="2563EB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2686050" y="3114675"/>
                <a:ext cx="914400" cy="9144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044359" y="34528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1428750" y="4591050"/>
                <a:ext cx="3429000" cy="16002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724406" y="5025390"/>
                <a:ext cx="328773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秦朝奠基: 中央集权与郡县制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619750" y="2771775"/>
              <a:ext cx="3583393" cy="3419475"/>
              <a:chOff x="5619750" y="2771775"/>
              <a:chExt cx="3583393" cy="3419475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534150" y="2771775"/>
                <a:ext cx="1600200" cy="1600200"/>
              </a:xfrm>
              <a:prstGeom prst="ellipse">
                <a:avLst/>
              </a:prstGeom>
              <a:solidFill>
                <a:srgbClr val="7C3AED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6877050" y="3114675"/>
                <a:ext cx="914400" cy="91440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235359" y="34528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2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619750" y="4591050"/>
                <a:ext cx="3429000" cy="16002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915406" y="5025390"/>
                <a:ext cx="328773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汉代创新: 儒法并用与丝绸之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915406" y="5349240"/>
                <a:ext cx="2727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路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810750" y="2771775"/>
              <a:ext cx="3429000" cy="3419475"/>
              <a:chOff x="9810750" y="2771775"/>
              <a:chExt cx="3429000" cy="3419475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10725150" y="2771775"/>
                <a:ext cx="1600200" cy="1600200"/>
              </a:xfrm>
              <a:prstGeom prst="ellipse">
                <a:avLst/>
              </a:prstGeom>
              <a:solidFill>
                <a:srgbClr val="2563EB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11068050" y="3114675"/>
                <a:ext cx="914400" cy="9144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1426359" y="34528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3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9810750" y="4591050"/>
                <a:ext cx="3429000" cy="16002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06406" y="5025390"/>
                <a:ext cx="277887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隋唐整合: 科举与大运河</a:t>
                </a: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7015658" y="68599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谢谢观看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70204" y="7604760"/>
            <a:ext cx="12596470" cy="234696"/>
            <a:chOff x="870204" y="7604760"/>
            <a:chExt cx="12596470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870204" y="7604760"/>
              <a:ext cx="12596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秦朝以皇帝制度、三公九卿制和郡县制为核心，废除诸侯分立格局 | 汉代在继承秦制基础上调整统治结构，汉武帝时期加强中央集权、经营边疆，并通过张骞通西域推动丝绸之路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33" name="TextBox 33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37A"/>
                  </a:solidFill>
                  <a:latin typeface="Segoe UI"/>
                  <a:ea typeface="Segoe UI"/>
                  <a:cs typeface="Segoe UI"/>
                </a:rPr>
                <a:t>04 / 04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266420" y="802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2026-07-09T17:28:59Z</dcterms:created>
  <dcterms:modified xsi:type="dcterms:W3CDTF">2026-07-09T17:28:59Z</dcterms:modified>
  <cp:category/>
  <cp:contentStatus/>
</cp:coreProperties>
</file>