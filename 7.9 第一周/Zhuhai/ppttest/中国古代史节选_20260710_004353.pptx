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3F6FB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D0D7E2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1F2937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914400" y="1028700"/>
            <a:ext cx="12915900" cy="5715000"/>
            <a:chOff x="914400" y="1028700"/>
            <a:chExt cx="12915900" cy="5715000"/>
          </a:xfrm>
        </p:grpSpPr>
        <p:sp>
          <p:nvSpPr>
            <p:cNvPr id="7" name="Rectangle 7"/>
            <p:cNvSpPr/>
            <p:nvPr/>
          </p:nvSpPr>
          <p:spPr>
            <a:xfrm>
              <a:off x="914400" y="1028700"/>
              <a:ext cx="8667750" cy="5715000"/>
            </a:xfrm>
            <a:prstGeom prst="roundRect">
              <a:avLst>
                <a:gd name="adj" fmla="val 5667"/>
              </a:avLst>
            </a:prstGeom>
            <a:solidFill>
              <a:srgbClr val="FFFFFF">
                <a:alpha val="96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028700"/>
              <a:ext cx="95250" cy="5715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2937"/>
                </a:gs>
                <a:gs pos="100000">
                  <a:srgbClr val="2563E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447800" y="186690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57150" cap="rnd">
              <a:solidFill>
                <a:srgbClr val="1F293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47800" y="2516505"/>
              <a:ext cx="508433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中国古代史节选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3520" y="396716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概括本主题的核心内容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8468" y="572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目标听众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9230" y="6219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中国古代史节选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0115550" y="1581150"/>
              <a:ext cx="3714750" cy="4781550"/>
              <a:chOff x="10115550" y="1581150"/>
              <a:chExt cx="3714750" cy="47815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0115550" y="1581150"/>
                <a:ext cx="3352800" cy="3352800"/>
              </a:xfrm>
              <a:prstGeom prst="ellipse">
                <a:avLst/>
              </a:prstGeom>
              <a:gradFill>
                <a:gsLst>
                  <a:gs pos="0">
                    <a:srgbClr val="1F2937">
                      <a:alpha val="20000"/>
                    </a:srgbClr>
                  </a:gs>
                  <a:gs pos="100000">
                    <a:srgbClr val="2563EB">
                      <a:alpha val="20000"/>
                    </a:srgbClr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0725150" y="2190750"/>
                <a:ext cx="2133600" cy="2133600"/>
              </a:xfrm>
              <a:prstGeom prst="ellipse">
                <a:avLst/>
              </a:prstGeom>
              <a:solidFill>
                <a:srgbClr val="FFFFFF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1201400" y="2667000"/>
                <a:ext cx="1181100" cy="1181100"/>
              </a:xfrm>
              <a:prstGeom prst="ellipse">
                <a:avLst/>
              </a:prstGeom>
              <a:solidFill>
                <a:srgbClr val="1F2937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572750" y="4267200"/>
                <a:ext cx="2857500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1409700">
                    <a:moveTo>
                      <a:pt x="0" y="552450"/>
                    </a:moveTo>
                    <a:cubicBezTo>
                      <a:pt x="809625" y="0"/>
                      <a:pt x="1571625" y="1409700"/>
                      <a:pt x="2857500" y="590550"/>
                    </a:cubicBezTo>
                  </a:path>
                </a:pathLst>
              </a:custGeom>
              <a:noFill/>
              <a:ln w="114300" cap="rnd">
                <a:solidFill>
                  <a:srgbClr val="2563EB">
                    <a:alpha val="6400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363200" y="1676400"/>
                <a:ext cx="3467100" cy="35052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3505200">
                    <a:moveTo>
                      <a:pt x="0" y="685800"/>
                    </a:moveTo>
                    <a:lnTo>
                      <a:pt x="2933700" y="0"/>
                    </a:lnTo>
                    <a:lnTo>
                      <a:pt x="3467100" y="2609850"/>
                    </a:lnTo>
                    <a:lnTo>
                      <a:pt x="723900" y="3505200"/>
                    </a:lnTo>
                    <a:close/>
                  </a:path>
                </a:pathLst>
              </a:custGeom>
              <a:noFill/>
              <a:ln w="28575">
                <a:solidFill>
                  <a:srgbClr val="D0D7E2">
                    <a:alpha val="95000"/>
                  </a:srgbClr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0429875" y="5829300"/>
                <a:ext cx="314325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D0D7E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590020" y="60102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263244"/>
                    </a:solidFill>
                    <a:latin typeface="Segoe UI"/>
                    <a:ea typeface="Microsoft YaHei"/>
                    <a:cs typeface="Segoe UI"/>
                  </a:rPr>
                  <a:t>简约商务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67085"/>
                  </a:solidFill>
                  <a:latin typeface="Segoe UI"/>
                  <a:ea typeface="Segoe UI"/>
                  <a:cs typeface="Segoe UI"/>
                </a:rPr>
                <a:t>01 / 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84683" y="8026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中国古代史节选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3F6FB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D0D7E2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1F2937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5631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中国古代史节选：关键脉络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梳理材料中的主要线索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D0D7E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1F2937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90600" y="2381250"/>
            <a:ext cx="3938626" cy="2076450"/>
            <a:chOff x="990600" y="2381250"/>
            <a:chExt cx="3938626" cy="2076450"/>
          </a:xfrm>
        </p:grpSpPr>
        <p:sp>
          <p:nvSpPr>
            <p:cNvPr id="12" name="Rectangle 12"/>
            <p:cNvSpPr/>
            <p:nvPr/>
          </p:nvSpPr>
          <p:spPr>
            <a:xfrm>
              <a:off x="9906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D0D7E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81100" y="2571750"/>
              <a:ext cx="533400" cy="53340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52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7756" y="27012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244"/>
                  </a:solidFill>
                  <a:latin typeface="Segoe UI"/>
                  <a:ea typeface="Microsoft YaHei"/>
                  <a:cs typeface="Segoe UI"/>
                </a:rPr>
                <a:t>提炼用户材料中的关键信息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95900" y="2381250"/>
            <a:ext cx="3938626" cy="2076450"/>
            <a:chOff x="5295900" y="2381250"/>
            <a:chExt cx="3938626" cy="2076450"/>
          </a:xfrm>
        </p:grpSpPr>
        <p:sp>
          <p:nvSpPr>
            <p:cNvPr id="17" name="Rectangle 17"/>
            <p:cNvSpPr/>
            <p:nvPr/>
          </p:nvSpPr>
          <p:spPr>
            <a:xfrm>
              <a:off x="52959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D0D7E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486400" y="257175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805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3056" y="27012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244"/>
                  </a:solidFill>
                  <a:latin typeface="Segoe UI"/>
                  <a:ea typeface="Microsoft YaHei"/>
                  <a:cs typeface="Segoe UI"/>
                </a:rPr>
                <a:t>围绕当前主题组织重点表达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601200" y="2381250"/>
            <a:ext cx="3695700" cy="2076450"/>
            <a:chOff x="9601200" y="2381250"/>
            <a:chExt cx="3695700" cy="2076450"/>
          </a:xfrm>
        </p:grpSpPr>
        <p:sp>
          <p:nvSpPr>
            <p:cNvPr id="22" name="Rectangle 22"/>
            <p:cNvSpPr/>
            <p:nvPr/>
          </p:nvSpPr>
          <p:spPr>
            <a:xfrm>
              <a:off x="96012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D0D7E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791700" y="2571750"/>
              <a:ext cx="533400" cy="53340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858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68356" y="27012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244"/>
                  </a:solidFill>
                  <a:latin typeface="Segoe UI"/>
                  <a:ea typeface="Microsoft YaHei"/>
                  <a:cs typeface="Segoe UI"/>
                </a:rPr>
                <a:t>使用短句和结构化表达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67085"/>
                  </a:solidFill>
                  <a:latin typeface="Segoe UI"/>
                  <a:ea typeface="Segoe UI"/>
                  <a:cs typeface="Segoe UI"/>
                </a:rPr>
                <a:t>02 / 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84683" y="8026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中国古代史节选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3F6FB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D0D7E2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1F2937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5631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中国古代史节选：发展层次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呈现主题的阶段、结构或层次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D0D7E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1F2937"/>
            </a:solidFill>
            <a:ln>
              <a:noFill/>
            </a:ln>
          </p:spPr>
        </p:sp>
      </p:grpSp>
      <p:sp>
        <p:nvSpPr>
          <p:cNvPr id="12" name="Line 12"/>
          <p:cNvSpPr/>
          <p:nvPr/>
        </p:nvSpPr>
        <p:spPr>
          <a:xfrm>
            <a:off x="1619250" y="4000500"/>
            <a:ext cx="12001500" cy="9525"/>
          </a:xfrm>
          <a:custGeom>
            <a:avLst/>
            <a:gdLst/>
            <a:ahLst/>
            <a:cxnLst/>
            <a:rect l="l" t="t" r="r" b="b"/>
            <a:pathLst>
              <a:path w="12001500" h="9525">
                <a:moveTo>
                  <a:pt x="0" y="0"/>
                </a:moveTo>
                <a:lnTo>
                  <a:pt x="12001500" y="0"/>
                </a:lnTo>
              </a:path>
            </a:pathLst>
          </a:custGeom>
          <a:noFill/>
          <a:ln w="76200" cap="rnd">
            <a:solidFill>
              <a:srgbClr val="D0D7E2"/>
            </a:solidFill>
          </a:ln>
        </p:spPr>
      </p:sp>
      <p:sp>
        <p:nvSpPr>
          <p:cNvPr id="13" name="Line 13"/>
          <p:cNvSpPr/>
          <p:nvPr/>
        </p:nvSpPr>
        <p:spPr>
          <a:xfrm>
            <a:off x="1619250" y="4000500"/>
            <a:ext cx="12001500" cy="9525"/>
          </a:xfrm>
          <a:custGeom>
            <a:avLst/>
            <a:gdLst/>
            <a:ahLst/>
            <a:cxnLst/>
            <a:rect l="l" t="t" r="r" b="b"/>
            <a:pathLst>
              <a:path w="12001500" h="9525">
                <a:moveTo>
                  <a:pt x="0" y="0"/>
                </a:moveTo>
                <a:lnTo>
                  <a:pt x="12001500" y="0"/>
                </a:lnTo>
              </a:path>
            </a:pathLst>
          </a:custGeom>
          <a:noFill/>
          <a:ln w="76200" cap="rnd">
            <a:solidFill>
              <a:srgbClr val="1F2937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428625" y="2362200"/>
            <a:ext cx="3026207" cy="1847850"/>
            <a:chOff x="428625" y="2362200"/>
            <a:chExt cx="3026207" cy="1847850"/>
          </a:xfrm>
        </p:grpSpPr>
        <p:sp>
          <p:nvSpPr>
            <p:cNvPr id="14" name="Ellipse 14"/>
            <p:cNvSpPr/>
            <p:nvPr/>
          </p:nvSpPr>
          <p:spPr>
            <a:xfrm>
              <a:off x="1409700" y="3790950"/>
              <a:ext cx="419100" cy="41910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533525" y="3914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28625" y="2362200"/>
              <a:ext cx="2381250" cy="1123950"/>
            </a:xfrm>
            <a:prstGeom prst="roundRect">
              <a:avLst>
                <a:gd name="adj" fmla="val 15254"/>
              </a:avLst>
            </a:prstGeom>
            <a:solidFill>
              <a:srgbClr val="FFFFFF"/>
            </a:solidFill>
            <a:ln w="19050">
              <a:solidFill>
                <a:srgbClr val="D0D7E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9318" y="260318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63244"/>
                  </a:solidFill>
                  <a:latin typeface="Segoe UI"/>
                  <a:ea typeface="Microsoft YaHei"/>
                  <a:cs typeface="Segoe UI"/>
                </a:rPr>
                <a:t>提炼用户材料中的关键信息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29375" y="3790950"/>
            <a:ext cx="3026207" cy="1790700"/>
            <a:chOff x="6429375" y="3790950"/>
            <a:chExt cx="3026207" cy="1790700"/>
          </a:xfrm>
        </p:grpSpPr>
        <p:sp>
          <p:nvSpPr>
            <p:cNvPr id="19" name="Ellipse 19"/>
            <p:cNvSpPr/>
            <p:nvPr/>
          </p:nvSpPr>
          <p:spPr>
            <a:xfrm>
              <a:off x="7410450" y="3790950"/>
              <a:ext cx="419100" cy="419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534275" y="3914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29375" y="4457700"/>
              <a:ext cx="2381250" cy="1123950"/>
            </a:xfrm>
            <a:prstGeom prst="roundRect">
              <a:avLst>
                <a:gd name="adj" fmla="val 15254"/>
              </a:avLst>
            </a:prstGeom>
            <a:solidFill>
              <a:srgbClr val="FFFFFF"/>
            </a:solidFill>
            <a:ln w="19050">
              <a:solidFill>
                <a:srgbClr val="D0D7E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40068" y="469868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63244"/>
                  </a:solidFill>
                  <a:latin typeface="Segoe UI"/>
                  <a:ea typeface="Microsoft YaHei"/>
                  <a:cs typeface="Segoe UI"/>
                </a:rPr>
                <a:t>围绕当前主题组织重点表达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430125" y="2362200"/>
            <a:ext cx="2559749" cy="1847850"/>
            <a:chOff x="12430125" y="2362200"/>
            <a:chExt cx="2559749" cy="1847850"/>
          </a:xfrm>
        </p:grpSpPr>
        <p:sp>
          <p:nvSpPr>
            <p:cNvPr id="24" name="Ellipse 24"/>
            <p:cNvSpPr/>
            <p:nvPr/>
          </p:nvSpPr>
          <p:spPr>
            <a:xfrm>
              <a:off x="13411200" y="3790950"/>
              <a:ext cx="419100" cy="41910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3535025" y="3914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430125" y="2362200"/>
              <a:ext cx="2381250" cy="1123950"/>
            </a:xfrm>
            <a:prstGeom prst="roundRect">
              <a:avLst>
                <a:gd name="adj" fmla="val 15254"/>
              </a:avLst>
            </a:prstGeom>
            <a:solidFill>
              <a:srgbClr val="FFFFFF"/>
            </a:solidFill>
            <a:ln w="19050">
              <a:solidFill>
                <a:srgbClr val="D0D7E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640818" y="260318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63244"/>
                  </a:solidFill>
                  <a:latin typeface="Segoe UI"/>
                  <a:ea typeface="Microsoft YaHei"/>
                  <a:cs typeface="Segoe UI"/>
                </a:rPr>
                <a:t>使用短句和结构化表达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67085"/>
                  </a:solidFill>
                  <a:latin typeface="Segoe UI"/>
                  <a:ea typeface="Segoe UI"/>
                  <a:cs typeface="Segoe UI"/>
                </a:rPr>
                <a:t>03 / 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084683" y="8026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中国古代史节选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3F6FB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D0D7E2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1F2937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971550" y="893445"/>
            <a:ext cx="12268200" cy="6377178"/>
            <a:chOff x="971550" y="893445"/>
            <a:chExt cx="12268200" cy="6377178"/>
          </a:xfrm>
        </p:grpSpPr>
        <p:sp>
          <p:nvSpPr>
            <p:cNvPr id="7" name="TextBox 7"/>
            <p:cNvSpPr txBox="1"/>
            <p:nvPr/>
          </p:nvSpPr>
          <p:spPr>
            <a:xfrm>
              <a:off x="971550" y="893445"/>
              <a:ext cx="665332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中国古代史节选：重要关系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9556" y="15582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说明材料中的对比、联系或差异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20955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66675" cap="rnd">
              <a:solidFill>
                <a:srgbClr val="1F2937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428750" y="2771775"/>
              <a:ext cx="3429000" cy="3419475"/>
              <a:chOff x="1428750" y="2771775"/>
              <a:chExt cx="3429000" cy="341947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2343150" y="2771775"/>
                <a:ext cx="1600200" cy="1600200"/>
              </a:xfrm>
              <a:prstGeom prst="ellipse">
                <a:avLst/>
              </a:prstGeom>
              <a:solidFill>
                <a:srgbClr val="1F2937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686050" y="3114675"/>
                <a:ext cx="914400" cy="914400"/>
              </a:xfrm>
              <a:prstGeom prst="ellipse">
                <a:avLst/>
              </a:pr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044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1428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D0D7E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724406" y="5025390"/>
                <a:ext cx="30714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63244"/>
                    </a:solidFill>
                    <a:latin typeface="Segoe UI"/>
                    <a:ea typeface="Microsoft YaHei"/>
                    <a:cs typeface="Segoe UI"/>
                  </a:rPr>
                  <a:t>提炼用户材料中的关键信息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619750" y="2771775"/>
              <a:ext cx="3429000" cy="3419475"/>
              <a:chOff x="5619750" y="2771775"/>
              <a:chExt cx="3429000" cy="341947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534150" y="2771775"/>
                <a:ext cx="1600200" cy="1600200"/>
              </a:xfrm>
              <a:prstGeom prst="ellipse">
                <a:avLst/>
              </a:prstGeom>
              <a:solidFill>
                <a:srgbClr val="2563E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6877050" y="3114675"/>
                <a:ext cx="914400" cy="914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235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619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D0D7E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915406" y="5025390"/>
                <a:ext cx="30714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63244"/>
                    </a:solidFill>
                    <a:latin typeface="Segoe UI"/>
                    <a:ea typeface="Microsoft YaHei"/>
                    <a:cs typeface="Segoe UI"/>
                  </a:rPr>
                  <a:t>围绕当前主题组织重点表达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810750" y="2771775"/>
              <a:ext cx="3429000" cy="3419475"/>
              <a:chOff x="9810750" y="2771775"/>
              <a:chExt cx="3429000" cy="341947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725150" y="2771775"/>
                <a:ext cx="1600200" cy="1600200"/>
              </a:xfrm>
              <a:prstGeom prst="ellipse">
                <a:avLst/>
              </a:prstGeom>
              <a:solidFill>
                <a:srgbClr val="1F2937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1068050" y="3114675"/>
                <a:ext cx="914400" cy="914400"/>
              </a:xfrm>
              <a:prstGeom prst="ellipse">
                <a:avLst/>
              </a:pr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426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810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D0D7E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06406" y="5025390"/>
                <a:ext cx="25626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63244"/>
                    </a:solidFill>
                    <a:latin typeface="Segoe UI"/>
                    <a:ea typeface="Microsoft YaHei"/>
                    <a:cs typeface="Segoe UI"/>
                  </a:rPr>
                  <a:t>使用短句和结构化表达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015658" y="68599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谢谢观看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67085"/>
                  </a:solidFill>
                  <a:latin typeface="Segoe UI"/>
                  <a:ea typeface="Segoe UI"/>
                  <a:cs typeface="Segoe UI"/>
                </a:rPr>
                <a:t>04 / 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084683" y="8026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/>
                  <a:ea typeface="Microsoft YaHei"/>
                  <a:cs typeface="Segoe UI"/>
                </a:rPr>
                <a:t>中国古代史节选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2026-07-09T16:43:53Z</dcterms:created>
  <dcterms:modified xsi:type="dcterms:W3CDTF">2026-07-09T16:43:53Z</dcterms:modified>
  <cp:category/>
  <cp:contentStatus/>
</cp:coreProperties>
</file>