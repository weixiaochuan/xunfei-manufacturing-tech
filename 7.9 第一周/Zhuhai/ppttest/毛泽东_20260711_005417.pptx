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33400" y="51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57150">
            <a:solidFill>
              <a:srgbClr val="1F2937"/>
            </a:solidFill>
          </a:ln>
        </p:spPr>
      </p:sp>
      <p:sp>
        <p:nvSpPr>
          <p:cNvPr id="4" name="Line 4"/>
          <p:cNvSpPr/>
          <p:nvPr/>
        </p:nvSpPr>
        <p:spPr>
          <a:xfrm>
            <a:off x="533400" y="57340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4288">
            <a:solidFill>
              <a:srgbClr val="C5C7C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26973" y="912971"/>
            <a:ext cx="16349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历史地位与核心贡献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350" y="1704975"/>
            <a:ext cx="175551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925" y="3093244"/>
            <a:ext cx="6210300" cy="709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700"/>
              </a:lnSpc>
            </a:pPr>
            <a:r>
              <a:rPr lang="zh-CN" sz="18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毛泽东是中国共产党、人民军队和新中国的主要缔造者，其</a:t>
            </a:r>
            <a:r>
              <a:rPr lang="zh-CN" sz="18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思想与实践深刻影响了中国现代化进程。</a:t>
            </a:r>
          </a:p>
        </p:txBody>
      </p:sp>
      <p:sp>
        <p:nvSpPr>
          <p:cNvPr id="8" name="Ellipse 8"/>
          <p:cNvSpPr/>
          <p:nvPr/>
        </p:nvSpPr>
        <p:spPr>
          <a:xfrm>
            <a:off x="1019175" y="4476750"/>
            <a:ext cx="95250" cy="9525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51585" y="4508659"/>
            <a:ext cx="48804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人物定位 · 中国共产党、中国人民解放军、中华人民共和国的主要缔造者</a:t>
            </a:r>
          </a:p>
        </p:txBody>
      </p:sp>
      <p:sp>
        <p:nvSpPr>
          <p:cNvPr id="10" name="Ellipse 10"/>
          <p:cNvSpPr/>
          <p:nvPr/>
        </p:nvSpPr>
        <p:spPr>
          <a:xfrm>
            <a:off x="1019175" y="4953000"/>
            <a:ext cx="95250" cy="952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51585" y="4984909"/>
            <a:ext cx="35174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核心成就 · 领导中国革命胜利，奠定新中国制度基础</a:t>
            </a:r>
          </a:p>
        </p:txBody>
      </p:sp>
      <p:sp>
        <p:nvSpPr>
          <p:cNvPr id="12" name="Ellipse 12"/>
          <p:cNvSpPr/>
          <p:nvPr/>
        </p:nvSpPr>
        <p:spPr>
          <a:xfrm>
            <a:off x="8515350" y="1600200"/>
            <a:ext cx="2705100" cy="2705100"/>
          </a:xfrm>
          <a:prstGeom prst="ellipse">
            <a:avLst/>
          </a:prstGeom>
          <a:solidFill>
            <a:srgbClr val="EFF0F1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896350" y="1981200"/>
            <a:ext cx="1943100" cy="1943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372600" y="2457450"/>
            <a:ext cx="990600" cy="9906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8572500" y="48577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47625">
            <a:solidFill>
              <a:srgbClr val="2563E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656701" y="2787968"/>
            <a:ext cx="4223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38716" y="520827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简约商务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18" name="Line 1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C7C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01 / 06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51862" y="6489859"/>
              <a:ext cx="38022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毛泽东是中国共产党、中国人民解放军和中华人民共和国的缔造者之一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生平速览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63745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毛泽东一生跨越中国革命与建设的关键时期，其个人成长与党的命运紧密相连。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5C7CB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1F293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62150"/>
            <a:ext cx="3555682" cy="1857375"/>
          </a:xfrm>
          <a:prstGeom prst="roundRect">
            <a:avLst>
              <a:gd name="adj" fmla="val 2051"/>
            </a:avLst>
          </a:prstGeom>
          <a:solidFill>
            <a:srgbClr val="EFF0F1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704850" y="3743325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1F2937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04850" y="2114550"/>
            <a:ext cx="342900" cy="3429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30151" y="221837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1580" y="2198370"/>
            <a:ext cx="6937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1893年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2342" y="2588895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出生于湖南湘潭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17682" y="1962150"/>
            <a:ext cx="3555682" cy="1857375"/>
          </a:xfrm>
          <a:prstGeom prst="roundRect">
            <a:avLst>
              <a:gd name="adj" fmla="val 2051"/>
            </a:avLst>
          </a:prstGeom>
          <a:solidFill>
            <a:srgbClr val="EFF0F1"/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4489132" y="3743325"/>
            <a:ext cx="3213735" cy="9525"/>
          </a:xfrm>
          <a:custGeom>
            <a:avLst/>
            <a:gdLst/>
            <a:ahLst/>
            <a:cxnLst/>
            <a:rect l="l" t="t" r="r" b="b"/>
            <a:pathLst>
              <a:path w="3213735" h="9525">
                <a:moveTo>
                  <a:pt x="0" y="0"/>
                </a:moveTo>
                <a:lnTo>
                  <a:pt x="3213735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4489132" y="211455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614433" y="221837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95862" y="2198370"/>
            <a:ext cx="6937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1921年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96624" y="2588895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参与创建中国共产党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02918" y="1962150"/>
            <a:ext cx="3555682" cy="1857375"/>
          </a:xfrm>
          <a:prstGeom prst="roundRect">
            <a:avLst>
              <a:gd name="adj" fmla="val 2051"/>
            </a:avLst>
          </a:prstGeom>
          <a:solidFill>
            <a:srgbClr val="EFF0F1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8274368" y="3743325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1F2937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8274368" y="2114550"/>
            <a:ext cx="342900" cy="3429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399668" y="221837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81098" y="2198370"/>
            <a:ext cx="6937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1935年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81860" y="2588895"/>
            <a:ext cx="192195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遵义会议确立领导地位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426018" y="4010025"/>
            <a:ext cx="3555682" cy="1857375"/>
          </a:xfrm>
          <a:prstGeom prst="roundRect">
            <a:avLst>
              <a:gd name="adj" fmla="val 2051"/>
            </a:avLst>
          </a:prstGeom>
          <a:solidFill>
            <a:srgbClr val="EFF0F1"/>
          </a:solidFill>
          <a:ln>
            <a:noFill/>
          </a:ln>
        </p:spPr>
      </p:sp>
      <p:sp>
        <p:nvSpPr>
          <p:cNvPr id="26" name="Line 26"/>
          <p:cNvSpPr/>
          <p:nvPr/>
        </p:nvSpPr>
        <p:spPr>
          <a:xfrm>
            <a:off x="2597468" y="5791200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2597468" y="416242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722768" y="426624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04198" y="4246245"/>
            <a:ext cx="6937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1949年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04959" y="4636770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宣告新中国成立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210300" y="4010025"/>
            <a:ext cx="3555682" cy="1857375"/>
          </a:xfrm>
          <a:prstGeom prst="roundRect">
            <a:avLst>
              <a:gd name="adj" fmla="val 2051"/>
            </a:avLst>
          </a:prstGeom>
          <a:solidFill>
            <a:srgbClr val="EFF0F1"/>
          </a:solidFill>
          <a:ln>
            <a:noFill/>
          </a:ln>
        </p:spPr>
      </p:sp>
      <p:sp>
        <p:nvSpPr>
          <p:cNvPr id="32" name="Line 32"/>
          <p:cNvSpPr/>
          <p:nvPr/>
        </p:nvSpPr>
        <p:spPr>
          <a:xfrm>
            <a:off x="6381750" y="5791200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1F2937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6381750" y="4162425"/>
            <a:ext cx="342900" cy="3429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507051" y="426624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88480" y="4246245"/>
            <a:ext cx="6937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1976年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89242" y="4636770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逝世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7" name="Line 3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C7C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02 / 06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696019" y="6489859"/>
              <a:ext cx="25139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1893年12月26日出生于湖南省湘潭县韶山冲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231731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三大历史贡献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3040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建党·建军·建国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5C7CB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1F293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930"/>
            </a:avLst>
          </a:prstGeom>
          <a:solidFill>
            <a:srgbClr val="EFF0F1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缔造者的核心功绩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516630"/>
            <a:ext cx="3623310" cy="12211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毛泽东作为中共、人民军队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和新中国的缔造者，其领导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是革命胜利的关键。</a:t>
            </a:r>
          </a:p>
        </p:txBody>
      </p:sp>
      <p:sp>
        <p:nvSpPr>
          <p:cNvPr id="11" name="Line 11"/>
          <p:cNvSpPr/>
          <p:nvPr/>
        </p:nvSpPr>
        <p:spPr>
          <a:xfrm>
            <a:off x="5162550" y="18669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1F2937"/>
            </a:solidFill>
          </a:ln>
        </p:spPr>
      </p:sp>
      <p:sp>
        <p:nvSpPr>
          <p:cNvPr id="12" name="Line 12"/>
          <p:cNvSpPr/>
          <p:nvPr/>
        </p:nvSpPr>
        <p:spPr>
          <a:xfrm>
            <a:off x="5162550" y="311467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C5C7C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25595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创建中国共产党并领导革命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192" y="2474595"/>
            <a:ext cx="32577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中共创始人之一，领导新民主主义革命</a:t>
            </a:r>
          </a:p>
        </p:txBody>
      </p:sp>
      <p:sp>
        <p:nvSpPr>
          <p:cNvPr id="15" name="Line 15"/>
          <p:cNvSpPr/>
          <p:nvPr/>
        </p:nvSpPr>
        <p:spPr>
          <a:xfrm>
            <a:off x="5162550" y="3276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16" name="Line 16"/>
          <p:cNvSpPr/>
          <p:nvPr/>
        </p:nvSpPr>
        <p:spPr>
          <a:xfrm>
            <a:off x="5162550" y="452437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C5C7CB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345430" y="349377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缔造人民军队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884295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确立党对军队的绝对领导</a:t>
            </a:r>
          </a:p>
        </p:txBody>
      </p:sp>
      <p:sp>
        <p:nvSpPr>
          <p:cNvPr id="19" name="Line 19"/>
          <p:cNvSpPr/>
          <p:nvPr/>
        </p:nvSpPr>
        <p:spPr>
          <a:xfrm>
            <a:off x="5162550" y="46863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1F2937"/>
            </a:solidFill>
          </a:ln>
        </p:spPr>
      </p:sp>
      <p:sp>
        <p:nvSpPr>
          <p:cNvPr id="20" name="Line 20"/>
          <p:cNvSpPr/>
          <p:nvPr/>
        </p:nvSpPr>
        <p:spPr>
          <a:xfrm>
            <a:off x="5162550" y="593407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C5C7C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90347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建立新中国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5293995"/>
            <a:ext cx="27234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1949年宣告中华人民共和国成立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3" name="Line 2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C7C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03 / 06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51862" y="6489859"/>
              <a:ext cx="38022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毛泽东是中国共产党、中国人民解放军和中华人民共和国的缔造者之一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193567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思想与著作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毛泽东思想的核心理念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5C7CB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1F293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930"/>
            </a:avLst>
          </a:prstGeom>
          <a:solidFill>
            <a:srgbClr val="EFF0F1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15387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理论创新与文化成就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516630"/>
            <a:ext cx="3623310" cy="12211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毛泽东思想是马克思主义中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国化的第一次历史性飞跃，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其著作影响深远。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923925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5334000" y="267652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5C7C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农村包围城市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192" y="2474595"/>
            <a:ext cx="404009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提出‘农村包围城市，武装夺取政权’的革命道路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62550" y="2905125"/>
            <a:ext cx="6496050" cy="923925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5334000" y="373380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5C7CB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345430" y="314134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新民主主义论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531870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提出新民主主义革命理论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62550" y="3962400"/>
            <a:ext cx="6496050" cy="923925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5334000" y="479107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5C7C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198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群众路线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4589145"/>
            <a:ext cx="232268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‘从群众中来，到群众中去’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162550" y="5019675"/>
            <a:ext cx="6496050" cy="923925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5334000" y="584835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5C7C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45430" y="52558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代表著作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46192" y="5646420"/>
            <a:ext cx="37443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《毛泽东选集》《论持久战》《沁园春·雪》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C7C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04 / 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96108" y="6489859"/>
              <a:ext cx="29137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农村包围城市在《星星之火，可以燎原》中系统阐述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193567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影响与评价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60110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毛泽东对中国现代化和全球左翼运动产生深远影响，其历史评价复杂多元。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5C7CB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1F2937"/>
            </a:solidFill>
          </a:ln>
        </p:spPr>
      </p:sp>
      <p:sp>
        <p:nvSpPr>
          <p:cNvPr id="7" name="Line 7"/>
          <p:cNvSpPr/>
          <p:nvPr/>
        </p:nvSpPr>
        <p:spPr>
          <a:xfrm>
            <a:off x="533400" y="179070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76200">
            <a:solidFill>
              <a:srgbClr val="1F2937"/>
            </a:solidFill>
          </a:ln>
        </p:spPr>
      </p:sp>
      <p:sp>
        <p:nvSpPr>
          <p:cNvPr id="8" name="Line 8"/>
          <p:cNvSpPr/>
          <p:nvPr/>
        </p:nvSpPr>
        <p:spPr>
          <a:xfrm>
            <a:off x="533400" y="596265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9525">
            <a:solidFill>
              <a:srgbClr val="C5C7C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91337" y="2083594"/>
            <a:ext cx="148050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工业化与国防</a:t>
            </a:r>
          </a:p>
        </p:txBody>
      </p:sp>
      <p:sp>
        <p:nvSpPr>
          <p:cNvPr id="10" name="Line 10"/>
          <p:cNvSpPr/>
          <p:nvPr/>
        </p:nvSpPr>
        <p:spPr>
          <a:xfrm>
            <a:off x="723900" y="25717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1F2937"/>
            </a:solidFill>
          </a:ln>
        </p:spPr>
      </p:sp>
      <p:sp>
        <p:nvSpPr>
          <p:cNvPr id="11" name="Line 11"/>
          <p:cNvSpPr/>
          <p:nvPr/>
        </p:nvSpPr>
        <p:spPr>
          <a:xfrm>
            <a:off x="723900" y="4114800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5C7C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06780" y="27889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工业化与国防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7542" y="3179445"/>
            <a:ext cx="28760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推动重工业、两弹一星、三线建设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9638" y="3880009"/>
            <a:ext cx="145332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参与规划两弹一星、三线建设</a:t>
            </a:r>
          </a:p>
        </p:txBody>
      </p:sp>
      <p:sp>
        <p:nvSpPr>
          <p:cNvPr id="15" name="Line 15"/>
          <p:cNvSpPr/>
          <p:nvPr/>
        </p:nvSpPr>
        <p:spPr>
          <a:xfrm>
            <a:off x="723900" y="427672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16" name="Line 16"/>
          <p:cNvSpPr/>
          <p:nvPr/>
        </p:nvSpPr>
        <p:spPr>
          <a:xfrm>
            <a:off x="723900" y="5819775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5C7CB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06780" y="44938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外交突破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7542" y="4884420"/>
            <a:ext cx="28760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恢复联合国席位、中美关系正常化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9638" y="5584984"/>
            <a:ext cx="2230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提出三个世界理论，介入朝鲜战争、越南战争</a:t>
            </a:r>
          </a:p>
        </p:txBody>
      </p:sp>
      <p:sp>
        <p:nvSpPr>
          <p:cNvPr id="20" name="Line 20"/>
          <p:cNvSpPr/>
          <p:nvPr/>
        </p:nvSpPr>
        <p:spPr>
          <a:xfrm>
            <a:off x="6210300" y="179070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76200">
            <a:solidFill>
              <a:srgbClr val="2563EB"/>
            </a:solidFill>
          </a:ln>
        </p:spPr>
      </p:sp>
      <p:sp>
        <p:nvSpPr>
          <p:cNvPr id="21" name="Line 21"/>
          <p:cNvSpPr/>
          <p:nvPr/>
        </p:nvSpPr>
        <p:spPr>
          <a:xfrm>
            <a:off x="6210300" y="596265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9525">
            <a:solidFill>
              <a:srgbClr val="C5C7C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468237" y="2083594"/>
            <a:ext cx="99284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思想传播</a:t>
            </a:r>
          </a:p>
        </p:txBody>
      </p:sp>
      <p:sp>
        <p:nvSpPr>
          <p:cNvPr id="23" name="Line 23"/>
          <p:cNvSpPr/>
          <p:nvPr/>
        </p:nvSpPr>
        <p:spPr>
          <a:xfrm>
            <a:off x="6400800" y="25717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1F2937"/>
            </a:solidFill>
          </a:ln>
        </p:spPr>
      </p:sp>
      <p:sp>
        <p:nvSpPr>
          <p:cNvPr id="24" name="Line 24"/>
          <p:cNvSpPr/>
          <p:nvPr/>
        </p:nvSpPr>
        <p:spPr>
          <a:xfrm>
            <a:off x="6400800" y="4114800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5C7C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583680" y="27889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思想传播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84442" y="3179445"/>
            <a:ext cx="26852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毛泽东思想被毛主义者全球传播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86538" y="3880009"/>
            <a:ext cx="300818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毛泽东的思想和事迹间接促成、影响了全球范围内的六八运动</a:t>
            </a:r>
          </a:p>
        </p:txBody>
      </p:sp>
      <p:sp>
        <p:nvSpPr>
          <p:cNvPr id="28" name="Line 28"/>
          <p:cNvSpPr/>
          <p:nvPr/>
        </p:nvSpPr>
        <p:spPr>
          <a:xfrm>
            <a:off x="6400800" y="427672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29" name="Line 29"/>
          <p:cNvSpPr/>
          <p:nvPr/>
        </p:nvSpPr>
        <p:spPr>
          <a:xfrm>
            <a:off x="6400800" y="5819775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5C7CB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583680" y="449389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争议与反思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84442" y="4884420"/>
            <a:ext cx="28760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大跃进、文革等运动带来严重后果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86538" y="5584984"/>
            <a:ext cx="44964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大跃进、文化大革命等政治运动以及三年大饥荒等灾祸，非正常死亡人数达4000万至8000万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3" name="Line 3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C7C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05 / 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51416" y="6489859"/>
              <a:ext cx="18031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参与规划两弹一星、三线建设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79072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结语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历史地位与永恒价值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5C7CB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1F2937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790700"/>
            <a:ext cx="11125200" cy="1162050"/>
          </a:xfrm>
          <a:prstGeom prst="rect">
            <a:avLst/>
          </a:prstGeom>
          <a:solidFill>
            <a:srgbClr val="EFF0F1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2838450"/>
            <a:ext cx="11125200" cy="1143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963" y="2126456"/>
            <a:ext cx="1032506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毛泽东是中国现代化进程中的关键人物，其贡献与思想值得深入研究与辩证评价。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33400" y="3124200"/>
            <a:ext cx="5457825" cy="3028950"/>
          </a:xfrm>
          <a:prstGeom prst="rect">
            <a:avLst/>
          </a:prstGeom>
          <a:solidFill>
            <a:srgbClr val="EFF0F1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33400" y="6038850"/>
            <a:ext cx="5457825" cy="1143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6280" y="3360420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名言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7042" y="3750945"/>
            <a:ext cx="175021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“中国人民站起来了”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8566" y="5047298"/>
            <a:ext cx="31486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1949年开国大典上这一宣言象征民族独立与新生。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9138" y="5908834"/>
            <a:ext cx="265834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1949年9月21日毛泽东致开幕词《中国人民站起来了》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00775" y="3124200"/>
            <a:ext cx="5457825" cy="3028950"/>
          </a:xfrm>
          <a:prstGeom prst="rect">
            <a:avLst/>
          </a:prstGeom>
          <a:solidFill>
            <a:srgbClr val="EFF0F1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200775" y="6038850"/>
            <a:ext cx="5457825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383655" y="3360420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84417" y="3750945"/>
            <a:ext cx="30668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革命家、理论家、诗人、国家缔造者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85941" y="504729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其一生对中国及全球影响深远，评价褒贬不一但不可忽视。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86512" y="5908834"/>
            <a:ext cx="2230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毛泽东是革命家、理论家、军事战略家与诗人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2" name="Line 22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C7C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06 / 06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48907" y="6489859"/>
              <a:ext cx="3008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1949年9月21日毛泽东致开幕词《中国人民站起来了》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2026-07-10T16:54:17Z</dcterms:created>
  <dcterms:modified xsi:type="dcterms:W3CDTF">2026-07-10T16:54:17Z</dcterms:modified>
  <cp:category/>
  <cp:contentStatus/>
</cp:coreProperties>
</file>