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，今天我想用三个关键词论证北理工为什么是最好的985大学：底色、硬核、价值。第一页，我们看底色。北理工的前身是1940年成立于延安的自然科学院，从诞生之日起就肩负着为党育人、为国铸器的使命。这种红色基因是流淌在血液里的，不是后来贴上的标签。正是这种与生俱来的国家使命，让北理工在服务国防、服务国家战略方面具有独一无二的自觉性和竞争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页，我们用硬核数据说话。第一，北理工连续三年获得国家科学技术一等奖，在全国高校中极为罕见。第二，在国庆阅兵中，北理工参与研制的装备数量居全国高校之首，这是实实在在的战斗力。第三，兵器科学与技术学科全国评估唯一A+，绝对领军。这三组数据共同指向一个结论：在服务国家战略科技力量这一赛道上，北理工是无可替代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页，价值升华。北理工之所以最好，不仅因为它做了什么，更因为它产出了谁。我们有两院院士20多位，国家级教学名师10余位，这是大师阵容。我们有6个国家级重点实验室，参与了诸多国家大科学工程。更关键的是，我们的校友——载人航天工程副总师、多型号装备总师、科技领军人物——他们在国家最需要的岗位上挑大梁。这就是北理工的人才价值闭环：用最好的老师、最好的平台培养出最好的学生，最终服务于国家。因此，我们无愧于‘最好’二字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54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7" name="Line 7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8" name="Line 8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333500" y="571500"/>
            <a:ext cx="9525000" cy="5715000"/>
          </a:xfrm>
          <a:prstGeom prst="ellipse">
            <a:avLst/>
          </a:prstGeom>
          <a:solidFill>
            <a:srgbClr val="2563EB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715000" y="1905000"/>
            <a:ext cx="5715000" cy="3810000"/>
          </a:xfrm>
          <a:prstGeom prst="ellipse">
            <a:avLst/>
          </a:prstGeom>
          <a:solidFill>
            <a:srgbClr val="38BDF8">
              <a:alpha val="6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953625" y="4191000"/>
            <a:ext cx="2000250" cy="1762125"/>
            <a:chOff x="9953625" y="4191000"/>
            <a:chExt cx="2000250" cy="1762125"/>
          </a:xfrm>
        </p:grpSpPr>
        <p:sp>
          <p:nvSpPr>
            <p:cNvPr id="11" name="Freeform 11"/>
            <p:cNvSpPr/>
            <p:nvPr/>
          </p:nvSpPr>
          <p:spPr>
            <a:xfrm>
              <a:off x="10001250" y="4572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0" y="0"/>
                  </a:moveTo>
                  <a:lnTo>
                    <a:pt x="0" y="1143000"/>
                  </a:lnTo>
                  <a:lnTo>
                    <a:pt x="1905000" y="1143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DD7FF">
                <a:alpha val="30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287000" y="4191000"/>
              <a:ext cx="285750" cy="381000"/>
            </a:xfrm>
            <a:prstGeom prst="roundRect">
              <a:avLst>
                <a:gd name="adj" fmla="val 16667"/>
              </a:avLst>
            </a:prstGeom>
            <a:solidFill>
              <a:srgbClr val="BDD7FF">
                <a:alpha val="3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430000" y="4191000"/>
              <a:ext cx="285750" cy="381000"/>
            </a:xfrm>
            <a:prstGeom prst="roundRect">
              <a:avLst>
                <a:gd name="adj" fmla="val 16667"/>
              </a:avLst>
            </a:prstGeom>
            <a:solidFill>
              <a:srgbClr val="BDD7FF">
                <a:alpha val="3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953625" y="5667375"/>
              <a:ext cx="285750" cy="285750"/>
            </a:xfrm>
            <a:prstGeom prst="ellipse">
              <a:avLst/>
            </a:prstGeom>
            <a:solidFill>
              <a:srgbClr val="BDD7FF">
                <a:alpha val="3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668125" y="5667375"/>
              <a:ext cx="285750" cy="285750"/>
            </a:xfrm>
            <a:prstGeom prst="ellipse">
              <a:avLst/>
            </a:prstGeom>
            <a:solidFill>
              <a:srgbClr val="BDD7FF">
                <a:alpha val="30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858500" y="4191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BDD7FF">
                <a:alpha val="300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14375" y="714375"/>
            <a:ext cx="428625" cy="428625"/>
            <a:chOff x="714375" y="714375"/>
            <a:chExt cx="428625" cy="428625"/>
          </a:xfrm>
        </p:grpSpPr>
        <p:sp>
          <p:nvSpPr>
            <p:cNvPr id="18" name="Ellipse 18"/>
            <p:cNvSpPr/>
            <p:nvPr/>
          </p:nvSpPr>
          <p:spPr>
            <a:xfrm>
              <a:off x="714375" y="71437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762000" y="762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762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1049000" y="714375"/>
            <a:ext cx="428625" cy="428625"/>
            <a:chOff x="11049000" y="714375"/>
            <a:chExt cx="428625" cy="428625"/>
          </a:xfrm>
        </p:grpSpPr>
        <p:sp>
          <p:nvSpPr>
            <p:cNvPr id="22" name="Ellipse 22"/>
            <p:cNvSpPr/>
            <p:nvPr/>
          </p:nvSpPr>
          <p:spPr>
            <a:xfrm>
              <a:off x="11382375" y="71437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11049000" y="762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1430000" y="762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740581" y="612458"/>
            <a:ext cx="6710839" cy="891921"/>
            <a:chOff x="2740581" y="612458"/>
            <a:chExt cx="6710839" cy="891921"/>
          </a:xfrm>
        </p:grpSpPr>
        <p:sp>
          <p:nvSpPr>
            <p:cNvPr id="26" name="TextBox 26"/>
            <p:cNvSpPr txBox="1"/>
            <p:nvPr/>
          </p:nvSpPr>
          <p:spPr>
            <a:xfrm>
              <a:off x="2740581" y="6124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最好的证明：硬核实力，国家担当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85043" y="1122998"/>
              <a:ext cx="66219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连续三年国家科技一等奖 · 阅兵装备参与度全国高校第一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2500" y="2000250"/>
            <a:ext cx="3048000" cy="3143250"/>
            <a:chOff x="952500" y="2000250"/>
            <a:chExt cx="3048000" cy="3143250"/>
          </a:xfrm>
        </p:grpSpPr>
        <p:sp>
          <p:nvSpPr>
            <p:cNvPr id="29" name="Rectangle 29"/>
            <p:cNvSpPr/>
            <p:nvPr/>
          </p:nvSpPr>
          <p:spPr>
            <a:xfrm>
              <a:off x="952500" y="2095500"/>
              <a:ext cx="3048000" cy="3048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FFFFFF"/>
                </a:gs>
                <a:gs pos="100000">
                  <a:srgbClr val="EEF4FF"/>
                </a:gs>
              </a:gsLst>
              <a:lin ang="5400000" scaled="1"/>
            </a:gradFill>
            <a:ln w="19050">
              <a:solidFill>
                <a:srgbClr val="BDD7FF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2190750" y="2000250"/>
              <a:ext cx="571500" cy="857250"/>
              <a:chOff x="2190750" y="2000250"/>
              <a:chExt cx="571500" cy="8572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190750" y="2190750"/>
                <a:ext cx="571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76250">
                    <a:moveTo>
                      <a:pt x="95250" y="476250"/>
                    </a:moveTo>
                    <a:cubicBezTo>
                      <a:pt x="0" y="190500"/>
                      <a:pt x="95250" y="0"/>
                      <a:pt x="285750" y="0"/>
                    </a:cubicBezTo>
                    <a:cubicBezTo>
                      <a:pt x="476250" y="0"/>
                      <a:pt x="571500" y="190500"/>
                      <a:pt x="476250" y="47625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238375" y="266700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333625" y="26670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0"/>
                    </a:moveTo>
                    <a:lnTo>
                      <a:pt x="47625" y="190500"/>
                    </a:lnTo>
                    <a:lnTo>
                      <a:pt x="238125" y="1905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2476500" y="20955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2428875" y="2000250"/>
                <a:ext cx="95250" cy="95250"/>
              </a:xfrm>
              <a:prstGeom prst="ellipse">
                <a:avLst/>
              </a:pr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312507" y="299180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连续三年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76375" y="3488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国家科技一等奖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56458" y="47120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国防科技领域 · 全国罕见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572000" y="2095500"/>
            <a:ext cx="3048000" cy="3048000"/>
            <a:chOff x="4572000" y="2095500"/>
            <a:chExt cx="3048000" cy="3048000"/>
          </a:xfrm>
        </p:grpSpPr>
        <p:sp>
          <p:nvSpPr>
            <p:cNvPr id="40" name="Rectangle 40"/>
            <p:cNvSpPr/>
            <p:nvPr/>
          </p:nvSpPr>
          <p:spPr>
            <a:xfrm>
              <a:off x="4572000" y="2095500"/>
              <a:ext cx="3048000" cy="3048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FFFFFF"/>
                </a:gs>
                <a:gs pos="100000">
                  <a:srgbClr val="EEF4FF"/>
                </a:gs>
              </a:gsLst>
              <a:lin ang="5400000" scaled="1"/>
            </a:gradFill>
            <a:ln w="19050">
              <a:solidFill>
                <a:srgbClr val="BDD7FF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857875" y="2428875"/>
              <a:ext cx="476250" cy="476250"/>
              <a:chOff x="5857875" y="2428875"/>
              <a:chExt cx="476250" cy="47625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5857875" y="2428875"/>
                <a:ext cx="476250" cy="476250"/>
              </a:xfrm>
              <a:prstGeom prst="ellipse">
                <a:avLst/>
              </a:pr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5953125" y="2524125"/>
                <a:ext cx="285750" cy="285750"/>
              </a:xfrm>
              <a:prstGeom prst="ellipse">
                <a:avLst/>
              </a:pr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048375" y="2619375"/>
                <a:ext cx="95250" cy="95250"/>
              </a:xfrm>
              <a:prstGeom prst="ellipse">
                <a:avLst/>
              </a:prstGeom>
              <a:solidFill>
                <a:srgbClr val="38BDF8"/>
              </a:solidFill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932007" y="299180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全国第一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95875" y="3488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阅兵装备参与度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57695" y="4712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国庆阅兵 · 高校之首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2095500"/>
            <a:ext cx="3048000" cy="3048000"/>
            <a:chOff x="8191500" y="2095500"/>
            <a:chExt cx="3048000" cy="3048000"/>
          </a:xfrm>
        </p:grpSpPr>
        <p:sp>
          <p:nvSpPr>
            <p:cNvPr id="49" name="Rectangle 49"/>
            <p:cNvSpPr/>
            <p:nvPr/>
          </p:nvSpPr>
          <p:spPr>
            <a:xfrm>
              <a:off x="8191500" y="2095500"/>
              <a:ext cx="3048000" cy="3048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FFFFFF"/>
                </a:gs>
                <a:gs pos="100000">
                  <a:srgbClr val="EEF4FF"/>
                </a:gs>
              </a:gsLst>
              <a:lin ang="5400000" scaled="1"/>
            </a:gradFill>
            <a:ln w="19050">
              <a:solidFill>
                <a:srgbClr val="BDD7FF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9525000" y="2619375"/>
              <a:ext cx="419100" cy="428625"/>
              <a:chOff x="9525000" y="2619375"/>
              <a:chExt cx="419100" cy="428625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525000" y="2762250"/>
                <a:ext cx="114300" cy="285750"/>
              </a:xfrm>
              <a:prstGeom prst="rect">
                <a:avLst/>
              </a:prstGeom>
              <a:noFill/>
              <a:ln w="19050">
                <a:solidFill>
                  <a:srgbClr val="7C3AED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677400" y="2619375"/>
                <a:ext cx="114300" cy="428625"/>
              </a:xfrm>
              <a:prstGeom prst="rect">
                <a:avLst/>
              </a:prstGeom>
              <a:noFill/>
              <a:ln w="19050">
                <a:solidFill>
                  <a:srgbClr val="7C3AED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829800" y="2857500"/>
                <a:ext cx="114300" cy="190500"/>
              </a:xfrm>
              <a:prstGeom prst="rect">
                <a:avLst/>
              </a:prstGeom>
              <a:noFill/>
              <a:ln w="19050">
                <a:solidFill>
                  <a:srgbClr val="7C3AED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758893" y="2991802"/>
              <a:ext cx="191321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唯一A+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15375" y="3488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兵器科学与技术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77195" y="4712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全国顶尖 · 绝对领军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866900" y="6057900"/>
            <a:ext cx="8458200" cy="76200"/>
            <a:chOff x="1866900" y="6057900"/>
            <a:chExt cx="8458200" cy="76200"/>
          </a:xfrm>
        </p:grpSpPr>
        <p:sp>
          <p:nvSpPr>
            <p:cNvPr id="58" name="Line 58"/>
            <p:cNvSpPr/>
            <p:nvPr/>
          </p:nvSpPr>
          <p:spPr>
            <a:xfrm>
              <a:off x="1905000" y="60960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866900" y="60579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0248900" y="60579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3949198" y="6363652"/>
            <a:ext cx="42936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数据来源：国家科学技术奖励办公室 · 国庆阅兵装备统计 · 学科评估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504825" y="571500"/>
            <a:ext cx="11687175" cy="3248025"/>
            <a:chOff x="504825" y="571500"/>
            <a:chExt cx="11687175" cy="3248025"/>
          </a:xfrm>
        </p:grpSpPr>
        <p:sp>
          <p:nvSpPr>
            <p:cNvPr id="3" name="Polygon 3"/>
            <p:cNvSpPr/>
            <p:nvPr/>
          </p:nvSpPr>
          <p:spPr>
            <a:xfrm>
              <a:off x="10477500" y="571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500" y="0"/>
                  </a:moveTo>
                  <a:lnTo>
                    <a:pt x="1143000" y="285750"/>
                  </a:lnTo>
                  <a:lnTo>
                    <a:pt x="1143000" y="857250"/>
                  </a:lnTo>
                  <a:lnTo>
                    <a:pt x="571500" y="1143000"/>
                  </a:lnTo>
                  <a:lnTo>
                    <a:pt x="0" y="8572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4" name="Polygon 4"/>
            <p:cNvSpPr/>
            <p:nvPr/>
          </p:nvSpPr>
          <p:spPr>
            <a:xfrm>
              <a:off x="11049000" y="85725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500" y="0"/>
                  </a:moveTo>
                  <a:lnTo>
                    <a:pt x="1143000" y="285750"/>
                  </a:lnTo>
                  <a:lnTo>
                    <a:pt x="1143000" y="857250"/>
                  </a:lnTo>
                  <a:lnTo>
                    <a:pt x="571500" y="1143000"/>
                  </a:lnTo>
                  <a:lnTo>
                    <a:pt x="0" y="8572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5" name="Polygon 5"/>
            <p:cNvSpPr/>
            <p:nvPr/>
          </p:nvSpPr>
          <p:spPr>
            <a:xfrm>
              <a:off x="9906000" y="85725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500" y="0"/>
                  </a:moveTo>
                  <a:lnTo>
                    <a:pt x="1143000" y="285750"/>
                  </a:lnTo>
                  <a:lnTo>
                    <a:pt x="1143000" y="857250"/>
                  </a:lnTo>
                  <a:lnTo>
                    <a:pt x="571500" y="1143000"/>
                  </a:lnTo>
                  <a:lnTo>
                    <a:pt x="0" y="8572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33400" y="26670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57650" y="26670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581900" y="26670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505200" y="38100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029450" y="38100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0482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47662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02907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00087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55332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525125" y="2638425"/>
              <a:ext cx="57150" cy="5715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001250" y="4857750"/>
            <a:ext cx="2095500" cy="1924447"/>
            <a:chOff x="10001250" y="4857750"/>
            <a:chExt cx="2095500" cy="1924447"/>
          </a:xfrm>
        </p:grpSpPr>
        <p:sp>
          <p:nvSpPr>
            <p:cNvPr id="18" name="Rectangle 18"/>
            <p:cNvSpPr/>
            <p:nvPr/>
          </p:nvSpPr>
          <p:spPr>
            <a:xfrm>
              <a:off x="10858500" y="4953000"/>
              <a:ext cx="762000" cy="190500"/>
            </a:xfrm>
            <a:prstGeom prst="rect">
              <a:avLst/>
            </a:prstGeom>
            <a:solidFill>
              <a:srgbClr val="EEF4FF">
                <a:alpha val="60000"/>
              </a:srgbClr>
            </a:solidFill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1239500" y="4857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EEF4FF">
                <a:alpha val="60000"/>
              </a:srgbClr>
            </a:solidFill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87000" y="5334000"/>
              <a:ext cx="952500" cy="190500"/>
            </a:xfrm>
            <a:prstGeom prst="rect">
              <a:avLst/>
            </a:prstGeom>
            <a:solidFill>
              <a:srgbClr val="EEF4FF">
                <a:alpha val="60000"/>
              </a:srgbClr>
            </a:solidFill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0763250" y="5238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EEF4FF">
                <a:alpha val="60000"/>
              </a:srgbClr>
            </a:solidFill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001250" y="6096000"/>
              <a:ext cx="2095500" cy="686197"/>
            </a:xfrm>
            <a:custGeom>
              <a:avLst/>
              <a:gdLst/>
              <a:ahLst/>
              <a:cxnLst/>
              <a:rect l="l" t="t" r="r" b="b"/>
              <a:pathLst>
                <a:path w="2095500" h="686197">
                  <a:moveTo>
                    <a:pt x="0" y="0"/>
                  </a:moveTo>
                  <a:cubicBezTo>
                    <a:pt x="181698" y="416753"/>
                    <a:pt x="593111" y="686197"/>
                    <a:pt x="1047750" y="686197"/>
                  </a:cubicBezTo>
                  <a:cubicBezTo>
                    <a:pt x="1502389" y="686197"/>
                    <a:pt x="1913802" y="416753"/>
                    <a:pt x="2095500" y="0"/>
                  </a:cubicBezTo>
                </a:path>
              </a:pathLst>
            </a:custGeom>
            <a:noFill/>
            <a:ln w="28575">
              <a:solidFill>
                <a:srgbClr val="BDD7FF">
                  <a:alpha val="60000"/>
                </a:srgbClr>
              </a:solidFill>
              <a:custDash>
                <a:ds d="266666" sp="200000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10001250" y="6286500"/>
              <a:ext cx="1524000" cy="464524"/>
            </a:xfrm>
            <a:custGeom>
              <a:avLst/>
              <a:gdLst/>
              <a:ahLst/>
              <a:cxnLst/>
              <a:rect l="l" t="t" r="r" b="b"/>
              <a:pathLst>
                <a:path w="1524000" h="464524">
                  <a:moveTo>
                    <a:pt x="0" y="0"/>
                  </a:moveTo>
                  <a:cubicBezTo>
                    <a:pt x="147024" y="285269"/>
                    <a:pt x="441073" y="464524"/>
                    <a:pt x="762000" y="464524"/>
                  </a:cubicBezTo>
                  <a:cubicBezTo>
                    <a:pt x="1082927" y="464524"/>
                    <a:pt x="1376976" y="285269"/>
                    <a:pt x="1524000" y="0"/>
                  </a:cubicBezTo>
                </a:path>
              </a:pathLst>
            </a:custGeom>
            <a:noFill/>
            <a:ln w="14288">
              <a:solidFill>
                <a:srgbClr val="BDD7FF">
                  <a:alpha val="60000"/>
                </a:srgbClr>
              </a:solidFill>
              <a:prstDash val="dash"/>
            </a:ln>
          </p:spPr>
        </p:sp>
      </p:grpSp>
      <p:sp>
        <p:nvSpPr>
          <p:cNvPr id="25" name="Rectangle 25"/>
          <p:cNvSpPr/>
          <p:nvPr/>
        </p:nvSpPr>
        <p:spPr>
          <a:xfrm>
            <a:off x="0" y="0"/>
            <a:ext cx="12192000" cy="123825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0" y="12382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2563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17398" y="155258"/>
            <a:ext cx="671083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最好的证明：硬核实力，国家担当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970" y="709612"/>
            <a:ext cx="764066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连续三年国家科技一等奖 · 阅兵装备参与度全国高校第一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33400" y="1524000"/>
            <a:ext cx="2990850" cy="4591050"/>
            <a:chOff x="533400" y="1524000"/>
            <a:chExt cx="2990850" cy="4591050"/>
          </a:xfrm>
        </p:grpSpPr>
        <p:sp>
          <p:nvSpPr>
            <p:cNvPr id="29" name="Rectangle 29"/>
            <p:cNvSpPr/>
            <p:nvPr/>
          </p:nvSpPr>
          <p:spPr>
            <a:xfrm>
              <a:off x="552450" y="154305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33400" y="16002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162050" y="1666875"/>
              <a:ext cx="762000" cy="619125"/>
              <a:chOff x="1162050" y="1666875"/>
              <a:chExt cx="762000" cy="6191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352550" y="180975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0"/>
                    </a:moveTo>
                    <a:lnTo>
                      <a:pt x="0" y="190500"/>
                    </a:lnTo>
                    <a:cubicBezTo>
                      <a:pt x="0" y="295710"/>
                      <a:pt x="85290" y="381000"/>
                      <a:pt x="190500" y="381000"/>
                    </a:cubicBezTo>
                    <a:cubicBezTo>
                      <a:pt x="295710" y="381000"/>
                      <a:pt x="381000" y="295710"/>
                      <a:pt x="381000" y="190500"/>
                    </a:cubicBezTo>
                    <a:lnTo>
                      <a:pt x="3810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2563EB"/>
                </a:solidFill>
                <a:round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62050" y="166687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190500" y="142875"/>
                    </a:moveTo>
                    <a:lnTo>
                      <a:pt x="95250" y="142875"/>
                    </a:lnTo>
                    <a:cubicBezTo>
                      <a:pt x="42645" y="142875"/>
                      <a:pt x="0" y="100230"/>
                      <a:pt x="0" y="47625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2563EB"/>
                </a:solidFill>
                <a:round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733550" y="166687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142875"/>
                    </a:moveTo>
                    <a:lnTo>
                      <a:pt x="95250" y="142875"/>
                    </a:lnTo>
                    <a:cubicBezTo>
                      <a:pt x="147855" y="142875"/>
                      <a:pt x="190500" y="100230"/>
                      <a:pt x="190500" y="476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 cap="rnd">
                <a:solidFill>
                  <a:srgbClr val="2563EB"/>
                </a:solidFill>
                <a:round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47800" y="20955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42875" y="190500"/>
                    </a:lnTo>
                    <a:lnTo>
                      <a:pt x="47625" y="1905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2563EB"/>
                </a:solidFill>
                <a:round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42289" y="2661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连续三年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9817" y="304228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国家科技一等奖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997" y="36156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国防科技领域最高荣誉</a:t>
              </a:r>
            </a:p>
          </p:txBody>
        </p:sp>
        <p:sp>
          <p:nvSpPr>
            <p:cNvPr id="40" name="Polyline 40"/>
            <p:cNvSpPr/>
            <p:nvPr/>
          </p:nvSpPr>
          <p:spPr>
            <a:xfrm>
              <a:off x="914400" y="390525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571500" y="190500"/>
                  </a:lnTo>
                  <a:lnTo>
                    <a:pt x="952500" y="285750"/>
                  </a:lnTo>
                  <a:lnTo>
                    <a:pt x="1524000" y="0"/>
                  </a:lnTo>
                  <a:lnTo>
                    <a:pt x="1905000" y="95250"/>
                  </a:lnTo>
                </a:path>
              </a:pathLst>
            </a:custGeom>
            <a:noFill/>
            <a:ln w="28575">
              <a:solidFill>
                <a:srgbClr val="38BDF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2781300" y="39624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08256" y="46167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连续三年获一等奖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08256" y="49025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全国高校极为罕见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08256" y="51882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服务国家战略需求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057650" y="1524000"/>
            <a:ext cx="2990850" cy="4591050"/>
            <a:chOff x="4057650" y="1524000"/>
            <a:chExt cx="2990850" cy="4591050"/>
          </a:xfrm>
        </p:grpSpPr>
        <p:sp>
          <p:nvSpPr>
            <p:cNvPr id="46" name="Rectangle 46"/>
            <p:cNvSpPr/>
            <p:nvPr/>
          </p:nvSpPr>
          <p:spPr>
            <a:xfrm>
              <a:off x="4076700" y="154305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57650" y="152400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57650" y="16002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972050" y="1619250"/>
              <a:ext cx="1143000" cy="1143000"/>
              <a:chOff x="4972050" y="1619250"/>
              <a:chExt cx="1143000" cy="11430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5314950" y="1962150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5429250" y="20764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5505450" y="215265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5543550" y="16192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190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5543550" y="25717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4972050" y="2190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1905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5924550" y="2190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575715" y="2661285"/>
              <a:ext cx="19356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装备参与度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84891" y="30422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全国高校第一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6679" y="3615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国庆阅兵主力方阵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819650" y="4191000"/>
              <a:ext cx="285750" cy="381000"/>
            </a:xfrm>
            <a:prstGeom prst="rect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200650" y="4000500"/>
              <a:ext cx="285750" cy="571500"/>
            </a:xfrm>
            <a:prstGeom prst="rect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81650" y="3714750"/>
              <a:ext cx="285750" cy="857250"/>
            </a:xfrm>
            <a:prstGeom prst="rect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62650" y="4095750"/>
              <a:ext cx="285750" cy="476250"/>
            </a:xfrm>
            <a:prstGeom prst="rect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32506" y="46167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参与装备数量之最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732506" y="49025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覆盖陆空天电全域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23374" y="5188268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实战化教学成果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581900" y="1524000"/>
            <a:ext cx="2990850" cy="4591050"/>
            <a:chOff x="7581900" y="1524000"/>
            <a:chExt cx="2990850" cy="4591050"/>
          </a:xfrm>
        </p:grpSpPr>
        <p:sp>
          <p:nvSpPr>
            <p:cNvPr id="68" name="Rectangle 68"/>
            <p:cNvSpPr/>
            <p:nvPr/>
          </p:nvSpPr>
          <p:spPr>
            <a:xfrm>
              <a:off x="7600950" y="154305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81900" y="1524000"/>
              <a:ext cx="2971800" cy="45720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7581900" y="16002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686800" y="1905000"/>
              <a:ext cx="762000" cy="1047750"/>
              <a:chOff x="8686800" y="1905000"/>
              <a:chExt cx="762000" cy="1047750"/>
            </a:xfrm>
          </p:grpSpPr>
          <p:sp>
            <p:nvSpPr>
              <p:cNvPr id="71" name="Polygon 71"/>
              <p:cNvSpPr/>
              <p:nvPr/>
            </p:nvSpPr>
            <p:spPr>
              <a:xfrm>
                <a:off x="8686800" y="1905000"/>
                <a:ext cx="7620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1047750">
                    <a:moveTo>
                      <a:pt x="381000" y="0"/>
                    </a:moveTo>
                    <a:lnTo>
                      <a:pt x="762000" y="285750"/>
                    </a:lnTo>
                    <a:lnTo>
                      <a:pt x="762000" y="762000"/>
                    </a:lnTo>
                    <a:lnTo>
                      <a:pt x="381000" y="1047750"/>
                    </a:lnTo>
                    <a:lnTo>
                      <a:pt x="0" y="76200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884630" y="2326005"/>
                <a:ext cx="36633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38BDF8"/>
                    </a:solidFill>
                    <a:latin typeface="Arial"/>
                    <a:ea typeface="Arial"/>
                    <a:cs typeface="Arial"/>
                  </a:rPr>
                  <a:t>A+</a:t>
                </a:r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8099965" y="2661285"/>
              <a:ext cx="19356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兵器科学与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025795" y="3042285"/>
              <a:ext cx="20840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技术唯一A+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13713" y="36156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绝对领先的龙头学科</a:t>
              </a:r>
            </a:p>
          </p:txBody>
        </p:sp>
        <p:sp>
          <p:nvSpPr>
            <p:cNvPr id="77" name="Polyline 77"/>
            <p:cNvSpPr/>
            <p:nvPr/>
          </p:nvSpPr>
          <p:spPr>
            <a:xfrm>
              <a:off x="7962900" y="371475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571500"/>
                  </a:moveTo>
                  <a:lnTo>
                    <a:pt x="571500" y="285750"/>
                  </a:lnTo>
                  <a:lnTo>
                    <a:pt x="952500" y="381000"/>
                  </a:lnTo>
                  <a:lnTo>
                    <a:pt x="1524000" y="190500"/>
                  </a:ln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rgbClr val="38BDF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9829800" y="367665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97647" y="46167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评估唯一A+等级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56756" y="49025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国防科技核心领域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56756" y="51882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▸ 培养大批领军人才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3758374" y="6506528"/>
            <a:ext cx="46752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数据来源：中华人民共和国科学技术部、教育部学位与研究生教育发展中心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</p:grpSp>
      <p:sp>
        <p:nvSpPr>
          <p:cNvPr id="14" name="Ellipse 14"/>
          <p:cNvSpPr/>
          <p:nvPr/>
        </p:nvSpPr>
        <p:spPr>
          <a:xfrm>
            <a:off x="1495425" y="2257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019425" y="1114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543425" y="4543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591425" y="2257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0639425" y="4543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115425" y="1114425"/>
            <a:ext cx="57150" cy="57150"/>
          </a:xfrm>
          <a:prstGeom prst="ellipse">
            <a:avLst/>
          </a:prstGeom>
          <a:solidFill>
            <a:srgbClr val="BDD7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943520" y="326708"/>
            <a:ext cx="630495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最好的价值：领军人，国之器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23220" y="854392"/>
            <a:ext cx="33455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spc="1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大师 · 大平台 · 大校友 —— 价值闭环</a:t>
            </a:r>
          </a:p>
        </p:txBody>
      </p:sp>
      <p:sp>
        <p:nvSpPr>
          <p:cNvPr id="22" name="Ellipse 22"/>
          <p:cNvSpPr/>
          <p:nvPr/>
        </p:nvSpPr>
        <p:spPr>
          <a:xfrm>
            <a:off x="4572000" y="2095500"/>
            <a:ext cx="3048000" cy="3048000"/>
          </a:xfrm>
          <a:prstGeom prst="ellipse">
            <a:avLst/>
          </a:prstGeom>
          <a:noFill/>
          <a:ln w="14288">
            <a:solidFill>
              <a:srgbClr val="BDD7FF"/>
            </a:solidFill>
            <a:custDash>
              <a:ds d="533333" sp="533333"/>
            </a:custDash>
          </a:ln>
        </p:spPr>
      </p:sp>
      <p:sp>
        <p:nvSpPr>
          <p:cNvPr id="23" name="Ellipse 23"/>
          <p:cNvSpPr/>
          <p:nvPr/>
        </p:nvSpPr>
        <p:spPr>
          <a:xfrm>
            <a:off x="4953000" y="2476500"/>
            <a:ext cx="2286000" cy="2286000"/>
          </a:xfrm>
          <a:prstGeom prst="ellipse">
            <a:avLst/>
          </a:prstGeom>
          <a:noFill/>
          <a:ln w="19050">
            <a:solidFill>
              <a:srgbClr val="38BDF8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5429250" y="2952750"/>
            <a:ext cx="1333500" cy="13335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5467350" y="2990850"/>
            <a:ext cx="1257300" cy="1257300"/>
          </a:xfrm>
          <a:prstGeom prst="ellipse">
            <a:avLst/>
          </a:prstGeom>
          <a:noFill/>
          <a:ln w="28575">
            <a:solidFill>
              <a:srgbClr val="38BDF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822328" y="3348990"/>
            <a:ext cx="5473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spc="1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价值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22328" y="3596640"/>
            <a:ext cx="5473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spc="1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闭环</a:t>
            </a:r>
          </a:p>
        </p:txBody>
      </p:sp>
      <p:sp>
        <p:nvSpPr>
          <p:cNvPr id="28" name="Line 28"/>
          <p:cNvSpPr/>
          <p:nvPr/>
        </p:nvSpPr>
        <p:spPr>
          <a:xfrm>
            <a:off x="3810000" y="2333625"/>
            <a:ext cx="1809750" cy="1095375"/>
          </a:xfrm>
          <a:custGeom>
            <a:avLst/>
            <a:gdLst/>
            <a:ahLst/>
            <a:cxnLst/>
            <a:rect l="l" t="t" r="r" b="b"/>
            <a:pathLst>
              <a:path w="1809750" h="1095375">
                <a:moveTo>
                  <a:pt x="0" y="0"/>
                </a:moveTo>
                <a:lnTo>
                  <a:pt x="1809750" y="1095375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486400" y="3352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3810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6572250" y="2333625"/>
            <a:ext cx="1809750" cy="1095375"/>
          </a:xfrm>
          <a:custGeom>
            <a:avLst/>
            <a:gdLst/>
            <a:ahLst/>
            <a:cxnLst/>
            <a:rect l="l" t="t" r="r" b="b"/>
            <a:pathLst>
              <a:path w="1809750" h="1095375">
                <a:moveTo>
                  <a:pt x="1809750" y="0"/>
                </a:moveTo>
                <a:lnTo>
                  <a:pt x="0" y="1095375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6572250" y="3352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lnTo>
                  <a:pt x="133350" y="0"/>
                </a:lnTo>
                <a:lnTo>
                  <a:pt x="95250" y="152400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6096000" y="4191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6019800" y="41910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76200" y="0"/>
                </a:moveTo>
                <a:lnTo>
                  <a:pt x="0" y="133350"/>
                </a:lnTo>
                <a:lnTo>
                  <a:pt x="152400" y="133350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4533900" y="2819400"/>
            <a:ext cx="76200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5210175" y="320992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581900" y="2819400"/>
            <a:ext cx="76200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6924675" y="320992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057900" y="4438650"/>
            <a:ext cx="76200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762000" y="1619250"/>
            <a:ext cx="3076575" cy="1457325"/>
            <a:chOff x="762000" y="1619250"/>
            <a:chExt cx="3076575" cy="1457325"/>
          </a:xfrm>
        </p:grpSpPr>
        <p:sp>
          <p:nvSpPr>
            <p:cNvPr id="39" name="Rectangle 39"/>
            <p:cNvSpPr/>
            <p:nvPr/>
          </p:nvSpPr>
          <p:spPr>
            <a:xfrm>
              <a:off x="790575" y="1647825"/>
              <a:ext cx="3048000" cy="1428750"/>
            </a:xfrm>
            <a:prstGeom prst="roundRect">
              <a:avLst>
                <a:gd name="adj" fmla="val 5333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2000" y="1619250"/>
              <a:ext cx="3048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2000" y="1619250"/>
              <a:ext cx="2286000" cy="95250"/>
            </a:xfrm>
            <a:custGeom>
              <a:avLst/>
              <a:gdLst/>
              <a:ahLst/>
              <a:cxnLst/>
              <a:rect l="l" t="t" r="r" b="b"/>
              <a:pathLst>
                <a:path w="2286000" h="95250">
                  <a:moveTo>
                    <a:pt x="0" y="76200"/>
                  </a:moveTo>
                  <a:cubicBezTo>
                    <a:pt x="0" y="25400"/>
                    <a:pt x="25400" y="0"/>
                    <a:pt x="76200" y="0"/>
                  </a:cubicBezTo>
                  <a:lnTo>
                    <a:pt x="2209800" y="0"/>
                  </a:lnTo>
                  <a:cubicBezTo>
                    <a:pt x="2260600" y="0"/>
                    <a:pt x="2286000" y="25400"/>
                    <a:pt x="2286000" y="76200"/>
                  </a:cubicBezTo>
                  <a:lnTo>
                    <a:pt x="22860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85850" y="1847850"/>
              <a:ext cx="304800" cy="3048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90625" y="1952625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 rot="-1800000">
              <a:off x="1123950" y="1962150"/>
              <a:ext cx="228600" cy="76200"/>
            </a:xfrm>
            <a:prstGeom prst="ellipse">
              <a:avLst/>
            </a:prstGeom>
            <a:noFill/>
            <a:ln w="19050">
              <a:solidFill>
                <a:srgbClr val="2563EB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 rot="1800000">
              <a:off x="1123950" y="1962150"/>
              <a:ext cx="228600" cy="76200"/>
            </a:xfrm>
            <a:prstGeom prst="ellipse">
              <a:avLst/>
            </a:prstGeom>
            <a:noFill/>
            <a:ln w="19050">
              <a:solidFill>
                <a:srgbClr val="2563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09344" y="17897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大师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10868" y="2155508"/>
              <a:ext cx="14044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两院院士 20+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12392" y="2473642"/>
              <a:ext cx="1640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国家级教学名师 10+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382000" y="1619250"/>
            <a:ext cx="3092970" cy="1457325"/>
            <a:chOff x="8382000" y="1619250"/>
            <a:chExt cx="3092970" cy="1457325"/>
          </a:xfrm>
        </p:grpSpPr>
        <p:sp>
          <p:nvSpPr>
            <p:cNvPr id="50" name="Rectangle 50"/>
            <p:cNvSpPr/>
            <p:nvPr/>
          </p:nvSpPr>
          <p:spPr>
            <a:xfrm>
              <a:off x="8410575" y="1647825"/>
              <a:ext cx="3048000" cy="1428750"/>
            </a:xfrm>
            <a:prstGeom prst="roundRect">
              <a:avLst>
                <a:gd name="adj" fmla="val 5333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82000" y="1619250"/>
              <a:ext cx="3048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382000" y="1619250"/>
              <a:ext cx="2286000" cy="95250"/>
            </a:xfrm>
            <a:custGeom>
              <a:avLst/>
              <a:gdLst/>
              <a:ahLst/>
              <a:cxnLst/>
              <a:rect l="l" t="t" r="r" b="b"/>
              <a:pathLst>
                <a:path w="2286000" h="95250">
                  <a:moveTo>
                    <a:pt x="0" y="76200"/>
                  </a:moveTo>
                  <a:cubicBezTo>
                    <a:pt x="0" y="25400"/>
                    <a:pt x="25400" y="0"/>
                    <a:pt x="76200" y="0"/>
                  </a:cubicBezTo>
                  <a:lnTo>
                    <a:pt x="2209800" y="0"/>
                  </a:lnTo>
                  <a:cubicBezTo>
                    <a:pt x="2260600" y="0"/>
                    <a:pt x="2286000" y="25400"/>
                    <a:pt x="2286000" y="76200"/>
                  </a:cubicBezTo>
                  <a:lnTo>
                    <a:pt x="22860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763000" y="1885950"/>
              <a:ext cx="152400" cy="1143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7C3AED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763000" y="2019300"/>
              <a:ext cx="152400" cy="1143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7C3AED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763000" y="2152650"/>
              <a:ext cx="152400" cy="114300"/>
            </a:xfrm>
            <a:prstGeom prst="roundRect">
              <a:avLst>
                <a:gd name="adj" fmla="val 16667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8801100" y="19431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7C3AED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801100" y="20764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7C3AED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29344" y="17897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大平台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30868" y="2155508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6个国家级重点实验室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32392" y="2473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参与大科学装置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714750" y="4667250"/>
            <a:ext cx="4791075" cy="1457325"/>
            <a:chOff x="3714750" y="4667250"/>
            <a:chExt cx="4791075" cy="1457325"/>
          </a:xfrm>
        </p:grpSpPr>
        <p:sp>
          <p:nvSpPr>
            <p:cNvPr id="62" name="Rectangle 62"/>
            <p:cNvSpPr/>
            <p:nvPr/>
          </p:nvSpPr>
          <p:spPr>
            <a:xfrm>
              <a:off x="3743325" y="4695825"/>
              <a:ext cx="4762500" cy="1428750"/>
            </a:xfrm>
            <a:prstGeom prst="roundRect">
              <a:avLst>
                <a:gd name="adj" fmla="val 5333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14750" y="4667250"/>
              <a:ext cx="47625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BDD7FF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3714750" y="4667250"/>
              <a:ext cx="2857500" cy="95250"/>
            </a:xfrm>
            <a:custGeom>
              <a:avLst/>
              <a:gdLst/>
              <a:ahLst/>
              <a:cxnLst/>
              <a:rect l="l" t="t" r="r" b="b"/>
              <a:pathLst>
                <a:path w="2857500" h="95250">
                  <a:moveTo>
                    <a:pt x="0" y="76200"/>
                  </a:moveTo>
                  <a:cubicBezTo>
                    <a:pt x="0" y="25400"/>
                    <a:pt x="25400" y="0"/>
                    <a:pt x="76200" y="0"/>
                  </a:cubicBezTo>
                  <a:lnTo>
                    <a:pt x="2781300" y="0"/>
                  </a:lnTo>
                  <a:cubicBezTo>
                    <a:pt x="2832100" y="0"/>
                    <a:pt x="2857500" y="25400"/>
                    <a:pt x="2857500" y="76200"/>
                  </a:cubicBezTo>
                  <a:lnTo>
                    <a:pt x="28575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4038600" y="4943475"/>
              <a:ext cx="304800" cy="3048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4095750" y="5000625"/>
              <a:ext cx="190500" cy="190500"/>
            </a:xfrm>
            <a:prstGeom prst="ellipse">
              <a:avLst/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4152900" y="5057775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4076700" y="50958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4191000" y="49815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62094" y="48377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大校友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563618" y="52035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载人航天工程副总师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65142" y="55216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多个型号总师、科技领军者</a:t>
              </a:r>
            </a:p>
          </p:txBody>
        </p:sp>
      </p:grpSp>
      <p:sp>
        <p:nvSpPr>
          <p:cNvPr id="74" name="Line 74"/>
          <p:cNvSpPr/>
          <p:nvPr/>
        </p:nvSpPr>
        <p:spPr>
          <a:xfrm>
            <a:off x="5524500" y="6477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4288">
            <a:solidFill>
              <a:srgbClr val="BDD7F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823614" y="6506528"/>
            <a:ext cx="5447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spc="75" dirty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2026-07-09T12:57:01Z</dcterms:created>
  <dcterms:modified xsi:type="dcterms:W3CDTF">2026-07-09T12:57:01Z</dcterms:modified>
  <cp:category/>
  <cp:contentStatus/>
</cp:coreProperties>
</file>