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914400" y="1028700"/>
            <a:ext cx="12915900" cy="5715000"/>
            <a:chOff x="914400" y="1028700"/>
            <a:chExt cx="12915900" cy="5715000"/>
          </a:xfrm>
        </p:grpSpPr>
        <p:sp>
          <p:nvSpPr>
            <p:cNvPr id="7" name="Rectangle 7"/>
            <p:cNvSpPr/>
            <p:nvPr/>
          </p:nvSpPr>
          <p:spPr>
            <a:xfrm>
              <a:off x="914400" y="1028700"/>
              <a:ext cx="8667750" cy="5715000"/>
            </a:xfrm>
            <a:prstGeom prst="roundRect">
              <a:avLst>
                <a:gd name="adj" fmla="val 5667"/>
              </a:avLst>
            </a:prstGeom>
            <a:solidFill>
              <a:srgbClr val="FFFFFF">
                <a:alpha val="96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028700"/>
              <a:ext cx="95250" cy="5715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447800" y="186690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57150" cap="rnd">
              <a:solidFill>
                <a:srgbClr val="2563E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47800" y="2516505"/>
              <a:ext cx="436344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3520" y="396716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从多元裂土到一体王朝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8468" y="57273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评委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9230" y="6219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0115550" y="1581150"/>
              <a:ext cx="3714750" cy="4781550"/>
              <a:chOff x="10115550" y="1581150"/>
              <a:chExt cx="3714750" cy="47815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0115550" y="1581150"/>
                <a:ext cx="3352800" cy="3352800"/>
              </a:xfrm>
              <a:prstGeom prst="ellipse">
                <a:avLst/>
              </a:prstGeom>
              <a:gradFill>
                <a:gsLst>
                  <a:gs pos="0">
                    <a:srgbClr val="2563EB">
                      <a:alpha val="20000"/>
                    </a:srgbClr>
                  </a:gs>
                  <a:gs pos="100000">
                    <a:srgbClr val="7C3AED">
                      <a:alpha val="20000"/>
                    </a:srgbClr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0725150" y="2190750"/>
                <a:ext cx="2133600" cy="2133600"/>
              </a:xfrm>
              <a:prstGeom prst="ellipse">
                <a:avLst/>
              </a:prstGeom>
              <a:solidFill>
                <a:srgbClr val="FFFFFF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1201400" y="2667000"/>
                <a:ext cx="1181100" cy="1181100"/>
              </a:xfrm>
              <a:prstGeom prst="ellipse">
                <a:avLst/>
              </a:prstGeom>
              <a:solidFill>
                <a:srgbClr val="2563EB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572750" y="4267200"/>
                <a:ext cx="2857500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1409700">
                    <a:moveTo>
                      <a:pt x="0" y="552450"/>
                    </a:moveTo>
                    <a:cubicBezTo>
                      <a:pt x="809625" y="0"/>
                      <a:pt x="1571625" y="1409700"/>
                      <a:pt x="2857500" y="590550"/>
                    </a:cubicBezTo>
                  </a:path>
                </a:pathLst>
              </a:custGeom>
              <a:noFill/>
              <a:ln w="114300" cap="rnd">
                <a:solidFill>
                  <a:srgbClr val="7C3AED">
                    <a:alpha val="6400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363200" y="1676400"/>
                <a:ext cx="3467100" cy="35052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3505200">
                    <a:moveTo>
                      <a:pt x="0" y="685800"/>
                    </a:moveTo>
                    <a:lnTo>
                      <a:pt x="2933700" y="0"/>
                    </a:lnTo>
                    <a:lnTo>
                      <a:pt x="3467100" y="2609850"/>
                    </a:lnTo>
                    <a:lnTo>
                      <a:pt x="723900" y="3505200"/>
                    </a:lnTo>
                    <a:close/>
                  </a:path>
                </a:pathLst>
              </a:custGeom>
              <a:noFill/>
              <a:ln w="28575">
                <a:solidFill>
                  <a:srgbClr val="BDD7FF">
                    <a:alpha val="95000"/>
                  </a:srgbClr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0429875" y="5829300"/>
                <a:ext cx="314325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690985" y="6010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科技蓝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01 / 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多元起源与早期国家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中华文明并非单一起源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90600" y="2381250"/>
            <a:ext cx="4701921" cy="2076450"/>
            <a:chOff x="990600" y="2381250"/>
            <a:chExt cx="4701921" cy="2076450"/>
          </a:xfrm>
        </p:grpSpPr>
        <p:sp>
          <p:nvSpPr>
            <p:cNvPr id="12" name="Rectangle 12"/>
            <p:cNvSpPr/>
            <p:nvPr/>
          </p:nvSpPr>
          <p:spPr>
            <a:xfrm>
              <a:off x="9906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81100" y="257175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52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7756" y="2701290"/>
              <a:ext cx="3033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良渚文化（距今约5300-43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7756" y="3025140"/>
              <a:ext cx="36057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00年）出现大型古城、水利系统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57756" y="33489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和玉礼器，标志长江下游高度复杂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57756" y="3672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的社会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95900" y="2381250"/>
            <a:ext cx="4701921" cy="2076450"/>
            <a:chOff x="5295900" y="2381250"/>
            <a:chExt cx="4701921" cy="2076450"/>
          </a:xfrm>
        </p:grpSpPr>
        <p:sp>
          <p:nvSpPr>
            <p:cNvPr id="20" name="Rectangle 20"/>
            <p:cNvSpPr/>
            <p:nvPr/>
          </p:nvSpPr>
          <p:spPr>
            <a:xfrm>
              <a:off x="52959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486400" y="2571750"/>
              <a:ext cx="533400" cy="5334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805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63056" y="2701290"/>
              <a:ext cx="3147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二里头文化（距今约3800-3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63056" y="3025140"/>
              <a:ext cx="3491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500年）出现大型宫殿、青铜礼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63056" y="33489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器，被认为是早期广域王权国家的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3056" y="3672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代表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601200" y="2381250"/>
            <a:ext cx="4701921" cy="2076450"/>
            <a:chOff x="9601200" y="2381250"/>
            <a:chExt cx="4701921" cy="2076450"/>
          </a:xfrm>
        </p:grpSpPr>
        <p:sp>
          <p:nvSpPr>
            <p:cNvPr id="28" name="Rectangle 28"/>
            <p:cNvSpPr/>
            <p:nvPr/>
          </p:nvSpPr>
          <p:spPr>
            <a:xfrm>
              <a:off x="9601200" y="2381250"/>
              <a:ext cx="3695700" cy="2076450"/>
            </a:xfrm>
            <a:prstGeom prst="roundRect">
              <a:avLst>
                <a:gd name="adj" fmla="val 11009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9791700" y="2571750"/>
              <a:ext cx="533400" cy="533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85880" y="27365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8356" y="27012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牛河梁、石峁、陶寺等遗址显示多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68356" y="30251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区域文明共存与整合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02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51645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秦汉：大一统的制度开创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皇帝制、郡县制与统一标准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90600" y="2266950"/>
            <a:ext cx="13258800" cy="4629150"/>
            <a:chOff x="990600" y="2266950"/>
            <a:chExt cx="13258800" cy="4629150"/>
          </a:xfrm>
        </p:grpSpPr>
        <p:sp>
          <p:nvSpPr>
            <p:cNvPr id="12" name="Rectangle 12"/>
            <p:cNvSpPr/>
            <p:nvPr/>
          </p:nvSpPr>
          <p:spPr>
            <a:xfrm>
              <a:off x="990600" y="2266950"/>
              <a:ext cx="6143625" cy="4629150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05775" y="2266950"/>
              <a:ext cx="6143625" cy="4629150"/>
            </a:xfrm>
            <a:prstGeom prst="roundRect">
              <a:avLst>
                <a:gd name="adj" fmla="val 5761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2647950"/>
              <a:ext cx="9525" cy="3924300"/>
            </a:xfrm>
            <a:custGeom>
              <a:avLst/>
              <a:gdLst/>
              <a:ahLst/>
              <a:cxnLst/>
              <a:rect l="l" t="t" r="r" b="b"/>
              <a:pathLst>
                <a:path w="9525" h="3924300">
                  <a:moveTo>
                    <a:pt x="0" y="0"/>
                  </a:moveTo>
                  <a:lnTo>
                    <a:pt x="0" y="3924300"/>
                  </a:lnTo>
                </a:path>
              </a:pathLst>
            </a:custGeom>
            <a:noFill/>
            <a:ln w="38100">
              <a:solidFill>
                <a:srgbClr val="2563EB">
                  <a:alpha val="38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35608" y="2636520"/>
              <a:ext cx="17714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现状 / 问题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50783" y="2636520"/>
              <a:ext cx="17714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方案 / 变化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362075" y="3346132"/>
              <a:ext cx="5025390" cy="617983"/>
              <a:chOff x="1362075" y="3346132"/>
              <a:chExt cx="5025390" cy="617983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362075" y="3362325"/>
                <a:ext cx="171450" cy="1714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06118" y="3346132"/>
                <a:ext cx="46813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秦始皇建立皇帝制度和郡县制，统一文字、货币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06118" y="364140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、度量衡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362075" y="4127182"/>
              <a:ext cx="5025390" cy="617983"/>
              <a:chOff x="1362075" y="4127182"/>
              <a:chExt cx="5025390" cy="617983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1362075" y="4143375"/>
                <a:ext cx="171450" cy="1714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706118" y="4127182"/>
                <a:ext cx="46813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汉武帝加强中央集权，推行儒学，经营边疆，开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06118" y="4422458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辟丝绸之路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477250" y="3346132"/>
              <a:ext cx="5025390" cy="617983"/>
              <a:chOff x="8477250" y="3346132"/>
              <a:chExt cx="5025390" cy="617983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8477250" y="3362325"/>
                <a:ext cx="171450" cy="1714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821293" y="3346132"/>
                <a:ext cx="46813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汉承秦制，皇权、官僚制与郡县治理成为传统国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21293" y="3641408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家长期基础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03 / 06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70304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魏晋南北朝：胡汉融合与重心南移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分裂中的制度创新与民族整合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048000" y="2771775"/>
            <a:ext cx="2713768" cy="2705100"/>
            <a:chOff x="3048000" y="2771775"/>
            <a:chExt cx="2713768" cy="2705100"/>
          </a:xfrm>
        </p:grpSpPr>
        <p:sp>
          <p:nvSpPr>
            <p:cNvPr id="12" name="Rectangle 12"/>
            <p:cNvSpPr/>
            <p:nvPr/>
          </p:nvSpPr>
          <p:spPr>
            <a:xfrm>
              <a:off x="3048000" y="3095625"/>
              <a:ext cx="2286000" cy="2381250"/>
            </a:xfrm>
            <a:prstGeom prst="roundRect">
              <a:avLst>
                <a:gd name="adj" fmla="val 10833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867150" y="2771775"/>
              <a:ext cx="647700" cy="647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11887" y="29870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5937" y="3738086"/>
              <a:ext cx="24558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北魏孝文帝推行汉化改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5937" y="4061936"/>
              <a:ext cx="24558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革：迁都洛阳、改汉姓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5937" y="4385786"/>
              <a:ext cx="14805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、推行均田制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5448300" y="428625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563EB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6153150" y="4152900"/>
            <a:ext cx="152400" cy="266700"/>
          </a:xfrm>
          <a:custGeom>
            <a:avLst/>
            <a:gdLst/>
            <a:ahLst/>
            <a:cxnLst/>
            <a:rect l="l" t="t" r="r" b="b"/>
            <a:pathLst>
              <a:path w="152400" h="266700">
                <a:moveTo>
                  <a:pt x="0" y="0"/>
                </a:moveTo>
                <a:lnTo>
                  <a:pt x="152400" y="133350"/>
                </a:lnTo>
                <a:lnTo>
                  <a:pt x="0" y="266700"/>
                </a:lnTo>
              </a:path>
            </a:pathLst>
          </a:custGeom>
          <a:noFill/>
          <a:ln w="38100" cap="rnd">
            <a:solidFill>
              <a:srgbClr val="2563EB"/>
            </a:solidFill>
            <a:round/>
          </a:ln>
        </p:spPr>
      </p:sp>
      <p:grpSp>
        <p:nvGrpSpPr>
          <p:cNvPr id="27" name="Group 27"/>
          <p:cNvGrpSpPr/>
          <p:nvPr/>
        </p:nvGrpSpPr>
        <p:grpSpPr>
          <a:xfrm>
            <a:off x="6477000" y="2771775"/>
            <a:ext cx="2713768" cy="2705100"/>
            <a:chOff x="6477000" y="2771775"/>
            <a:chExt cx="2713768" cy="2705100"/>
          </a:xfrm>
        </p:grpSpPr>
        <p:sp>
          <p:nvSpPr>
            <p:cNvPr id="21" name="Rectangle 21"/>
            <p:cNvSpPr/>
            <p:nvPr/>
          </p:nvSpPr>
          <p:spPr>
            <a:xfrm>
              <a:off x="6477000" y="3095625"/>
              <a:ext cx="2286000" cy="2381250"/>
            </a:xfrm>
            <a:prstGeom prst="roundRect">
              <a:avLst>
                <a:gd name="adj" fmla="val 10833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296150" y="2771775"/>
              <a:ext cx="647700" cy="647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40887" y="29870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4937" y="3738086"/>
              <a:ext cx="24558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北方人口大量南迁，推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34937" y="4061936"/>
              <a:ext cx="24558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动江南开发，经济重心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34937" y="4385786"/>
              <a:ext cx="9928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逐步南移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8877300" y="428625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563EB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582150" y="4152900"/>
            <a:ext cx="152400" cy="266700"/>
          </a:xfrm>
          <a:custGeom>
            <a:avLst/>
            <a:gdLst/>
            <a:ahLst/>
            <a:cxnLst/>
            <a:rect l="l" t="t" r="r" b="b"/>
            <a:pathLst>
              <a:path w="152400" h="266700">
                <a:moveTo>
                  <a:pt x="0" y="0"/>
                </a:moveTo>
                <a:lnTo>
                  <a:pt x="152400" y="133350"/>
                </a:lnTo>
                <a:lnTo>
                  <a:pt x="0" y="266700"/>
                </a:lnTo>
              </a:path>
            </a:pathLst>
          </a:custGeom>
          <a:noFill/>
          <a:ln w="38100" cap="rnd">
            <a:solidFill>
              <a:srgbClr val="2563EB"/>
            </a:solidFill>
            <a:round/>
          </a:ln>
        </p:spPr>
      </p:sp>
      <p:grpSp>
        <p:nvGrpSpPr>
          <p:cNvPr id="35" name="Group 35"/>
          <p:cNvGrpSpPr/>
          <p:nvPr/>
        </p:nvGrpSpPr>
        <p:grpSpPr>
          <a:xfrm>
            <a:off x="9906000" y="2771775"/>
            <a:ext cx="2713768" cy="2705100"/>
            <a:chOff x="9906000" y="2771775"/>
            <a:chExt cx="2713768" cy="2705100"/>
          </a:xfrm>
        </p:grpSpPr>
        <p:sp>
          <p:nvSpPr>
            <p:cNvPr id="30" name="Rectangle 30"/>
            <p:cNvSpPr/>
            <p:nvPr/>
          </p:nvSpPr>
          <p:spPr>
            <a:xfrm>
              <a:off x="9906000" y="3095625"/>
              <a:ext cx="2286000" cy="2381250"/>
            </a:xfrm>
            <a:prstGeom prst="roundRect">
              <a:avLst>
                <a:gd name="adj" fmla="val 10833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725150" y="2771775"/>
              <a:ext cx="647700" cy="647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69887" y="29870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63937" y="3738086"/>
              <a:ext cx="24558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佛教广泛传播，石窟艺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63937" y="4061936"/>
              <a:ext cx="24558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术（云冈、龙门）兴起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04 / 06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9536" y="634365"/>
            <a:ext cx="13504164" cy="1099185"/>
            <a:chOff x="859536" y="634365"/>
            <a:chExt cx="13504164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859536" y="634365"/>
              <a:ext cx="3765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隋唐：鼎盛与开放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968" y="12315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科举、大运河与国际都会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1714500"/>
              <a:ext cx="13487400" cy="9525"/>
            </a:xfrm>
            <a:custGeom>
              <a:avLst/>
              <a:gdLst/>
              <a:ahLst/>
              <a:cxnLst/>
              <a:rect l="l" t="t" r="r" b="b"/>
              <a:pathLst>
                <a:path w="13487400" h="9525">
                  <a:moveTo>
                    <a:pt x="0" y="0"/>
                  </a:moveTo>
                  <a:lnTo>
                    <a:pt x="134874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764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104900" y="2324100"/>
            <a:ext cx="12420600" cy="4604385"/>
            <a:chOff x="1104900" y="2324100"/>
            <a:chExt cx="12420600" cy="4604385"/>
          </a:xfrm>
        </p:grpSpPr>
        <p:sp>
          <p:nvSpPr>
            <p:cNvPr id="12" name="Rectangle 12"/>
            <p:cNvSpPr/>
            <p:nvPr/>
          </p:nvSpPr>
          <p:spPr>
            <a:xfrm>
              <a:off x="1104900" y="2324100"/>
              <a:ext cx="5905500" cy="4533900"/>
            </a:xfrm>
            <a:prstGeom prst="roundRect">
              <a:avLst>
                <a:gd name="adj" fmla="val 7143"/>
              </a:avLst>
            </a:prstGeom>
            <a:gradFill>
              <a:gsLst>
                <a:gs pos="0">
                  <a:srgbClr val="2563EB">
                    <a:alpha val="92000"/>
                  </a:srgbClr>
                </a:gs>
                <a:gs pos="100000">
                  <a:srgbClr val="7C3AED">
                    <a:alpha val="92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68958" y="33223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核心强调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2100" y="4147185"/>
              <a:ext cx="648370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科举制打破门阀垄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2100" y="4985385"/>
              <a:ext cx="648370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断，提供社会流动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2100" y="5823585"/>
              <a:ext cx="164950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渠道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0" y="2647950"/>
              <a:ext cx="5715000" cy="37147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201025" y="3250882"/>
              <a:ext cx="4581144" cy="322707"/>
              <a:chOff x="8201025" y="3250882"/>
              <a:chExt cx="4581144" cy="322707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201025" y="3267075"/>
                <a:ext cx="171450" cy="1714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545068" y="3250882"/>
                <a:ext cx="42371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大运河连接南北，促进经济整合与物资流通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201025" y="4031932"/>
              <a:ext cx="4581144" cy="617983"/>
              <a:chOff x="8201025" y="4031932"/>
              <a:chExt cx="4581144" cy="617983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201025" y="4048125"/>
                <a:ext cx="171450" cy="1714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545068" y="4031932"/>
                <a:ext cx="42371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长安成为国际都会，丝绸之路贸易繁荣，中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45068" y="4327208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外文化交流活跃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05 / 06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57200"/>
            <a:ext cx="14211300" cy="7429500"/>
          </a:xfrm>
          <a:prstGeom prst="roundRect">
            <a:avLst>
              <a:gd name="adj" fmla="val 2564"/>
            </a:avLst>
          </a:prstGeom>
          <a:noFill/>
          <a:ln w="13335">
            <a:solidFill>
              <a:srgbClr val="BDD7FF">
                <a:alpha val="7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2220575" y="-133350"/>
            <a:ext cx="2514600" cy="25146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3592175" y="1200150"/>
            <a:ext cx="1104900" cy="11049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334750" y="5429250"/>
            <a:ext cx="2952750" cy="1714500"/>
          </a:xfrm>
          <a:prstGeom prst="roundRect">
            <a:avLst>
              <a:gd name="adj" fmla="val 18889"/>
            </a:avLst>
          </a:prstGeom>
          <a:noFill/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971550" y="893445"/>
            <a:ext cx="12715189" cy="6377178"/>
            <a:chOff x="971550" y="893445"/>
            <a:chExt cx="12715189" cy="6377178"/>
          </a:xfrm>
        </p:grpSpPr>
        <p:sp>
          <p:nvSpPr>
            <p:cNvPr id="7" name="TextBox 7"/>
            <p:cNvSpPr txBox="1"/>
            <p:nvPr/>
          </p:nvSpPr>
          <p:spPr>
            <a:xfrm>
              <a:off x="971550" y="893445"/>
              <a:ext cx="279444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总结与启示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9556" y="15582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统一与融合的历史逻辑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20955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66675" cap="rnd">
              <a:solidFill>
                <a:srgbClr val="2563EB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428750" y="2771775"/>
              <a:ext cx="3875989" cy="3419475"/>
              <a:chOff x="1428750" y="2771775"/>
              <a:chExt cx="3875989" cy="341947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2343150" y="2771775"/>
                <a:ext cx="1600200" cy="1600200"/>
              </a:xfrm>
              <a:prstGeom prst="ellipse">
                <a:avLst/>
              </a:prstGeom>
              <a:solidFill>
                <a:srgbClr val="2563E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686050" y="3114675"/>
                <a:ext cx="914400" cy="914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044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1428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724406" y="5025390"/>
                <a:ext cx="35803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从多元起源到一体王朝，统一与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24406" y="5349240"/>
                <a:ext cx="2817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分裂的辩证推动制度演进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619750" y="2771775"/>
              <a:ext cx="3875989" cy="3419475"/>
              <a:chOff x="5619750" y="2771775"/>
              <a:chExt cx="3875989" cy="3419475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534150" y="2771775"/>
                <a:ext cx="1600200" cy="1600200"/>
              </a:xfrm>
              <a:prstGeom prst="ellipse">
                <a:avLst/>
              </a:prstGeom>
              <a:solidFill>
                <a:srgbClr val="7C3AED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6877050" y="3114675"/>
                <a:ext cx="914400" cy="9144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235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5619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915406" y="5025390"/>
                <a:ext cx="35803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制度创新（郡县、科举、运河）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15406" y="5349240"/>
                <a:ext cx="35803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与民族融合是文明持续发展的核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915406" y="5673090"/>
                <a:ext cx="781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心动力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810750" y="2771775"/>
              <a:ext cx="3875989" cy="3419475"/>
              <a:chOff x="9810750" y="2771775"/>
              <a:chExt cx="3875989" cy="341947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725150" y="2771775"/>
                <a:ext cx="1600200" cy="1600200"/>
              </a:xfrm>
              <a:prstGeom prst="ellipse">
                <a:avLst/>
              </a:prstGeom>
              <a:solidFill>
                <a:srgbClr val="2563E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11068050" y="3114675"/>
                <a:ext cx="914400" cy="914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426359" y="34528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9810750" y="4591050"/>
                <a:ext cx="3429000" cy="16002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106406" y="5025390"/>
                <a:ext cx="35803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历史周期律表明，开放包容与制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106406" y="5349240"/>
                <a:ext cx="2817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度变革是国家强盛的关键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7015658" y="68599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02033"/>
                  </a:solidFill>
                  <a:latin typeface="Segoe UI"/>
                  <a:ea typeface="Microsoft YaHei"/>
                  <a:cs typeface="Segoe UI"/>
                </a:rPr>
                <a:t>谢谢观看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9442" y="8026718"/>
            <a:ext cx="13501116" cy="264033"/>
            <a:chOff x="869442" y="8026718"/>
            <a:chExt cx="13501116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869442" y="8026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06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66420" y="802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中国历史节选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2026-07-09T16:59:49Z</dcterms:created>
  <dcterms:modified xsi:type="dcterms:W3CDTF">2026-07-09T16:59:49Z</dcterms:modified>
  <cp:category/>
  <cp:contentStatus/>
</cp:coreProperties>
</file>