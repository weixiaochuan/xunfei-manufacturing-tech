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BDD7FF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914400" y="1028700"/>
            <a:ext cx="12915900" cy="5715000"/>
            <a:chOff x="914400" y="1028700"/>
            <a:chExt cx="12915900" cy="5715000"/>
          </a:xfrm>
        </p:grpSpPr>
        <p:sp>
          <p:nvSpPr>
            <p:cNvPr id="7" name="Rectangle 7"/>
            <p:cNvSpPr/>
            <p:nvPr/>
          </p:nvSpPr>
          <p:spPr>
            <a:xfrm>
              <a:off x="914400" y="1028700"/>
              <a:ext cx="8667750" cy="5715000"/>
            </a:xfrm>
            <a:prstGeom prst="roundRect">
              <a:avLst>
                <a:gd name="adj" fmla="val 5667"/>
              </a:avLst>
            </a:prstGeom>
            <a:solidFill>
              <a:srgbClr val="FFFFFF">
                <a:alpha val="96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14400" y="1028700"/>
              <a:ext cx="95250" cy="5715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563EB"/>
                </a:gs>
                <a:gs pos="100000">
                  <a:srgbClr val="7C3AE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447800" y="186690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57150" cap="rnd">
              <a:solidFill>
                <a:srgbClr val="2563E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47800" y="2516505"/>
              <a:ext cx="3642550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文明的摇篮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93520" y="39671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多元起源与早期国家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58468" y="57273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评委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59230" y="62198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0115550" y="1581150"/>
              <a:ext cx="3714750" cy="4781550"/>
              <a:chOff x="10115550" y="1581150"/>
              <a:chExt cx="3714750" cy="478155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10115550" y="1581150"/>
                <a:ext cx="3352800" cy="3352800"/>
              </a:xfrm>
              <a:prstGeom prst="ellipse">
                <a:avLst/>
              </a:prstGeom>
              <a:gradFill>
                <a:gsLst>
                  <a:gs pos="0">
                    <a:srgbClr val="2563EB">
                      <a:alpha val="20000"/>
                    </a:srgbClr>
                  </a:gs>
                  <a:gs pos="100000">
                    <a:srgbClr val="7C3AED">
                      <a:alpha val="20000"/>
                    </a:srgbClr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0725150" y="2190750"/>
                <a:ext cx="2133600" cy="2133600"/>
              </a:xfrm>
              <a:prstGeom prst="ellipse">
                <a:avLst/>
              </a:prstGeom>
              <a:solidFill>
                <a:srgbClr val="FFFFFF">
                  <a:alpha val="88000"/>
                </a:srgbClr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1201400" y="2667000"/>
                <a:ext cx="1181100" cy="1181100"/>
              </a:xfrm>
              <a:prstGeom prst="ellipse">
                <a:avLst/>
              </a:prstGeom>
              <a:solidFill>
                <a:srgbClr val="2563E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572750" y="4267200"/>
                <a:ext cx="2857500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1409700">
                    <a:moveTo>
                      <a:pt x="0" y="552450"/>
                    </a:moveTo>
                    <a:cubicBezTo>
                      <a:pt x="809625" y="0"/>
                      <a:pt x="1571625" y="1409700"/>
                      <a:pt x="2857500" y="590550"/>
                    </a:cubicBezTo>
                  </a:path>
                </a:pathLst>
              </a:custGeom>
              <a:noFill/>
              <a:ln w="114300" cap="rnd">
                <a:solidFill>
                  <a:srgbClr val="7C3AED">
                    <a:alpha val="64000"/>
                  </a:srgbClr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363200" y="1676400"/>
                <a:ext cx="3467100" cy="3505200"/>
              </a:xfrm>
              <a:custGeom>
                <a:avLst/>
                <a:gdLst/>
                <a:ahLst/>
                <a:cxnLst/>
                <a:rect l="l" t="t" r="r" b="b"/>
                <a:pathLst>
                  <a:path w="3467100" h="3505200">
                    <a:moveTo>
                      <a:pt x="0" y="685800"/>
                    </a:moveTo>
                    <a:lnTo>
                      <a:pt x="2933700" y="0"/>
                    </a:lnTo>
                    <a:lnTo>
                      <a:pt x="3467100" y="2609850"/>
                    </a:lnTo>
                    <a:lnTo>
                      <a:pt x="723900" y="3505200"/>
                    </a:lnTo>
                    <a:close/>
                  </a:path>
                </a:pathLst>
              </a:custGeom>
              <a:noFill/>
              <a:ln w="28575">
                <a:solidFill>
                  <a:srgbClr val="BDD7FF">
                    <a:alpha val="95000"/>
                  </a:srgbClr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0429875" y="5829300"/>
                <a:ext cx="3143250" cy="5334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1690985" y="60102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科技蓝</a:t>
                </a: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870966" y="7620952"/>
            <a:ext cx="6244247" cy="205359"/>
            <a:chOff x="870966" y="7620952"/>
            <a:chExt cx="6244247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870966" y="7620952"/>
              <a:ext cx="62442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中华文明探源工程认为距今5800年前后多区域出现社会分化。 | 良渚古城、水利系统、玉礼器体系显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01 / 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66420" y="802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BDD7FF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59536" y="634365"/>
            <a:ext cx="13504164" cy="1099185"/>
            <a:chOff x="859536" y="634365"/>
            <a:chExt cx="13504164" cy="1099185"/>
          </a:xfrm>
        </p:grpSpPr>
        <p:sp>
          <p:nvSpPr>
            <p:cNvPr id="7" name="TextBox 7"/>
            <p:cNvSpPr txBox="1"/>
            <p:nvPr/>
          </p:nvSpPr>
          <p:spPr>
            <a:xfrm>
              <a:off x="859536" y="634365"/>
              <a:ext cx="23658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帝国的基石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6968" y="1231582"/>
              <a:ext cx="10012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秦创立皇帝与郡县制度，汉确立儒学正统，共同构建了超稳定帝国治理的基本架构，影响此后两千年。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1714500"/>
              <a:ext cx="13487400" cy="9525"/>
            </a:xfrm>
            <a:custGeom>
              <a:avLst/>
              <a:gdLst/>
              <a:ahLst/>
              <a:cxnLst/>
              <a:rect l="l" t="t" r="r" b="b"/>
              <a:pathLst>
                <a:path w="13487400" h="9525">
                  <a:moveTo>
                    <a:pt x="0" y="0"/>
                  </a:moveTo>
                  <a:lnTo>
                    <a:pt x="134874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76300" y="16764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sp>
        <p:nvSpPr>
          <p:cNvPr id="12" name="Line 12"/>
          <p:cNvSpPr/>
          <p:nvPr/>
        </p:nvSpPr>
        <p:spPr>
          <a:xfrm>
            <a:off x="1619250" y="4000500"/>
            <a:ext cx="12001500" cy="9525"/>
          </a:xfrm>
          <a:custGeom>
            <a:avLst/>
            <a:gdLst/>
            <a:ahLst/>
            <a:cxnLst/>
            <a:rect l="l" t="t" r="r" b="b"/>
            <a:pathLst>
              <a:path w="12001500" h="9525">
                <a:moveTo>
                  <a:pt x="0" y="0"/>
                </a:moveTo>
                <a:lnTo>
                  <a:pt x="12001500" y="0"/>
                </a:lnTo>
              </a:path>
            </a:pathLst>
          </a:custGeom>
          <a:noFill/>
          <a:ln w="66675" cap="rnd">
            <a:solidFill>
              <a:srgbClr val="BDD7FF"/>
            </a:solidFill>
          </a:ln>
        </p:spPr>
      </p:sp>
      <p:sp>
        <p:nvSpPr>
          <p:cNvPr id="13" name="Line 13"/>
          <p:cNvSpPr/>
          <p:nvPr/>
        </p:nvSpPr>
        <p:spPr>
          <a:xfrm>
            <a:off x="1619250" y="4000500"/>
            <a:ext cx="12001500" cy="9525"/>
          </a:xfrm>
          <a:custGeom>
            <a:avLst/>
            <a:gdLst/>
            <a:ahLst/>
            <a:cxnLst/>
            <a:rect l="l" t="t" r="r" b="b"/>
            <a:pathLst>
              <a:path w="12001500" h="9525">
                <a:moveTo>
                  <a:pt x="0" y="0"/>
                </a:moveTo>
                <a:lnTo>
                  <a:pt x="12001500" y="0"/>
                </a:lnTo>
              </a:path>
            </a:pathLst>
          </a:custGeom>
          <a:noFill/>
          <a:ln w="66675" cap="rnd">
            <a:solidFill>
              <a:srgbClr val="2563EB"/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295275" y="2019300"/>
            <a:ext cx="3617051" cy="2209800"/>
            <a:chOff x="295275" y="2019300"/>
            <a:chExt cx="3617051" cy="2209800"/>
          </a:xfrm>
        </p:grpSpPr>
        <p:sp>
          <p:nvSpPr>
            <p:cNvPr id="14" name="Ellipse 14"/>
            <p:cNvSpPr/>
            <p:nvPr/>
          </p:nvSpPr>
          <p:spPr>
            <a:xfrm>
              <a:off x="1390650" y="3771900"/>
              <a:ext cx="457200" cy="457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533525" y="3914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95275" y="2019300"/>
              <a:ext cx="2647950" cy="1562100"/>
            </a:xfrm>
            <a:prstGeom prst="roundRect">
              <a:avLst>
                <a:gd name="adj" fmla="val 10976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880" y="22764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秦制创制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4261" y="2646521"/>
              <a:ext cx="29653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前221年秦始皇统一六国，建立皇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4261" y="2894171"/>
              <a:ext cx="33480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帝制度、郡县制，统一文字、度量衡…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5785" y="3193256"/>
              <a:ext cx="27374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废除分封，全国由中央任命官吏管理；车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785" y="3383756"/>
              <a:ext cx="28207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同轨、书同文，推行小篆，促进文化整合…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295775" y="3771900"/>
            <a:ext cx="3506267" cy="2117884"/>
            <a:chOff x="4295775" y="3771900"/>
            <a:chExt cx="3506267" cy="2117884"/>
          </a:xfrm>
        </p:grpSpPr>
        <p:sp>
          <p:nvSpPr>
            <p:cNvPr id="23" name="Ellipse 23"/>
            <p:cNvSpPr/>
            <p:nvPr/>
          </p:nvSpPr>
          <p:spPr>
            <a:xfrm>
              <a:off x="5391150" y="3771900"/>
              <a:ext cx="457200" cy="4572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534025" y="3914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295775" y="4305300"/>
              <a:ext cx="2647950" cy="1562100"/>
            </a:xfrm>
            <a:prstGeom prst="roundRect">
              <a:avLst>
                <a:gd name="adj" fmla="val 10976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64380" y="45624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7C3AED"/>
                  </a:solidFill>
                  <a:latin typeface="Segoe UI"/>
                  <a:ea typeface="Microsoft YaHei"/>
                  <a:cs typeface="Segoe UI"/>
                </a:rPr>
                <a:t>汉承秦制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4761" y="4932521"/>
              <a:ext cx="32372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汉代在继承秦制基础上调整，加强中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64761" y="5180171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央集权。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66285" y="5479256"/>
              <a:ext cx="27374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汉武帝时期强化皇权，设置刺史监察地方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66285" y="5669756"/>
              <a:ext cx="1980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，张骞通西域推动丝绸之路。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296275" y="2019300"/>
            <a:ext cx="3415625" cy="2209800"/>
            <a:chOff x="8296275" y="2019300"/>
            <a:chExt cx="3415625" cy="2209800"/>
          </a:xfrm>
        </p:grpSpPr>
        <p:sp>
          <p:nvSpPr>
            <p:cNvPr id="32" name="Ellipse 32"/>
            <p:cNvSpPr/>
            <p:nvPr/>
          </p:nvSpPr>
          <p:spPr>
            <a:xfrm>
              <a:off x="9391650" y="3771900"/>
              <a:ext cx="457200" cy="457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9534525" y="3914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296275" y="2019300"/>
              <a:ext cx="2647950" cy="1562100"/>
            </a:xfrm>
            <a:prstGeom prst="roundRect">
              <a:avLst>
                <a:gd name="adj" fmla="val 10976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64880" y="22764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儒学正统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5261" y="2646521"/>
              <a:ext cx="31466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汉武帝采纳董仲舒“罢黜百家，独尊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5261" y="2894171"/>
              <a:ext cx="29452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儒术”，儒学成为官方意识形态。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66785" y="3193256"/>
              <a:ext cx="27374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儒学与官僚选拔结合，太学设立五经博士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66785" y="3383756"/>
              <a:ext cx="27374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，奠定此后两千年国家治理的思想基础。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296775" y="3771900"/>
            <a:ext cx="3506267" cy="2117884"/>
            <a:chOff x="12296775" y="3771900"/>
            <a:chExt cx="3506267" cy="2117884"/>
          </a:xfrm>
        </p:grpSpPr>
        <p:sp>
          <p:nvSpPr>
            <p:cNvPr id="41" name="Ellipse 41"/>
            <p:cNvSpPr/>
            <p:nvPr/>
          </p:nvSpPr>
          <p:spPr>
            <a:xfrm>
              <a:off x="13392150" y="3771900"/>
              <a:ext cx="457200" cy="4572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3535025" y="3914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2296775" y="4305300"/>
              <a:ext cx="2647950" cy="1562100"/>
            </a:xfrm>
            <a:prstGeom prst="roundRect">
              <a:avLst>
                <a:gd name="adj" fmla="val 10976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2565380" y="45624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7C3AED"/>
                  </a:solidFill>
                  <a:latin typeface="Segoe UI"/>
                  <a:ea typeface="Microsoft YaHei"/>
                  <a:cs typeface="Segoe UI"/>
                </a:rPr>
                <a:t>制度影响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565761" y="4932521"/>
              <a:ext cx="32372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皇权、郡县、官僚制与儒学政治化成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565761" y="5180171"/>
              <a:ext cx="26330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为传统国家长期演变的基础。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567285" y="5479256"/>
              <a:ext cx="27374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自秦汉起，中央集权与儒学教化互为支撑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567285" y="5669756"/>
              <a:ext cx="1980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，塑造了超稳定的帝国结构。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70966" y="7620952"/>
            <a:ext cx="6498679" cy="205359"/>
            <a:chOff x="870966" y="7620952"/>
            <a:chExt cx="6498679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870966" y="7620952"/>
              <a:ext cx="6498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秦始皇建立皇帝制度、郡县制，统一文字、度量衡、法律。 | 汉武帝时期加强中央集权，经营边疆，张骞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02 / 04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266420" y="802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BDD7FF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59536" y="634365"/>
            <a:ext cx="13504164" cy="1099185"/>
            <a:chOff x="859536" y="634365"/>
            <a:chExt cx="13504164" cy="1099185"/>
          </a:xfrm>
        </p:grpSpPr>
        <p:sp>
          <p:nvSpPr>
            <p:cNvPr id="7" name="TextBox 7"/>
            <p:cNvSpPr txBox="1"/>
            <p:nvPr/>
          </p:nvSpPr>
          <p:spPr>
            <a:xfrm>
              <a:off x="859536" y="634365"/>
              <a:ext cx="23658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循环的帝国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6968" y="1231582"/>
              <a:ext cx="102344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中国历史在分裂与统一的螺旋中演进，每一次整合都扩展了帝国疆域与治理体系，也加深了多民族融合。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1714500"/>
              <a:ext cx="13487400" cy="9525"/>
            </a:xfrm>
            <a:custGeom>
              <a:avLst/>
              <a:gdLst/>
              <a:ahLst/>
              <a:cxnLst/>
              <a:rect l="l" t="t" r="r" b="b"/>
              <a:pathLst>
                <a:path w="13487400" h="9525">
                  <a:moveTo>
                    <a:pt x="0" y="0"/>
                  </a:moveTo>
                  <a:lnTo>
                    <a:pt x="134874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76300" y="16764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2314575" y="2419350"/>
            <a:ext cx="3030664" cy="3543300"/>
            <a:chOff x="2314575" y="2419350"/>
            <a:chExt cx="3030664" cy="3543300"/>
          </a:xfrm>
        </p:grpSpPr>
        <p:sp>
          <p:nvSpPr>
            <p:cNvPr id="12" name="Rectangle 12"/>
            <p:cNvSpPr/>
            <p:nvPr/>
          </p:nvSpPr>
          <p:spPr>
            <a:xfrm>
              <a:off x="2314575" y="2743200"/>
              <a:ext cx="2381250" cy="3219450"/>
            </a:xfrm>
            <a:prstGeom prst="roundRect">
              <a:avLst>
                <a:gd name="adj" fmla="val 10400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181350" y="2419350"/>
              <a:ext cx="647700" cy="6477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426087" y="26346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72893" y="32508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分裂中的融合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73655" y="36861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魏晋南北朝长期分裂，北方胡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73655" y="39528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汉制度融合，南方经济开发。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75560" y="4755356"/>
              <a:ext cx="2434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北魏孝文帝改革、人口南迁、佛教传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75560" y="4964906"/>
              <a:ext cx="1828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播，推动民族与文化整合。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4810125" y="4343400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solidFill>
            <a:srgbClr val="000000"/>
          </a:solidFill>
          <a:ln w="38100" cap="rnd">
            <a:solidFill>
              <a:srgbClr val="2563EB"/>
            </a:solidFill>
          </a:ln>
        </p:spPr>
      </p:sp>
      <p:sp>
        <p:nvSpPr>
          <p:cNvPr id="22" name="Freeform 22"/>
          <p:cNvSpPr/>
          <p:nvPr/>
        </p:nvSpPr>
        <p:spPr>
          <a:xfrm>
            <a:off x="4733925" y="4210050"/>
            <a:ext cx="152400" cy="266700"/>
          </a:xfrm>
          <a:custGeom>
            <a:avLst/>
            <a:gdLst/>
            <a:ahLst/>
            <a:cxnLst/>
            <a:rect l="l" t="t" r="r" b="b"/>
            <a:pathLst>
              <a:path w="152400" h="266700">
                <a:moveTo>
                  <a:pt x="0" y="0"/>
                </a:moveTo>
                <a:lnTo>
                  <a:pt x="152400" y="133350"/>
                </a:lnTo>
                <a:lnTo>
                  <a:pt x="0" y="266700"/>
                </a:lnTo>
              </a:path>
            </a:pathLst>
          </a:custGeom>
          <a:noFill/>
          <a:ln w="38100" cap="rnd">
            <a:solidFill>
              <a:srgbClr val="2563EB"/>
            </a:solidFill>
            <a:round/>
          </a:ln>
        </p:spPr>
      </p:sp>
      <p:grpSp>
        <p:nvGrpSpPr>
          <p:cNvPr id="32" name="Group 32"/>
          <p:cNvGrpSpPr/>
          <p:nvPr/>
        </p:nvGrpSpPr>
        <p:grpSpPr>
          <a:xfrm>
            <a:off x="5057775" y="2419350"/>
            <a:ext cx="3030664" cy="3543300"/>
            <a:chOff x="5057775" y="2419350"/>
            <a:chExt cx="3030664" cy="3543300"/>
          </a:xfrm>
        </p:grpSpPr>
        <p:sp>
          <p:nvSpPr>
            <p:cNvPr id="23" name="Rectangle 23"/>
            <p:cNvSpPr/>
            <p:nvPr/>
          </p:nvSpPr>
          <p:spPr>
            <a:xfrm>
              <a:off x="5057775" y="2743200"/>
              <a:ext cx="2381250" cy="3219450"/>
            </a:xfrm>
            <a:prstGeom prst="roundRect">
              <a:avLst>
                <a:gd name="adj" fmla="val 10400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924550" y="2419350"/>
              <a:ext cx="647700" cy="6477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69287" y="26346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16093" y="32508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隋唐大一统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16855" y="36861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隋文帝重新统一南北，唐朝通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16855" y="39528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过三省六部、科举制、大运河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16855" y="4219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强化治理。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18760" y="4755356"/>
              <a:ext cx="2434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唐朝疆域广阔，与中亚、东亚保持密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18760" y="4964906"/>
              <a:ext cx="1374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切联系，社会繁荣。</a:t>
              </a:r>
            </a:p>
          </p:txBody>
        </p:sp>
      </p:grpSp>
      <p:sp>
        <p:nvSpPr>
          <p:cNvPr id="33" name="Freeform 33"/>
          <p:cNvSpPr/>
          <p:nvPr/>
        </p:nvSpPr>
        <p:spPr>
          <a:xfrm>
            <a:off x="7553325" y="4343400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solidFill>
            <a:srgbClr val="000000"/>
          </a:solidFill>
          <a:ln w="38100" cap="rnd">
            <a:solidFill>
              <a:srgbClr val="2563EB"/>
            </a:solidFill>
          </a:ln>
        </p:spPr>
      </p:sp>
      <p:sp>
        <p:nvSpPr>
          <p:cNvPr id="34" name="Freeform 34"/>
          <p:cNvSpPr/>
          <p:nvPr/>
        </p:nvSpPr>
        <p:spPr>
          <a:xfrm>
            <a:off x="7477125" y="4210050"/>
            <a:ext cx="152400" cy="266700"/>
          </a:xfrm>
          <a:custGeom>
            <a:avLst/>
            <a:gdLst/>
            <a:ahLst/>
            <a:cxnLst/>
            <a:rect l="l" t="t" r="r" b="b"/>
            <a:pathLst>
              <a:path w="152400" h="266700">
                <a:moveTo>
                  <a:pt x="0" y="0"/>
                </a:moveTo>
                <a:lnTo>
                  <a:pt x="152400" y="133350"/>
                </a:lnTo>
                <a:lnTo>
                  <a:pt x="0" y="266700"/>
                </a:lnTo>
              </a:path>
            </a:pathLst>
          </a:custGeom>
          <a:noFill/>
          <a:ln w="38100" cap="rnd">
            <a:solidFill>
              <a:srgbClr val="2563EB"/>
            </a:solidFill>
            <a:round/>
          </a:ln>
        </p:spPr>
      </p:sp>
      <p:grpSp>
        <p:nvGrpSpPr>
          <p:cNvPr id="44" name="Group 44"/>
          <p:cNvGrpSpPr/>
          <p:nvPr/>
        </p:nvGrpSpPr>
        <p:grpSpPr>
          <a:xfrm>
            <a:off x="7800975" y="2419350"/>
            <a:ext cx="3030664" cy="3543300"/>
            <a:chOff x="7800975" y="2419350"/>
            <a:chExt cx="3030664" cy="3543300"/>
          </a:xfrm>
        </p:grpSpPr>
        <p:sp>
          <p:nvSpPr>
            <p:cNvPr id="35" name="Rectangle 35"/>
            <p:cNvSpPr/>
            <p:nvPr/>
          </p:nvSpPr>
          <p:spPr>
            <a:xfrm>
              <a:off x="7800975" y="2743200"/>
              <a:ext cx="2381250" cy="3219450"/>
            </a:xfrm>
            <a:prstGeom prst="roundRect">
              <a:avLst>
                <a:gd name="adj" fmla="val 10400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667750" y="2419350"/>
              <a:ext cx="647700" cy="6477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912487" y="26346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59293" y="32508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宋辽金并立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60055" y="36861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宋代文官政治成熟，城市经济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60055" y="39528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发达；辽金等政权与宋形成竞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60055" y="4219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争与交流。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61960" y="4755356"/>
              <a:ext cx="2434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宋与辽、西夏、金长期并存，经济重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61960" y="49649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心南移完成。</a:t>
              </a:r>
            </a:p>
          </p:txBody>
        </p:sp>
      </p:grpSp>
      <p:sp>
        <p:nvSpPr>
          <p:cNvPr id="45" name="Freeform 45"/>
          <p:cNvSpPr/>
          <p:nvPr/>
        </p:nvSpPr>
        <p:spPr>
          <a:xfrm>
            <a:off x="10296525" y="4343400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solidFill>
            <a:srgbClr val="000000"/>
          </a:solidFill>
          <a:ln w="38100" cap="rnd">
            <a:solidFill>
              <a:srgbClr val="2563EB"/>
            </a:solidFill>
          </a:ln>
        </p:spPr>
      </p:sp>
      <p:sp>
        <p:nvSpPr>
          <p:cNvPr id="46" name="Freeform 46"/>
          <p:cNvSpPr/>
          <p:nvPr/>
        </p:nvSpPr>
        <p:spPr>
          <a:xfrm>
            <a:off x="10220325" y="4210050"/>
            <a:ext cx="152400" cy="266700"/>
          </a:xfrm>
          <a:custGeom>
            <a:avLst/>
            <a:gdLst/>
            <a:ahLst/>
            <a:cxnLst/>
            <a:rect l="l" t="t" r="r" b="b"/>
            <a:pathLst>
              <a:path w="152400" h="266700">
                <a:moveTo>
                  <a:pt x="0" y="0"/>
                </a:moveTo>
                <a:lnTo>
                  <a:pt x="152400" y="133350"/>
                </a:lnTo>
                <a:lnTo>
                  <a:pt x="0" y="266700"/>
                </a:lnTo>
              </a:path>
            </a:pathLst>
          </a:custGeom>
          <a:noFill/>
          <a:ln w="38100" cap="rnd">
            <a:solidFill>
              <a:srgbClr val="2563EB"/>
            </a:solidFill>
            <a:round/>
          </a:ln>
        </p:spPr>
      </p:sp>
      <p:grpSp>
        <p:nvGrpSpPr>
          <p:cNvPr id="56" name="Group 56"/>
          <p:cNvGrpSpPr/>
          <p:nvPr/>
        </p:nvGrpSpPr>
        <p:grpSpPr>
          <a:xfrm>
            <a:off x="10544175" y="2419350"/>
            <a:ext cx="3030664" cy="3543300"/>
            <a:chOff x="10544175" y="2419350"/>
            <a:chExt cx="3030664" cy="3543300"/>
          </a:xfrm>
        </p:grpSpPr>
        <p:sp>
          <p:nvSpPr>
            <p:cNvPr id="47" name="Rectangle 47"/>
            <p:cNvSpPr/>
            <p:nvPr/>
          </p:nvSpPr>
          <p:spPr>
            <a:xfrm>
              <a:off x="10544175" y="2743200"/>
              <a:ext cx="2381250" cy="3219450"/>
            </a:xfrm>
            <a:prstGeom prst="roundRect">
              <a:avLst>
                <a:gd name="adj" fmla="val 10400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1410950" y="2419350"/>
              <a:ext cx="647700" cy="6477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655687" y="26346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802493" y="32508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元明清扩展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03255" y="36861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元朝整合欧亚交流，清朝将东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803255" y="39528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北、蒙古、新疆、西藏纳入版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803255" y="4219575"/>
              <a:ext cx="2559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图，形成多民族统一国家。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805160" y="4755356"/>
              <a:ext cx="2434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清朝继承明制，拓展疆域，治理体系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05160" y="496490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更加多元。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70966" y="7620952"/>
            <a:ext cx="6498679" cy="205359"/>
            <a:chOff x="870966" y="7620952"/>
            <a:chExt cx="6498679" cy="205359"/>
          </a:xfrm>
        </p:grpSpPr>
        <p:sp>
          <p:nvSpPr>
            <p:cNvPr id="57" name="TextBox 57"/>
            <p:cNvSpPr txBox="1"/>
            <p:nvPr/>
          </p:nvSpPr>
          <p:spPr>
            <a:xfrm>
              <a:off x="870966" y="7620952"/>
              <a:ext cx="6498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魏晋南北朝时期北方胡汉融合、人口南迁、佛教传播。 | 隋唐通过三省六部、科举、大运河推动国家治理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59" name="TextBox 59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03 / 04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266420" y="802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BDD7FF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65" name="Group 65"/>
          <p:cNvGrpSpPr/>
          <p:nvPr/>
        </p:nvGrpSpPr>
        <p:grpSpPr>
          <a:xfrm>
            <a:off x="971550" y="893445"/>
            <a:ext cx="13527214" cy="5469255"/>
            <a:chOff x="971550" y="893445"/>
            <a:chExt cx="13527214" cy="5469255"/>
          </a:xfrm>
        </p:grpSpPr>
        <p:sp>
          <p:nvSpPr>
            <p:cNvPr id="7" name="TextBox 7"/>
            <p:cNvSpPr txBox="1"/>
            <p:nvPr/>
          </p:nvSpPr>
          <p:spPr>
            <a:xfrm>
              <a:off x="971550" y="893445"/>
              <a:ext cx="279444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转型与重塑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9556" y="15582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从王朝到现代国家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209550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66675" cap="rnd">
              <a:solidFill>
                <a:srgbClr val="2563EB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104900" y="2476500"/>
              <a:ext cx="13030200" cy="1066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32382" y="2859405"/>
              <a:ext cx="122213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19世纪中叶起，农业帝国在工业文明冲击下被迫开启近代化，历经革命与改革，最终从传统王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32382" y="3221355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朝转向现代主权国家。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162050" y="4171950"/>
              <a:ext cx="3121724" cy="2190750"/>
              <a:chOff x="1162050" y="4171950"/>
              <a:chExt cx="3121724" cy="21907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162050" y="4171950"/>
                <a:ext cx="3028950" cy="2190750"/>
              </a:xfrm>
              <a:prstGeom prst="roundRect">
                <a:avLst>
                  <a:gd name="adj" fmla="val 9565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162050" y="4171950"/>
                <a:ext cx="76200" cy="219075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333500" y="4343400"/>
                <a:ext cx="457200" cy="4572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502765" y="44929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34718" y="4470082"/>
                <a:ext cx="23490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02033"/>
                    </a:solidFill>
                    <a:latin typeface="Segoe UI"/>
                    <a:ea typeface="Microsoft YaHei"/>
                    <a:cs typeface="Segoe UI"/>
                  </a:rPr>
                  <a:t>帝国崩塌与近代化开启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40180" y="4924425"/>
                <a:ext cx="23899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1840年鸦片战争后，传统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40180" y="5191125"/>
                <a:ext cx="27715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朝贡体系被条约体系取代，中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40180" y="5457825"/>
                <a:ext cx="21355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国被迫卷入全球秩序。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42085" y="5403056"/>
                <a:ext cx="25860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37A"/>
                    </a:solidFill>
                    <a:latin typeface="Segoe UI"/>
                    <a:ea typeface="Microsoft YaHei"/>
                    <a:cs typeface="Segoe UI"/>
                  </a:rPr>
                  <a:t>《南京条约》开放五口，割让香港；此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442085" y="5603081"/>
                <a:ext cx="26693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37A"/>
                    </a:solidFill>
                    <a:latin typeface="Segoe UI"/>
                    <a:ea typeface="Microsoft YaHei"/>
                    <a:cs typeface="Segoe UI"/>
                  </a:rPr>
                  <a:t>后太平天国、洋务运动、甲午战争加速…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1428750" y="5962650"/>
                <a:ext cx="24955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563EB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557147" y="6019324"/>
                <a:ext cx="247092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19世纪中叶后晚清在列强冲击、内乱和...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4591050" y="4171950"/>
              <a:ext cx="3166329" cy="2190750"/>
              <a:chOff x="4591050" y="4171950"/>
              <a:chExt cx="3166329" cy="21907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591050" y="4171950"/>
                <a:ext cx="3028950" cy="2190750"/>
              </a:xfrm>
              <a:prstGeom prst="roundRect">
                <a:avLst>
                  <a:gd name="adj" fmla="val 9565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591050" y="4171950"/>
                <a:ext cx="76200" cy="2190750"/>
              </a:xfrm>
              <a:prstGeom prst="roundRect">
                <a:avLst>
                  <a:gd name="adj" fmla="val 50000"/>
                </a:avLst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762500" y="4343400"/>
                <a:ext cx="457200" cy="4572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931765" y="44929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2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63718" y="4470082"/>
                <a:ext cx="21158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02033"/>
                    </a:solidFill>
                    <a:latin typeface="Segoe UI"/>
                    <a:ea typeface="Microsoft YaHei"/>
                    <a:cs typeface="Segoe UI"/>
                  </a:rPr>
                  <a:t>共和革命与政治转型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869180" y="4924425"/>
                <a:ext cx="23899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1911年辛亥革命推翻清朝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869180" y="5191125"/>
                <a:ext cx="23899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，1912年中华民国成立，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869180" y="5457825"/>
                <a:ext cx="28881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延续两千余年的君主帝制结束…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871085" y="5403056"/>
                <a:ext cx="25860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37A"/>
                    </a:solidFill>
                    <a:latin typeface="Segoe UI"/>
                    <a:ea typeface="Microsoft YaHei"/>
                    <a:cs typeface="Segoe UI"/>
                  </a:rPr>
                  <a:t>新文化运动、五四运动推动思想启蒙；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871085" y="5603081"/>
                <a:ext cx="26693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37A"/>
                    </a:solidFill>
                    <a:latin typeface="Segoe UI"/>
                    <a:ea typeface="Microsoft YaHei"/>
                    <a:cs typeface="Segoe UI"/>
                  </a:rPr>
                  <a:t>但军阀割据与内战使国家统一面临挑战…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4857750" y="5962650"/>
                <a:ext cx="24955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7C3AED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986147" y="6019324"/>
                <a:ext cx="211654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7C3AED"/>
                    </a:solidFill>
                    <a:latin typeface="Segoe UI"/>
                    <a:ea typeface="Microsoft YaHei"/>
                    <a:cs typeface="Segoe UI"/>
                  </a:rPr>
                  <a:t>1911年辛亥革命推翻清朝，1912...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020050" y="4171950"/>
              <a:ext cx="3049714" cy="2190750"/>
              <a:chOff x="8020050" y="4171950"/>
              <a:chExt cx="3049714" cy="21907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020050" y="4171950"/>
                <a:ext cx="3028950" cy="2190750"/>
              </a:xfrm>
              <a:prstGeom prst="roundRect">
                <a:avLst>
                  <a:gd name="adj" fmla="val 9565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8020050" y="4171950"/>
                <a:ext cx="76200" cy="219075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8191500" y="4343400"/>
                <a:ext cx="457200" cy="4572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360765" y="44929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792718" y="44700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02033"/>
                    </a:solidFill>
                    <a:latin typeface="Segoe UI"/>
                    <a:ea typeface="Microsoft YaHei"/>
                    <a:cs typeface="Segoe UI"/>
                  </a:rPr>
                  <a:t>现代国家建立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298180" y="4924425"/>
                <a:ext cx="23899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1949年中华人民共和国成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298180" y="5191125"/>
                <a:ext cx="27715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立，完成国家政权重建与社会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298180" y="545782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主义改造。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300085" y="5403056"/>
                <a:ext cx="25860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37A"/>
                    </a:solidFill>
                    <a:latin typeface="Segoe UI"/>
                    <a:ea typeface="Microsoft YaHei"/>
                    <a:cs typeface="Segoe UI"/>
                  </a:rPr>
                  <a:t>土地改革、工业化、计划经济体制建立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300085" y="5603081"/>
                <a:ext cx="26693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37A"/>
                    </a:solidFill>
                    <a:latin typeface="Segoe UI"/>
                    <a:ea typeface="Microsoft YaHei"/>
                    <a:cs typeface="Segoe UI"/>
                  </a:rPr>
                  <a:t>，中国重新整合为一个高度统一的现代…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8286750" y="5962650"/>
                <a:ext cx="2124075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563EB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415147" y="6019324"/>
                <a:ext cx="174246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1949年中华人民共和国成立。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1449050" y="4171950"/>
              <a:ext cx="3049714" cy="2190750"/>
              <a:chOff x="11449050" y="4171950"/>
              <a:chExt cx="3049714" cy="21907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11449050" y="4171950"/>
                <a:ext cx="3028950" cy="2190750"/>
              </a:xfrm>
              <a:prstGeom prst="roundRect">
                <a:avLst>
                  <a:gd name="adj" fmla="val 9565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11449050" y="4171950"/>
                <a:ext cx="76200" cy="2190750"/>
              </a:xfrm>
              <a:prstGeom prst="roundRect">
                <a:avLst>
                  <a:gd name="adj" fmla="val 50000"/>
                </a:avLst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11620500" y="4343400"/>
                <a:ext cx="457200" cy="4572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1789765" y="44929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4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2221718" y="447008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02033"/>
                    </a:solidFill>
                    <a:latin typeface="Segoe UI"/>
                    <a:ea typeface="Microsoft YaHei"/>
                    <a:cs typeface="Segoe UI"/>
                  </a:rPr>
                  <a:t>改革开放再出发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1727180" y="4924425"/>
                <a:ext cx="23899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1978年后实行改革开放，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1727180" y="5191125"/>
                <a:ext cx="27715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逐步建立社会主义市场经济体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1727180" y="545782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制。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1729085" y="5403056"/>
                <a:ext cx="25860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37A"/>
                    </a:solidFill>
                    <a:latin typeface="Segoe UI"/>
                    <a:ea typeface="Microsoft YaHei"/>
                    <a:cs typeface="Segoe UI"/>
                  </a:rPr>
                  <a:t>工业化、城市化、科技发展快速推进，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1729085" y="5603081"/>
                <a:ext cx="26693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37A"/>
                    </a:solidFill>
                    <a:latin typeface="Segoe UI"/>
                    <a:ea typeface="Microsoft YaHei"/>
                    <a:cs typeface="Segoe UI"/>
                  </a:rPr>
                  <a:t>中国由传统农业社会转向现代工业信息…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11715750" y="5962650"/>
                <a:ext cx="24955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7C3AED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11844147" y="6019324"/>
                <a:ext cx="235279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7C3AED"/>
                    </a:solidFill>
                    <a:latin typeface="Segoe UI"/>
                    <a:ea typeface="Microsoft YaHei"/>
                    <a:cs typeface="Segoe UI"/>
                  </a:rPr>
                  <a:t>1978年以后实行改革开放，逐步建立...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870966" y="7620952"/>
            <a:ext cx="5926207" cy="205359"/>
            <a:chOff x="870966" y="7620952"/>
            <a:chExt cx="5926207" cy="205359"/>
          </a:xfrm>
        </p:grpSpPr>
        <p:sp>
          <p:nvSpPr>
            <p:cNvPr id="66" name="TextBox 66"/>
            <p:cNvSpPr txBox="1"/>
            <p:nvPr/>
          </p:nvSpPr>
          <p:spPr>
            <a:xfrm>
              <a:off x="870966" y="7620952"/>
              <a:ext cx="59262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19世纪中叶后晚清在列强冲击、内乱和改革中进入近代转型。 | 1911年辛亥革命推翻清朝，191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68" name="TextBox 68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04 / 04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3266420" y="802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2026-07-10T12:28:28Z</dcterms:created>
  <dcterms:modified xsi:type="dcterms:W3CDTF">2026-07-10T12:28:28Z</dcterms:modified>
  <cp:category/>
  <cp:contentStatus/>
</cp:coreProperties>
</file>