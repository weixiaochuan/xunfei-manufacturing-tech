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为封面，需以最庄重的视觉语言确立主题。深红背景象征革命热血，金色放射线突出领袖地位。强调毛泽东从农家子弟到开国元勋的历程，概述其核心思想与著作，为后续内容铺垫。参考文献已确认其历史地位与思想影响，引用需严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以时间线形式梳理毛泽东从建党到开国的革命生涯。重点展示关键转折：1921年中共一大、1927年八七会议提出“枪杆子里面出政权”、秋收起义与井冈山根据地、长征中的遵义会议、抗战时期的《论持久战》以及解放战争的胜利。注意结合“红色情怀”主题，通过视觉元素强化历史叙事感，但要避免过度铺陈红色背景，保持庄重与热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1949年新中国成立后，毛泽东面临从革命到建设的转型。通过土地改革、抗美援朝等巩固政权，确立社会主义基本制度。1953年提出过渡时期总路线，启动重工业优先和社会主义改造，1956年基本完成三大改造。同年发表《论十大关系》，系统反思苏联模式，强调统筹兼顾。但随后的大跃进和人民公社化运动因急于求成导致经济困难。然而期间也推动了原子弹、导弹等尖端科技攻关和三线工业布局，为国家安全打下基础。本页呈现开国奠基与探索的复杂进程，引导学生理解建设初期的成就与教训，感受红色情怀下的历史真实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1962年七千人大会试图纠“左”，但未根本改变党内民主。随后文革发动，社会动荡。1971年林彪事件震动全国。外交上，1972年尼克松访华为中美关系正常化奠基。1976年毛泽东逝世，标志一个时代落幕。晚年探索充满曲折，其评价至今争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我们从三个维度展现毛泽东的人文侧面：思想体系、著作文艺和家庭反思。毛泽东思想是集体智慧结晶，在诸多领域影响深远，但需说明其经济部分后来被调整。著作强调其丰硕成果，尤以诗词书法见修养。家庭部分引用他对父亲买田的反思，呈现其道德自省。整体以红金配色、档案感图像处理，呼应红色情怀主题，使评委感受到人物研究的温度与深度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作为总结，需要提炼毛泽东思想的全球影响与多元评价。引用中共官方对毛泽东思想的定义，强调其作为集体智慧结晶的指导地位。突出“三个世界”理论的外交创新，以及其著作的广博。同时，基于历史决议，说明对晚年某些论点的区分。最后，点明评价的复杂性，引导听众思考其遗产的当代意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F1D1D"/>
              </a:gs>
              <a:gs pos="45000">
                <a:srgbClr val="8B1E1E"/>
              </a:gs>
              <a:gs pos="100000">
                <a:srgbClr val="B91C1C"/>
              </a:gs>
            </a:gsLst>
            <a:lin ang="5400000" scaled="1"/>
          </a:gra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-190500" y="285750"/>
            <a:ext cx="12573000" cy="5429250"/>
            <a:chOff x="-190500" y="285750"/>
            <a:chExt cx="12573000" cy="5429250"/>
          </a:xfrm>
        </p:grpSpPr>
        <p:sp>
          <p:nvSpPr>
            <p:cNvPr id="3" name="Line 3"/>
            <p:cNvSpPr/>
            <p:nvPr/>
          </p:nvSpPr>
          <p:spPr>
            <a:xfrm>
              <a:off x="952500" y="285750"/>
              <a:ext cx="5143500" cy="2571750"/>
            </a:xfrm>
            <a:custGeom>
              <a:avLst/>
              <a:gdLst/>
              <a:ahLst/>
              <a:cxnLst/>
              <a:rect l="l" t="t" r="r" b="b"/>
              <a:pathLst>
                <a:path w="5143500" h="2571750">
                  <a:moveTo>
                    <a:pt x="5143500" y="2571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2857500" y="285750"/>
              <a:ext cx="3238500" cy="2571750"/>
            </a:xfrm>
            <a:custGeom>
              <a:avLst/>
              <a:gdLst/>
              <a:ahLst/>
              <a:cxnLst/>
              <a:rect l="l" t="t" r="r" b="b"/>
              <a:pathLst>
                <a:path w="3238500" h="2571750">
                  <a:moveTo>
                    <a:pt x="3238500" y="2571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4762500" y="285750"/>
              <a:ext cx="1333500" cy="2571750"/>
            </a:xfrm>
            <a:custGeom>
              <a:avLst/>
              <a:gdLst/>
              <a:ahLst/>
              <a:cxnLst/>
              <a:rect l="l" t="t" r="r" b="b"/>
              <a:pathLst>
                <a:path w="1333500" h="2571750">
                  <a:moveTo>
                    <a:pt x="1333500" y="2571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285750"/>
              <a:ext cx="571500" cy="2571750"/>
            </a:xfrm>
            <a:custGeom>
              <a:avLst/>
              <a:gdLst/>
              <a:ahLst/>
              <a:cxnLst/>
              <a:rect l="l" t="t" r="r" b="b"/>
              <a:pathLst>
                <a:path w="571500" h="2571750">
                  <a:moveTo>
                    <a:pt x="0" y="257175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285750"/>
              <a:ext cx="2476500" cy="2571750"/>
            </a:xfrm>
            <a:custGeom>
              <a:avLst/>
              <a:gdLst/>
              <a:ahLst/>
              <a:cxnLst/>
              <a:rect l="l" t="t" r="r" b="b"/>
              <a:pathLst>
                <a:path w="2476500" h="2571750">
                  <a:moveTo>
                    <a:pt x="0" y="257175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285750"/>
              <a:ext cx="4381500" cy="2571750"/>
            </a:xfrm>
            <a:custGeom>
              <a:avLst/>
              <a:gdLst/>
              <a:ahLst/>
              <a:cxnLst/>
              <a:rect l="l" t="t" r="r" b="b"/>
              <a:pathLst>
                <a:path w="4381500" h="2571750">
                  <a:moveTo>
                    <a:pt x="0" y="257175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571500"/>
              <a:ext cx="6286500" cy="2286000"/>
            </a:xfrm>
            <a:custGeom>
              <a:avLst/>
              <a:gdLst/>
              <a:ahLst/>
              <a:cxnLst/>
              <a:rect l="l" t="t" r="r" b="b"/>
              <a:pathLst>
                <a:path w="6286500" h="2286000">
                  <a:moveTo>
                    <a:pt x="0" y="228600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1143000"/>
              <a:ext cx="6286500" cy="1714500"/>
            </a:xfrm>
            <a:custGeom>
              <a:avLst/>
              <a:gdLst/>
              <a:ahLst/>
              <a:cxnLst/>
              <a:rect l="l" t="t" r="r" b="b"/>
              <a:pathLst>
                <a:path w="6286500" h="1714500">
                  <a:moveTo>
                    <a:pt x="0" y="171450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1714500"/>
              <a:ext cx="6286500" cy="1143000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0" y="114300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2286000"/>
              <a:ext cx="6286500" cy="571500"/>
            </a:xfrm>
            <a:custGeom>
              <a:avLst/>
              <a:gdLst/>
              <a:ahLst/>
              <a:cxnLst/>
              <a:rect l="l" t="t" r="r" b="b"/>
              <a:pathLst>
                <a:path w="6286500" h="571500">
                  <a:moveTo>
                    <a:pt x="0" y="57150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28575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2857500"/>
              <a:ext cx="6286500" cy="571500"/>
            </a:xfrm>
            <a:custGeom>
              <a:avLst/>
              <a:gdLst/>
              <a:ahLst/>
              <a:cxnLst/>
              <a:rect l="l" t="t" r="r" b="b"/>
              <a:pathLst>
                <a:path w="6286500" h="571500">
                  <a:moveTo>
                    <a:pt x="0" y="0"/>
                  </a:moveTo>
                  <a:lnTo>
                    <a:pt x="6286500" y="571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0" y="2857500"/>
              <a:ext cx="6286500" cy="1143000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0" y="0"/>
                  </a:moveTo>
                  <a:lnTo>
                    <a:pt x="6286500" y="11430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0" y="2857500"/>
              <a:ext cx="6286500" cy="1714500"/>
            </a:xfrm>
            <a:custGeom>
              <a:avLst/>
              <a:gdLst/>
              <a:ahLst/>
              <a:cxnLst/>
              <a:rect l="l" t="t" r="r" b="b"/>
              <a:pathLst>
                <a:path w="6286500" h="1714500">
                  <a:moveTo>
                    <a:pt x="0" y="0"/>
                  </a:moveTo>
                  <a:lnTo>
                    <a:pt x="6286500" y="1714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0" y="2857500"/>
              <a:ext cx="6286500" cy="2286000"/>
            </a:xfrm>
            <a:custGeom>
              <a:avLst/>
              <a:gdLst/>
              <a:ahLst/>
              <a:cxnLst/>
              <a:rect l="l" t="t" r="r" b="b"/>
              <a:pathLst>
                <a:path w="6286500" h="2286000">
                  <a:moveTo>
                    <a:pt x="0" y="0"/>
                  </a:moveTo>
                  <a:lnTo>
                    <a:pt x="6286500" y="22860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0" y="2857500"/>
              <a:ext cx="5143500" cy="2857500"/>
            </a:xfrm>
            <a:custGeom>
              <a:avLst/>
              <a:gdLst/>
              <a:ahLst/>
              <a:cxnLst/>
              <a:rect l="l" t="t" r="r" b="b"/>
              <a:pathLst>
                <a:path w="5143500" h="2857500">
                  <a:moveTo>
                    <a:pt x="0" y="0"/>
                  </a:moveTo>
                  <a:lnTo>
                    <a:pt x="5143500" y="2857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0" y="2857500"/>
              <a:ext cx="3429000" cy="2857500"/>
            </a:xfrm>
            <a:custGeom>
              <a:avLst/>
              <a:gdLst/>
              <a:ahLst/>
              <a:cxnLst/>
              <a:rect l="l" t="t" r="r" b="b"/>
              <a:pathLst>
                <a:path w="3429000" h="2857500">
                  <a:moveTo>
                    <a:pt x="0" y="0"/>
                  </a:moveTo>
                  <a:lnTo>
                    <a:pt x="3429000" y="2857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0" y="2857500"/>
              <a:ext cx="1714500" cy="2857500"/>
            </a:xfrm>
            <a:custGeom>
              <a:avLst/>
              <a:gdLst/>
              <a:ahLst/>
              <a:cxnLst/>
              <a:rect l="l" t="t" r="r" b="b"/>
              <a:pathLst>
                <a:path w="1714500" h="2857500">
                  <a:moveTo>
                    <a:pt x="0" y="0"/>
                  </a:moveTo>
                  <a:lnTo>
                    <a:pt x="1714500" y="2857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28575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381500" y="2857500"/>
              <a:ext cx="1714500" cy="2857500"/>
            </a:xfrm>
            <a:custGeom>
              <a:avLst/>
              <a:gdLst/>
              <a:ahLst/>
              <a:cxnLst/>
              <a:rect l="l" t="t" r="r" b="b"/>
              <a:pathLst>
                <a:path w="1714500" h="2857500">
                  <a:moveTo>
                    <a:pt x="171450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667000" y="2857500"/>
              <a:ext cx="3429000" cy="2857500"/>
            </a:xfrm>
            <a:custGeom>
              <a:avLst/>
              <a:gdLst/>
              <a:ahLst/>
              <a:cxnLst/>
              <a:rect l="l" t="t" r="r" b="b"/>
              <a:pathLst>
                <a:path w="3429000" h="2857500">
                  <a:moveTo>
                    <a:pt x="342900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52500" y="2857500"/>
              <a:ext cx="5143500" cy="2857500"/>
            </a:xfrm>
            <a:custGeom>
              <a:avLst/>
              <a:gdLst/>
              <a:ahLst/>
              <a:cxnLst/>
              <a:rect l="l" t="t" r="r" b="b"/>
              <a:pathLst>
                <a:path w="5143500" h="2857500">
                  <a:moveTo>
                    <a:pt x="514350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-190500" y="2857500"/>
              <a:ext cx="6286500" cy="2286000"/>
            </a:xfrm>
            <a:custGeom>
              <a:avLst/>
              <a:gdLst/>
              <a:ahLst/>
              <a:cxnLst/>
              <a:rect l="l" t="t" r="r" b="b"/>
              <a:pathLst>
                <a:path w="6286500" h="2286000">
                  <a:moveTo>
                    <a:pt x="628650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-190500" y="2857500"/>
              <a:ext cx="6286500" cy="1714500"/>
            </a:xfrm>
            <a:custGeom>
              <a:avLst/>
              <a:gdLst/>
              <a:ahLst/>
              <a:cxnLst/>
              <a:rect l="l" t="t" r="r" b="b"/>
              <a:pathLst>
                <a:path w="6286500" h="1714500">
                  <a:moveTo>
                    <a:pt x="628650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-190500" y="2857500"/>
              <a:ext cx="6286500" cy="1143000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62865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-190500" y="2857500"/>
              <a:ext cx="6286500" cy="571500"/>
            </a:xfrm>
            <a:custGeom>
              <a:avLst/>
              <a:gdLst/>
              <a:ahLst/>
              <a:cxnLst/>
              <a:rect l="l" t="t" r="r" b="b"/>
              <a:pathLst>
                <a:path w="6286500" h="571500">
                  <a:moveTo>
                    <a:pt x="628650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-190500" y="28575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62865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-190500" y="2286000"/>
              <a:ext cx="6286500" cy="571500"/>
            </a:xfrm>
            <a:custGeom>
              <a:avLst/>
              <a:gdLst/>
              <a:ahLst/>
              <a:cxnLst/>
              <a:rect l="l" t="t" r="r" b="b"/>
              <a:pathLst>
                <a:path w="6286500" h="571500">
                  <a:moveTo>
                    <a:pt x="6286500" y="571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-190500" y="1714500"/>
              <a:ext cx="6286500" cy="1143000"/>
            </a:xfrm>
            <a:custGeom>
              <a:avLst/>
              <a:gdLst/>
              <a:ahLst/>
              <a:cxnLst/>
              <a:rect l="l" t="t" r="r" b="b"/>
              <a:pathLst>
                <a:path w="6286500" h="1143000">
                  <a:moveTo>
                    <a:pt x="6286500" y="1143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-190500" y="1143000"/>
              <a:ext cx="6286500" cy="1714500"/>
            </a:xfrm>
            <a:custGeom>
              <a:avLst/>
              <a:gdLst/>
              <a:ahLst/>
              <a:cxnLst/>
              <a:rect l="l" t="t" r="r" b="b"/>
              <a:pathLst>
                <a:path w="6286500" h="1714500">
                  <a:moveTo>
                    <a:pt x="6286500" y="1714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-190500" y="571500"/>
              <a:ext cx="6286500" cy="2286000"/>
            </a:xfrm>
            <a:custGeom>
              <a:avLst/>
              <a:gdLst/>
              <a:ahLst/>
              <a:cxnLst/>
              <a:rect l="l" t="t" r="r" b="b"/>
              <a:pathLst>
                <a:path w="6286500" h="2286000">
                  <a:moveTo>
                    <a:pt x="6286500" y="2286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5000"/>
                </a:srgbClr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476250" y="1333500"/>
            <a:ext cx="11239500" cy="3048000"/>
            <a:chOff x="476250" y="1333500"/>
            <a:chExt cx="11239500" cy="3048000"/>
          </a:xfrm>
        </p:grpSpPr>
        <p:sp>
          <p:nvSpPr>
            <p:cNvPr id="35" name="Line 35"/>
            <p:cNvSpPr/>
            <p:nvPr/>
          </p:nvSpPr>
          <p:spPr>
            <a:xfrm>
              <a:off x="476250" y="1333500"/>
              <a:ext cx="5619750" cy="1524000"/>
            </a:xfrm>
            <a:custGeom>
              <a:avLst/>
              <a:gdLst/>
              <a:ahLst/>
              <a:cxnLst/>
              <a:rect l="l" t="t" r="r" b="b"/>
              <a:pathLst>
                <a:path w="5619750" h="1524000">
                  <a:moveTo>
                    <a:pt x="5619750" y="1524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10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6096000" y="1333500"/>
              <a:ext cx="5619750" cy="1524000"/>
            </a:xfrm>
            <a:custGeom>
              <a:avLst/>
              <a:gdLst/>
              <a:ahLst/>
              <a:cxnLst/>
              <a:rect l="l" t="t" r="r" b="b"/>
              <a:pathLst>
                <a:path w="5619750" h="1524000">
                  <a:moveTo>
                    <a:pt x="0" y="1524000"/>
                  </a:moveTo>
                  <a:lnTo>
                    <a:pt x="5619750" y="0"/>
                  </a:lnTo>
                </a:path>
              </a:pathLst>
            </a:custGeom>
            <a:noFill/>
            <a:ln w="9525">
              <a:solidFill>
                <a:srgbClr val="D4A017">
                  <a:alpha val="10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76250" y="2857500"/>
              <a:ext cx="5619750" cy="1524000"/>
            </a:xfrm>
            <a:custGeom>
              <a:avLst/>
              <a:gdLst/>
              <a:ahLst/>
              <a:cxnLst/>
              <a:rect l="l" t="t" r="r" b="b"/>
              <a:pathLst>
                <a:path w="5619750" h="1524000">
                  <a:moveTo>
                    <a:pt x="561975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D4A017">
                  <a:alpha val="10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096000" y="2857500"/>
              <a:ext cx="5619750" cy="1524000"/>
            </a:xfrm>
            <a:custGeom>
              <a:avLst/>
              <a:gdLst/>
              <a:ahLst/>
              <a:cxnLst/>
              <a:rect l="l" t="t" r="r" b="b"/>
              <a:pathLst>
                <a:path w="5619750" h="1524000">
                  <a:moveTo>
                    <a:pt x="0" y="0"/>
                  </a:moveTo>
                  <a:lnTo>
                    <a:pt x="5619750" y="1524000"/>
                  </a:lnTo>
                </a:path>
              </a:pathLst>
            </a:custGeom>
            <a:noFill/>
            <a:ln w="9525">
              <a:solidFill>
                <a:srgbClr val="D4A017">
                  <a:alpha val="10000"/>
                </a:srgbClr>
              </a:solidFill>
            </a:ln>
          </p:spPr>
        </p:sp>
      </p:grpSp>
      <p:sp>
        <p:nvSpPr>
          <p:cNvPr id="40" name="Polygon 40"/>
          <p:cNvSpPr/>
          <p:nvPr/>
        </p:nvSpPr>
        <p:spPr>
          <a:xfrm>
            <a:off x="0" y="0"/>
            <a:ext cx="3048000" cy="2667000"/>
          </a:xfrm>
          <a:custGeom>
            <a:avLst/>
            <a:gdLst/>
            <a:ahLst/>
            <a:cxnLst/>
            <a:rect l="l" t="t" r="r" b="b"/>
            <a:pathLst>
              <a:path w="3048000" h="2667000">
                <a:moveTo>
                  <a:pt x="0" y="0"/>
                </a:moveTo>
                <a:lnTo>
                  <a:pt x="3048000" y="0"/>
                </a:lnTo>
                <a:lnTo>
                  <a:pt x="0" y="2667000"/>
                </a:lnTo>
                <a:close/>
              </a:path>
            </a:pathLst>
          </a:custGeom>
          <a:solidFill>
            <a:srgbClr val="5C0E0E">
              <a:alpha val="30000"/>
            </a:srgbClr>
          </a:solidFill>
          <a:ln>
            <a:noFill/>
          </a:ln>
        </p:spPr>
      </p:sp>
      <p:sp>
        <p:nvSpPr>
          <p:cNvPr id="41" name="Polygon 41"/>
          <p:cNvSpPr/>
          <p:nvPr/>
        </p:nvSpPr>
        <p:spPr>
          <a:xfrm>
            <a:off x="9144000" y="4191000"/>
            <a:ext cx="3048000" cy="2667000"/>
          </a:xfrm>
          <a:custGeom>
            <a:avLst/>
            <a:gdLst/>
            <a:ahLst/>
            <a:cxnLst/>
            <a:rect l="l" t="t" r="r" b="b"/>
            <a:pathLst>
              <a:path w="3048000" h="2667000">
                <a:moveTo>
                  <a:pt x="3048000" y="2667000"/>
                </a:moveTo>
                <a:lnTo>
                  <a:pt x="0" y="2667000"/>
                </a:lnTo>
                <a:lnTo>
                  <a:pt x="3048000" y="0"/>
                </a:lnTo>
                <a:close/>
              </a:path>
            </a:pathLst>
          </a:custGeom>
          <a:solidFill>
            <a:srgbClr val="5C0E0E">
              <a:alpha val="30000"/>
            </a:srgbClr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4667250" y="1666875"/>
            <a:ext cx="2857500" cy="762000"/>
          </a:xfrm>
          <a:prstGeom prst="roundRect">
            <a:avLst>
              <a:gd name="adj" fmla="val 2500"/>
            </a:avLst>
          </a:prstGeom>
          <a:noFill/>
          <a:ln w="28575">
            <a:solidFill>
              <a:srgbClr val="D4A017">
                <a:alpha val="90000"/>
              </a:srgbClr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743450" y="1743075"/>
            <a:ext cx="2705100" cy="609600"/>
          </a:xfrm>
          <a:prstGeom prst="roundRect">
            <a:avLst>
              <a:gd name="adj" fmla="val 1562"/>
            </a:avLst>
          </a:prstGeom>
          <a:noFill/>
          <a:ln w="9525">
            <a:solidFill>
              <a:srgbClr val="D4A017">
                <a:alpha val="5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643224" y="1870710"/>
            <a:ext cx="290555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spc="450" dirty="0">
                <a:solidFill>
                  <a:srgbClr val="D4A017"/>
                </a:solidFill>
                <a:latin typeface="Georgia"/>
                <a:ea typeface="Georgia"/>
                <a:cs typeface="Georgia"/>
              </a:rPr>
              <a:t>1893 — 1976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796092" y="3069908"/>
            <a:ext cx="6599815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650" b="1" spc="600" dirty="0">
                <a:solidFill>
                  <a:srgbClr val="F7F0E6"/>
                </a:solidFill>
                <a:latin typeface="Arial"/>
                <a:ea typeface="Microsoft YaHei"/>
                <a:cs typeface="Arial"/>
              </a:rPr>
              <a:t>毛泽东：时代与革命</a:t>
            </a:r>
          </a:p>
        </p:txBody>
      </p:sp>
      <p:sp>
        <p:nvSpPr>
          <p:cNvPr id="46" name="Line 46"/>
          <p:cNvSpPr/>
          <p:nvPr/>
        </p:nvSpPr>
        <p:spPr>
          <a:xfrm>
            <a:off x="3429000" y="38100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19050">
            <a:gradFill>
              <a:gsLst>
                <a:gs pos="0">
                  <a:srgbClr val="D4A017">
                    <a:alpha val="0"/>
                  </a:srgbClr>
                </a:gs>
                <a:gs pos="20000">
                  <a:srgbClr val="D4A017">
                    <a:alpha val="80000"/>
                  </a:srgbClr>
                </a:gs>
                <a:gs pos="50000">
                  <a:srgbClr val="D4A017"/>
                </a:gs>
                <a:gs pos="80000">
                  <a:srgbClr val="D4A017">
                    <a:alpha val="80000"/>
                  </a:srgbClr>
                </a:gs>
                <a:gs pos="100000">
                  <a:srgbClr val="D4A017">
                    <a:alpha val="0"/>
                  </a:srgbClr>
                </a:gs>
              </a:gsLst>
              <a:lin ang="0" scaled="1"/>
            </a:gradFill>
          </a:ln>
        </p:spPr>
      </p:sp>
      <p:sp>
        <p:nvSpPr>
          <p:cNvPr id="47" name="TextBox 47"/>
          <p:cNvSpPr txBox="1"/>
          <p:nvPr/>
        </p:nvSpPr>
        <p:spPr>
          <a:xfrm>
            <a:off x="1822094" y="4139565"/>
            <a:ext cx="85478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spc="225" dirty="0">
                <a:solidFill>
                  <a:srgbClr val="F3E3D3"/>
                </a:solidFill>
                <a:latin typeface="Arial"/>
                <a:ea typeface="Microsoft YaHei"/>
                <a:cs typeface="Arial"/>
              </a:rPr>
              <a:t>1893—1976，从韶山农家到开国领袖，深刻改变中国与世界的历史巨人</a:t>
            </a:r>
          </a:p>
        </p:txBody>
      </p:sp>
      <p:sp>
        <p:nvSpPr>
          <p:cNvPr id="48" name="Line 48"/>
          <p:cNvSpPr/>
          <p:nvPr/>
        </p:nvSpPr>
        <p:spPr>
          <a:xfrm>
            <a:off x="904875" y="46672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/>
          <a:ln w="14288">
            <a:solidFill>
              <a:srgbClr val="D4A017">
                <a:alpha val="60000"/>
              </a:srgbClr>
            </a:solidFill>
          </a:ln>
        </p:spPr>
      </p:sp>
      <p:sp>
        <p:nvSpPr>
          <p:cNvPr id="49" name="Ellipse 49"/>
          <p:cNvSpPr/>
          <p:nvPr/>
        </p:nvSpPr>
        <p:spPr>
          <a:xfrm>
            <a:off x="866775" y="4724400"/>
            <a:ext cx="76200" cy="762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089279" y="4680585"/>
            <a:ext cx="43658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9F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毛泽东（1893—1976），中国革命的领袖，新中国的缔造者。</a:t>
            </a:r>
          </a:p>
        </p:txBody>
      </p:sp>
      <p:sp>
        <p:nvSpPr>
          <p:cNvPr id="51" name="Ellipse 51"/>
          <p:cNvSpPr/>
          <p:nvPr/>
        </p:nvSpPr>
        <p:spPr>
          <a:xfrm>
            <a:off x="866775" y="5105400"/>
            <a:ext cx="76200" cy="762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90041" y="5077778"/>
            <a:ext cx="49579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9F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从韶山走向井冈山、延安、西柏坡，开辟农村包围城市、武装夺取政权的道路。</a:t>
            </a:r>
          </a:p>
        </p:txBody>
      </p:sp>
      <p:sp>
        <p:nvSpPr>
          <p:cNvPr id="53" name="Ellipse 53"/>
          <p:cNvSpPr/>
          <p:nvPr/>
        </p:nvSpPr>
        <p:spPr>
          <a:xfrm>
            <a:off x="866775" y="5486400"/>
            <a:ext cx="76200" cy="762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89279" y="5442585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9F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毛泽东思想是马克思列宁主义与中国实践相结合的科学指导思想。</a:t>
            </a:r>
          </a:p>
        </p:txBody>
      </p:sp>
      <p:sp>
        <p:nvSpPr>
          <p:cNvPr id="55" name="Ellipse 55"/>
          <p:cNvSpPr/>
          <p:nvPr/>
        </p:nvSpPr>
        <p:spPr>
          <a:xfrm>
            <a:off x="866775" y="5867400"/>
            <a:ext cx="76200" cy="762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89279" y="5823585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9F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一生著述逾千万字，涵盖政治、军事、哲学、诗词等，影响深远。</a:t>
            </a:r>
          </a:p>
        </p:txBody>
      </p:sp>
      <p:sp>
        <p:nvSpPr>
          <p:cNvPr id="57" name="Rectangle 57"/>
          <p:cNvSpPr/>
          <p:nvPr/>
        </p:nvSpPr>
        <p:spPr>
          <a:xfrm>
            <a:off x="0" y="6477000"/>
            <a:ext cx="12192000" cy="19050"/>
          </a:xfrm>
          <a:prstGeom prst="rect">
            <a:avLst/>
          </a:prstGeom>
          <a:solidFill>
            <a:srgbClr val="D4A017">
              <a:alpha val="50000"/>
            </a:srgbClr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0" y="6496050"/>
            <a:ext cx="12192000" cy="952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grpSp>
        <p:nvGrpSpPr>
          <p:cNvPr id="92" name="Group 92"/>
          <p:cNvGrpSpPr/>
          <p:nvPr/>
        </p:nvGrpSpPr>
        <p:grpSpPr>
          <a:xfrm>
            <a:off x="-38100" y="6819900"/>
            <a:ext cx="12268200" cy="76200"/>
            <a:chOff x="-38100" y="6819900"/>
            <a:chExt cx="12268200" cy="76200"/>
          </a:xfrm>
        </p:grpSpPr>
        <p:sp>
          <p:nvSpPr>
            <p:cNvPr id="59" name="Ellipse 59"/>
            <p:cNvSpPr/>
            <p:nvPr/>
          </p:nvSpPr>
          <p:spPr>
            <a:xfrm>
              <a:off x="-381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342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723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104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485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866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2247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628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3009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390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771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4152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4533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4914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5295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5676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6057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6438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6819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7200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7581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7962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8343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8724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9105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9486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9867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0248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0629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1010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1391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11772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12153900" y="6819900"/>
              <a:ext cx="76200" cy="76200"/>
            </a:xfrm>
            <a:prstGeom prst="ellipse">
              <a:avLst/>
            </a:prstGeom>
            <a:solidFill>
              <a:srgbClr val="7F1D1D">
                <a:alpha val="60000"/>
              </a:srgbClr>
            </a:solidFill>
            <a:ln>
              <a:noFill/>
            </a:ln>
          </p:spPr>
        </p:sp>
      </p:grpSp>
      <p:sp>
        <p:nvSpPr>
          <p:cNvPr id="93" name="Polygon 93"/>
          <p:cNvSpPr/>
          <p:nvPr/>
        </p:nvSpPr>
        <p:spPr>
          <a:xfrm>
            <a:off x="10477500" y="0"/>
            <a:ext cx="1714500" cy="2476500"/>
          </a:xfrm>
          <a:custGeom>
            <a:avLst/>
            <a:gdLst/>
            <a:ahLst/>
            <a:cxnLst/>
            <a:rect l="l" t="t" r="r" b="b"/>
            <a:pathLst>
              <a:path w="1714500" h="2476500">
                <a:moveTo>
                  <a:pt x="0" y="0"/>
                </a:moveTo>
                <a:lnTo>
                  <a:pt x="1714500" y="0"/>
                </a:lnTo>
                <a:lnTo>
                  <a:pt x="1714500" y="2476500"/>
                </a:lnTo>
                <a:close/>
              </a:path>
            </a:pathLst>
          </a:custGeom>
          <a:solidFill>
            <a:srgbClr val="D4A017">
              <a:alpha val="6000"/>
            </a:srgbClr>
          </a:solidFill>
          <a:ln>
            <a:noFill/>
          </a:ln>
        </p:spPr>
      </p:sp>
      <p:sp>
        <p:nvSpPr>
          <p:cNvPr id="94" name="Polygon 94"/>
          <p:cNvSpPr/>
          <p:nvPr/>
        </p:nvSpPr>
        <p:spPr>
          <a:xfrm>
            <a:off x="11239500" y="0"/>
            <a:ext cx="952500" cy="1333500"/>
          </a:xfrm>
          <a:custGeom>
            <a:avLst/>
            <a:gdLst/>
            <a:ahLst/>
            <a:cxnLst/>
            <a:rect l="l" t="t" r="r" b="b"/>
            <a:pathLst>
              <a:path w="952500" h="1333500">
                <a:moveTo>
                  <a:pt x="0" y="0"/>
                </a:moveTo>
                <a:lnTo>
                  <a:pt x="952500" y="0"/>
                </a:lnTo>
                <a:lnTo>
                  <a:pt x="952500" y="1333500"/>
                </a:lnTo>
                <a:close/>
              </a:path>
            </a:pathLst>
          </a:custGeom>
          <a:solidFill>
            <a:srgbClr val="D4A017">
              <a:alpha val="10000"/>
            </a:srgbClr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11594579" y="669417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D4A017">
                    <a:alphaMod val="70000"/>
                  </a:srgbClr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0E6"/>
              </a:gs>
              <a:gs pos="45000">
                <a:srgbClr val="F3E3D3"/>
              </a:gs>
              <a:gs pos="100000">
                <a:srgbClr val="F7F0E6"/>
              </a:gs>
            </a:gsLst>
            <a:lin ang="5400000" scaled="1"/>
          </a:gra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747712" y="371475"/>
            <a:ext cx="10215563" cy="5929312"/>
            <a:chOff x="747712" y="371475"/>
            <a:chExt cx="10215563" cy="5929312"/>
          </a:xfrm>
        </p:grpSpPr>
        <p:sp>
          <p:nvSpPr>
            <p:cNvPr id="3" name="Ellipse 3"/>
            <p:cNvSpPr/>
            <p:nvPr/>
          </p:nvSpPr>
          <p:spPr>
            <a:xfrm>
              <a:off x="747712" y="5572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704975" y="11334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3033712" y="7477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752975" y="3714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462712" y="9382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86725" y="5619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01212" y="84296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944225" y="46672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42975" y="18954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366962" y="26527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990975" y="32289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00712" y="236696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419975" y="294322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034462" y="20812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467975" y="24669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419225" y="427672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128962" y="47482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229225" y="39909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843712" y="45577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467725" y="41814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986962" y="484346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895475" y="58959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795712" y="62722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086475" y="57054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177212" y="6081712"/>
              <a:ext cx="28575" cy="28575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515475" y="5895975"/>
              <a:ext cx="19050" cy="19050"/>
            </a:xfrm>
            <a:prstGeom prst="ellipse">
              <a:avLst/>
            </a:prstGeom>
            <a:solidFill>
              <a:srgbClr val="C88A58">
                <a:alpha val="6000"/>
              </a:srgbClr>
            </a:solidFill>
            <a:ln>
              <a:noFill/>
            </a:ln>
          </p:spPr>
        </p:sp>
      </p:grpSp>
      <p:sp>
        <p:nvSpPr>
          <p:cNvPr id="30" name="Rectangle 30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gradFill>
            <a:gsLst>
              <a:gs pos="0">
                <a:srgbClr val="8B1E1E"/>
              </a:gs>
              <a:gs pos="100000">
                <a:srgbClr val="B91C1C"/>
              </a:gs>
            </a:gsLst>
            <a:lin ang="0" scaled="1"/>
          </a:gradFill>
          <a:ln>
            <a:noFill/>
          </a:ln>
        </p:spPr>
      </p:sp>
      <p:sp>
        <p:nvSpPr>
          <p:cNvPr id="31" name="Polygon 31"/>
          <p:cNvSpPr/>
          <p:nvPr/>
        </p:nvSpPr>
        <p:spPr>
          <a:xfrm>
            <a:off x="0" y="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0" y="0"/>
                </a:moveTo>
                <a:lnTo>
                  <a:pt x="9715500" y="0"/>
                </a:lnTo>
                <a:lnTo>
                  <a:pt x="12192000" y="1333500"/>
                </a:lnTo>
                <a:lnTo>
                  <a:pt x="2667000" y="1333500"/>
                </a:lnTo>
                <a:close/>
              </a:path>
            </a:pathLst>
          </a:custGeom>
          <a:solidFill>
            <a:srgbClr val="7F1D1D">
              <a:alpha val="30000"/>
            </a:srgbClr>
          </a:solidFill>
          <a:ln>
            <a:noFill/>
          </a:ln>
        </p:spPr>
      </p:sp>
      <p:sp>
        <p:nvSpPr>
          <p:cNvPr id="32" name="Polygon 32"/>
          <p:cNvSpPr/>
          <p:nvPr/>
        </p:nvSpPr>
        <p:spPr>
          <a:xfrm>
            <a:off x="4953000" y="0"/>
            <a:ext cx="7239000" cy="1333500"/>
          </a:xfrm>
          <a:custGeom>
            <a:avLst/>
            <a:gdLst/>
            <a:ahLst/>
            <a:cxnLst/>
            <a:rect l="l" t="t" r="r" b="b"/>
            <a:pathLst>
              <a:path w="7239000" h="1333500">
                <a:moveTo>
                  <a:pt x="2667000" y="0"/>
                </a:moveTo>
                <a:lnTo>
                  <a:pt x="7239000" y="0"/>
                </a:lnTo>
                <a:lnTo>
                  <a:pt x="7239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D4A017">
              <a:alpha val="12000"/>
            </a:srgbClr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0" y="0"/>
            <a:ext cx="4762500" cy="3810000"/>
            <a:chOff x="0" y="0"/>
            <a:chExt cx="4762500" cy="3810000"/>
          </a:xfrm>
        </p:grpSpPr>
        <p:sp>
          <p:nvSpPr>
            <p:cNvPr id="33" name="Line 33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0" y="0"/>
                  </a:moveTo>
                  <a:lnTo>
                    <a:pt x="3810000" y="190500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0"/>
              <a:ext cx="4762500" cy="952500"/>
            </a:xfrm>
            <a:custGeom>
              <a:avLst/>
              <a:gdLst/>
              <a:ahLst/>
              <a:cxnLst/>
              <a:rect l="l" t="t" r="r" b="b"/>
              <a:pathLst>
                <a:path w="4762500" h="952500">
                  <a:moveTo>
                    <a:pt x="0" y="0"/>
                  </a:moveTo>
                  <a:lnTo>
                    <a:pt x="4762500" y="95250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0"/>
              <a:ext cx="2857500" cy="2857500"/>
            </a:xfrm>
            <a:custGeom>
              <a:avLst/>
              <a:gdLst/>
              <a:ahLst/>
              <a:cxnLst/>
              <a:rect l="l" t="t" r="r" b="b"/>
              <a:pathLst>
                <a:path w="2857500" h="2857500">
                  <a:moveTo>
                    <a:pt x="0" y="0"/>
                  </a:moveTo>
                  <a:lnTo>
                    <a:pt x="2857500" y="285750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0" y="0"/>
              <a:ext cx="1905000" cy="3810000"/>
            </a:xfrm>
            <a:custGeom>
              <a:avLst/>
              <a:gdLst/>
              <a:ahLst/>
              <a:cxnLst/>
              <a:rect l="l" t="t" r="r" b="b"/>
              <a:pathLst>
                <a:path w="1905000" h="3810000">
                  <a:moveTo>
                    <a:pt x="0" y="0"/>
                  </a:moveTo>
                  <a:lnTo>
                    <a:pt x="1905000" y="381000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</p:grpSp>
      <p:sp>
        <p:nvSpPr>
          <p:cNvPr id="38" name="Rectangle 38"/>
          <p:cNvSpPr/>
          <p:nvPr/>
        </p:nvSpPr>
        <p:spPr>
          <a:xfrm>
            <a:off x="10763250" y="190500"/>
            <a:ext cx="952500" cy="952500"/>
          </a:xfrm>
          <a:prstGeom prst="rect">
            <a:avLst/>
          </a:prstGeom>
          <a:noFill/>
          <a:ln w="28575">
            <a:solidFill>
              <a:srgbClr val="D4A017">
                <a:alpha val="70000"/>
              </a:srgbClr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10858500" y="285750"/>
            <a:ext cx="762000" cy="762000"/>
          </a:xfrm>
          <a:prstGeom prst="rect">
            <a:avLst/>
          </a:prstGeom>
          <a:noFill/>
          <a:ln w="9525">
            <a:solidFill>
              <a:srgbClr val="D4A017">
                <a:alpha val="5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996422" y="469582"/>
            <a:ext cx="4861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4A017">
                    <a:alphaMod val="80000"/>
                  </a:srgbClr>
                </a:solidFill>
                <a:latin typeface="Georgia"/>
                <a:ea typeface="SimSun"/>
                <a:cs typeface="Georgia"/>
              </a:rPr>
              <a:t>革命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996422" y="755332"/>
            <a:ext cx="4861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4A017">
                    <a:alphaMod val="80000"/>
                  </a:srgbClr>
                </a:solidFill>
                <a:latin typeface="Georgia"/>
                <a:ea typeface="SimSun"/>
                <a:cs typeface="Georgia"/>
              </a:rPr>
              <a:t>之路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5498" y="374333"/>
            <a:ext cx="490755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9F0"/>
                </a:solidFill>
                <a:latin typeface="Arial"/>
                <a:ea typeface="Microsoft YaHei"/>
                <a:cs typeface="Arial"/>
              </a:rPr>
              <a:t>革命之路（1893—1949）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62356" y="920115"/>
            <a:ext cx="65608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3E3D3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从建党到大业初成，枪杆子里出政权，独立自主探索革命道路</a:t>
            </a:r>
          </a:p>
        </p:txBody>
      </p:sp>
      <p:sp>
        <p:nvSpPr>
          <p:cNvPr id="44" name="Line 44"/>
          <p:cNvSpPr/>
          <p:nvPr/>
        </p:nvSpPr>
        <p:spPr>
          <a:xfrm>
            <a:off x="571500" y="1428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D4A017"/>
            </a:solidFill>
          </a:ln>
        </p:spPr>
      </p:sp>
      <p:sp>
        <p:nvSpPr>
          <p:cNvPr id="45" name="Line 45"/>
          <p:cNvSpPr/>
          <p:nvPr/>
        </p:nvSpPr>
        <p:spPr>
          <a:xfrm>
            <a:off x="571500" y="1476375"/>
            <a:ext cx="1809750" cy="9525"/>
          </a:xfrm>
          <a:custGeom>
            <a:avLst/>
            <a:gdLst/>
            <a:ahLst/>
            <a:cxnLst/>
            <a:rect l="l" t="t" r="r" b="b"/>
            <a:pathLst>
              <a:path w="1809750" h="9525">
                <a:moveTo>
                  <a:pt x="0" y="0"/>
                </a:moveTo>
                <a:lnTo>
                  <a:pt x="1809750" y="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</p:sp>
      <p:sp>
        <p:nvSpPr>
          <p:cNvPr id="46" name="Line 46"/>
          <p:cNvSpPr/>
          <p:nvPr/>
        </p:nvSpPr>
        <p:spPr>
          <a:xfrm>
            <a:off x="762000" y="4000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>
            <a:solidFill>
              <a:srgbClr val="C88A58">
                <a:alpha val="70000"/>
              </a:srgbClr>
            </a:solidFill>
          </a:ln>
        </p:spPr>
      </p:sp>
      <p:sp>
        <p:nvSpPr>
          <p:cNvPr id="47" name="Line 47"/>
          <p:cNvSpPr/>
          <p:nvPr/>
        </p:nvSpPr>
        <p:spPr>
          <a:xfrm>
            <a:off x="762000" y="40481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B91C1C">
                <a:alpha val="40000"/>
              </a:srgbClr>
            </a:solidFill>
          </a:ln>
        </p:spPr>
      </p:sp>
      <p:sp>
        <p:nvSpPr>
          <p:cNvPr id="48" name="Polygon 48"/>
          <p:cNvSpPr/>
          <p:nvPr/>
        </p:nvSpPr>
        <p:spPr>
          <a:xfrm>
            <a:off x="762000" y="3619500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0" y="285750"/>
                </a:moveTo>
                <a:lnTo>
                  <a:pt x="762000" y="285750"/>
                </a:lnTo>
                <a:lnTo>
                  <a:pt x="381000" y="0"/>
                </a:lnTo>
                <a:close/>
              </a:path>
            </a:pathLst>
          </a:cu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49" name="Polygon 49"/>
          <p:cNvSpPr/>
          <p:nvPr/>
        </p:nvSpPr>
        <p:spPr>
          <a:xfrm>
            <a:off x="3333750" y="3667125"/>
            <a:ext cx="666750" cy="238125"/>
          </a:xfrm>
          <a:custGeom>
            <a:avLst/>
            <a:gdLst/>
            <a:ahLst/>
            <a:cxnLst/>
            <a:rect l="l" t="t" r="r" b="b"/>
            <a:pathLst>
              <a:path w="666750" h="238125">
                <a:moveTo>
                  <a:pt x="0" y="238125"/>
                </a:moveTo>
                <a:lnTo>
                  <a:pt x="666750" y="238125"/>
                </a:lnTo>
                <a:lnTo>
                  <a:pt x="381000" y="0"/>
                </a:lnTo>
                <a:close/>
              </a:path>
            </a:pathLst>
          </a:custGeom>
          <a:solidFill>
            <a:srgbClr val="7F1D1D">
              <a:alpha val="12000"/>
            </a:srgbClr>
          </a:solidFill>
          <a:ln>
            <a:noFill/>
          </a:ln>
        </p:spPr>
      </p:sp>
      <p:sp>
        <p:nvSpPr>
          <p:cNvPr id="50" name="Polygon 50"/>
          <p:cNvSpPr/>
          <p:nvPr/>
        </p:nvSpPr>
        <p:spPr>
          <a:xfrm>
            <a:off x="5715000" y="3619500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0" y="285750"/>
                </a:moveTo>
                <a:lnTo>
                  <a:pt x="762000" y="285750"/>
                </a:lnTo>
                <a:lnTo>
                  <a:pt x="381000" y="0"/>
                </a:lnTo>
                <a:close/>
              </a:path>
            </a:pathLst>
          </a:cu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51" name="Polygon 51"/>
          <p:cNvSpPr/>
          <p:nvPr/>
        </p:nvSpPr>
        <p:spPr>
          <a:xfrm>
            <a:off x="8096250" y="3667125"/>
            <a:ext cx="762000" cy="238125"/>
          </a:xfrm>
          <a:custGeom>
            <a:avLst/>
            <a:gdLst/>
            <a:ahLst/>
            <a:cxnLst/>
            <a:rect l="l" t="t" r="r" b="b"/>
            <a:pathLst>
              <a:path w="762000" h="238125">
                <a:moveTo>
                  <a:pt x="0" y="238125"/>
                </a:moveTo>
                <a:lnTo>
                  <a:pt x="762000" y="238125"/>
                </a:lnTo>
                <a:lnTo>
                  <a:pt x="381000" y="0"/>
                </a:lnTo>
                <a:close/>
              </a:path>
            </a:pathLst>
          </a:custGeom>
          <a:solidFill>
            <a:srgbClr val="7F1D1D">
              <a:alpha val="12000"/>
            </a:srgbClr>
          </a:solidFill>
          <a:ln>
            <a:noFill/>
          </a:ln>
        </p:spPr>
      </p:sp>
      <p:sp>
        <p:nvSpPr>
          <p:cNvPr id="52" name="Polygon 52"/>
          <p:cNvSpPr/>
          <p:nvPr/>
        </p:nvSpPr>
        <p:spPr>
          <a:xfrm>
            <a:off x="10287000" y="3619500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0" y="285750"/>
                </a:moveTo>
                <a:lnTo>
                  <a:pt x="762000" y="285750"/>
                </a:lnTo>
                <a:lnTo>
                  <a:pt x="381000" y="0"/>
                </a:lnTo>
                <a:close/>
              </a:path>
            </a:pathLst>
          </a:cu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 rot="2700000">
            <a:off x="1143000" y="3810000"/>
            <a:ext cx="152400" cy="152400"/>
          </a:xfrm>
          <a:prstGeom prst="rect">
            <a:avLst/>
          </a:prstGeom>
          <a:solidFill>
            <a:srgbClr val="D4A017"/>
          </a:solidFill>
          <a:ln w="19050">
            <a:solidFill>
              <a:srgbClr val="8B1E1E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1002436" y="3549968"/>
            <a:ext cx="43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1921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62000" y="2476500"/>
            <a:ext cx="1905000" cy="1143000"/>
          </a:xfrm>
          <a:prstGeom prst="roundRect">
            <a:avLst>
              <a:gd name="adj" fmla="val 1667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762000" y="2476500"/>
            <a:ext cx="1905000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51535" y="2621756"/>
            <a:ext cx="14664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中共一大 · 参与建党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52488" y="2874645"/>
            <a:ext cx="1266825" cy="48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00"/>
              </a:lnSpc>
            </a:pP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出席中共一大，参与建党</a:t>
            </a: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八七会议提出</a:t>
            </a: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"枪杆子里面出政权"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219200" y="3667125"/>
            <a:ext cx="171450" cy="447675"/>
            <a:chOff x="1219200" y="3667125"/>
            <a:chExt cx="171450" cy="447675"/>
          </a:xfrm>
        </p:grpSpPr>
        <p:sp>
          <p:nvSpPr>
            <p:cNvPr id="59" name="Line 59"/>
            <p:cNvSpPr/>
            <p:nvPr/>
          </p:nvSpPr>
          <p:spPr>
            <a:xfrm>
              <a:off x="1381125" y="37623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1219200" y="3667125"/>
              <a:ext cx="66675" cy="57150"/>
            </a:xfrm>
            <a:custGeom>
              <a:avLst/>
              <a:gdLst/>
              <a:ahLst/>
              <a:cxnLst/>
              <a:rect l="l" t="t" r="r" b="b"/>
              <a:pathLst>
                <a:path w="66675" h="57150">
                  <a:moveTo>
                    <a:pt x="0" y="57150"/>
                  </a:move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1219200" y="40481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</p:grpSp>
      <p:sp>
        <p:nvSpPr>
          <p:cNvPr id="63" name="Rectangle 63"/>
          <p:cNvSpPr/>
          <p:nvPr/>
        </p:nvSpPr>
        <p:spPr>
          <a:xfrm rot="2700000">
            <a:off x="3429000" y="3810000"/>
            <a:ext cx="152400" cy="152400"/>
          </a:xfrm>
          <a:prstGeom prst="rect">
            <a:avLst/>
          </a:prstGeom>
          <a:solidFill>
            <a:srgbClr val="D4A017"/>
          </a:solidFill>
          <a:ln w="19050">
            <a:solidFill>
              <a:srgbClr val="8B1E1E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3288436" y="3549968"/>
            <a:ext cx="43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1927</a:t>
            </a:r>
          </a:p>
        </p:txBody>
      </p:sp>
      <p:sp>
        <p:nvSpPr>
          <p:cNvPr id="65" name="Rectangle 65"/>
          <p:cNvSpPr/>
          <p:nvPr/>
        </p:nvSpPr>
        <p:spPr>
          <a:xfrm>
            <a:off x="2952750" y="4381500"/>
            <a:ext cx="2000250" cy="1143000"/>
          </a:xfrm>
          <a:prstGeom prst="roundRect">
            <a:avLst>
              <a:gd name="adj" fmla="val 1667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2952750" y="4381500"/>
            <a:ext cx="2000250" cy="57150"/>
          </a:xfrm>
          <a:prstGeom prst="rect">
            <a:avLst/>
          </a:prstGeom>
          <a:solidFill>
            <a:srgbClr val="7F1D1D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3042285" y="4526756"/>
            <a:ext cx="1784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秋收起义 · 井冈山根据地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043238" y="4779645"/>
            <a:ext cx="1038225" cy="48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00"/>
              </a:lnSpc>
            </a:pP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秋收起义开辟井冈山</a:t>
            </a: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革命根据地</a:t>
            </a: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形成工农武装割据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3295650" y="3886200"/>
            <a:ext cx="466725" cy="352425"/>
            <a:chOff x="3295650" y="3886200"/>
            <a:chExt cx="466725" cy="352425"/>
          </a:xfrm>
        </p:grpSpPr>
        <p:sp>
          <p:nvSpPr>
            <p:cNvPr id="69" name="Line 69"/>
            <p:cNvSpPr/>
            <p:nvPr/>
          </p:nvSpPr>
          <p:spPr>
            <a:xfrm>
              <a:off x="3505200" y="40481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3657600" y="38862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3295650" y="4038600"/>
              <a:ext cx="57150" cy="104775"/>
            </a:xfrm>
            <a:custGeom>
              <a:avLst/>
              <a:gdLst/>
              <a:ahLst/>
              <a:cxnLst/>
              <a:rect l="l" t="t" r="r" b="b"/>
              <a:pathLst>
                <a:path w="57150" h="104775">
                  <a:moveTo>
                    <a:pt x="57150" y="0"/>
                  </a:moveTo>
                  <a:lnTo>
                    <a:pt x="0" y="104775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</p:grpSp>
      <p:sp>
        <p:nvSpPr>
          <p:cNvPr id="73" name="Rectangle 73"/>
          <p:cNvSpPr/>
          <p:nvPr/>
        </p:nvSpPr>
        <p:spPr>
          <a:xfrm rot="2700000">
            <a:off x="5810250" y="3810000"/>
            <a:ext cx="152400" cy="152400"/>
          </a:xfrm>
          <a:prstGeom prst="rect">
            <a:avLst/>
          </a:prstGeom>
          <a:solidFill>
            <a:srgbClr val="D4A017"/>
          </a:solidFill>
          <a:ln w="19050">
            <a:solidFill>
              <a:srgbClr val="8B1E1E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5407303" y="3549968"/>
            <a:ext cx="9582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1934-1936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334000" y="2571750"/>
            <a:ext cx="1905000" cy="1047750"/>
          </a:xfrm>
          <a:prstGeom prst="roundRect">
            <a:avLst>
              <a:gd name="adj" fmla="val 1818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5334000" y="2571750"/>
            <a:ext cx="1905000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423535" y="2717006"/>
            <a:ext cx="11484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长征 · 遵义会议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424488" y="2950845"/>
            <a:ext cx="1152525" cy="328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00"/>
              </a:lnSpc>
            </a:pP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遵义会议确立领导地位</a:t>
            </a: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实现伟大战略转移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5886450" y="3667125"/>
            <a:ext cx="171450" cy="219075"/>
            <a:chOff x="5886450" y="3667125"/>
            <a:chExt cx="171450" cy="219075"/>
          </a:xfrm>
        </p:grpSpPr>
        <p:sp>
          <p:nvSpPr>
            <p:cNvPr id="79" name="Line 79"/>
            <p:cNvSpPr/>
            <p:nvPr/>
          </p:nvSpPr>
          <p:spPr>
            <a:xfrm>
              <a:off x="6048375" y="37623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5886450" y="3667125"/>
              <a:ext cx="66675" cy="57150"/>
            </a:xfrm>
            <a:custGeom>
              <a:avLst/>
              <a:gdLst/>
              <a:ahLst/>
              <a:cxnLst/>
              <a:rect l="l" t="t" r="r" b="b"/>
              <a:pathLst>
                <a:path w="66675" h="57150">
                  <a:moveTo>
                    <a:pt x="0" y="57150"/>
                  </a:move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</p:grpSp>
      <p:sp>
        <p:nvSpPr>
          <p:cNvPr id="82" name="Rectangle 82"/>
          <p:cNvSpPr/>
          <p:nvPr/>
        </p:nvSpPr>
        <p:spPr>
          <a:xfrm rot="2700000">
            <a:off x="8191500" y="3810000"/>
            <a:ext cx="152400" cy="152400"/>
          </a:xfrm>
          <a:prstGeom prst="rect">
            <a:avLst/>
          </a:prstGeom>
          <a:solidFill>
            <a:srgbClr val="D4A017"/>
          </a:solidFill>
          <a:ln w="19050">
            <a:solidFill>
              <a:srgbClr val="8B1E1E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788553" y="3549968"/>
            <a:ext cx="9582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1937-1945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715250" y="4381500"/>
            <a:ext cx="2000250" cy="1143000"/>
          </a:xfrm>
          <a:prstGeom prst="roundRect">
            <a:avLst>
              <a:gd name="adj" fmla="val 1667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85" name="Rectangle 85"/>
          <p:cNvSpPr/>
          <p:nvPr/>
        </p:nvSpPr>
        <p:spPr>
          <a:xfrm>
            <a:off x="7715250" y="4381500"/>
            <a:ext cx="2000250" cy="57150"/>
          </a:xfrm>
          <a:prstGeom prst="rect">
            <a:avLst/>
          </a:prstGeom>
          <a:solidFill>
            <a:srgbClr val="7F1D1D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7804785" y="4526756"/>
            <a:ext cx="13074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抗日战争 · 持久战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805738" y="4779645"/>
            <a:ext cx="1152525" cy="328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00"/>
              </a:lnSpc>
            </a:pP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倡导抗日民族统一战线</a:t>
            </a: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《论持久战》指引方向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8267700" y="3886200"/>
            <a:ext cx="257175" cy="352425"/>
            <a:chOff x="8267700" y="3886200"/>
            <a:chExt cx="257175" cy="352425"/>
          </a:xfrm>
        </p:grpSpPr>
        <p:sp>
          <p:nvSpPr>
            <p:cNvPr id="88" name="Line 88"/>
            <p:cNvSpPr/>
            <p:nvPr/>
          </p:nvSpPr>
          <p:spPr>
            <a:xfrm>
              <a:off x="8267700" y="40481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89" name="Line 89"/>
            <p:cNvSpPr/>
            <p:nvPr/>
          </p:nvSpPr>
          <p:spPr>
            <a:xfrm>
              <a:off x="8420100" y="3886200"/>
              <a:ext cx="104775" cy="9525"/>
            </a:xfrm>
            <a:custGeom>
              <a:avLst/>
              <a:gdLst/>
              <a:ahLst/>
              <a:cxnLst/>
              <a:rect l="l" t="t" r="r" b="b"/>
              <a:pathLst>
                <a:path w="104775" h="9525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</p:grpSp>
      <p:sp>
        <p:nvSpPr>
          <p:cNvPr id="91" name="Rectangle 91"/>
          <p:cNvSpPr/>
          <p:nvPr/>
        </p:nvSpPr>
        <p:spPr>
          <a:xfrm rot="2700000">
            <a:off x="10572750" y="3810000"/>
            <a:ext cx="152400" cy="152400"/>
          </a:xfrm>
          <a:prstGeom prst="rect">
            <a:avLst/>
          </a:prstGeom>
          <a:solidFill>
            <a:srgbClr val="D4A017"/>
          </a:solidFill>
          <a:ln w="19050">
            <a:solidFill>
              <a:srgbClr val="8B1E1E"/>
            </a:solidFill>
          </a:ln>
        </p:spPr>
      </p:sp>
      <p:sp>
        <p:nvSpPr>
          <p:cNvPr id="92" name="TextBox 92"/>
          <p:cNvSpPr txBox="1"/>
          <p:nvPr/>
        </p:nvSpPr>
        <p:spPr>
          <a:xfrm>
            <a:off x="10169803" y="3549968"/>
            <a:ext cx="9582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B91C1C"/>
                </a:solidFill>
                <a:latin typeface="Arial"/>
                <a:ea typeface="Arial"/>
                <a:cs typeface="Arial"/>
              </a:rPr>
              <a:t>1945-1949</a:t>
            </a:r>
          </a:p>
        </p:txBody>
      </p:sp>
      <p:sp>
        <p:nvSpPr>
          <p:cNvPr id="93" name="Rectangle 93"/>
          <p:cNvSpPr/>
          <p:nvPr/>
        </p:nvSpPr>
        <p:spPr>
          <a:xfrm>
            <a:off x="10096500" y="2571750"/>
            <a:ext cx="1809750" cy="1047750"/>
          </a:xfrm>
          <a:prstGeom prst="roundRect">
            <a:avLst>
              <a:gd name="adj" fmla="val 1818"/>
            </a:avLst>
          </a:prstGeom>
          <a:solidFill>
            <a:srgbClr val="FFF9F0"/>
          </a:solidFill>
          <a:ln w="14288">
            <a:solidFill>
              <a:srgbClr val="C88A58"/>
            </a:solidFill>
          </a:ln>
        </p:spPr>
      </p:sp>
      <p:sp>
        <p:nvSpPr>
          <p:cNvPr id="94" name="Rectangle 94"/>
          <p:cNvSpPr/>
          <p:nvPr/>
        </p:nvSpPr>
        <p:spPr>
          <a:xfrm>
            <a:off x="10096500" y="2571750"/>
            <a:ext cx="1809750" cy="571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10186035" y="2717006"/>
            <a:ext cx="14664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解放战争 · 三大战役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186988" y="2950845"/>
            <a:ext cx="809625" cy="48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00"/>
              </a:lnSpc>
            </a:pP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指挥三大战役</a:t>
            </a: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推翻国民党统治</a:t>
            </a:r>
            <a:r>
              <a:rPr lang="zh-CN" sz="9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建立新中国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10648950" y="3667125"/>
            <a:ext cx="171450" cy="447675"/>
            <a:chOff x="10648950" y="3667125"/>
            <a:chExt cx="171450" cy="447675"/>
          </a:xfrm>
        </p:grpSpPr>
        <p:sp>
          <p:nvSpPr>
            <p:cNvPr id="97" name="Line 97"/>
            <p:cNvSpPr/>
            <p:nvPr/>
          </p:nvSpPr>
          <p:spPr>
            <a:xfrm>
              <a:off x="10810875" y="37623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10648950" y="3667125"/>
              <a:ext cx="66675" cy="57150"/>
            </a:xfrm>
            <a:custGeom>
              <a:avLst/>
              <a:gdLst/>
              <a:ahLst/>
              <a:cxnLst/>
              <a:rect l="l" t="t" r="r" b="b"/>
              <a:pathLst>
                <a:path w="66675" h="57150">
                  <a:moveTo>
                    <a:pt x="0" y="57150"/>
                  </a:moveTo>
                  <a:lnTo>
                    <a:pt x="66675" y="0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10648950" y="40481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</p:grpSp>
      <p:sp>
        <p:nvSpPr>
          <p:cNvPr id="101" name="Freeform 101"/>
          <p:cNvSpPr/>
          <p:nvPr/>
        </p:nvSpPr>
        <p:spPr>
          <a:xfrm>
            <a:off x="1381125" y="3517900"/>
            <a:ext cx="9267825" cy="730250"/>
          </a:xfrm>
          <a:custGeom>
            <a:avLst/>
            <a:gdLst/>
            <a:ahLst/>
            <a:cxnLst/>
            <a:rect l="l" t="t" r="r" b="b"/>
            <a:pathLst>
              <a:path w="9267825" h="730250">
                <a:moveTo>
                  <a:pt x="0" y="368300"/>
                </a:moveTo>
                <a:cubicBezTo>
                  <a:pt x="666750" y="0"/>
                  <a:pt x="1374775" y="0"/>
                  <a:pt x="2124075" y="368300"/>
                </a:cubicBezTo>
                <a:cubicBezTo>
                  <a:pt x="2962275" y="730250"/>
                  <a:pt x="3810000" y="730250"/>
                  <a:pt x="4667250" y="368300"/>
                </a:cubicBezTo>
                <a:cubicBezTo>
                  <a:pt x="5397500" y="0"/>
                  <a:pt x="6137275" y="0"/>
                  <a:pt x="6886575" y="368300"/>
                </a:cubicBezTo>
                <a:cubicBezTo>
                  <a:pt x="7597775" y="730250"/>
                  <a:pt x="8391525" y="730250"/>
                  <a:pt x="9267825" y="368300"/>
                </a:cubicBezTo>
              </a:path>
            </a:pathLst>
          </a:custGeom>
          <a:noFill/>
          <a:ln w="19050">
            <a:solidFill>
              <a:srgbClr val="D4A017">
                <a:alpha val="35000"/>
              </a:srgbClr>
            </a:solidFill>
            <a:prstDash val="lgDash"/>
          </a:ln>
        </p:spPr>
      </p:sp>
      <p:sp>
        <p:nvSpPr>
          <p:cNvPr id="102" name="Polygon 102"/>
          <p:cNvSpPr/>
          <p:nvPr/>
        </p:nvSpPr>
        <p:spPr>
          <a:xfrm>
            <a:off x="381000" y="5619750"/>
            <a:ext cx="285750" cy="190500"/>
          </a:xfrm>
          <a:custGeom>
            <a:avLst/>
            <a:gdLst/>
            <a:ahLst/>
            <a:cxnLst/>
            <a:rect l="l" t="t" r="r" b="b"/>
            <a:pathLst>
              <a:path w="285750" h="190500">
                <a:moveTo>
                  <a:pt x="0" y="190500"/>
                </a:moveTo>
                <a:lnTo>
                  <a:pt x="285750" y="190500"/>
                </a:lnTo>
                <a:lnTo>
                  <a:pt x="95250" y="0"/>
                </a:lnTo>
                <a:close/>
              </a:path>
            </a:pathLst>
          </a:custGeom>
          <a:solidFill>
            <a:srgbClr val="B91C1C">
              <a:alpha val="18000"/>
            </a:srgbClr>
          </a:solidFill>
          <a:ln>
            <a:noFill/>
          </a:ln>
        </p:spPr>
      </p:sp>
      <p:sp>
        <p:nvSpPr>
          <p:cNvPr id="103" name="Polygon 103"/>
          <p:cNvSpPr/>
          <p:nvPr/>
        </p:nvSpPr>
        <p:spPr>
          <a:xfrm>
            <a:off x="571500" y="5810250"/>
            <a:ext cx="285750" cy="190500"/>
          </a:xfrm>
          <a:custGeom>
            <a:avLst/>
            <a:gdLst/>
            <a:ahLst/>
            <a:cxnLst/>
            <a:rect l="l" t="t" r="r" b="b"/>
            <a:pathLst>
              <a:path w="285750" h="190500">
                <a:moveTo>
                  <a:pt x="0" y="190500"/>
                </a:moveTo>
                <a:lnTo>
                  <a:pt x="285750" y="190500"/>
                </a:lnTo>
                <a:lnTo>
                  <a:pt x="95250" y="0"/>
                </a:lnTo>
                <a:close/>
              </a:path>
            </a:pathLst>
          </a:custGeom>
          <a:solidFill>
            <a:srgbClr val="D4A017">
              <a:alpha val="12000"/>
            </a:srgbClr>
          </a:solidFill>
          <a:ln>
            <a:noFill/>
          </a:ln>
        </p:spPr>
      </p:sp>
      <p:sp>
        <p:nvSpPr>
          <p:cNvPr id="104" name="Rectangle 104"/>
          <p:cNvSpPr/>
          <p:nvPr/>
        </p:nvSpPr>
        <p:spPr>
          <a:xfrm>
            <a:off x="381000" y="6191250"/>
            <a:ext cx="11430000" cy="428625"/>
          </a:xfrm>
          <a:prstGeom prst="roundRect">
            <a:avLst>
              <a:gd name="adj" fmla="val 4444"/>
            </a:avLst>
          </a:prstGeom>
          <a:solidFill>
            <a:srgbClr val="8B1E1E">
              <a:alpha val="8000"/>
            </a:srgbClr>
          </a:solidFill>
          <a:ln>
            <a:noFill/>
          </a:ln>
        </p:spPr>
      </p:sp>
      <p:sp>
        <p:nvSpPr>
          <p:cNvPr id="105" name="Line 105"/>
          <p:cNvSpPr/>
          <p:nvPr/>
        </p:nvSpPr>
        <p:spPr>
          <a:xfrm>
            <a:off x="381000" y="6191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C88A58">
                <a:alpha val="40000"/>
              </a:srgbClr>
            </a:solidFill>
          </a:ln>
        </p:spPr>
      </p:sp>
      <p:sp>
        <p:nvSpPr>
          <p:cNvPr id="106" name="TextBox 106"/>
          <p:cNvSpPr txBox="1"/>
          <p:nvPr/>
        </p:nvSpPr>
        <p:spPr>
          <a:xfrm>
            <a:off x="5931646" y="634460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B4B43">
                    <a:alphaMod val="70000"/>
                  </a:srgbClr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76238" y="6360795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4B43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毛泽东：时代与革命</a:t>
            </a:r>
          </a:p>
        </p:txBody>
      </p:sp>
      <p:sp>
        <p:nvSpPr>
          <p:cNvPr id="108" name="Line 108"/>
          <p:cNvSpPr/>
          <p:nvPr/>
        </p:nvSpPr>
        <p:spPr>
          <a:xfrm>
            <a:off x="10858500" y="636270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rgbClr val="D4A017">
                <a:alpha val="50000"/>
              </a:srgbClr>
            </a:solidFill>
          </a:ln>
        </p:spPr>
      </p:sp>
      <p:sp>
        <p:nvSpPr>
          <p:cNvPr id="109" name="Line 109"/>
          <p:cNvSpPr/>
          <p:nvPr/>
        </p:nvSpPr>
        <p:spPr>
          <a:xfrm>
            <a:off x="10858500" y="641032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4288">
            <a:solidFill>
              <a:srgbClr val="B91C1C">
                <a:alpha val="4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6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3D3">
              <a:alpha val="15000"/>
            </a:srgbClr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552450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0" y="762000"/>
                </a:moveTo>
                <a:lnTo>
                  <a:pt x="12192000" y="0"/>
                </a:lnTo>
                <a:lnTo>
                  <a:pt x="12192000" y="1333500"/>
                </a:lnTo>
                <a:lnTo>
                  <a:pt x="0" y="1333500"/>
                </a:lnTo>
                <a:close/>
              </a:path>
            </a:pathLst>
          </a:custGeom>
          <a:gradFill>
            <a:gsLst>
              <a:gs pos="0">
                <a:srgbClr val="B91C1C">
                  <a:alpha val="12000"/>
                </a:srgbClr>
              </a:gs>
              <a:gs pos="100000">
                <a:srgbClr val="7F1D1D">
                  <a:alpha val="12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0" y="5810250"/>
            <a:ext cx="12192000" cy="1047750"/>
          </a:xfrm>
          <a:custGeom>
            <a:avLst/>
            <a:gdLst/>
            <a:ahLst/>
            <a:cxnLst/>
            <a:rect l="l" t="t" r="r" b="b"/>
            <a:pathLst>
              <a:path w="12192000" h="1047750">
                <a:moveTo>
                  <a:pt x="0" y="666750"/>
                </a:moveTo>
                <a:lnTo>
                  <a:pt x="12192000" y="0"/>
                </a:lnTo>
                <a:lnTo>
                  <a:pt x="12192000" y="1047750"/>
                </a:lnTo>
                <a:lnTo>
                  <a:pt x="0" y="1047750"/>
                </a:lnTo>
                <a:close/>
              </a:path>
            </a:pathLst>
          </a:custGeom>
          <a:gradFill>
            <a:gsLst>
              <a:gs pos="0">
                <a:srgbClr val="B91C1C">
                  <a:alpha val="8000"/>
                </a:srgbClr>
              </a:gs>
              <a:gs pos="100000">
                <a:srgbClr val="7F1D1D">
                  <a:alpha val="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0" y="0"/>
            <a:ext cx="3619500" cy="114300"/>
          </a:xfrm>
          <a:custGeom>
            <a:avLst/>
            <a:gdLst/>
            <a:ahLst/>
            <a:cxnLst/>
            <a:rect l="l" t="t" r="r" b="b"/>
            <a:pathLst>
              <a:path w="3619500" h="114300">
                <a:moveTo>
                  <a:pt x="0" y="0"/>
                </a:moveTo>
                <a:lnTo>
                  <a:pt x="3619500" y="0"/>
                </a:lnTo>
                <a:lnTo>
                  <a:pt x="2857500" y="76200"/>
                </a:lnTo>
                <a:lnTo>
                  <a:pt x="0" y="114300"/>
                </a:lnTo>
                <a:close/>
              </a:path>
            </a:pathLst>
          </a:custGeom>
          <a:solidFill>
            <a:srgbClr val="B91C1C">
              <a:alpha val="8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95250"/>
            <a:ext cx="3048000" cy="2000250"/>
            <a:chOff x="571500" y="95250"/>
            <a:chExt cx="3048000" cy="2000250"/>
          </a:xfrm>
        </p:grpSpPr>
        <p:sp>
          <p:nvSpPr>
            <p:cNvPr id="7" name="Line 7"/>
            <p:cNvSpPr/>
            <p:nvPr/>
          </p:nvSpPr>
          <p:spPr>
            <a:xfrm>
              <a:off x="952500" y="190500"/>
              <a:ext cx="2095500" cy="1524000"/>
            </a:xfrm>
            <a:custGeom>
              <a:avLst/>
              <a:gdLst/>
              <a:ahLst/>
              <a:cxnLst/>
              <a:rect l="l" t="t" r="r" b="b"/>
              <a:pathLst>
                <a:path w="2095500" h="1524000">
                  <a:moveTo>
                    <a:pt x="0" y="0"/>
                  </a:moveTo>
                  <a:lnTo>
                    <a:pt x="2095500" y="1524000"/>
                  </a:lnTo>
                </a:path>
              </a:pathLst>
            </a:custGeom>
            <a:noFill/>
            <a:ln w="14288">
              <a:solidFill>
                <a:srgbClr val="B91C1C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95250"/>
              <a:ext cx="2476500" cy="1333500"/>
            </a:xfrm>
            <a:custGeom>
              <a:avLst/>
              <a:gdLst/>
              <a:ahLst/>
              <a:cxnLst/>
              <a:rect l="l" t="t" r="r" b="b"/>
              <a:pathLst>
                <a:path w="2476500" h="1333500">
                  <a:moveTo>
                    <a:pt x="0" y="0"/>
                  </a:moveTo>
                  <a:lnTo>
                    <a:pt x="2476500" y="1333500"/>
                  </a:lnTo>
                </a:path>
              </a:pathLst>
            </a:custGeom>
            <a:noFill/>
            <a:ln w="9525">
              <a:solidFill>
                <a:srgbClr val="B91C1C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381000"/>
              <a:ext cx="1714500" cy="1524000"/>
            </a:xfrm>
            <a:custGeom>
              <a:avLst/>
              <a:gdLst/>
              <a:ahLst/>
              <a:cxnLst/>
              <a:rect l="l" t="t" r="r" b="b"/>
              <a:pathLst>
                <a:path w="1714500" h="1524000">
                  <a:moveTo>
                    <a:pt x="0" y="0"/>
                  </a:moveTo>
                  <a:lnTo>
                    <a:pt x="1714500" y="1524000"/>
                  </a:lnTo>
                </a:path>
              </a:pathLst>
            </a:custGeom>
            <a:noFill/>
            <a:ln w="9525">
              <a:solidFill>
                <a:srgbClr val="B91C1C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571500"/>
              <a:ext cx="1333500" cy="1524000"/>
            </a:xfrm>
            <a:custGeom>
              <a:avLst/>
              <a:gdLst/>
              <a:ahLst/>
              <a:cxnLst/>
              <a:rect l="l" t="t" r="r" b="b"/>
              <a:pathLst>
                <a:path w="1333500" h="1524000">
                  <a:moveTo>
                    <a:pt x="0" y="0"/>
                  </a:moveTo>
                  <a:lnTo>
                    <a:pt x="1333500" y="1524000"/>
                  </a:lnTo>
                </a:path>
              </a:pathLst>
            </a:custGeom>
            <a:noFill/>
            <a:ln w="7620">
              <a:solidFill>
                <a:srgbClr val="B91C1C">
                  <a:alpha val="6000"/>
                </a:srgbClr>
              </a:solidFill>
            </a:ln>
          </p:spPr>
        </p:sp>
      </p:grpSp>
      <p:sp>
        <p:nvSpPr>
          <p:cNvPr id="12" name="Rectangle 12"/>
          <p:cNvSpPr/>
          <p:nvPr/>
        </p:nvSpPr>
        <p:spPr>
          <a:xfrm rot="720000">
            <a:off x="10668000" y="666750"/>
            <a:ext cx="495300" cy="495300"/>
          </a:xfrm>
          <a:prstGeom prst="rect">
            <a:avLst/>
          </a:prstGeom>
          <a:noFill/>
          <a:ln w="23812">
            <a:solidFill>
              <a:srgbClr val="D4A017">
                <a:alpha val="45000"/>
              </a:srgbClr>
            </a:solidFill>
          </a:ln>
        </p:spPr>
      </p:sp>
      <p:sp>
        <p:nvSpPr>
          <p:cNvPr id="13" name="Rectangle 13"/>
          <p:cNvSpPr/>
          <p:nvPr/>
        </p:nvSpPr>
        <p:spPr>
          <a:xfrm rot="720000">
            <a:off x="10763250" y="762000"/>
            <a:ext cx="304800" cy="304800"/>
          </a:xfrm>
          <a:prstGeom prst="rect">
            <a:avLst/>
          </a:prstGeom>
          <a:noFill/>
          <a:ln w="11430">
            <a:solidFill>
              <a:srgbClr val="B91C1C">
                <a:alpha val="35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10766580" y="882714"/>
            <a:ext cx="298139" cy="63371"/>
          </a:xfrm>
          <a:custGeom>
            <a:avLst/>
            <a:gdLst/>
            <a:ahLst/>
            <a:cxnLst/>
            <a:rect l="l" t="t" r="r" b="b"/>
            <a:pathLst>
              <a:path w="298139" h="63371">
                <a:moveTo>
                  <a:pt x="0" y="0"/>
                </a:moveTo>
                <a:lnTo>
                  <a:pt x="298139" y="63371"/>
                </a:lnTo>
              </a:path>
            </a:pathLst>
          </a:custGeom>
          <a:noFill/>
          <a:ln w="7620">
            <a:solidFill>
              <a:srgbClr val="D4A017">
                <a:alpha val="4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10883964" y="765330"/>
            <a:ext cx="63371" cy="298139"/>
          </a:xfrm>
          <a:custGeom>
            <a:avLst/>
            <a:gdLst/>
            <a:ahLst/>
            <a:cxnLst/>
            <a:rect l="l" t="t" r="r" b="b"/>
            <a:pathLst>
              <a:path w="63371" h="298139">
                <a:moveTo>
                  <a:pt x="63371" y="0"/>
                </a:moveTo>
                <a:lnTo>
                  <a:pt x="0" y="298139"/>
                </a:lnTo>
              </a:path>
            </a:pathLst>
          </a:custGeom>
          <a:noFill/>
          <a:ln w="7620">
            <a:solidFill>
              <a:srgbClr val="D4A017">
                <a:alpha val="40000"/>
              </a:srgbClr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57200" y="952500"/>
            <a:ext cx="57150" cy="4953000"/>
          </a:xfrm>
          <a:prstGeom prst="roundRect">
            <a:avLst>
              <a:gd name="adj" fmla="val 16667"/>
            </a:avLst>
          </a:prstGeom>
          <a:solidFill>
            <a:srgbClr val="B91C1C">
              <a:alpha val="18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1047750"/>
            <a:ext cx="28575" cy="4762500"/>
          </a:xfrm>
          <a:prstGeom prst="roundRect">
            <a:avLst>
              <a:gd name="adj" fmla="val 16667"/>
            </a:avLst>
          </a:prstGeom>
          <a:solidFill>
            <a:srgbClr val="D4A017">
              <a:alpha val="15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62000" y="1885950"/>
            <a:ext cx="4953000" cy="19050"/>
          </a:xfrm>
          <a:prstGeom prst="rect">
            <a:avLst/>
          </a:prstGeom>
          <a:gradFill>
            <a:gsLst>
              <a:gs pos="0">
                <a:srgbClr val="D4A017">
                  <a:alpha val="0"/>
                </a:srgbClr>
              </a:gs>
              <a:gs pos="50000">
                <a:srgbClr val="D4A017"/>
              </a:gs>
              <a:gs pos="100000">
                <a:srgbClr val="D4A017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762000" y="1924050"/>
            <a:ext cx="1524000" cy="190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233099" y="6518910"/>
            <a:ext cx="5839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4B43">
                    <a:alphaMod val="70000"/>
                  </a:srgbClr>
                </a:solidFill>
                <a:latin typeface="Georgia"/>
                <a:ea typeface="Georgia"/>
                <a:cs typeface="Georgia"/>
              </a:rPr>
              <a:t>03 / 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3524" y="1199198"/>
            <a:ext cx="438795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立国与探索</a:t>
            </a:r>
            <a:r>
              <a:rPr lang="en-US" sz="3450" b="1" dirty="0">
                <a:solidFill>
                  <a:srgbClr val="2A1713"/>
                </a:solidFill>
                <a:latin typeface="Arial"/>
                <a:ea typeface="Arial"/>
                <a:cs typeface="Arial"/>
              </a:rPr>
              <a:t xml:space="preserve"> </a:t>
            </a:r>
            <a:r>
              <a:rPr lang="zh-CN" sz="1800" b="1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（1949—1962）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2668" y="2060258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开国奠基，社会主义改造与建设，在曲折中前进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428750" y="428625"/>
            <a:ext cx="9334500" cy="5476875"/>
            <a:chOff x="1428750" y="428625"/>
            <a:chExt cx="9334500" cy="5476875"/>
          </a:xfrm>
        </p:grpSpPr>
        <p:grpSp>
          <p:nvGrpSpPr>
            <p:cNvPr id="49" name="Group 49"/>
            <p:cNvGrpSpPr/>
            <p:nvPr/>
          </p:nvGrpSpPr>
          <p:grpSpPr>
            <a:xfrm>
              <a:off x="1428750" y="428625"/>
              <a:ext cx="9334500" cy="5286375"/>
              <a:chOff x="1428750" y="428625"/>
              <a:chExt cx="9334500" cy="5286375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1905000" y="952500"/>
                <a:ext cx="419100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2190750">
                    <a:moveTo>
                      <a:pt x="4191000" y="2190750"/>
                    </a:moveTo>
                    <a:lnTo>
                      <a:pt x="0" y="0"/>
                    </a:lnTo>
                  </a:path>
                </a:pathLst>
              </a:custGeom>
              <a:noFill/>
              <a:ln w="1714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2381250" y="666750"/>
                <a:ext cx="3714750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2476500">
                    <a:moveTo>
                      <a:pt x="3714750" y="24765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3333750" y="523875"/>
                <a:ext cx="2762250" cy="2619375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2619375">
                    <a:moveTo>
                      <a:pt x="2762250" y="2619375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4762500" y="476250"/>
                <a:ext cx="13335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2667000">
                    <a:moveTo>
                      <a:pt x="1333500" y="266700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6096000" y="428625"/>
                <a:ext cx="95250" cy="2714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714625">
                    <a:moveTo>
                      <a:pt x="0" y="2714625"/>
                    </a:moveTo>
                    <a:lnTo>
                      <a:pt x="95250" y="0"/>
                    </a:lnTo>
                  </a:path>
                </a:pathLst>
              </a:custGeom>
              <a:noFill/>
              <a:ln w="762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6096000" y="523875"/>
                <a:ext cx="1524000" cy="261937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2619375">
                    <a:moveTo>
                      <a:pt x="0" y="2619375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6096000" y="571500"/>
                <a:ext cx="2762250" cy="2571750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2571750">
                    <a:moveTo>
                      <a:pt x="0" y="2571750"/>
                    </a:moveTo>
                    <a:lnTo>
                      <a:pt x="2762250" y="0"/>
                    </a:lnTo>
                  </a:path>
                </a:pathLst>
              </a:custGeom>
              <a:noFill/>
              <a:ln w="1143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096000" y="857250"/>
                <a:ext cx="390525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2286000">
                    <a:moveTo>
                      <a:pt x="0" y="2286000"/>
                    </a:moveTo>
                    <a:lnTo>
                      <a:pt x="3905250" y="0"/>
                    </a:lnTo>
                  </a:path>
                </a:pathLst>
              </a:custGeom>
              <a:noFill/>
              <a:ln w="14288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6096000" y="1238250"/>
                <a:ext cx="4572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905000">
                    <a:moveTo>
                      <a:pt x="0" y="1905000"/>
                    </a:moveTo>
                    <a:lnTo>
                      <a:pt x="4572000" y="0"/>
                    </a:lnTo>
                  </a:path>
                </a:pathLst>
              </a:custGeom>
              <a:noFill/>
              <a:ln w="1714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1714500" y="1428750"/>
                <a:ext cx="43815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1714500">
                    <a:moveTo>
                      <a:pt x="4381500" y="1714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1524000" y="2095500"/>
                <a:ext cx="45720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047750">
                    <a:moveTo>
                      <a:pt x="4572000" y="1047750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1428750" y="2857500"/>
                <a:ext cx="4667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667250" h="285750">
                    <a:moveTo>
                      <a:pt x="4667250" y="285750"/>
                    </a:moveTo>
                    <a:lnTo>
                      <a:pt x="0" y="0"/>
                    </a:lnTo>
                  </a:path>
                </a:pathLst>
              </a:custGeom>
              <a:noFill/>
              <a:ln w="2667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6096000" y="1905000"/>
                <a:ext cx="4572000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238250">
                    <a:moveTo>
                      <a:pt x="0" y="1238250"/>
                    </a:moveTo>
                    <a:lnTo>
                      <a:pt x="4572000" y="0"/>
                    </a:lnTo>
                  </a:path>
                </a:pathLst>
              </a:custGeom>
              <a:noFill/>
              <a:ln w="2095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096000" y="2667000"/>
                <a:ext cx="4667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667250" h="476250">
                    <a:moveTo>
                      <a:pt x="0" y="476250"/>
                    </a:moveTo>
                    <a:lnTo>
                      <a:pt x="4667250" y="0"/>
                    </a:lnTo>
                  </a:path>
                </a:pathLst>
              </a:custGeom>
              <a:noFill/>
              <a:ln w="2476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6096000" y="3143250"/>
                <a:ext cx="457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285750">
                    <a:moveTo>
                      <a:pt x="0" y="0"/>
                    </a:moveTo>
                    <a:lnTo>
                      <a:pt x="4572000" y="285750"/>
                    </a:lnTo>
                  </a:path>
                </a:pathLst>
              </a:custGeom>
              <a:noFill/>
              <a:ln w="2667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1428750" y="3143250"/>
                <a:ext cx="4667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667250" h="476250">
                    <a:moveTo>
                      <a:pt x="466725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2857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1619250" y="3143250"/>
                <a:ext cx="4476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1143000">
                    <a:moveTo>
                      <a:pt x="447675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23812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2095500" y="3143250"/>
                <a:ext cx="4000500" cy="1809750"/>
              </a:xfrm>
              <a:custGeom>
                <a:avLst/>
                <a:gdLst/>
                <a:ahLst/>
                <a:cxnLst/>
                <a:rect l="l" t="t" r="r" b="b"/>
                <a:pathLst>
                  <a:path w="4000500" h="1809750">
                    <a:moveTo>
                      <a:pt x="4000500" y="0"/>
                    </a:moveTo>
                    <a:lnTo>
                      <a:pt x="0" y="1809750"/>
                    </a:lnTo>
                  </a:path>
                </a:pathLst>
              </a:custGeom>
              <a:noFill/>
              <a:ln w="1905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2857500" y="3143250"/>
                <a:ext cx="323850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2190750">
                    <a:moveTo>
                      <a:pt x="3238500" y="0"/>
                    </a:moveTo>
                    <a:lnTo>
                      <a:pt x="0" y="2190750"/>
                    </a:lnTo>
                  </a:path>
                </a:pathLst>
              </a:custGeom>
              <a:noFill/>
              <a:ln w="14288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3810000" y="3143250"/>
                <a:ext cx="2286000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2428875">
                    <a:moveTo>
                      <a:pt x="2286000" y="0"/>
                    </a:moveTo>
                    <a:lnTo>
                      <a:pt x="0" y="2428875"/>
                    </a:lnTo>
                  </a:path>
                </a:pathLst>
              </a:custGeom>
              <a:noFill/>
              <a:ln w="952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4953000" y="3143250"/>
                <a:ext cx="1143000" cy="25717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571750">
                    <a:moveTo>
                      <a:pt x="1143000" y="0"/>
                    </a:moveTo>
                    <a:lnTo>
                      <a:pt x="0" y="2571750"/>
                    </a:lnTo>
                  </a:path>
                </a:pathLst>
              </a:custGeom>
              <a:noFill/>
              <a:ln w="762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6096000" y="3143250"/>
                <a:ext cx="1143000" cy="25717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571750">
                    <a:moveTo>
                      <a:pt x="0" y="0"/>
                    </a:moveTo>
                    <a:lnTo>
                      <a:pt x="1143000" y="2571750"/>
                    </a:lnTo>
                  </a:path>
                </a:pathLst>
              </a:custGeom>
              <a:noFill/>
              <a:ln w="762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6096000" y="3143250"/>
                <a:ext cx="2286000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2428875">
                    <a:moveTo>
                      <a:pt x="0" y="0"/>
                    </a:moveTo>
                    <a:lnTo>
                      <a:pt x="2286000" y="2428875"/>
                    </a:lnTo>
                  </a:path>
                </a:pathLst>
              </a:custGeom>
              <a:noFill/>
              <a:ln w="9525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6096000" y="3143250"/>
                <a:ext cx="3429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2095500">
                    <a:moveTo>
                      <a:pt x="0" y="0"/>
                    </a:moveTo>
                    <a:lnTo>
                      <a:pt x="3429000" y="2095500"/>
                    </a:lnTo>
                  </a:path>
                </a:pathLst>
              </a:custGeom>
              <a:noFill/>
              <a:ln w="14288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6096000" y="3143250"/>
                <a:ext cx="4191000" cy="161925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1619250">
                    <a:moveTo>
                      <a:pt x="0" y="0"/>
                    </a:moveTo>
                    <a:lnTo>
                      <a:pt x="4191000" y="1619250"/>
                    </a:lnTo>
                  </a:path>
                </a:pathLst>
              </a:custGeom>
              <a:noFill/>
              <a:ln w="19050">
                <a:solidFill>
                  <a:srgbClr val="D4A017">
                    <a:alpha val="10000"/>
                  </a:srgbClr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6096000" y="3143250"/>
                <a:ext cx="45720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047750">
                    <a:moveTo>
                      <a:pt x="0" y="0"/>
                    </a:moveTo>
                    <a:lnTo>
                      <a:pt x="4572000" y="1047750"/>
                    </a:lnTo>
                  </a:path>
                </a:pathLst>
              </a:custGeom>
              <a:noFill/>
              <a:ln w="23812">
                <a:solidFill>
                  <a:srgbClr val="D4A017">
                    <a:alpha val="10000"/>
                  </a:srgbClr>
                </a:solidFill>
              </a:ln>
            </p:spPr>
          </p:sp>
        </p:grpSp>
        <p:sp>
          <p:nvSpPr>
            <p:cNvPr id="50" name="Ellipse 50"/>
            <p:cNvSpPr/>
            <p:nvPr/>
          </p:nvSpPr>
          <p:spPr>
            <a:xfrm>
              <a:off x="3238500" y="571500"/>
              <a:ext cx="5715000" cy="5334000"/>
            </a:xfrm>
            <a:prstGeom prst="ellipse">
              <a:avLst/>
            </a:prstGeom>
            <a:solidFill>
              <a:srgbClr val="FFF9F0">
                <a:alpha val="50000"/>
              </a:srgbClr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381500" y="1619250"/>
              <a:ext cx="3429000" cy="3238500"/>
            </a:xfrm>
            <a:prstGeom prst="ellipse">
              <a:avLst/>
            </a:prstGeom>
            <a:solidFill>
              <a:srgbClr val="FFF9F0">
                <a:alpha val="60000"/>
              </a:srgbClr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5829300" y="2085975"/>
              <a:ext cx="1200150" cy="809625"/>
              <a:chOff x="5829300" y="2085975"/>
              <a:chExt cx="1200150" cy="809625"/>
            </a:xfrm>
          </p:grpSpPr>
          <p:sp>
            <p:nvSpPr>
              <p:cNvPr id="52" name="Polygon 52"/>
              <p:cNvSpPr/>
              <p:nvPr/>
            </p:nvSpPr>
            <p:spPr>
              <a:xfrm>
                <a:off x="5829300" y="2286000"/>
                <a:ext cx="5334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95300">
                    <a:moveTo>
                      <a:pt x="266700" y="0"/>
                    </a:moveTo>
                    <a:lnTo>
                      <a:pt x="323850" y="190500"/>
                    </a:lnTo>
                    <a:lnTo>
                      <a:pt x="533400" y="190500"/>
                    </a:lnTo>
                    <a:lnTo>
                      <a:pt x="361950" y="304800"/>
                    </a:lnTo>
                    <a:lnTo>
                      <a:pt x="428625" y="495300"/>
                    </a:lnTo>
                    <a:lnTo>
                      <a:pt x="266700" y="381000"/>
                    </a:lnTo>
                    <a:lnTo>
                      <a:pt x="104775" y="495300"/>
                    </a:lnTo>
                    <a:lnTo>
                      <a:pt x="171450" y="304800"/>
                    </a:lnTo>
                    <a:lnTo>
                      <a:pt x="0" y="190500"/>
                    </a:lnTo>
                    <a:lnTo>
                      <a:pt x="209550" y="190500"/>
                    </a:lnTo>
                    <a:close/>
                  </a:path>
                </a:pathLst>
              </a:custGeom>
              <a:solidFill>
                <a:srgbClr val="B91C1C">
                  <a:alpha val="35000"/>
                </a:srgbClr>
              </a:solidFill>
              <a:ln>
                <a:noFill/>
              </a:ln>
            </p:spPr>
          </p:sp>
          <p:sp>
            <p:nvSpPr>
              <p:cNvPr id="53" name="Polygon 53"/>
              <p:cNvSpPr/>
              <p:nvPr/>
            </p:nvSpPr>
            <p:spPr>
              <a:xfrm>
                <a:off x="6534150" y="2085975"/>
                <a:ext cx="3048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85750">
                    <a:moveTo>
                      <a:pt x="152400" y="0"/>
                    </a:moveTo>
                    <a:lnTo>
                      <a:pt x="190500" y="104775"/>
                    </a:lnTo>
                    <a:lnTo>
                      <a:pt x="304800" y="104775"/>
                    </a:lnTo>
                    <a:lnTo>
                      <a:pt x="209550" y="180975"/>
                    </a:lnTo>
                    <a:lnTo>
                      <a:pt x="247650" y="285750"/>
                    </a:lnTo>
                    <a:lnTo>
                      <a:pt x="152400" y="219075"/>
                    </a:lnTo>
                    <a:lnTo>
                      <a:pt x="57150" y="285750"/>
                    </a:lnTo>
                    <a:lnTo>
                      <a:pt x="95250" y="180975"/>
                    </a:lnTo>
                    <a:lnTo>
                      <a:pt x="0" y="104775"/>
                    </a:lnTo>
                    <a:lnTo>
                      <a:pt x="114300" y="104775"/>
                    </a:lnTo>
                    <a:close/>
                  </a:path>
                </a:pathLst>
              </a:custGeom>
              <a:solidFill>
                <a:srgbClr val="B91C1C">
                  <a:alpha val="35000"/>
                </a:srgbClr>
              </a:solidFill>
              <a:ln>
                <a:noFill/>
              </a:ln>
            </p:spPr>
          </p:sp>
          <p:sp>
            <p:nvSpPr>
              <p:cNvPr id="54" name="Polygon 54"/>
              <p:cNvSpPr/>
              <p:nvPr/>
            </p:nvSpPr>
            <p:spPr>
              <a:xfrm>
                <a:off x="6724650" y="2343150"/>
                <a:ext cx="3048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85750">
                    <a:moveTo>
                      <a:pt x="152400" y="0"/>
                    </a:moveTo>
                    <a:lnTo>
                      <a:pt x="190500" y="104775"/>
                    </a:lnTo>
                    <a:lnTo>
                      <a:pt x="304800" y="104775"/>
                    </a:lnTo>
                    <a:lnTo>
                      <a:pt x="209550" y="180975"/>
                    </a:lnTo>
                    <a:lnTo>
                      <a:pt x="247650" y="285750"/>
                    </a:lnTo>
                    <a:lnTo>
                      <a:pt x="152400" y="219075"/>
                    </a:lnTo>
                    <a:lnTo>
                      <a:pt x="57150" y="285750"/>
                    </a:lnTo>
                    <a:lnTo>
                      <a:pt x="95250" y="180975"/>
                    </a:lnTo>
                    <a:lnTo>
                      <a:pt x="0" y="104775"/>
                    </a:lnTo>
                    <a:lnTo>
                      <a:pt x="114300" y="104775"/>
                    </a:lnTo>
                    <a:close/>
                  </a:path>
                </a:pathLst>
              </a:custGeom>
              <a:solidFill>
                <a:srgbClr val="B91C1C">
                  <a:alpha val="35000"/>
                </a:srgbClr>
              </a:solidFill>
              <a:ln>
                <a:noFill/>
              </a:ln>
            </p:spPr>
          </p:sp>
          <p:sp>
            <p:nvSpPr>
              <p:cNvPr id="55" name="Polygon 55"/>
              <p:cNvSpPr/>
              <p:nvPr/>
            </p:nvSpPr>
            <p:spPr>
              <a:xfrm>
                <a:off x="6610350" y="2609850"/>
                <a:ext cx="3048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85750">
                    <a:moveTo>
                      <a:pt x="152400" y="0"/>
                    </a:moveTo>
                    <a:lnTo>
                      <a:pt x="190500" y="104775"/>
                    </a:lnTo>
                    <a:lnTo>
                      <a:pt x="304800" y="104775"/>
                    </a:lnTo>
                    <a:lnTo>
                      <a:pt x="209550" y="180975"/>
                    </a:lnTo>
                    <a:lnTo>
                      <a:pt x="247650" y="285750"/>
                    </a:lnTo>
                    <a:lnTo>
                      <a:pt x="152400" y="219075"/>
                    </a:lnTo>
                    <a:lnTo>
                      <a:pt x="57150" y="285750"/>
                    </a:lnTo>
                    <a:lnTo>
                      <a:pt x="95250" y="180975"/>
                    </a:lnTo>
                    <a:lnTo>
                      <a:pt x="0" y="104775"/>
                    </a:lnTo>
                    <a:lnTo>
                      <a:pt x="114300" y="104775"/>
                    </a:lnTo>
                    <a:close/>
                  </a:path>
                </a:pathLst>
              </a:custGeom>
              <a:solidFill>
                <a:srgbClr val="B91C1C">
                  <a:alpha val="35000"/>
                </a:srgbClr>
              </a:solidFill>
              <a:ln>
                <a:noFill/>
              </a:ln>
            </p:spPr>
          </p:sp>
          <p:sp>
            <p:nvSpPr>
              <p:cNvPr id="56" name="Polygon 56"/>
              <p:cNvSpPr/>
              <p:nvPr/>
            </p:nvSpPr>
            <p:spPr>
              <a:xfrm>
                <a:off x="6210300" y="2495550"/>
                <a:ext cx="3048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85750">
                    <a:moveTo>
                      <a:pt x="152400" y="0"/>
                    </a:moveTo>
                    <a:lnTo>
                      <a:pt x="190500" y="104775"/>
                    </a:lnTo>
                    <a:lnTo>
                      <a:pt x="304800" y="104775"/>
                    </a:lnTo>
                    <a:lnTo>
                      <a:pt x="209550" y="180975"/>
                    </a:lnTo>
                    <a:lnTo>
                      <a:pt x="247650" y="285750"/>
                    </a:lnTo>
                    <a:lnTo>
                      <a:pt x="152400" y="219075"/>
                    </a:lnTo>
                    <a:lnTo>
                      <a:pt x="57150" y="285750"/>
                    </a:lnTo>
                    <a:lnTo>
                      <a:pt x="95250" y="180975"/>
                    </a:lnTo>
                    <a:lnTo>
                      <a:pt x="0" y="104775"/>
                    </a:lnTo>
                    <a:lnTo>
                      <a:pt x="114300" y="104775"/>
                    </a:lnTo>
                    <a:close/>
                  </a:path>
                </a:pathLst>
              </a:custGeom>
              <a:solidFill>
                <a:srgbClr val="B91C1C">
                  <a:alpha val="35000"/>
                </a:srgbClr>
              </a:solidFill>
              <a:ln>
                <a:noFill/>
              </a:ln>
            </p:spPr>
          </p:sp>
        </p:grpSp>
        <p:sp>
          <p:nvSpPr>
            <p:cNvPr id="58" name="Rectangle 58"/>
            <p:cNvSpPr/>
            <p:nvPr/>
          </p:nvSpPr>
          <p:spPr>
            <a:xfrm>
              <a:off x="4191000" y="1714500"/>
              <a:ext cx="3810000" cy="2952750"/>
            </a:xfrm>
            <a:prstGeom prst="roundRect">
              <a:avLst>
                <a:gd name="adj" fmla="val 645"/>
              </a:avLst>
            </a:prstGeom>
            <a:noFill/>
            <a:ln w="23812">
              <a:solidFill>
                <a:srgbClr val="C88A58">
                  <a:alpha val="30000"/>
                </a:srgbClr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286250" y="1809750"/>
              <a:ext cx="3619500" cy="2762250"/>
            </a:xfrm>
            <a:prstGeom prst="roundRect">
              <a:avLst>
                <a:gd name="adj" fmla="val 345"/>
              </a:avLst>
            </a:prstGeom>
            <a:noFill/>
            <a:ln w="9525">
              <a:solidFill>
                <a:srgbClr val="D4A017">
                  <a:alpha val="20000"/>
                </a:srgbClr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762000" y="5048250"/>
            <a:ext cx="3238500" cy="1162050"/>
            <a:chOff x="762000" y="5048250"/>
            <a:chExt cx="3238500" cy="1162050"/>
          </a:xfrm>
        </p:grpSpPr>
        <p:sp>
          <p:nvSpPr>
            <p:cNvPr id="61" name="Rectangle 61"/>
            <p:cNvSpPr/>
            <p:nvPr/>
          </p:nvSpPr>
          <p:spPr>
            <a:xfrm>
              <a:off x="762000" y="5048250"/>
              <a:ext cx="3238500" cy="1162050"/>
            </a:xfrm>
            <a:prstGeom prst="roundRect">
              <a:avLst>
                <a:gd name="adj" fmla="val 1639"/>
              </a:avLst>
            </a:prstGeom>
            <a:solidFill>
              <a:srgbClr val="FFF9F0">
                <a:alpha val="92000"/>
              </a:srgbClr>
            </a:solidFill>
            <a:ln w="11430">
              <a:solidFill>
                <a:srgbClr val="C88A58">
                  <a:alpha val="92000"/>
                </a:srgbClr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5048250"/>
              <a:ext cx="47625" cy="1162050"/>
            </a:xfrm>
            <a:prstGeom prst="roundRect">
              <a:avLst>
                <a:gd name="adj" fmla="val 20000"/>
              </a:avLst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76300" y="5162550"/>
              <a:ext cx="171450" cy="171450"/>
            </a:xfrm>
            <a:prstGeom prst="rect">
              <a:avLst/>
            </a:prstGeom>
            <a:noFill/>
            <a:ln w="14288">
              <a:solidFill>
                <a:srgbClr val="D4A017">
                  <a:alpha val="60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876300" y="524827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5715">
              <a:solidFill>
                <a:srgbClr val="D4A017">
                  <a:alpha val="50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962025" y="51625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5715">
              <a:solidFill>
                <a:srgbClr val="D4A017">
                  <a:alpha val="5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202817" y="5159692"/>
              <a:ext cx="1254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1949 开国大典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04341" y="54111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毛泽东宣告中华人民共和国成立，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204341" y="55826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升起第一面五星红旗。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476750" y="5048250"/>
            <a:ext cx="3238500" cy="1162050"/>
            <a:chOff x="4476750" y="5048250"/>
            <a:chExt cx="3238500" cy="1162050"/>
          </a:xfrm>
        </p:grpSpPr>
        <p:sp>
          <p:nvSpPr>
            <p:cNvPr id="70" name="Rectangle 70"/>
            <p:cNvSpPr/>
            <p:nvPr/>
          </p:nvSpPr>
          <p:spPr>
            <a:xfrm>
              <a:off x="4476750" y="5048250"/>
              <a:ext cx="3238500" cy="1162050"/>
            </a:xfrm>
            <a:prstGeom prst="roundRect">
              <a:avLst>
                <a:gd name="adj" fmla="val 1639"/>
              </a:avLst>
            </a:prstGeom>
            <a:solidFill>
              <a:srgbClr val="FFF9F0">
                <a:alpha val="92000"/>
              </a:srgbClr>
            </a:solidFill>
            <a:ln w="11430">
              <a:solidFill>
                <a:srgbClr val="C88A58">
                  <a:alpha val="92000"/>
                </a:srgbClr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4476750" y="5048250"/>
              <a:ext cx="47625" cy="1162050"/>
            </a:xfrm>
            <a:prstGeom prst="roundRect">
              <a:avLst>
                <a:gd name="adj" fmla="val 20000"/>
              </a:avLst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4591050" y="5162550"/>
              <a:ext cx="171450" cy="171450"/>
            </a:xfrm>
            <a:prstGeom prst="rect">
              <a:avLst/>
            </a:prstGeom>
            <a:noFill/>
            <a:ln w="14288">
              <a:solidFill>
                <a:srgbClr val="D4A017">
                  <a:alpha val="60000"/>
                </a:srgbClr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4591050" y="524827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5715">
              <a:solidFill>
                <a:srgbClr val="D4A017">
                  <a:alpha val="50000"/>
                </a:srgbClr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4676775" y="51625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5715">
              <a:solidFill>
                <a:srgbClr val="D4A017">
                  <a:alpha val="50000"/>
                </a:srgbClr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917567" y="5159692"/>
              <a:ext cx="1826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1953 过渡时期总路线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919091" y="54111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土地改革与抗美援朝巩固新政权，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919091" y="55826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推进工业化与社会主义改造。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191500" y="5048250"/>
            <a:ext cx="3238500" cy="1162050"/>
            <a:chOff x="8191500" y="5048250"/>
            <a:chExt cx="3238500" cy="1162050"/>
          </a:xfrm>
        </p:grpSpPr>
        <p:sp>
          <p:nvSpPr>
            <p:cNvPr id="79" name="Rectangle 79"/>
            <p:cNvSpPr/>
            <p:nvPr/>
          </p:nvSpPr>
          <p:spPr>
            <a:xfrm>
              <a:off x="8191500" y="5048250"/>
              <a:ext cx="3238500" cy="1162050"/>
            </a:xfrm>
            <a:prstGeom prst="roundRect">
              <a:avLst>
                <a:gd name="adj" fmla="val 1639"/>
              </a:avLst>
            </a:prstGeom>
            <a:solidFill>
              <a:srgbClr val="FFF9F0">
                <a:alpha val="92000"/>
              </a:srgbClr>
            </a:solidFill>
            <a:ln w="11430">
              <a:solidFill>
                <a:srgbClr val="C88A58">
                  <a:alpha val="92000"/>
                </a:srgbClr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8191500" y="5048250"/>
              <a:ext cx="47625" cy="1162050"/>
            </a:xfrm>
            <a:prstGeom prst="roundRect">
              <a:avLst>
                <a:gd name="adj" fmla="val 20000"/>
              </a:avLst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305800" y="5162550"/>
              <a:ext cx="171450" cy="171450"/>
            </a:xfrm>
            <a:prstGeom prst="rect">
              <a:avLst/>
            </a:prstGeom>
            <a:noFill/>
            <a:ln w="14288">
              <a:solidFill>
                <a:srgbClr val="D4A017">
                  <a:alpha val="60000"/>
                </a:srgbClr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8305800" y="524827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5715">
              <a:solidFill>
                <a:srgbClr val="D4A017">
                  <a:alpha val="50000"/>
                </a:srgbClr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8391525" y="51625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5715">
              <a:solidFill>
                <a:srgbClr val="D4A017">
                  <a:alpha val="50000"/>
                </a:srgbClr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632317" y="5159692"/>
              <a:ext cx="1444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1956 论十大关系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633841" y="5411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探索适合国情的建设道路，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633841" y="55826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在曲折中积累经验与教训。</a:t>
              </a:r>
            </a:p>
          </p:txBody>
        </p:sp>
      </p:grpSp>
      <p:sp>
        <p:nvSpPr>
          <p:cNvPr id="88" name="Line 88"/>
          <p:cNvSpPr/>
          <p:nvPr/>
        </p:nvSpPr>
        <p:spPr>
          <a:xfrm>
            <a:off x="762000" y="6381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5715">
            <a:solidFill>
              <a:srgbClr val="C88A58">
                <a:alpha val="40000"/>
              </a:srgbClr>
            </a:solidFill>
          </a:ln>
        </p:spPr>
      </p:sp>
      <p:sp>
        <p:nvSpPr>
          <p:cNvPr id="89" name="Polygon 89"/>
          <p:cNvSpPr/>
          <p:nvPr/>
        </p:nvSpPr>
        <p:spPr>
          <a:xfrm>
            <a:off x="11430000" y="0"/>
            <a:ext cx="762000" cy="1047750"/>
          </a:xfrm>
          <a:custGeom>
            <a:avLst/>
            <a:gdLst/>
            <a:ahLst/>
            <a:cxnLst/>
            <a:rect l="l" t="t" r="r" b="b"/>
            <a:pathLst>
              <a:path w="762000" h="1047750">
                <a:moveTo>
                  <a:pt x="0" y="381000"/>
                </a:moveTo>
                <a:lnTo>
                  <a:pt x="571500" y="0"/>
                </a:lnTo>
                <a:lnTo>
                  <a:pt x="762000" y="0"/>
                </a:lnTo>
                <a:lnTo>
                  <a:pt x="762000" y="666750"/>
                </a:lnTo>
                <a:lnTo>
                  <a:pt x="0" y="1047750"/>
                </a:lnTo>
                <a:close/>
              </a:path>
            </a:pathLst>
          </a:custGeom>
          <a:solidFill>
            <a:srgbClr val="B91C1C">
              <a:alpha val="6000"/>
            </a:srgbClr>
          </a:solidFill>
          <a:ln>
            <a:noFill/>
          </a:ln>
        </p:spPr>
      </p:sp>
      <p:sp>
        <p:nvSpPr>
          <p:cNvPr id="90" name="Polygon 90"/>
          <p:cNvSpPr/>
          <p:nvPr/>
        </p:nvSpPr>
        <p:spPr>
          <a:xfrm>
            <a:off x="11239500" y="95250"/>
            <a:ext cx="952500" cy="1238250"/>
          </a:xfrm>
          <a:custGeom>
            <a:avLst/>
            <a:gdLst/>
            <a:ahLst/>
            <a:cxnLst/>
            <a:rect l="l" t="t" r="r" b="b"/>
            <a:pathLst>
              <a:path w="952500" h="1238250">
                <a:moveTo>
                  <a:pt x="0" y="476250"/>
                </a:moveTo>
                <a:lnTo>
                  <a:pt x="476250" y="0"/>
                </a:lnTo>
                <a:lnTo>
                  <a:pt x="952500" y="0"/>
                </a:lnTo>
                <a:lnTo>
                  <a:pt x="952500" y="762000"/>
                </a:lnTo>
                <a:lnTo>
                  <a:pt x="0" y="1238250"/>
                </a:lnTo>
                <a:close/>
              </a:path>
            </a:pathLst>
          </a:custGeom>
          <a:solidFill>
            <a:srgbClr val="D4A017">
              <a:alpha val="4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1D1D"/>
          </a:solidFill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0" y="152400"/>
            <a:ext cx="12192000" cy="6648450"/>
            <a:chOff x="0" y="152400"/>
            <a:chExt cx="12192000" cy="6648450"/>
          </a:xfrm>
        </p:grpSpPr>
        <p:sp>
          <p:nvSpPr>
            <p:cNvPr id="3" name="Line 3"/>
            <p:cNvSpPr/>
            <p:nvPr/>
          </p:nvSpPr>
          <p:spPr>
            <a:xfrm>
              <a:off x="0" y="152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143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476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6381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8001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9620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11239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12858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1447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16097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17716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19335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2095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0" y="22574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0" y="24193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25812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2743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29051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30670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0" y="32289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0" y="33909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35528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3714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38766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4038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42005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43624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45243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6863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482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0101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51720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0" y="54959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0" y="56578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58197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5981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61436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63055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646747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6629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6791325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FFF9F0">
                  <a:alpha val="8000"/>
                </a:srgbClr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0" y="0"/>
            <a:ext cx="1905000" cy="1905000"/>
            <a:chOff x="0" y="0"/>
            <a:chExt cx="1905000" cy="1905000"/>
          </a:xfrm>
        </p:grpSpPr>
        <p:sp>
          <p:nvSpPr>
            <p:cNvPr id="46" name="Line 46"/>
            <p:cNvSpPr/>
            <p:nvPr/>
          </p:nvSpPr>
          <p:spPr>
            <a:xfrm>
              <a:off x="0" y="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0"/>
              <a:ext cx="1714500" cy="571500"/>
            </a:xfrm>
            <a:custGeom>
              <a:avLst/>
              <a:gdLst/>
              <a:ahLst/>
              <a:cxnLst/>
              <a:rect l="l" t="t" r="r" b="b"/>
              <a:pathLst>
                <a:path w="1714500" h="571500">
                  <a:moveTo>
                    <a:pt x="0" y="0"/>
                  </a:moveTo>
                  <a:lnTo>
                    <a:pt x="1714500" y="57150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0"/>
              <a:ext cx="1238250" cy="1143000"/>
            </a:xfrm>
            <a:custGeom>
              <a:avLst/>
              <a:gdLst/>
              <a:ahLst/>
              <a:cxnLst/>
              <a:rect l="l" t="t" r="r" b="b"/>
              <a:pathLst>
                <a:path w="1238250" h="1143000">
                  <a:moveTo>
                    <a:pt x="0" y="0"/>
                  </a:moveTo>
                  <a:lnTo>
                    <a:pt x="1238250" y="114300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0"/>
              <a:ext cx="571500" cy="1714500"/>
            </a:xfrm>
            <a:custGeom>
              <a:avLst/>
              <a:gdLst/>
              <a:ahLst/>
              <a:cxnLst/>
              <a:rect l="l" t="t" r="r" b="b"/>
              <a:pathLst>
                <a:path w="571500" h="1714500">
                  <a:moveTo>
                    <a:pt x="0" y="0"/>
                  </a:moveTo>
                  <a:lnTo>
                    <a:pt x="571500" y="171450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4288">
              <a:solidFill>
                <a:srgbClr val="D4A017">
                  <a:alpha val="15000"/>
                </a:srgbClr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0287000" y="4953000"/>
            <a:ext cx="1914525" cy="1914525"/>
            <a:chOff x="10287000" y="4953000"/>
            <a:chExt cx="1914525" cy="1914525"/>
          </a:xfrm>
        </p:grpSpPr>
        <p:sp>
          <p:nvSpPr>
            <p:cNvPr id="52" name="Line 52"/>
            <p:cNvSpPr/>
            <p:nvPr/>
          </p:nvSpPr>
          <p:spPr>
            <a:xfrm>
              <a:off x="10287000" y="6858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1905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A017">
                  <a:alpha val="12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10477500" y="6286500"/>
              <a:ext cx="1714500" cy="571500"/>
            </a:xfrm>
            <a:custGeom>
              <a:avLst/>
              <a:gdLst/>
              <a:ahLst/>
              <a:cxnLst/>
              <a:rect l="l" t="t" r="r" b="b"/>
              <a:pathLst>
                <a:path w="1714500" h="571500">
                  <a:moveTo>
                    <a:pt x="1714500" y="571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A017">
                  <a:alpha val="12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10953750" y="5715000"/>
              <a:ext cx="1238250" cy="1143000"/>
            </a:xfrm>
            <a:custGeom>
              <a:avLst/>
              <a:gdLst/>
              <a:ahLst/>
              <a:cxnLst/>
              <a:rect l="l" t="t" r="r" b="b"/>
              <a:pathLst>
                <a:path w="1238250" h="1143000">
                  <a:moveTo>
                    <a:pt x="1238250" y="11430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A017">
                  <a:alpha val="12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11620500" y="5143500"/>
              <a:ext cx="571500" cy="1714500"/>
            </a:xfrm>
            <a:custGeom>
              <a:avLst/>
              <a:gdLst/>
              <a:ahLst/>
              <a:cxnLst/>
              <a:rect l="l" t="t" r="r" b="b"/>
              <a:pathLst>
                <a:path w="571500" h="1714500">
                  <a:moveTo>
                    <a:pt x="571500" y="1714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A017">
                  <a:alpha val="12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12192000" y="49530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19050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A017">
                  <a:alpha val="12000"/>
                </a:srgbClr>
              </a:solidFill>
            </a:ln>
          </p:spPr>
        </p:sp>
      </p:grpSp>
      <p:sp>
        <p:nvSpPr>
          <p:cNvPr id="58" name="Rectangle 58"/>
          <p:cNvSpPr/>
          <p:nvPr/>
        </p:nvSpPr>
        <p:spPr>
          <a:xfrm>
            <a:off x="762000" y="419100"/>
            <a:ext cx="57150" cy="5715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914400" y="419100"/>
            <a:ext cx="28575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126236" y="481965"/>
            <a:ext cx="514124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晚年风云（1962—1976）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35380" y="1000125"/>
            <a:ext cx="40538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3E3D3"/>
                </a:solidFill>
                <a:latin typeface="Arial"/>
                <a:ea typeface="Microsoft YaHei"/>
                <a:cs typeface="Arial"/>
              </a:rPr>
              <a:t>文革发动，外交破冰，晚年重大事件影响深远</a:t>
            </a:r>
          </a:p>
        </p:txBody>
      </p:sp>
      <p:sp>
        <p:nvSpPr>
          <p:cNvPr id="62" name="Line 62"/>
          <p:cNvSpPr/>
          <p:nvPr/>
        </p:nvSpPr>
        <p:spPr>
          <a:xfrm>
            <a:off x="762000" y="13144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19050">
            <a:gradFill>
              <a:gsLst>
                <a:gs pos="0">
                  <a:srgbClr val="C88A58"/>
                </a:gs>
                <a:gs pos="20000">
                  <a:srgbClr val="D4A017"/>
                </a:gs>
                <a:gs pos="80000">
                  <a:srgbClr val="D4A017"/>
                </a:gs>
                <a:gs pos="100000">
                  <a:srgbClr val="C88A58"/>
                </a:gs>
              </a:gsLst>
              <a:lin ang="0" scaled="1"/>
            </a:gradFill>
          </a:ln>
        </p:spPr>
      </p:sp>
      <p:sp>
        <p:nvSpPr>
          <p:cNvPr id="63" name="Line 63"/>
          <p:cNvSpPr/>
          <p:nvPr/>
        </p:nvSpPr>
        <p:spPr>
          <a:xfrm>
            <a:off x="2667000" y="1714500"/>
            <a:ext cx="9525" cy="4381500"/>
          </a:xfrm>
          <a:custGeom>
            <a:avLst/>
            <a:gdLst/>
            <a:ahLst/>
            <a:cxnLst/>
            <a:rect l="l" t="t" r="r" b="b"/>
            <a:pathLst>
              <a:path w="9525" h="4381500">
                <a:moveTo>
                  <a:pt x="0" y="0"/>
                </a:moveTo>
                <a:lnTo>
                  <a:pt x="0" y="4381500"/>
                </a:lnTo>
              </a:path>
            </a:pathLst>
          </a:custGeom>
          <a:noFill/>
          <a:ln w="28575">
            <a:solidFill>
              <a:srgbClr val="D4A017"/>
            </a:solidFill>
            <a:prstDash val="lgDash"/>
          </a:ln>
        </p:spPr>
      </p:sp>
      <p:sp>
        <p:nvSpPr>
          <p:cNvPr id="64" name="Ellipse 64"/>
          <p:cNvSpPr/>
          <p:nvPr/>
        </p:nvSpPr>
        <p:spPr>
          <a:xfrm>
            <a:off x="2590800" y="1924050"/>
            <a:ext cx="152400" cy="152400"/>
          </a:xfrm>
          <a:prstGeom prst="ellipse">
            <a:avLst/>
          </a:prstGeom>
          <a:solidFill>
            <a:srgbClr val="7F1D1D"/>
          </a:solidFill>
          <a:ln w="28575">
            <a:solidFill>
              <a:srgbClr val="D4A017"/>
            </a:solidFill>
          </a:ln>
        </p:spPr>
      </p:sp>
      <p:sp>
        <p:nvSpPr>
          <p:cNvPr id="65" name="Ellipse 65"/>
          <p:cNvSpPr/>
          <p:nvPr/>
        </p:nvSpPr>
        <p:spPr>
          <a:xfrm>
            <a:off x="2638425" y="1971675"/>
            <a:ext cx="57150" cy="571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1524000" y="1828800"/>
            <a:ext cx="819150" cy="342900"/>
          </a:xfrm>
          <a:prstGeom prst="rect">
            <a:avLst/>
          </a:prstGeom>
          <a:noFill/>
          <a:ln w="23812">
            <a:solidFill>
              <a:srgbClr val="D4A017"/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1552575" y="1857375"/>
            <a:ext cx="762000" cy="285750"/>
          </a:xfrm>
          <a:prstGeom prst="rect">
            <a:avLst/>
          </a:prstGeom>
          <a:noFill/>
          <a:ln w="9525">
            <a:solidFill>
              <a:srgbClr val="D4A017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679524" y="1895475"/>
            <a:ext cx="508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D4A017"/>
                </a:solidFill>
                <a:latin typeface="Georgia"/>
                <a:ea typeface="Georgia"/>
                <a:cs typeface="Georgia"/>
              </a:rPr>
              <a:t>1962</a:t>
            </a:r>
          </a:p>
        </p:txBody>
      </p:sp>
      <p:sp>
        <p:nvSpPr>
          <p:cNvPr id="69" name="Rectangle 69"/>
          <p:cNvSpPr/>
          <p:nvPr/>
        </p:nvSpPr>
        <p:spPr>
          <a:xfrm>
            <a:off x="3143250" y="1790700"/>
            <a:ext cx="3619500" cy="419100"/>
          </a:xfrm>
          <a:prstGeom prst="roundRect">
            <a:avLst>
              <a:gd name="adj" fmla="val 4545"/>
            </a:avLst>
          </a:prstGeom>
          <a:solidFill>
            <a:srgbClr val="8B1E1E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3143250" y="1790700"/>
            <a:ext cx="36195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146548" y="18435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9F0"/>
                </a:solidFill>
                <a:latin typeface="Arial"/>
                <a:ea typeface="Microsoft YaHei"/>
                <a:cs typeface="Arial"/>
              </a:rPr>
              <a:t>七千人大会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290697" y="2028349"/>
            <a:ext cx="18474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3E3D3"/>
                </a:solidFill>
                <a:latin typeface="Arial"/>
                <a:ea typeface="Microsoft YaHei"/>
                <a:cs typeface="Arial"/>
              </a:rPr>
              <a:t>总结大跃进教训，应对经济危机</a:t>
            </a:r>
          </a:p>
        </p:txBody>
      </p:sp>
      <p:sp>
        <p:nvSpPr>
          <p:cNvPr id="73" name="Ellipse 73"/>
          <p:cNvSpPr/>
          <p:nvPr/>
        </p:nvSpPr>
        <p:spPr>
          <a:xfrm>
            <a:off x="2590800" y="2790825"/>
            <a:ext cx="152400" cy="152400"/>
          </a:xfrm>
          <a:prstGeom prst="ellipse">
            <a:avLst/>
          </a:prstGeom>
          <a:solidFill>
            <a:srgbClr val="7F1D1D"/>
          </a:solidFill>
          <a:ln w="28575">
            <a:solidFill>
              <a:srgbClr val="D4A017"/>
            </a:solidFill>
          </a:ln>
        </p:spPr>
      </p:sp>
      <p:sp>
        <p:nvSpPr>
          <p:cNvPr id="74" name="Ellipse 74"/>
          <p:cNvSpPr/>
          <p:nvPr/>
        </p:nvSpPr>
        <p:spPr>
          <a:xfrm>
            <a:off x="2638425" y="2838450"/>
            <a:ext cx="57150" cy="571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75" name="Line 75"/>
          <p:cNvSpPr/>
          <p:nvPr/>
        </p:nvSpPr>
        <p:spPr>
          <a:xfrm>
            <a:off x="1695450" y="253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D4A017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1571625" y="2695575"/>
            <a:ext cx="723900" cy="342900"/>
          </a:xfrm>
          <a:prstGeom prst="rect">
            <a:avLst/>
          </a:prstGeom>
          <a:noFill/>
          <a:ln w="23812">
            <a:solidFill>
              <a:srgbClr val="D4A017"/>
            </a:solidFill>
          </a:ln>
        </p:spPr>
      </p:sp>
      <p:sp>
        <p:nvSpPr>
          <p:cNvPr id="77" name="Rectangle 77"/>
          <p:cNvSpPr/>
          <p:nvPr/>
        </p:nvSpPr>
        <p:spPr>
          <a:xfrm>
            <a:off x="1600200" y="2724150"/>
            <a:ext cx="666750" cy="285750"/>
          </a:xfrm>
          <a:prstGeom prst="rect">
            <a:avLst/>
          </a:prstGeom>
          <a:noFill/>
          <a:ln w="9525">
            <a:solidFill>
              <a:srgbClr val="D4A017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1679524" y="2762250"/>
            <a:ext cx="508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D4A017"/>
                </a:solidFill>
                <a:latin typeface="Georgia"/>
                <a:ea typeface="Georgia"/>
                <a:cs typeface="Georgia"/>
              </a:rPr>
              <a:t>1967</a:t>
            </a:r>
          </a:p>
        </p:txBody>
      </p:sp>
      <p:sp>
        <p:nvSpPr>
          <p:cNvPr id="79" name="Rectangle 79"/>
          <p:cNvSpPr/>
          <p:nvPr/>
        </p:nvSpPr>
        <p:spPr>
          <a:xfrm>
            <a:off x="3143250" y="2657475"/>
            <a:ext cx="3619500" cy="419100"/>
          </a:xfrm>
          <a:prstGeom prst="roundRect">
            <a:avLst>
              <a:gd name="adj" fmla="val 4545"/>
            </a:avLst>
          </a:prstGeom>
          <a:solidFill>
            <a:srgbClr val="8B1E1E"/>
          </a:solidFill>
          <a:ln>
            <a:noFill/>
          </a:ln>
        </p:spPr>
      </p:sp>
      <p:sp>
        <p:nvSpPr>
          <p:cNvPr id="80" name="Rectangle 80"/>
          <p:cNvSpPr/>
          <p:nvPr/>
        </p:nvSpPr>
        <p:spPr>
          <a:xfrm>
            <a:off x="3143250" y="2657475"/>
            <a:ext cx="36195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146548" y="271033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9F0"/>
                </a:solidFill>
                <a:latin typeface="Arial"/>
                <a:ea typeface="Microsoft YaHei"/>
                <a:cs typeface="Arial"/>
              </a:rPr>
              <a:t>文化大革命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290697" y="2895124"/>
            <a:ext cx="18474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3E3D3"/>
                </a:solidFill>
                <a:latin typeface="Arial"/>
                <a:ea typeface="Microsoft YaHei"/>
                <a:cs typeface="Arial"/>
              </a:rPr>
              <a:t>发动夺权，解放军介入支持左派</a:t>
            </a:r>
          </a:p>
        </p:txBody>
      </p:sp>
      <p:sp>
        <p:nvSpPr>
          <p:cNvPr id="83" name="Ellipse 83"/>
          <p:cNvSpPr/>
          <p:nvPr/>
        </p:nvSpPr>
        <p:spPr>
          <a:xfrm>
            <a:off x="2590800" y="3657600"/>
            <a:ext cx="152400" cy="152400"/>
          </a:xfrm>
          <a:prstGeom prst="ellipse">
            <a:avLst/>
          </a:prstGeom>
          <a:solidFill>
            <a:srgbClr val="7F1D1D"/>
          </a:solidFill>
          <a:ln w="28575">
            <a:solidFill>
              <a:srgbClr val="D4A017"/>
            </a:solidFill>
          </a:ln>
        </p:spPr>
      </p:sp>
      <p:sp>
        <p:nvSpPr>
          <p:cNvPr id="84" name="Ellipse 84"/>
          <p:cNvSpPr/>
          <p:nvPr/>
        </p:nvSpPr>
        <p:spPr>
          <a:xfrm>
            <a:off x="2638425" y="3705225"/>
            <a:ext cx="57150" cy="571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85" name="Rectangle 85"/>
          <p:cNvSpPr/>
          <p:nvPr/>
        </p:nvSpPr>
        <p:spPr>
          <a:xfrm>
            <a:off x="1571625" y="3562350"/>
            <a:ext cx="723900" cy="342900"/>
          </a:xfrm>
          <a:prstGeom prst="rect">
            <a:avLst/>
          </a:prstGeom>
          <a:noFill/>
          <a:ln w="23812">
            <a:solidFill>
              <a:srgbClr val="D4A017"/>
            </a:solidFill>
          </a:ln>
        </p:spPr>
      </p:sp>
      <p:sp>
        <p:nvSpPr>
          <p:cNvPr id="86" name="Rectangle 86"/>
          <p:cNvSpPr/>
          <p:nvPr/>
        </p:nvSpPr>
        <p:spPr>
          <a:xfrm>
            <a:off x="1600200" y="3590925"/>
            <a:ext cx="666750" cy="285750"/>
          </a:xfrm>
          <a:prstGeom prst="rect">
            <a:avLst/>
          </a:prstGeom>
          <a:noFill/>
          <a:ln w="9525">
            <a:solidFill>
              <a:srgbClr val="D4A017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1679524" y="3629025"/>
            <a:ext cx="508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D4A017"/>
                </a:solidFill>
                <a:latin typeface="Georgia"/>
                <a:ea typeface="Georgia"/>
                <a:cs typeface="Georgia"/>
              </a:rPr>
              <a:t>1971</a:t>
            </a:r>
          </a:p>
        </p:txBody>
      </p:sp>
      <p:sp>
        <p:nvSpPr>
          <p:cNvPr id="88" name="Rectangle 88"/>
          <p:cNvSpPr/>
          <p:nvPr/>
        </p:nvSpPr>
        <p:spPr>
          <a:xfrm>
            <a:off x="3143250" y="3524250"/>
            <a:ext cx="3619500" cy="419100"/>
          </a:xfrm>
          <a:prstGeom prst="roundRect">
            <a:avLst>
              <a:gd name="adj" fmla="val 4545"/>
            </a:avLst>
          </a:prstGeom>
          <a:solidFill>
            <a:srgbClr val="8B1E1E"/>
          </a:solidFill>
          <a:ln>
            <a:noFill/>
          </a:ln>
        </p:spPr>
      </p:sp>
      <p:sp>
        <p:nvSpPr>
          <p:cNvPr id="89" name="Rectangle 89"/>
          <p:cNvSpPr/>
          <p:nvPr/>
        </p:nvSpPr>
        <p:spPr>
          <a:xfrm>
            <a:off x="3143250" y="3524250"/>
            <a:ext cx="36195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5279898" y="357711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9F0"/>
                </a:solidFill>
                <a:latin typeface="Arial"/>
                <a:ea typeface="Microsoft YaHei"/>
                <a:cs typeface="Arial"/>
              </a:rPr>
              <a:t>林彪事件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290697" y="37618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3E3D3"/>
                </a:solidFill>
                <a:latin typeface="Arial"/>
                <a:ea typeface="Microsoft YaHei"/>
                <a:cs typeface="Arial"/>
              </a:rPr>
              <a:t>从写入党章到密谋暗杀，折戟沉沙</a:t>
            </a:r>
          </a:p>
        </p:txBody>
      </p:sp>
      <p:sp>
        <p:nvSpPr>
          <p:cNvPr id="92" name="Ellipse 92"/>
          <p:cNvSpPr/>
          <p:nvPr/>
        </p:nvSpPr>
        <p:spPr>
          <a:xfrm>
            <a:off x="2590800" y="4524375"/>
            <a:ext cx="152400" cy="152400"/>
          </a:xfrm>
          <a:prstGeom prst="ellipse">
            <a:avLst/>
          </a:prstGeom>
          <a:solidFill>
            <a:srgbClr val="7F1D1D"/>
          </a:solidFill>
          <a:ln w="28575">
            <a:solidFill>
              <a:srgbClr val="D4A017"/>
            </a:solidFill>
          </a:ln>
        </p:spPr>
      </p:sp>
      <p:sp>
        <p:nvSpPr>
          <p:cNvPr id="93" name="Ellipse 93"/>
          <p:cNvSpPr/>
          <p:nvPr/>
        </p:nvSpPr>
        <p:spPr>
          <a:xfrm>
            <a:off x="2638425" y="4572000"/>
            <a:ext cx="57150" cy="571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94" name="Rectangle 94"/>
          <p:cNvSpPr/>
          <p:nvPr/>
        </p:nvSpPr>
        <p:spPr>
          <a:xfrm>
            <a:off x="1571625" y="4429125"/>
            <a:ext cx="723900" cy="342900"/>
          </a:xfrm>
          <a:prstGeom prst="rect">
            <a:avLst/>
          </a:prstGeom>
          <a:noFill/>
          <a:ln w="23812">
            <a:solidFill>
              <a:srgbClr val="D4A017"/>
            </a:solidFill>
          </a:ln>
        </p:spPr>
      </p:sp>
      <p:sp>
        <p:nvSpPr>
          <p:cNvPr id="95" name="Rectangle 95"/>
          <p:cNvSpPr/>
          <p:nvPr/>
        </p:nvSpPr>
        <p:spPr>
          <a:xfrm>
            <a:off x="1600200" y="4457700"/>
            <a:ext cx="666750" cy="285750"/>
          </a:xfrm>
          <a:prstGeom prst="rect">
            <a:avLst/>
          </a:prstGeom>
          <a:noFill/>
          <a:ln w="9525">
            <a:solidFill>
              <a:srgbClr val="D4A017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1679524" y="4495800"/>
            <a:ext cx="508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D4A017"/>
                </a:solidFill>
                <a:latin typeface="Georgia"/>
                <a:ea typeface="Georgia"/>
                <a:cs typeface="Georgia"/>
              </a:rPr>
              <a:t>1972</a:t>
            </a:r>
          </a:p>
        </p:txBody>
      </p:sp>
      <p:sp>
        <p:nvSpPr>
          <p:cNvPr id="97" name="Rectangle 97"/>
          <p:cNvSpPr/>
          <p:nvPr/>
        </p:nvSpPr>
        <p:spPr>
          <a:xfrm>
            <a:off x="3143250" y="4391025"/>
            <a:ext cx="3619500" cy="419100"/>
          </a:xfrm>
          <a:prstGeom prst="roundRect">
            <a:avLst>
              <a:gd name="adj" fmla="val 4545"/>
            </a:avLst>
          </a:prstGeom>
          <a:solidFill>
            <a:srgbClr val="8B1E1E"/>
          </a:solidFill>
          <a:ln>
            <a:noFill/>
          </a:ln>
        </p:spPr>
      </p:sp>
      <p:sp>
        <p:nvSpPr>
          <p:cNvPr id="98" name="Rectangle 98"/>
          <p:cNvSpPr/>
          <p:nvPr/>
        </p:nvSpPr>
        <p:spPr>
          <a:xfrm>
            <a:off x="3143250" y="4391025"/>
            <a:ext cx="36195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5260848" y="44438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9F0"/>
                </a:solidFill>
                <a:latin typeface="Arial"/>
                <a:ea typeface="Microsoft YaHei"/>
                <a:cs typeface="Arial"/>
              </a:rPr>
              <a:t>尼克松访华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290697" y="4628674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3E3D3"/>
                </a:solidFill>
                <a:latin typeface="Arial"/>
                <a:ea typeface="Microsoft YaHei"/>
                <a:cs typeface="Arial"/>
              </a:rPr>
              <a:t>中美关系破冰，获毛泽东亲自接见</a:t>
            </a:r>
          </a:p>
        </p:txBody>
      </p:sp>
      <p:sp>
        <p:nvSpPr>
          <p:cNvPr id="101" name="Ellipse 101"/>
          <p:cNvSpPr/>
          <p:nvPr/>
        </p:nvSpPr>
        <p:spPr>
          <a:xfrm>
            <a:off x="2571750" y="5372100"/>
            <a:ext cx="190500" cy="190500"/>
          </a:xfrm>
          <a:prstGeom prst="ellipse">
            <a:avLst/>
          </a:prstGeom>
          <a:solidFill>
            <a:srgbClr val="7F1D1D"/>
          </a:solidFill>
          <a:ln w="38100">
            <a:solidFill>
              <a:srgbClr val="D4A017"/>
            </a:solidFill>
          </a:ln>
        </p:spPr>
      </p:sp>
      <p:sp>
        <p:nvSpPr>
          <p:cNvPr id="102" name="Ellipse 102"/>
          <p:cNvSpPr/>
          <p:nvPr/>
        </p:nvSpPr>
        <p:spPr>
          <a:xfrm>
            <a:off x="2628900" y="5429250"/>
            <a:ext cx="76200" cy="762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03" name="Rectangle 103"/>
          <p:cNvSpPr/>
          <p:nvPr/>
        </p:nvSpPr>
        <p:spPr>
          <a:xfrm>
            <a:off x="1552575" y="5295900"/>
            <a:ext cx="762000" cy="342900"/>
          </a:xfrm>
          <a:prstGeom prst="roundRect">
            <a:avLst>
              <a:gd name="adj" fmla="val 2778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1679524" y="5362575"/>
            <a:ext cx="5081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7F1D1D"/>
                </a:solidFill>
                <a:latin typeface="Georgia"/>
                <a:ea typeface="Georgia"/>
                <a:cs typeface="Georgia"/>
              </a:rPr>
              <a:t>1976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3143250" y="5257800"/>
            <a:ext cx="3619500" cy="419100"/>
          </a:xfrm>
          <a:prstGeom prst="roundRect">
            <a:avLst>
              <a:gd name="adj" fmla="val 4545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106" name="Rectangle 106"/>
          <p:cNvSpPr/>
          <p:nvPr/>
        </p:nvSpPr>
        <p:spPr>
          <a:xfrm>
            <a:off x="3143250" y="5257800"/>
            <a:ext cx="36195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3289173" y="534876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9F0"/>
                </a:solidFill>
                <a:latin typeface="Arial"/>
                <a:ea typeface="Microsoft YaHei"/>
                <a:cs typeface="Arial"/>
              </a:rPr>
              <a:t>一代伟人逝世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376738" y="5526643"/>
            <a:ext cx="234333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F3E3D3"/>
                </a:solidFill>
                <a:latin typeface="Arial"/>
                <a:ea typeface="Microsoft YaHei"/>
                <a:cs typeface="Arial"/>
              </a:rPr>
              <a:t>9月9日，毛泽东与世长辞，标志一个时代落幕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7429500" y="1714500"/>
            <a:ext cx="4000500" cy="1905000"/>
          </a:xfrm>
          <a:prstGeom prst="rect">
            <a:avLst/>
          </a:prstGeom>
          <a:noFill/>
          <a:ln w="14288">
            <a:solidFill>
              <a:srgbClr val="C88A58"/>
            </a:solidFill>
          </a:ln>
        </p:spPr>
      </p:sp>
      <p:sp>
        <p:nvSpPr>
          <p:cNvPr id="110" name="Rectangle 110"/>
          <p:cNvSpPr/>
          <p:nvPr/>
        </p:nvSpPr>
        <p:spPr>
          <a:xfrm>
            <a:off x="7429500" y="1714500"/>
            <a:ext cx="40005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11" name="Rectangle 111"/>
          <p:cNvSpPr/>
          <p:nvPr/>
        </p:nvSpPr>
        <p:spPr>
          <a:xfrm>
            <a:off x="7429500" y="1733550"/>
            <a:ext cx="4000500" cy="1885950"/>
          </a:xfrm>
          <a:prstGeom prst="rect">
            <a:avLst/>
          </a:prstGeom>
          <a:solidFill>
            <a:srgbClr val="8B1E1E">
              <a:alpha val="30000"/>
            </a:srgbClr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7613142" y="18354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晚年关键词</a:t>
            </a:r>
          </a:p>
        </p:txBody>
      </p:sp>
      <p:sp>
        <p:nvSpPr>
          <p:cNvPr id="113" name="Line 113"/>
          <p:cNvSpPr/>
          <p:nvPr/>
        </p:nvSpPr>
        <p:spPr>
          <a:xfrm>
            <a:off x="7620000" y="20574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C88A58"/>
            </a:solidFill>
          </a:ln>
        </p:spPr>
      </p:sp>
      <p:grpSp>
        <p:nvGrpSpPr>
          <p:cNvPr id="123" name="Group 123"/>
          <p:cNvGrpSpPr/>
          <p:nvPr/>
        </p:nvGrpSpPr>
        <p:grpSpPr>
          <a:xfrm>
            <a:off x="7633335" y="2164556"/>
            <a:ext cx="2654618" cy="1363028"/>
            <a:chOff x="7633335" y="2164556"/>
            <a:chExt cx="2654618" cy="1363028"/>
          </a:xfrm>
        </p:grpSpPr>
        <p:sp>
          <p:nvSpPr>
            <p:cNvPr id="114" name="TextBox 114"/>
            <p:cNvSpPr txBox="1"/>
            <p:nvPr/>
          </p:nvSpPr>
          <p:spPr>
            <a:xfrm>
              <a:off x="7633335" y="2164556"/>
              <a:ext cx="4809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纠“左”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519285" y="21645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三面红旗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633335" y="24503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上山下乡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519285" y="2450306"/>
              <a:ext cx="465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红卫兵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633335" y="27360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路线斗争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519285" y="27360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乒乓外交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633335" y="30218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三个世界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519285" y="302180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接班人问题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633335" y="33075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3E3D3"/>
                  </a:solidFill>
                  <a:latin typeface="Arial"/>
                  <a:ea typeface="Microsoft YaHei"/>
                  <a:cs typeface="Arial"/>
                </a:rPr>
                <a:t>个人崇拜</a:t>
              </a:r>
            </a:p>
          </p:txBody>
        </p:sp>
      </p:grpSp>
      <p:sp>
        <p:nvSpPr>
          <p:cNvPr id="124" name="Rectangle 124"/>
          <p:cNvSpPr/>
          <p:nvPr/>
        </p:nvSpPr>
        <p:spPr>
          <a:xfrm>
            <a:off x="762000" y="6000750"/>
            <a:ext cx="10668000" cy="514350"/>
          </a:xfrm>
          <a:prstGeom prst="rect">
            <a:avLst/>
          </a:prstGeom>
          <a:solidFill>
            <a:srgbClr val="8B1E1E"/>
          </a:solidFill>
          <a:ln>
            <a:noFill/>
          </a:ln>
        </p:spPr>
      </p:sp>
      <p:sp>
        <p:nvSpPr>
          <p:cNvPr id="125" name="Rectangle 125"/>
          <p:cNvSpPr/>
          <p:nvPr/>
        </p:nvSpPr>
        <p:spPr>
          <a:xfrm>
            <a:off x="762000" y="6000750"/>
            <a:ext cx="10668000" cy="28575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26" name="TextBox 126"/>
          <p:cNvSpPr txBox="1"/>
          <p:nvPr/>
        </p:nvSpPr>
        <p:spPr>
          <a:xfrm>
            <a:off x="945642" y="6178868"/>
            <a:ext cx="66925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3E3D3"/>
                </a:solidFill>
                <a:latin typeface="Arial"/>
                <a:ea typeface="Microsoft YaHei"/>
                <a:cs typeface="Arial"/>
              </a:rPr>
              <a:t>晚年探索充满曲折，其个人命运与国家命运深度交织，评价至今充满争议与思考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9F0"/>
              </a:gs>
              <a:gs pos="100000">
                <a:srgbClr val="F3E3D3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0" y="381000"/>
            <a:ext cx="12192000" cy="6200775"/>
            <a:chOff x="0" y="381000"/>
            <a:chExt cx="12192000" cy="6200775"/>
          </a:xfrm>
        </p:grpSpPr>
        <p:sp>
          <p:nvSpPr>
            <p:cNvPr id="3" name="Line 3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8B1E1E">
                  <a:alpha val="6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857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8B1E1E">
                  <a:alpha val="6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33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8B1E1E">
                  <a:alpha val="6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8B1E1E">
                  <a:alpha val="6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2952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3810">
              <a:solidFill>
                <a:srgbClr val="8B1E1E">
                  <a:alpha val="6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8B1E1E">
                  <a:alpha val="6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5048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8B1E1E">
                  <a:alpha val="6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8B1E1E">
                  <a:alpha val="6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65722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3810">
              <a:solidFill>
                <a:srgbClr val="8B1E1E">
                  <a:alpha val="6000"/>
                </a:srgbClr>
              </a:solidFill>
            </a:ln>
          </p:spPr>
        </p:sp>
      </p:grpSp>
      <p:sp>
        <p:nvSpPr>
          <p:cNvPr id="13" name="Polygon 13"/>
          <p:cNvSpPr/>
          <p:nvPr/>
        </p:nvSpPr>
        <p:spPr>
          <a:xfrm>
            <a:off x="0" y="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0" y="0"/>
                </a:moveTo>
                <a:lnTo>
                  <a:pt x="1714500" y="0"/>
                </a:lnTo>
                <a:lnTo>
                  <a:pt x="0" y="1714500"/>
                </a:lnTo>
                <a:close/>
              </a:path>
            </a:pathLst>
          </a:custGeom>
          <a:solidFill>
            <a:srgbClr val="B91C1C">
              <a:alpha val="8000"/>
            </a:srgbClr>
          </a:solidFill>
          <a:ln>
            <a:noFill/>
          </a:ln>
        </p:spPr>
      </p:sp>
      <p:sp>
        <p:nvSpPr>
          <p:cNvPr id="14" name="Polygon 14"/>
          <p:cNvSpPr/>
          <p:nvPr/>
        </p:nvSpPr>
        <p:spPr>
          <a:xfrm>
            <a:off x="0" y="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4A017">
              <a:alpha val="12000"/>
            </a:srgbClr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10477500" y="5143500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1714500" y="1714500"/>
                </a:moveTo>
                <a:lnTo>
                  <a:pt x="0" y="1714500"/>
                </a:lnTo>
                <a:lnTo>
                  <a:pt x="1714500" y="0"/>
                </a:lnTo>
                <a:close/>
              </a:path>
            </a:pathLst>
          </a:custGeom>
          <a:solidFill>
            <a:srgbClr val="7F1D1D">
              <a:alpha val="8000"/>
            </a:srgbClr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1104900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1143000" y="1143000"/>
                </a:moveTo>
                <a:lnTo>
                  <a:pt x="0" y="1143000"/>
                </a:lnTo>
                <a:lnTo>
                  <a:pt x="1143000" y="0"/>
                </a:lnTo>
                <a:close/>
              </a:path>
            </a:pathLst>
          </a:custGeom>
          <a:solidFill>
            <a:srgbClr val="D4A017">
              <a:alpha val="10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0" y="0"/>
            <a:ext cx="3810000" cy="2857500"/>
            <a:chOff x="0" y="0"/>
            <a:chExt cx="3810000" cy="2857500"/>
          </a:xfrm>
        </p:grpSpPr>
        <p:sp>
          <p:nvSpPr>
            <p:cNvPr id="17" name="Line 17"/>
            <p:cNvSpPr/>
            <p:nvPr/>
          </p:nvSpPr>
          <p:spPr>
            <a:xfrm>
              <a:off x="0" y="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B91C1C">
                  <a:alpha val="6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0" y="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B91C1C">
                  <a:alpha val="6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1905000" y="1905000"/>
                  </a:lnTo>
                </a:path>
              </a:pathLst>
            </a:custGeom>
            <a:noFill/>
            <a:ln w="9525">
              <a:solidFill>
                <a:srgbClr val="B91C1C">
                  <a:alpha val="6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0" y="0"/>
              <a:ext cx="952500" cy="2857500"/>
            </a:xfrm>
            <a:custGeom>
              <a:avLst/>
              <a:gdLst/>
              <a:ahLst/>
              <a:cxnLst/>
              <a:rect l="l" t="t" r="r" b="b"/>
              <a:pathLst>
                <a:path w="952500" h="2857500">
                  <a:moveTo>
                    <a:pt x="0" y="0"/>
                  </a:moveTo>
                  <a:lnTo>
                    <a:pt x="952500" y="2857500"/>
                  </a:lnTo>
                </a:path>
              </a:pathLst>
            </a:custGeom>
            <a:noFill/>
            <a:ln w="9525">
              <a:solidFill>
                <a:srgbClr val="B91C1C">
                  <a:alpha val="6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0" y="0"/>
              <a:ext cx="2857500" cy="952500"/>
            </a:xfrm>
            <a:custGeom>
              <a:avLst/>
              <a:gdLst/>
              <a:ahLst/>
              <a:cxnLst/>
              <a:rect l="l" t="t" r="r" b="b"/>
              <a:pathLst>
                <a:path w="2857500" h="952500">
                  <a:moveTo>
                    <a:pt x="0" y="0"/>
                  </a:moveTo>
                  <a:lnTo>
                    <a:pt x="2857500" y="952500"/>
                  </a:lnTo>
                </a:path>
              </a:pathLst>
            </a:custGeom>
            <a:noFill/>
            <a:ln w="9525">
              <a:solidFill>
                <a:srgbClr val="B91C1C">
                  <a:alpha val="6000"/>
                </a:srgbClr>
              </a:solidFill>
            </a:ln>
          </p:spPr>
        </p:sp>
      </p:grpSp>
      <p:sp>
        <p:nvSpPr>
          <p:cNvPr id="23" name="Rectangle 23"/>
          <p:cNvSpPr/>
          <p:nvPr/>
        </p:nvSpPr>
        <p:spPr>
          <a:xfrm>
            <a:off x="11239500" y="952500"/>
            <a:ext cx="419100" cy="419100"/>
          </a:xfrm>
          <a:prstGeom prst="rect">
            <a:avLst/>
          </a:prstGeom>
          <a:noFill/>
          <a:ln w="19050">
            <a:solidFill>
              <a:srgbClr val="D4A017">
                <a:alpha val="40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11315700" y="1028700"/>
            <a:ext cx="266700" cy="266700"/>
          </a:xfrm>
          <a:prstGeom prst="rect">
            <a:avLst/>
          </a:prstGeom>
          <a:noFill/>
          <a:ln w="14288">
            <a:solidFill>
              <a:srgbClr val="B91C1C">
                <a:alpha val="30000"/>
              </a:srgbClr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571500" y="1333500"/>
            <a:ext cx="3238500" cy="4381500"/>
            <a:chOff x="571500" y="1333500"/>
            <a:chExt cx="3238500" cy="4381500"/>
          </a:xfrm>
        </p:grpSpPr>
        <p:sp>
          <p:nvSpPr>
            <p:cNvPr id="25" name="Rectangle 25"/>
            <p:cNvSpPr/>
            <p:nvPr/>
          </p:nvSpPr>
          <p:spPr>
            <a:xfrm>
              <a:off x="571500" y="1333500"/>
              <a:ext cx="3238500" cy="4381500"/>
            </a:xfrm>
            <a:prstGeom prst="rect">
              <a:avLst/>
            </a:prstGeom>
            <a:solidFill>
              <a:srgbClr val="F3E3D3"/>
            </a:solidFill>
            <a:ln w="19050">
              <a:solidFill>
                <a:srgbClr val="C88A5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700" y="1409700"/>
              <a:ext cx="3086100" cy="4229100"/>
            </a:xfrm>
            <a:prstGeom prst="rect">
              <a:avLst/>
            </a:prstGeom>
            <a:noFill/>
            <a:ln w="14288">
              <a:solidFill>
                <a:srgbClr val="B91C1C">
                  <a:alpha val="50000"/>
                </a:srgbClr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4850" y="1466850"/>
              <a:ext cx="2971800" cy="4114800"/>
            </a:xfrm>
            <a:prstGeom prst="rect">
              <a:avLst/>
            </a:prstGeom>
            <a:noFill/>
            <a:ln w="9525">
              <a:solidFill>
                <a:srgbClr val="D4A017">
                  <a:alpha val="40000"/>
                </a:srgbClr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52500" y="1809750"/>
              <a:ext cx="1333500" cy="2314575"/>
              <a:chOff x="952500" y="1809750"/>
              <a:chExt cx="1333500" cy="23145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952500" y="1809750"/>
                <a:ext cx="7620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952500" y="2000250"/>
                <a:ext cx="11430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952500" y="2190750"/>
                <a:ext cx="904875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952500" y="2381250"/>
                <a:ext cx="1047750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952500" y="2571750"/>
                <a:ext cx="5715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952500" y="2762250"/>
                <a:ext cx="1238250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52500" y="2952750"/>
                <a:ext cx="809625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952500" y="3143250"/>
                <a:ext cx="9525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952500" y="3333750"/>
                <a:ext cx="714375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952500" y="3524250"/>
                <a:ext cx="13335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952500" y="3714750"/>
                <a:ext cx="857250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952500" y="3905250"/>
                <a:ext cx="1095375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952500" y="4095750"/>
                <a:ext cx="523875" cy="28575"/>
              </a:xfrm>
              <a:prstGeom prst="roundRect">
                <a:avLst>
                  <a:gd name="adj" fmla="val 33333"/>
                </a:avLst>
              </a:prstGeom>
              <a:solidFill>
                <a:srgbClr val="7F1D1D">
                  <a:alpha val="20000"/>
                </a:srgbClr>
              </a:solidFill>
              <a:ln>
                <a:noFill/>
              </a:ln>
            </p:spPr>
          </p:sp>
        </p:grpSp>
        <p:sp>
          <p:nvSpPr>
            <p:cNvPr id="42" name="Rectangle 42"/>
            <p:cNvSpPr/>
            <p:nvPr/>
          </p:nvSpPr>
          <p:spPr>
            <a:xfrm>
              <a:off x="2762250" y="4572000"/>
              <a:ext cx="666750" cy="666750"/>
            </a:xfrm>
            <a:prstGeom prst="roundRect">
              <a:avLst>
                <a:gd name="adj" fmla="val 2857"/>
              </a:avLst>
            </a:prstGeom>
            <a:noFill/>
            <a:ln w="23812">
              <a:solidFill>
                <a:srgbClr val="B91C1C">
                  <a:alpha val="35000"/>
                </a:srgb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004185" y="48425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91C1C">
                      <a:alphaMod val="35000"/>
                    </a:srgbClr>
                  </a:solidFill>
                  <a:latin typeface="Georgia"/>
                  <a:ea typeface="SimSun"/>
                  <a:cs typeface="Georgia"/>
                </a:rPr>
                <a:t>诗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4381500" y="1047750"/>
            <a:ext cx="76200" cy="76200"/>
          </a:xfrm>
          <a:prstGeom prst="rect">
            <a:avLst/>
          </a:prstGeom>
          <a:solidFill>
            <a:srgbClr val="D4A017">
              <a:alpha val="70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4495800" y="1104900"/>
            <a:ext cx="76200" cy="76200"/>
          </a:xfrm>
          <a:prstGeom prst="rect">
            <a:avLst/>
          </a:prstGeom>
          <a:solidFill>
            <a:srgbClr val="B91C1C">
              <a:alpha val="50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651248" y="1031558"/>
            <a:ext cx="359404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思想、笔触与家人</a:t>
            </a:r>
          </a:p>
        </p:txBody>
      </p:sp>
      <p:sp>
        <p:nvSpPr>
          <p:cNvPr id="48" name="Line 48"/>
          <p:cNvSpPr/>
          <p:nvPr/>
        </p:nvSpPr>
        <p:spPr>
          <a:xfrm>
            <a:off x="4667250" y="1571625"/>
            <a:ext cx="5810250" cy="9525"/>
          </a:xfrm>
          <a:custGeom>
            <a:avLst/>
            <a:gdLst/>
            <a:ahLst/>
            <a:cxnLst/>
            <a:rect l="l" t="t" r="r" b="b"/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/>
          <a:ln w="19050">
            <a:solidFill>
              <a:srgbClr val="D4A017">
                <a:alpha val="70000"/>
              </a:srgbClr>
            </a:solidFill>
          </a:ln>
        </p:spPr>
      </p:sp>
      <p:sp>
        <p:nvSpPr>
          <p:cNvPr id="49" name="Line 49"/>
          <p:cNvSpPr/>
          <p:nvPr/>
        </p:nvSpPr>
        <p:spPr>
          <a:xfrm>
            <a:off x="4667250" y="1609725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B91C1C">
                <a:alpha val="40000"/>
              </a:srgbClr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4659630" y="1743075"/>
            <a:ext cx="56692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毛泽东思想体系与诗词书法，折射革命家的人文侧面与家庭世界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381500" y="2286000"/>
            <a:ext cx="6803708" cy="952500"/>
            <a:chOff x="4381500" y="2286000"/>
            <a:chExt cx="6803708" cy="952500"/>
          </a:xfrm>
        </p:grpSpPr>
        <p:sp>
          <p:nvSpPr>
            <p:cNvPr id="51" name="Rectangle 51"/>
            <p:cNvSpPr/>
            <p:nvPr/>
          </p:nvSpPr>
          <p:spPr>
            <a:xfrm>
              <a:off x="4381500" y="2286000"/>
              <a:ext cx="6667500" cy="952500"/>
            </a:xfrm>
            <a:prstGeom prst="roundRect">
              <a:avLst>
                <a:gd name="adj" fmla="val 6000"/>
              </a:avLst>
            </a:prstGeom>
            <a:solidFill>
              <a:srgbClr val="FFF9F0"/>
            </a:solidFill>
            <a:ln w="14288">
              <a:solidFill>
                <a:srgbClr val="C88A5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381500" y="228600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572000" y="2400300"/>
              <a:ext cx="685800" cy="228600"/>
            </a:xfrm>
            <a:prstGeom prst="roundRect">
              <a:avLst>
                <a:gd name="adj" fmla="val 8333"/>
              </a:avLst>
            </a:pr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634313" y="24569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思想体系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61535" y="2736056"/>
              <a:ext cx="65236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毛泽东思想是马克思列宁主义在中国的独特运用发展，被实践证明为正确的理论原则与经验总结。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61916" y="2953702"/>
              <a:ext cx="580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深刻地影响政治、军事、外交、文艺、哲学，是毛泽东时代中国共产党集体智慧的结晶结晶。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381500" y="3429000"/>
            <a:ext cx="6667500" cy="952500"/>
            <a:chOff x="4381500" y="3429000"/>
            <a:chExt cx="6667500" cy="952500"/>
          </a:xfrm>
        </p:grpSpPr>
        <p:sp>
          <p:nvSpPr>
            <p:cNvPr id="58" name="Rectangle 58"/>
            <p:cNvSpPr/>
            <p:nvPr/>
          </p:nvSpPr>
          <p:spPr>
            <a:xfrm>
              <a:off x="4381500" y="3429000"/>
              <a:ext cx="6667500" cy="952500"/>
            </a:xfrm>
            <a:prstGeom prst="roundRect">
              <a:avLst>
                <a:gd name="adj" fmla="val 6000"/>
              </a:avLst>
            </a:prstGeom>
            <a:solidFill>
              <a:srgbClr val="FFF9F0"/>
            </a:solidFill>
            <a:ln w="14288">
              <a:solidFill>
                <a:srgbClr val="C88A5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81500" y="342900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572000" y="3543300"/>
              <a:ext cx="685800" cy="228600"/>
            </a:xfrm>
            <a:prstGeom prst="roundRect">
              <a:avLst>
                <a:gd name="adj" fmla="val 8333"/>
              </a:avLst>
            </a:pr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634313" y="35999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丰硕著作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661535" y="3879056"/>
              <a:ext cx="5917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一生著作逾千万字，涵盖选集、文集、军事、外交、诗词等，展现其在多个领域的建树。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661916" y="4096702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《毛泽东选集》《毛泽东文集》《毛泽东诗词》等成为不朽的精神财富。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381500" y="4572000"/>
            <a:ext cx="6667500" cy="952500"/>
            <a:chOff x="4381500" y="4572000"/>
            <a:chExt cx="6667500" cy="952500"/>
          </a:xfrm>
        </p:grpSpPr>
        <p:sp>
          <p:nvSpPr>
            <p:cNvPr id="65" name="Rectangle 65"/>
            <p:cNvSpPr/>
            <p:nvPr/>
          </p:nvSpPr>
          <p:spPr>
            <a:xfrm>
              <a:off x="4381500" y="4572000"/>
              <a:ext cx="6667500" cy="952500"/>
            </a:xfrm>
            <a:prstGeom prst="roundRect">
              <a:avLst>
                <a:gd name="adj" fmla="val 6000"/>
              </a:avLst>
            </a:prstGeom>
            <a:solidFill>
              <a:srgbClr val="FFF9F0"/>
            </a:solidFill>
            <a:ln w="14288">
              <a:solidFill>
                <a:srgbClr val="C88A5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4381500" y="457200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B91C1C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4572000" y="4686300"/>
              <a:ext cx="685800" cy="228600"/>
            </a:xfrm>
            <a:prstGeom prst="roundRect">
              <a:avLst>
                <a:gd name="adj" fmla="val 8333"/>
              </a:avLst>
            </a:prstGeom>
            <a:solidFill>
              <a:srgbClr val="D4A017">
                <a:alpha val="15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634313" y="47429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人文情怀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661535" y="5022056"/>
              <a:ext cx="5160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A1713"/>
                  </a:solidFill>
                  <a:latin typeface="Arial"/>
                  <a:ea typeface="Microsoft YaHei"/>
                  <a:cs typeface="Arial"/>
                </a:rPr>
                <a:t>毛泽东诗词与书法折射革命家的文人情怀，流露出对国家与人民的深沉情感。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661916" y="5239702"/>
              <a:ext cx="5396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4B43"/>
                  </a:solidFill>
                  <a:latin typeface="Arial"/>
                  <a:ea typeface="Microsoft YaHei"/>
                  <a:cs typeface="Arial"/>
                </a:rPr>
                <a:t>曾因父亲买进亲戚田产而深刻反思：“这不光是个人与家庭问题，还是社会制度问题。”</a:t>
              </a:r>
            </a:p>
          </p:txBody>
        </p:sp>
      </p:grpSp>
      <p:sp>
        <p:nvSpPr>
          <p:cNvPr id="72" name="Ellipse 72"/>
          <p:cNvSpPr/>
          <p:nvPr/>
        </p:nvSpPr>
        <p:spPr>
          <a:xfrm>
            <a:off x="4352925" y="2924175"/>
            <a:ext cx="57150" cy="57150"/>
          </a:xfrm>
          <a:prstGeom prst="ellipse">
            <a:avLst/>
          </a:prstGeom>
          <a:solidFill>
            <a:srgbClr val="D4A017">
              <a:alpha val="50000"/>
            </a:srgbClr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4352925" y="4067175"/>
            <a:ext cx="57150" cy="57150"/>
          </a:xfrm>
          <a:prstGeom prst="ellipse">
            <a:avLst/>
          </a:prstGeom>
          <a:solidFill>
            <a:srgbClr val="D4A017">
              <a:alpha val="50000"/>
            </a:srgbClr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4352925" y="5210175"/>
            <a:ext cx="57150" cy="57150"/>
          </a:xfrm>
          <a:prstGeom prst="ellipse">
            <a:avLst/>
          </a:prstGeom>
          <a:solidFill>
            <a:srgbClr val="D4A017">
              <a:alpha val="50000"/>
            </a:srgbClr>
          </a:solidFill>
          <a:ln>
            <a:noFill/>
          </a:ln>
        </p:spPr>
      </p:sp>
      <p:sp>
        <p:nvSpPr>
          <p:cNvPr id="75" name="Rectangle 75"/>
          <p:cNvSpPr/>
          <p:nvPr/>
        </p:nvSpPr>
        <p:spPr>
          <a:xfrm>
            <a:off x="1619250" y="5810250"/>
            <a:ext cx="381000" cy="381000"/>
          </a:xfrm>
          <a:prstGeom prst="roundRect">
            <a:avLst>
              <a:gd name="adj" fmla="val 5000"/>
            </a:avLst>
          </a:prstGeom>
          <a:noFill/>
          <a:ln w="14288">
            <a:solidFill>
              <a:srgbClr val="D4A017">
                <a:alpha val="50000"/>
              </a:srgbClr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1695450" y="5886450"/>
            <a:ext cx="228600" cy="228600"/>
          </a:xfrm>
          <a:prstGeom prst="roundRect">
            <a:avLst>
              <a:gd name="adj" fmla="val 4167"/>
            </a:avLst>
          </a:prstGeom>
          <a:noFill/>
          <a:ln w="9525">
            <a:solidFill>
              <a:srgbClr val="B91C1C">
                <a:alpha val="30000"/>
              </a:srgbClr>
            </a:solidFill>
          </a:ln>
        </p:spPr>
      </p:sp>
      <p:sp>
        <p:nvSpPr>
          <p:cNvPr id="77" name="Rectangle 7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B91C1C">
              <a:alpha val="15000"/>
            </a:srgbClr>
          </a:solidFill>
          <a:ln>
            <a:noFill/>
          </a:ln>
        </p:spPr>
      </p:sp>
      <p:sp>
        <p:nvSpPr>
          <p:cNvPr id="78" name="Rectangle 78"/>
          <p:cNvSpPr/>
          <p:nvPr/>
        </p:nvSpPr>
        <p:spPr>
          <a:xfrm>
            <a:off x="0" y="6743700"/>
            <a:ext cx="2857500" cy="114300"/>
          </a:xfrm>
          <a:prstGeom prst="rect">
            <a:avLst/>
          </a:prstGeom>
          <a:solidFill>
            <a:srgbClr val="D4A017">
              <a:alpha val="30000"/>
            </a:srgbClr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11736629" y="6573202"/>
            <a:ext cx="1749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B4B43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0E6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0" y="762000"/>
            <a:ext cx="3333750" cy="2095500"/>
          </a:xfrm>
          <a:custGeom>
            <a:avLst/>
            <a:gdLst/>
            <a:ahLst/>
            <a:cxnLst/>
            <a:rect l="l" t="t" r="r" b="b"/>
            <a:pathLst>
              <a:path w="3333750" h="2095500">
                <a:moveTo>
                  <a:pt x="3333750" y="0"/>
                </a:moveTo>
                <a:lnTo>
                  <a:pt x="0" y="2095500"/>
                </a:lnTo>
              </a:path>
            </a:pathLst>
          </a:custGeom>
          <a:noFill/>
          <a:ln w="4762">
            <a:solidFill>
              <a:srgbClr val="C88A58">
                <a:alpha val="1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7143750" y="762000"/>
            <a:ext cx="3810000" cy="3048000"/>
          </a:xfrm>
          <a:custGeom>
            <a:avLst/>
            <a:gdLst/>
            <a:ahLst/>
            <a:cxnLst/>
            <a:rect l="l" t="t" r="r" b="b"/>
            <a:pathLst>
              <a:path w="3810000" h="3048000">
                <a:moveTo>
                  <a:pt x="3810000" y="0"/>
                </a:moveTo>
                <a:lnTo>
                  <a:pt x="0" y="3048000"/>
                </a:lnTo>
              </a:path>
            </a:pathLst>
          </a:custGeom>
          <a:noFill/>
          <a:ln w="4762">
            <a:solidFill>
              <a:srgbClr val="C88A58">
                <a:alpha val="12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6667500" y="762000"/>
            <a:ext cx="4286250" cy="4000500"/>
          </a:xfrm>
          <a:custGeom>
            <a:avLst/>
            <a:gdLst/>
            <a:ahLst/>
            <a:cxnLst/>
            <a:rect l="l" t="t" r="r" b="b"/>
            <a:pathLst>
              <a:path w="4286250" h="4000500">
                <a:moveTo>
                  <a:pt x="4286250" y="0"/>
                </a:moveTo>
                <a:lnTo>
                  <a:pt x="0" y="4000500"/>
                </a:lnTo>
              </a:path>
            </a:pathLst>
          </a:custGeom>
          <a:noFill/>
          <a:ln w="4762">
            <a:solidFill>
              <a:srgbClr val="C88A58">
                <a:alpha val="10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6191250" y="762000"/>
            <a:ext cx="4762500" cy="4953000"/>
          </a:xfrm>
          <a:custGeom>
            <a:avLst/>
            <a:gdLst/>
            <a:ahLst/>
            <a:cxnLst/>
            <a:rect l="l" t="t" r="r" b="b"/>
            <a:pathLst>
              <a:path w="4762500" h="4953000">
                <a:moveTo>
                  <a:pt x="4762500" y="0"/>
                </a:moveTo>
                <a:lnTo>
                  <a:pt x="0" y="4953000"/>
                </a:lnTo>
              </a:path>
            </a:pathLst>
          </a:custGeom>
          <a:noFill/>
          <a:ln w="4762">
            <a:solidFill>
              <a:srgbClr val="C88A58">
                <a:alpha val="8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10953750" y="762000"/>
            <a:ext cx="1238250" cy="2571750"/>
          </a:xfrm>
          <a:custGeom>
            <a:avLst/>
            <a:gdLst/>
            <a:ahLst/>
            <a:cxnLst/>
            <a:rect l="l" t="t" r="r" b="b"/>
            <a:pathLst>
              <a:path w="1238250" h="2571750">
                <a:moveTo>
                  <a:pt x="0" y="0"/>
                </a:moveTo>
                <a:lnTo>
                  <a:pt x="1238250" y="2571750"/>
                </a:lnTo>
              </a:path>
            </a:pathLst>
          </a:custGeom>
          <a:noFill/>
          <a:ln w="4762">
            <a:solidFill>
              <a:srgbClr val="C88A58">
                <a:alpha val="12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10953750" y="762000"/>
            <a:ext cx="1238250" cy="3524250"/>
          </a:xfrm>
          <a:custGeom>
            <a:avLst/>
            <a:gdLst/>
            <a:ahLst/>
            <a:cxnLst/>
            <a:rect l="l" t="t" r="r" b="b"/>
            <a:pathLst>
              <a:path w="1238250" h="3524250">
                <a:moveTo>
                  <a:pt x="0" y="0"/>
                </a:moveTo>
                <a:lnTo>
                  <a:pt x="1238250" y="3524250"/>
                </a:lnTo>
              </a:path>
            </a:pathLst>
          </a:custGeom>
          <a:noFill/>
          <a:ln w="4762">
            <a:solidFill>
              <a:srgbClr val="C88A58">
                <a:alpha val="1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10953750" y="762000"/>
            <a:ext cx="1238250" cy="4476750"/>
          </a:xfrm>
          <a:custGeom>
            <a:avLst/>
            <a:gdLst/>
            <a:ahLst/>
            <a:cxnLst/>
            <a:rect l="l" t="t" r="r" b="b"/>
            <a:pathLst>
              <a:path w="1238250" h="4476750">
                <a:moveTo>
                  <a:pt x="0" y="0"/>
                </a:moveTo>
                <a:lnTo>
                  <a:pt x="1238250" y="4476750"/>
                </a:lnTo>
              </a:path>
            </a:pathLst>
          </a:custGeom>
          <a:noFill/>
          <a:ln w="4762">
            <a:solidFill>
              <a:srgbClr val="C88A58">
                <a:alpha val="8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762000" y="952500"/>
            <a:ext cx="2571750" cy="1428750"/>
          </a:xfrm>
          <a:custGeom>
            <a:avLst/>
            <a:gdLst/>
            <a:ahLst/>
            <a:cxnLst/>
            <a:rect l="l" t="t" r="r" b="b"/>
            <a:pathLst>
              <a:path w="2571750" h="1428750">
                <a:moveTo>
                  <a:pt x="0" y="0"/>
                </a:moveTo>
                <a:lnTo>
                  <a:pt x="2571750" y="1428750"/>
                </a:lnTo>
              </a:path>
            </a:pathLst>
          </a:custGeom>
          <a:noFill/>
          <a:ln w="4762">
            <a:solidFill>
              <a:srgbClr val="C88A58">
                <a:alpha val="1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762000" y="952500"/>
            <a:ext cx="3048000" cy="2667000"/>
          </a:xfrm>
          <a:custGeom>
            <a:avLst/>
            <a:gdLst/>
            <a:ahLst/>
            <a:cxnLst/>
            <a:rect l="l" t="t" r="r" b="b"/>
            <a:pathLst>
              <a:path w="3048000" h="2667000">
                <a:moveTo>
                  <a:pt x="0" y="0"/>
                </a:moveTo>
                <a:lnTo>
                  <a:pt x="3048000" y="2667000"/>
                </a:lnTo>
              </a:path>
            </a:pathLst>
          </a:custGeom>
          <a:noFill/>
          <a:ln w="4762">
            <a:solidFill>
              <a:srgbClr val="C88A58">
                <a:alpha val="8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762000" y="952500"/>
            <a:ext cx="2095500" cy="3810000"/>
          </a:xfrm>
          <a:custGeom>
            <a:avLst/>
            <a:gdLst/>
            <a:ahLst/>
            <a:cxnLst/>
            <a:rect l="l" t="t" r="r" b="b"/>
            <a:pathLst>
              <a:path w="2095500" h="3810000">
                <a:moveTo>
                  <a:pt x="0" y="0"/>
                </a:moveTo>
                <a:lnTo>
                  <a:pt x="2095500" y="3810000"/>
                </a:lnTo>
              </a:path>
            </a:pathLst>
          </a:custGeom>
          <a:noFill/>
          <a:ln w="4762">
            <a:solidFill>
              <a:srgbClr val="C88A58">
                <a:alpha val="6000"/>
              </a:srgbClr>
            </a:solidFill>
          </a:ln>
        </p:spPr>
      </p:sp>
      <p:sp>
        <p:nvSpPr>
          <p:cNvPr id="13" name="Ellipse 13"/>
          <p:cNvSpPr/>
          <p:nvPr/>
        </p:nvSpPr>
        <p:spPr>
          <a:xfrm>
            <a:off x="1895475" y="1419225"/>
            <a:ext cx="19050" cy="19050"/>
          </a:xfrm>
          <a:prstGeom prst="ellipse">
            <a:avLst/>
          </a:prstGeom>
          <a:solidFill>
            <a:srgbClr val="C88A58">
              <a:alpha val="8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4754880" y="944880"/>
            <a:ext cx="15240" cy="15240"/>
          </a:xfrm>
          <a:prstGeom prst="ellipse">
            <a:avLst/>
          </a:prstGeom>
          <a:solidFill>
            <a:srgbClr val="C88A58">
              <a:alpha val="6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084820" y="1703070"/>
            <a:ext cx="22860" cy="22860"/>
          </a:xfrm>
          <a:prstGeom prst="ellipse">
            <a:avLst/>
          </a:prstGeom>
          <a:solidFill>
            <a:srgbClr val="C88A58">
              <a:alpha val="7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470832" y="2374582"/>
            <a:ext cx="13335" cy="13335"/>
          </a:xfrm>
          <a:prstGeom prst="ellipse">
            <a:avLst/>
          </a:prstGeom>
          <a:solidFill>
            <a:srgbClr val="C88A58">
              <a:alpha val="5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3325178" y="3801428"/>
            <a:ext cx="17145" cy="17145"/>
          </a:xfrm>
          <a:prstGeom prst="ellipse">
            <a:avLst/>
          </a:prstGeom>
          <a:solidFill>
            <a:srgbClr val="C88A58">
              <a:alpha val="6000"/>
            </a:srgb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6657022" y="4752022"/>
            <a:ext cx="20955" cy="20955"/>
          </a:xfrm>
          <a:prstGeom prst="ellipse">
            <a:avLst/>
          </a:prstGeom>
          <a:solidFill>
            <a:srgbClr val="C88A58">
              <a:alpha val="5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9517380" y="5231130"/>
            <a:ext cx="15240" cy="15240"/>
          </a:xfrm>
          <a:prstGeom prst="ellipse">
            <a:avLst/>
          </a:prstGeom>
          <a:solidFill>
            <a:srgbClr val="C88A58">
              <a:alpha val="6000"/>
            </a:srgb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1419225" y="5705475"/>
            <a:ext cx="19050" cy="19050"/>
          </a:xfrm>
          <a:prstGeom prst="ellipse">
            <a:avLst/>
          </a:prstGeom>
          <a:solidFill>
            <a:srgbClr val="C88A58">
              <a:alpha val="5000"/>
            </a:srgb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5709285" y="2851785"/>
            <a:ext cx="11430" cy="11430"/>
          </a:xfrm>
          <a:prstGeom prst="ellipse">
            <a:avLst/>
          </a:prstGeom>
          <a:solidFill>
            <a:srgbClr val="C88A58">
              <a:alpha val="7000"/>
            </a:srgbClr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9040178" y="3801428"/>
            <a:ext cx="17145" cy="17145"/>
          </a:xfrm>
          <a:prstGeom prst="ellipse">
            <a:avLst/>
          </a:prstGeom>
          <a:solidFill>
            <a:srgbClr val="C88A58">
              <a:alpha val="5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8B1E1E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0" y="0"/>
            <a:ext cx="762000" cy="1333500"/>
          </a:xfrm>
          <a:custGeom>
            <a:avLst/>
            <a:gdLst/>
            <a:ahLst/>
            <a:cxnLst/>
            <a:rect l="l" t="t" r="r" b="b"/>
            <a:pathLst>
              <a:path w="762000" h="1333500">
                <a:moveTo>
                  <a:pt x="0" y="0"/>
                </a:moveTo>
                <a:lnTo>
                  <a:pt x="762000" y="0"/>
                </a:lnTo>
                <a:lnTo>
                  <a:pt x="0" y="13335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25" name="Polygon 25"/>
          <p:cNvSpPr/>
          <p:nvPr/>
        </p:nvSpPr>
        <p:spPr>
          <a:xfrm>
            <a:off x="11430000" y="0"/>
            <a:ext cx="762000" cy="1333500"/>
          </a:xfrm>
          <a:custGeom>
            <a:avLst/>
            <a:gdLst/>
            <a:ahLst/>
            <a:cxnLst/>
            <a:rect l="l" t="t" r="r" b="b"/>
            <a:pathLst>
              <a:path w="762000" h="1333500">
                <a:moveTo>
                  <a:pt x="762000" y="0"/>
                </a:moveTo>
                <a:lnTo>
                  <a:pt x="0" y="0"/>
                </a:lnTo>
                <a:lnTo>
                  <a:pt x="762000" y="13335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0" y="13144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D4A01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44474" y="408622"/>
            <a:ext cx="2715673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spc="450" dirty="0">
                <a:solidFill>
                  <a:srgbClr val="F7F0E6"/>
                </a:solidFill>
                <a:latin typeface="Arial"/>
                <a:ea typeface="Microsoft YaHei"/>
                <a:cs typeface="Arial"/>
              </a:rPr>
              <a:t>遗产与回响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4380" y="1000125"/>
            <a:ext cx="25755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i="1" spc="150" dirty="0">
                <a:solidFill>
                  <a:srgbClr val="D4A017"/>
                </a:solidFill>
                <a:latin typeface="Georgia"/>
                <a:ea typeface="SimSun"/>
                <a:cs typeface="Georgia"/>
              </a:rPr>
              <a:t>思想的力量与历史的回声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906000" y="361950"/>
            <a:ext cx="609600" cy="609600"/>
          </a:xfrm>
          <a:prstGeom prst="rect">
            <a:avLst/>
          </a:prstGeom>
          <a:noFill/>
          <a:ln w="23812">
            <a:solidFill>
              <a:srgbClr val="D4A017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957664" y="501491"/>
            <a:ext cx="50627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spc="75" dirty="0">
                <a:solidFill>
                  <a:srgbClr val="D4A017"/>
                </a:solidFill>
                <a:latin typeface="Arial"/>
                <a:ea typeface="Microsoft YaHei"/>
                <a:cs typeface="Arial"/>
              </a:rPr>
              <a:t>世界影响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81500" y="1714500"/>
            <a:ext cx="3429000" cy="3429000"/>
          </a:xfrm>
          <a:prstGeom prst="rect">
            <a:avLst/>
          </a:prstGeom>
          <a:solidFill>
            <a:srgbClr val="FFF9F0"/>
          </a:solidFill>
          <a:ln w="28575">
            <a:solidFill>
              <a:srgbClr val="B91C1C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4552950" y="1885950"/>
            <a:ext cx="3086100" cy="3086100"/>
          </a:xfrm>
          <a:prstGeom prst="rect">
            <a:avLst/>
          </a:prstGeom>
          <a:noFill/>
          <a:ln w="14288">
            <a:solidFill>
              <a:srgbClr val="D4A017"/>
            </a:solidFill>
          </a:ln>
        </p:spPr>
      </p:sp>
      <p:sp>
        <p:nvSpPr>
          <p:cNvPr id="33" name="Line 33"/>
          <p:cNvSpPr/>
          <p:nvPr/>
        </p:nvSpPr>
        <p:spPr>
          <a:xfrm>
            <a:off x="4552950" y="1885950"/>
            <a:ext cx="1543050" cy="1543050"/>
          </a:xfrm>
          <a:custGeom>
            <a:avLst/>
            <a:gdLst/>
            <a:ahLst/>
            <a:cxnLst/>
            <a:rect l="l" t="t" r="r" b="b"/>
            <a:pathLst>
              <a:path w="1543050" h="1543050">
                <a:moveTo>
                  <a:pt x="1543050" y="15430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C88A58">
                <a:alpha val="18000"/>
              </a:srgbClr>
            </a:solidFill>
          </a:ln>
        </p:spPr>
      </p:sp>
      <p:sp>
        <p:nvSpPr>
          <p:cNvPr id="34" name="Line 34"/>
          <p:cNvSpPr/>
          <p:nvPr/>
        </p:nvSpPr>
        <p:spPr>
          <a:xfrm>
            <a:off x="6096000" y="1885950"/>
            <a:ext cx="1543050" cy="1543050"/>
          </a:xfrm>
          <a:custGeom>
            <a:avLst/>
            <a:gdLst/>
            <a:ahLst/>
            <a:cxnLst/>
            <a:rect l="l" t="t" r="r" b="b"/>
            <a:pathLst>
              <a:path w="1543050" h="1543050">
                <a:moveTo>
                  <a:pt x="0" y="1543050"/>
                </a:moveTo>
                <a:lnTo>
                  <a:pt x="1543050" y="0"/>
                </a:lnTo>
              </a:path>
            </a:pathLst>
          </a:custGeom>
          <a:noFill/>
          <a:ln w="5715">
            <a:solidFill>
              <a:srgbClr val="C88A58">
                <a:alpha val="18000"/>
              </a:srgbClr>
            </a:solidFill>
          </a:ln>
        </p:spPr>
      </p:sp>
      <p:sp>
        <p:nvSpPr>
          <p:cNvPr id="35" name="Line 35"/>
          <p:cNvSpPr/>
          <p:nvPr/>
        </p:nvSpPr>
        <p:spPr>
          <a:xfrm>
            <a:off x="4552950" y="3429000"/>
            <a:ext cx="1543050" cy="1543050"/>
          </a:xfrm>
          <a:custGeom>
            <a:avLst/>
            <a:gdLst/>
            <a:ahLst/>
            <a:cxnLst/>
            <a:rect l="l" t="t" r="r" b="b"/>
            <a:pathLst>
              <a:path w="1543050" h="1543050">
                <a:moveTo>
                  <a:pt x="1543050" y="0"/>
                </a:moveTo>
                <a:lnTo>
                  <a:pt x="0" y="1543050"/>
                </a:lnTo>
              </a:path>
            </a:pathLst>
          </a:custGeom>
          <a:noFill/>
          <a:ln w="5715">
            <a:solidFill>
              <a:srgbClr val="C88A58">
                <a:alpha val="18000"/>
              </a:srgbClr>
            </a:solidFill>
          </a:ln>
        </p:spPr>
      </p:sp>
      <p:sp>
        <p:nvSpPr>
          <p:cNvPr id="36" name="Line 36"/>
          <p:cNvSpPr/>
          <p:nvPr/>
        </p:nvSpPr>
        <p:spPr>
          <a:xfrm>
            <a:off x="6096000" y="3429000"/>
            <a:ext cx="1543050" cy="1543050"/>
          </a:xfrm>
          <a:custGeom>
            <a:avLst/>
            <a:gdLst/>
            <a:ahLst/>
            <a:cxnLst/>
            <a:rect l="l" t="t" r="r" b="b"/>
            <a:pathLst>
              <a:path w="1543050" h="1543050">
                <a:moveTo>
                  <a:pt x="0" y="0"/>
                </a:moveTo>
                <a:lnTo>
                  <a:pt x="1543050" y="1543050"/>
                </a:lnTo>
              </a:path>
            </a:pathLst>
          </a:custGeom>
          <a:noFill/>
          <a:ln w="5715">
            <a:solidFill>
              <a:srgbClr val="C88A58">
                <a:alpha val="18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6096000" y="18859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3810">
            <a:solidFill>
              <a:srgbClr val="C88A58">
                <a:alpha val="12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6096000" y="45720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3810">
            <a:solidFill>
              <a:srgbClr val="C88A58">
                <a:alpha val="12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394046" y="2726055"/>
            <a:ext cx="140390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spc="300" dirty="0">
                <a:solidFill>
                  <a:srgbClr val="7F1D1D"/>
                </a:solidFill>
                <a:latin typeface="Georgia"/>
                <a:ea typeface="SimSun"/>
                <a:cs typeface="Georgia"/>
              </a:rPr>
              <a:t>思想遗产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27777" y="3156585"/>
            <a:ext cx="173644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spc="225" dirty="0">
                <a:solidFill>
                  <a:srgbClr val="B91C1C"/>
                </a:solidFill>
                <a:latin typeface="Georgia"/>
                <a:ea typeface="SimSun"/>
                <a:cs typeface="Georgia"/>
              </a:rPr>
              <a:t>三个世界</a:t>
            </a:r>
          </a:p>
        </p:txBody>
      </p:sp>
      <p:sp>
        <p:nvSpPr>
          <p:cNvPr id="41" name="Line 41"/>
          <p:cNvSpPr/>
          <p:nvPr/>
        </p:nvSpPr>
        <p:spPr>
          <a:xfrm>
            <a:off x="5143500" y="3619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D4A017"/>
            </a:solidFill>
          </a:ln>
        </p:spPr>
      </p:sp>
      <p:sp>
        <p:nvSpPr>
          <p:cNvPr id="42" name="Line 42"/>
          <p:cNvSpPr/>
          <p:nvPr/>
        </p:nvSpPr>
        <p:spPr>
          <a:xfrm>
            <a:off x="5334000" y="36576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7620">
            <a:solidFill>
              <a:srgbClr val="7F1D1D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387931" y="38223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著作逾千万字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40081" y="4153852"/>
            <a:ext cx="19118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涵盖政治 · 军事 · 文艺 · 哲学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943070" y="4564856"/>
            <a:ext cx="23058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i="1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全球评价多元 · 精神遗产引人深思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1714500"/>
            <a:ext cx="3238500" cy="1238250"/>
          </a:xfrm>
          <a:prstGeom prst="rect">
            <a:avLst/>
          </a:prstGeom>
          <a:solidFill>
            <a:srgbClr val="FFF9F0"/>
          </a:solidFill>
          <a:ln w="17145">
            <a:solidFill>
              <a:srgbClr val="C88A58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571500" y="1714500"/>
            <a:ext cx="57150" cy="1238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2292" y="18735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指导思想的确立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3816" y="219170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毛泽东思想被确立为党的指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3816" y="238220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导思想，是马克思列宁主义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3816" y="257270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在中国的独特运用与发展。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382000" y="1714500"/>
            <a:ext cx="3238500" cy="1238250"/>
          </a:xfrm>
          <a:prstGeom prst="rect">
            <a:avLst/>
          </a:prstGeom>
          <a:solidFill>
            <a:srgbClr val="FFF9F0"/>
          </a:solidFill>
          <a:ln w="17145">
            <a:solidFill>
              <a:srgbClr val="C88A58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8382000" y="1714500"/>
            <a:ext cx="57150" cy="1238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622792" y="18735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三个世界理论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624316" y="2191702"/>
            <a:ext cx="17210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提出“三个世界”理论，深刻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624316" y="2382202"/>
            <a:ext cx="17210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影响20世纪全球外交格局。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24316" y="257270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介入朝鲜战争等冷战重大事务。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5048250"/>
            <a:ext cx="4762500" cy="1238250"/>
          </a:xfrm>
          <a:prstGeom prst="rect">
            <a:avLst/>
          </a:prstGeom>
          <a:solidFill>
            <a:srgbClr val="FFF9F0"/>
          </a:solidFill>
          <a:ln w="17145">
            <a:solidFill>
              <a:srgbClr val="C88A58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571500" y="5048250"/>
            <a:ext cx="57150" cy="1238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12292" y="52073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全球历史评价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13816" y="5544502"/>
            <a:ext cx="24136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世界各地对毛泽东的评价两极分化、褒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13816" y="57350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贬不一，其对中国及全球各地影响深远。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13816" y="5925502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4B43"/>
                </a:solidFill>
                <a:latin typeface="Arial"/>
                <a:ea typeface="Microsoft YaHei"/>
                <a:cs typeface="Arial"/>
              </a:rPr>
              <a:t>精神遗产至今引人深思与持续探讨。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905500" y="5048250"/>
            <a:ext cx="5715000" cy="1238250"/>
          </a:xfrm>
          <a:prstGeom prst="rect">
            <a:avLst/>
          </a:prstGeom>
          <a:solidFill>
            <a:srgbClr val="FFF9F0"/>
          </a:solidFill>
          <a:ln w="17145">
            <a:solidFill>
              <a:srgbClr val="C88A58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5905500" y="5048250"/>
            <a:ext cx="57150" cy="1238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146292" y="52073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著作文库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147816" y="5544502"/>
            <a:ext cx="32617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著作逾千万字，包括《毛泽东选集》《毛泽东文集》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147816" y="5735002"/>
            <a:ext cx="28376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等公开著作，涵盖政治、军事、文艺、哲学等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147816" y="5925502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A1713"/>
                </a:solidFill>
                <a:latin typeface="Arial"/>
                <a:ea typeface="Microsoft YaHei"/>
                <a:cs typeface="Arial"/>
              </a:rPr>
              <a:t>多个领域，是集体智慧的结晶与时代记录。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334000" y="6096000"/>
            <a:ext cx="1524000" cy="476250"/>
          </a:xfrm>
          <a:prstGeom prst="rect">
            <a:avLst/>
          </a:prstGeom>
          <a:noFill/>
          <a:ln w="19050">
            <a:solidFill>
              <a:srgbClr val="B91C1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5699455" y="6252210"/>
            <a:ext cx="7930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spc="150" dirty="0">
                <a:solidFill>
                  <a:srgbClr val="7F1D1D"/>
                </a:solidFill>
                <a:latin typeface="Georgia"/>
                <a:ea typeface="SimSun"/>
                <a:cs typeface="Georgia"/>
              </a:rPr>
              <a:t>历史记忆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43132" y="6617970"/>
            <a:ext cx="2821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B4B43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73" name="Line 73"/>
          <p:cNvSpPr/>
          <p:nvPr/>
        </p:nvSpPr>
        <p:spPr>
          <a:xfrm>
            <a:off x="571500" y="6743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4288">
            <a:solidFill>
              <a:srgbClr val="B91C1C">
                <a:alpha val="40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2026-07-18T15:40:31Z</dcterms:created>
  <dcterms:modified xsi:type="dcterms:W3CDTF">2026-07-18T15:40:31Z</dcterms:modified>
  <cp:category/>
  <cp:contentStatus/>
</cp:coreProperties>
</file>