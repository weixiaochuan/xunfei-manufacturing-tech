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将走进毛泽东——一个影响现代中国至深的复杂灵魂。本页作为开篇，试图用‘革命者、领袖与诗人’三个关键词浓缩他的一生。毛泽东不仅是一位改变了中国历史进程的政治家，也是一位留下了无数诗篇和著作的文人。在接下来的汇报中，我们将看到他从早年觉醒到革命征战，再到建国执政的完整轨迹，也会涉及他晚年曲折以及身后争议。请带着这份初步印象，我们一起展开更深层的探索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采用时间轴布局，展示毛泽东从出生至逝世的完整人生历程。重点突出四大转折：早年家庭贫困与求学觉醒、革命时期从中共一大到井冈山道路的开辟、建国后领导社会主义建设与政治运动交织、晚年发动文革及逝世。时间轴上的每个节点均源自可信史料，并辅以视觉元素增强呈现。讲解时可简要提及家庭背景、关键会议与军事转折，为后续深入分析奠定基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毛泽东在革命夺权与建国历程中的关键节点。从1921年中共一大出席，到1930年提出‘农村包围城市’理论，再到长征、抗战与解放战争的领导，最终在1949年建立新中国。通过具体史实展示其战略思想与革命实践的结合，突出其作为革命领袖的核心贡献。同时，简要提及党内路线的分歧（如宁都会议），为后续历史复杂性埋下伏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是客观对比1949年至1976年间毛泽东时代的建设成就与政治代价，避免简单歌颂或全盘否定。成就方面：通过土地改革、社会主义改造和人民公社化，新中国迅速建立了社会主义制度框架；两弹一星的成功和三线建设极大增强了国防与工业基础；外交上，三个世界理论、抗美援朝和援越抗美提升了中国的国际地位。代价方面：毛泽东发动了一系列政治运动，从镇反、反右到大跃进和文革，这些运动在初期可能有巩固政权的考量，但逐渐扩大化，造成严重人道后果。据多方估计，非正常死亡达4000万至8000万，大跃进期间的饥荒尤为惨烈。毛泽东思想作为指导思想，凝聚了集体智慧，但实践中出现了理想与现实的脱节。讲解时需保持学术中肯，用数据和史实说话，点明这是探索社会主义道路过程中的复杂遗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旨在跳出宏大的政治叙事，从思想体系、著作遗产、家庭关系与文学修养四个维度勾勒毛泽东作为‘人’的一面。讲解时请强调：一、毛泽东思想是集体智慧的结晶，1945年确立后指导中国革命走向胜利，但改革开放后经济部分被调整，其余领域影响至今；二、他留下的千万字著述不仅是政治文献，也是研究现代中国的原始宝库；三、家庭角色中，毛岸英的牺牲凸显革命家庭的个人代价；四、诗词创作展现其豪放与坚韧的精神气质，如《沁园春·雪》的磅礴气势。请引导听众思考：这些侧面如何共同构成一个复杂而深远的领导形象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总结毛泽东的全球影响与历史评价。毛泽东不仅是中国的革命领袖，也是20世纪世界舞台上最具影响力的人物之一。他的思想通过“毛主义”传播到亚洲、非洲和拉丁美洲，影响了众多民族解放运动。在冷战背景下，他提出“三个世界”理论，试图联合发展中国家抗衡超级大国，并直接介入朝鲜战争和越南战争。然而，对他的评价极其两极分化：在中国国内，官方历史决议既肯定其革命与建设功绩，又明确否定了“文革”等晚年错误；在国际上，有人尊其为反帝英雄，也有人批评其政治运动造成的人道代价。这一页通过对比，呈现一个复杂、多维的毛泽东，引导观众思考领袖遗产的多面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F1A"/>
              </a:gs>
              <a:gs pos="45000">
                <a:srgbClr val="0D1A2D"/>
              </a:gs>
              <a:gs pos="100000">
                <a:srgbClr val="0F1A28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8000"/>
                </a:srgbClr>
              </a:solidFill>
            </a:ln>
          </p:spPr>
        </p:sp>
      </p:grpSp>
      <p:sp>
        <p:nvSpPr>
          <p:cNvPr id="14" name="Ellipse 14"/>
          <p:cNvSpPr/>
          <p:nvPr/>
        </p:nvSpPr>
        <p:spPr>
          <a:xfrm>
            <a:off x="2095500" y="952500"/>
            <a:ext cx="8001000" cy="5334000"/>
          </a:xfrm>
          <a:prstGeom prst="ellipse">
            <a:avLst/>
          </a:prstGeom>
          <a:gradFill>
            <a:gsLst>
              <a:gs pos="0">
                <a:srgbClr val="2563EB">
                  <a:alpha val="12000"/>
                </a:srgbClr>
              </a:gs>
              <a:gs pos="50000">
                <a:srgbClr val="38BDF8">
                  <a:alpha val="6000"/>
                </a:srgbClr>
              </a:gs>
              <a:gs pos="100000">
                <a:srgbClr val="7C3AED">
                  <a:alpha val="3000"/>
                </a:srgbClr>
              </a:gs>
            </a:gsLst>
            <a:lin ang="3806096" scaled="1"/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4095750" y="476250"/>
            <a:ext cx="4000500" cy="4572000"/>
            <a:chOff x="4095750" y="476250"/>
            <a:chExt cx="4000500" cy="4572000"/>
          </a:xfrm>
        </p:grpSpPr>
        <p:sp>
          <p:nvSpPr>
            <p:cNvPr id="15" name="Polygon 15"/>
            <p:cNvSpPr/>
            <p:nvPr/>
          </p:nvSpPr>
          <p:spPr>
            <a:xfrm>
              <a:off x="4095750" y="476250"/>
              <a:ext cx="4000500" cy="4572000"/>
            </a:xfrm>
            <a:custGeom>
              <a:avLst/>
              <a:gdLst/>
              <a:ahLst/>
              <a:cxnLst/>
              <a:rect l="l" t="t" r="r" b="b"/>
              <a:pathLst>
                <a:path w="4000500" h="4572000">
                  <a:moveTo>
                    <a:pt x="2000250" y="0"/>
                  </a:moveTo>
                  <a:lnTo>
                    <a:pt x="4000500" y="1143000"/>
                  </a:lnTo>
                  <a:lnTo>
                    <a:pt x="4000500" y="3429000"/>
                  </a:lnTo>
                  <a:lnTo>
                    <a:pt x="2000250" y="4572000"/>
                  </a:lnTo>
                  <a:lnTo>
                    <a:pt x="0" y="3429000"/>
                  </a:lnTo>
                  <a:lnTo>
                    <a:pt x="0" y="1143000"/>
                  </a:lnTo>
                  <a:close/>
                </a:path>
              </a:pathLst>
            </a:custGeom>
            <a:noFill/>
            <a:ln w="9525">
              <a:solidFill>
                <a:srgbClr val="38BDF8">
                  <a:alpha val="18000"/>
                </a:srgbClr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381500" y="762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714500" y="0"/>
                  </a:moveTo>
                  <a:lnTo>
                    <a:pt x="3429000" y="1000125"/>
                  </a:lnTo>
                  <a:lnTo>
                    <a:pt x="3429000" y="3000375"/>
                  </a:lnTo>
                  <a:lnTo>
                    <a:pt x="1714500" y="4000500"/>
                  </a:lnTo>
                  <a:lnTo>
                    <a:pt x="0" y="3000375"/>
                  </a:lnTo>
                  <a:lnTo>
                    <a:pt x="0" y="1000125"/>
                  </a:lnTo>
                  <a:close/>
                </a:path>
              </a:pathLst>
            </a:custGeom>
            <a:noFill/>
            <a:ln w="4762">
              <a:solidFill>
                <a:srgbClr val="2563EB">
                  <a:alpha val="18000"/>
                </a:srgbClr>
              </a:solidFill>
            </a:ln>
          </p:spPr>
        </p:sp>
      </p:grpSp>
      <p:sp>
        <p:nvSpPr>
          <p:cNvPr id="18" name="Rectangle 18"/>
          <p:cNvSpPr/>
          <p:nvPr/>
        </p:nvSpPr>
        <p:spPr>
          <a:xfrm>
            <a:off x="3048000" y="533400"/>
            <a:ext cx="6096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BDF8">
                  <a:alpha val="0"/>
                </a:srgbClr>
              </a:gs>
              <a:gs pos="15000">
                <a:srgbClr val="38BDF8">
                  <a:alpha val="90000"/>
                </a:srgbClr>
              </a:gs>
              <a:gs pos="50000">
                <a:srgbClr val="2563EB"/>
              </a:gs>
              <a:gs pos="85000">
                <a:srgbClr val="7C3AED">
                  <a:alpha val="9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24475" y="1447800"/>
            <a:ext cx="1543050" cy="342900"/>
          </a:xfrm>
          <a:prstGeom prst="roundRect">
            <a:avLst>
              <a:gd name="adj" fmla="val 11111"/>
            </a:avLst>
          </a:prstGeom>
          <a:noFill/>
          <a:ln w="9525">
            <a:solidFill>
              <a:srgbClr val="38BDF8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41619" y="1546860"/>
            <a:ext cx="9087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1893 — 1976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47241" y="2127885"/>
            <a:ext cx="2697518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spc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04309" y="3066098"/>
            <a:ext cx="298338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i="1" spc="225" dirty="0">
                <a:solidFill>
                  <a:srgbClr val="BDD7FF"/>
                </a:solidFill>
                <a:latin typeface="Georgia"/>
                <a:ea typeface="SimSun"/>
                <a:cs typeface="Georgia"/>
              </a:rPr>
              <a:t>革命者 · 领袖 · 诗人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86694" y="3626168"/>
            <a:ext cx="261861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spc="1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一个影响现代中国的复杂灵魂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0" y="3981450"/>
            <a:ext cx="3048000" cy="9525"/>
          </a:xfrm>
          <a:prstGeom prst="roundRect">
            <a:avLst>
              <a:gd name="adj" fmla="val 50000"/>
            </a:avLst>
          </a:prstGeom>
          <a:solidFill>
            <a:srgbClr val="2563EB">
              <a:alpha val="50000"/>
            </a:srgbClr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762000" y="4227671"/>
            <a:ext cx="2442210" cy="645890"/>
            <a:chOff x="762000" y="4227671"/>
            <a:chExt cx="2442210" cy="645890"/>
          </a:xfrm>
        </p:grpSpPr>
        <p:sp>
          <p:nvSpPr>
            <p:cNvPr id="25" name="Rectangle 25"/>
            <p:cNvSpPr/>
            <p:nvPr/>
          </p:nvSpPr>
          <p:spPr>
            <a:xfrm>
              <a:off x="762000" y="4286250"/>
              <a:ext cx="57150" cy="57150"/>
            </a:xfrm>
            <a:prstGeom prst="roundRect">
              <a:avLst>
                <a:gd name="adj" fmla="val 16667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76300" y="43148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7620">
              <a:solidFill>
                <a:srgbClr val="2563EB">
                  <a:alpha val="6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2886" y="4227671"/>
              <a:ext cx="6793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spc="225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革命者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37716" y="4477702"/>
              <a:ext cx="1515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开创农村包围城市道路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37716" y="4668202"/>
              <a:ext cx="1666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领导新民主主义革命胜利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4837271"/>
            <a:ext cx="2290762" cy="645890"/>
            <a:chOff x="762000" y="4837271"/>
            <a:chExt cx="2290762" cy="645890"/>
          </a:xfrm>
        </p:grpSpPr>
        <p:sp>
          <p:nvSpPr>
            <p:cNvPr id="31" name="Rectangle 31"/>
            <p:cNvSpPr/>
            <p:nvPr/>
          </p:nvSpPr>
          <p:spPr>
            <a:xfrm>
              <a:off x="762000" y="4895850"/>
              <a:ext cx="57150" cy="57150"/>
            </a:xfrm>
            <a:prstGeom prst="roundRect">
              <a:avLst>
                <a:gd name="adj" fmla="val 16667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876300" y="49244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7620">
              <a:solidFill>
                <a:srgbClr val="7C3AED">
                  <a:alpha val="6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92886" y="4837271"/>
              <a:ext cx="447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spc="225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领袖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37716" y="5087302"/>
              <a:ext cx="1363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建立中华人民共和国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37716" y="5277802"/>
              <a:ext cx="1515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奠定社会主义制度基础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5446871"/>
            <a:ext cx="1376934" cy="645890"/>
            <a:chOff x="762000" y="5446871"/>
            <a:chExt cx="1376934" cy="645890"/>
          </a:xfrm>
        </p:grpSpPr>
        <p:sp>
          <p:nvSpPr>
            <p:cNvPr id="37" name="Rectangle 37"/>
            <p:cNvSpPr/>
            <p:nvPr/>
          </p:nvSpPr>
          <p:spPr>
            <a:xfrm>
              <a:off x="762000" y="5505450"/>
              <a:ext cx="57150" cy="57150"/>
            </a:xfrm>
            <a:prstGeom prst="roundRect">
              <a:avLst>
                <a:gd name="adj" fmla="val 16667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76300" y="55340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7620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92886" y="5446871"/>
              <a:ext cx="447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spc="225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诗人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4791" y="5696902"/>
              <a:ext cx="1144143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1050" spc="75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留下逾千万字著述</a:t>
              </a:r>
              <a:r>
                <a:rPr lang="zh-CN" sz="1050" spc="75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诗词展现文人情怀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4476750"/>
            <a:ext cx="771525" cy="1333500"/>
            <a:chOff x="8191500" y="4476750"/>
            <a:chExt cx="771525" cy="1333500"/>
          </a:xfrm>
        </p:grpSpPr>
        <p:sp>
          <p:nvSpPr>
            <p:cNvPr id="42" name="Rectangle 42"/>
            <p:cNvSpPr/>
            <p:nvPr/>
          </p:nvSpPr>
          <p:spPr>
            <a:xfrm>
              <a:off x="8191500" y="4476750"/>
              <a:ext cx="9525" cy="1333500"/>
            </a:xfrm>
            <a:prstGeom prst="rect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72500" y="4667250"/>
              <a:ext cx="9525" cy="952500"/>
            </a:xfrm>
            <a:prstGeom prst="rect">
              <a:avLst/>
            </a:prstGeom>
            <a:solidFill>
              <a:srgbClr val="38BDF8">
                <a:alpha val="12000"/>
              </a:srgbClr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53500" y="4857750"/>
              <a:ext cx="9525" cy="571500"/>
            </a:xfrm>
            <a:prstGeom prst="rect">
              <a:avLst/>
            </a:prstGeom>
            <a:solidFill>
              <a:srgbClr val="7C3AED">
                <a:alpha val="12000"/>
              </a:srgbClr>
            </a:solidFill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7376160" y="4783931"/>
            <a:ext cx="1373505" cy="639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120" i="1" spc="75" dirty="0">
                <a:solidFill>
                  <a:srgbClr val="BDD7FF">
                    <a:alphaMod val="90000"/>
                  </a:srgbClr>
                </a:solidFill>
                <a:latin typeface="Georgia"/>
                <a:ea typeface="SimSun"/>
                <a:cs typeface="Georgia"/>
              </a:rPr>
              <a:t>毛泽东是二十世纪</a:t>
            </a:r>
            <a:r>
              <a:rPr lang="zh-CN" sz="1120" i="1" spc="75" dirty="0">
                <a:solidFill>
                  <a:srgbClr val="BDD7FF">
                    <a:alphaMod val="90000"/>
                  </a:srgbClr>
                </a:solidFill>
                <a:latin typeface="Georgia"/>
                <a:ea typeface="SimSun"/>
                <a:cs typeface="Georgia"/>
              </a:rPr>
              <a:t>最重要和最有影响力</a:t>
            </a:r>
            <a:r>
              <a:rPr lang="zh-CN" sz="1120" i="1" spc="75" dirty="0">
                <a:solidFill>
                  <a:srgbClr val="BDD7FF">
                    <a:alphaMod val="90000"/>
                  </a:srgbClr>
                </a:solidFill>
                <a:latin typeface="Georgia"/>
                <a:ea typeface="SimSun"/>
                <a:cs typeface="Georgia"/>
              </a:rPr>
              <a:t>的人物之一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33400" y="4191000"/>
            <a:ext cx="19050" cy="171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BDF8">
                  <a:alpha val="40000"/>
                </a:srgbClr>
              </a:gs>
              <a:gs pos="50000">
                <a:srgbClr val="2563EB">
                  <a:alpha val="4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33400" y="6362700"/>
            <a:ext cx="11125200" cy="9525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1247958" y="647509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2637A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01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120"/>
              </a:gs>
              <a:gs pos="100000">
                <a:srgbClr val="121A2F"/>
              </a:gs>
            </a:gsLst>
            <a:lin ang="2700000" scaled="1"/>
          </a:gra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1274990" y="61922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02 / 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540068"/>
            <a:ext cx="17451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30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LIFE TIMELINE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5998" y="822008"/>
            <a:ext cx="446229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生平全景：1893—1976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5048" y="1329214"/>
            <a:ext cx="60203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从早年觉醒到革命征战、建国执政，再到晚年曲折，关键节点勾勒领袖一生轨迹</a:t>
            </a:r>
          </a:p>
        </p:txBody>
      </p:sp>
      <p:sp>
        <p:nvSpPr>
          <p:cNvPr id="34" name="Line 34"/>
          <p:cNvSpPr/>
          <p:nvPr/>
        </p:nvSpPr>
        <p:spPr>
          <a:xfrm>
            <a:off x="762000" y="3238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gradFill>
              <a:gsLst>
                <a:gs pos="0">
                  <a:srgbClr val="38BDF8">
                    <a:alpha val="0"/>
                  </a:srgbClr>
                </a:gs>
                <a:gs pos="15000">
                  <a:srgbClr val="38BDF8">
                    <a:alpha val="60000"/>
                  </a:srgbClr>
                </a:gs>
                <a:gs pos="85000">
                  <a:srgbClr val="7C3AED">
                    <a:alpha val="80000"/>
                  </a:srgbClr>
                </a:gs>
                <a:gs pos="100000">
                  <a:srgbClr val="7C3AED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35" name="Rectangle 35"/>
          <p:cNvSpPr/>
          <p:nvPr/>
        </p:nvSpPr>
        <p:spPr>
          <a:xfrm>
            <a:off x="762000" y="3314700"/>
            <a:ext cx="28575" cy="571500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762000" y="3886200"/>
            <a:ext cx="2095500" cy="28575"/>
          </a:xfrm>
          <a:prstGeom prst="rect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25258" y="4013835"/>
            <a:ext cx="17689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spc="150" dirty="0">
                <a:solidFill>
                  <a:srgbClr val="38BDF8"/>
                </a:solidFill>
                <a:latin typeface="Consolas"/>
                <a:ea typeface="Microsoft YaHei"/>
                <a:cs typeface="Consolas"/>
              </a:rPr>
              <a:t>早年觉醒 1893—1921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857500" y="3314700"/>
            <a:ext cx="28575" cy="381000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2857500" y="3695700"/>
            <a:ext cx="3238500" cy="28575"/>
          </a:xfrm>
          <a:prstGeom prst="rect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2258" y="3823335"/>
            <a:ext cx="17689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spc="150" dirty="0">
                <a:solidFill>
                  <a:srgbClr val="38BDF8"/>
                </a:solidFill>
                <a:latin typeface="Consolas"/>
                <a:ea typeface="Microsoft YaHei"/>
                <a:cs typeface="Consolas"/>
              </a:rPr>
              <a:t>革命征战 1921—1949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96000" y="3314700"/>
            <a:ext cx="28575" cy="381000"/>
          </a:xfrm>
          <a:prstGeom prst="rect">
            <a:avLst/>
          </a:prstGeom>
          <a:solidFill>
            <a:srgbClr val="7C3AED">
              <a:alpha val="40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096000" y="3695700"/>
            <a:ext cx="2476500" cy="28575"/>
          </a:xfrm>
          <a:prstGeom prst="rect">
            <a:avLst/>
          </a:prstGeom>
          <a:solidFill>
            <a:srgbClr val="7C3AED">
              <a:alpha val="6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449758" y="3823335"/>
            <a:ext cx="17689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spc="150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建国执政 1949—1966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572500" y="3314700"/>
            <a:ext cx="28575" cy="571500"/>
          </a:xfrm>
          <a:prstGeom prst="rect">
            <a:avLst/>
          </a:prstGeom>
          <a:solidFill>
            <a:srgbClr val="7C3AED">
              <a:alpha val="40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8572500" y="3886200"/>
            <a:ext cx="2095500" cy="28575"/>
          </a:xfrm>
          <a:prstGeom prst="rect">
            <a:avLst/>
          </a:prstGeom>
          <a:solidFill>
            <a:srgbClr val="7C3AED">
              <a:alpha val="6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735758" y="4013835"/>
            <a:ext cx="17689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spc="150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晚年曲折 1966—1976</a:t>
            </a:r>
          </a:p>
        </p:txBody>
      </p:sp>
      <p:sp>
        <p:nvSpPr>
          <p:cNvPr id="47" name="Line 47"/>
          <p:cNvSpPr/>
          <p:nvPr/>
        </p:nvSpPr>
        <p:spPr>
          <a:xfrm>
            <a:off x="2857500" y="3200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38BDF8">
                <a:alpha val="50000"/>
              </a:srgbClr>
            </a:solidFill>
          </a:ln>
        </p:spPr>
      </p:sp>
      <p:sp>
        <p:nvSpPr>
          <p:cNvPr id="48" name="Line 48"/>
          <p:cNvSpPr/>
          <p:nvPr/>
        </p:nvSpPr>
        <p:spPr>
          <a:xfrm>
            <a:off x="6096000" y="3200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38BDF8">
                <a:alpha val="50000"/>
              </a:srgbClr>
            </a:solidFill>
          </a:ln>
        </p:spPr>
      </p:sp>
      <p:sp>
        <p:nvSpPr>
          <p:cNvPr id="49" name="Line 49"/>
          <p:cNvSpPr/>
          <p:nvPr/>
        </p:nvSpPr>
        <p:spPr>
          <a:xfrm>
            <a:off x="8572500" y="3200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7C3AED">
                <a:alpha val="50000"/>
              </a:srgbClr>
            </a:solidFill>
          </a:ln>
        </p:spPr>
      </p:sp>
      <p:sp>
        <p:nvSpPr>
          <p:cNvPr id="50" name="Ellipse 50"/>
          <p:cNvSpPr/>
          <p:nvPr/>
        </p:nvSpPr>
        <p:spPr>
          <a:xfrm>
            <a:off x="1276350" y="3181350"/>
            <a:ext cx="114300" cy="114300"/>
          </a:xfrm>
          <a:prstGeom prst="ellipse">
            <a:avLst/>
          </a:prstGeom>
          <a:solidFill>
            <a:srgbClr val="38BDF8">
              <a:alpha val="90000"/>
            </a:srgbClr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1181100" y="3086100"/>
            <a:ext cx="304800" cy="3048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762000" y="2571750"/>
            <a:ext cx="114300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A2540">
                  <a:alpha val="85000"/>
                </a:srgbClr>
              </a:gs>
              <a:gs pos="100000">
                <a:srgbClr val="0F1A2E">
                  <a:alpha val="90000"/>
                </a:srgbClr>
              </a:gs>
            </a:gsLst>
            <a:lin ang="5400000" scaled="1"/>
          </a:gradFill>
          <a:ln w="4762">
            <a:solidFill>
              <a:srgbClr val="38BDF8">
                <a:alpha val="40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44481" y="2596515"/>
            <a:ext cx="578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1893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5264" y="28936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生于湖南湘潭</a:t>
            </a:r>
          </a:p>
        </p:txBody>
      </p:sp>
      <p:sp>
        <p:nvSpPr>
          <p:cNvPr id="55" name="Ellipse 55"/>
          <p:cNvSpPr/>
          <p:nvPr/>
        </p:nvSpPr>
        <p:spPr>
          <a:xfrm>
            <a:off x="3276600" y="3181350"/>
            <a:ext cx="114300" cy="114300"/>
          </a:xfrm>
          <a:prstGeom prst="ellipse">
            <a:avLst/>
          </a:prstGeom>
          <a:solidFill>
            <a:srgbClr val="38BDF8">
              <a:alpha val="90000"/>
            </a:srgbClr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3181350" y="3086100"/>
            <a:ext cx="304800" cy="3048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2762250" y="2571750"/>
            <a:ext cx="114300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A2540">
                  <a:alpha val="85000"/>
                </a:srgbClr>
              </a:gs>
              <a:gs pos="100000">
                <a:srgbClr val="0F1A2E">
                  <a:alpha val="90000"/>
                </a:srgbClr>
              </a:gs>
            </a:gsLst>
            <a:lin ang="5400000" scaled="1"/>
          </a:gradFill>
          <a:ln w="4762">
            <a:solidFill>
              <a:srgbClr val="38BDF8">
                <a:alpha val="40000"/>
              </a:srgbClr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3044731" y="2596515"/>
            <a:ext cx="578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1921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965513" y="28936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出席中共一大</a:t>
            </a:r>
          </a:p>
        </p:txBody>
      </p:sp>
      <p:sp>
        <p:nvSpPr>
          <p:cNvPr id="60" name="Ellipse 60"/>
          <p:cNvSpPr/>
          <p:nvPr/>
        </p:nvSpPr>
        <p:spPr>
          <a:xfrm>
            <a:off x="5086350" y="3181350"/>
            <a:ext cx="114300" cy="114300"/>
          </a:xfrm>
          <a:prstGeom prst="ellipse">
            <a:avLst/>
          </a:prstGeom>
          <a:solidFill>
            <a:srgbClr val="38BDF8">
              <a:alpha val="90000"/>
            </a:srgb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4991100" y="3086100"/>
            <a:ext cx="304800" cy="3048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4572000" y="2571750"/>
            <a:ext cx="114300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A2540">
                  <a:alpha val="85000"/>
                </a:srgbClr>
              </a:gs>
              <a:gs pos="100000">
                <a:srgbClr val="0F1A2E">
                  <a:alpha val="90000"/>
                </a:srgbClr>
              </a:gs>
            </a:gsLst>
            <a:lin ang="5400000" scaled="1"/>
          </a:gradFill>
          <a:ln w="4762">
            <a:solidFill>
              <a:srgbClr val="38BDF8">
                <a:alpha val="40000"/>
              </a:srgbClr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854481" y="2596515"/>
            <a:ext cx="578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1927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96421" y="28936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秋收起义</a:t>
            </a:r>
          </a:p>
        </p:txBody>
      </p:sp>
      <p:sp>
        <p:nvSpPr>
          <p:cNvPr id="65" name="Ellipse 65"/>
          <p:cNvSpPr/>
          <p:nvPr/>
        </p:nvSpPr>
        <p:spPr>
          <a:xfrm>
            <a:off x="6972300" y="3162300"/>
            <a:ext cx="152400" cy="152400"/>
          </a:xfrm>
          <a:prstGeom prst="ellipse">
            <a:avLst/>
          </a:prstGeom>
          <a:solidFill>
            <a:srgbClr val="7C3AED">
              <a:alpha val="90000"/>
            </a:srgb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6858000" y="3048000"/>
            <a:ext cx="381000" cy="381000"/>
          </a:xfrm>
          <a:prstGeom prst="ellipse">
            <a:avLst/>
          </a:prstGeom>
          <a:noFill/>
          <a:ln w="14288">
            <a:solidFill>
              <a:srgbClr val="7C3AED">
                <a:alpha val="40000"/>
              </a:srgbClr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6477000" y="2571750"/>
            <a:ext cx="114300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E2550">
                  <a:alpha val="85000"/>
                </a:srgbClr>
              </a:gs>
              <a:gs pos="100000">
                <a:srgbClr val="121A35">
                  <a:alpha val="90000"/>
                </a:srgbClr>
              </a:gs>
            </a:gsLst>
            <a:lin ang="5400000" scaled="1"/>
          </a:gradFill>
          <a:ln w="4762">
            <a:solidFill>
              <a:srgbClr val="7C3AED">
                <a:alpha val="4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759481" y="2596515"/>
            <a:ext cx="578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1949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740842" y="28936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新中国成立</a:t>
            </a:r>
          </a:p>
        </p:txBody>
      </p:sp>
      <p:sp>
        <p:nvSpPr>
          <p:cNvPr id="70" name="Ellipse 70"/>
          <p:cNvSpPr/>
          <p:nvPr/>
        </p:nvSpPr>
        <p:spPr>
          <a:xfrm>
            <a:off x="9086850" y="3181350"/>
            <a:ext cx="114300" cy="114300"/>
          </a:xfrm>
          <a:prstGeom prst="ellipse">
            <a:avLst/>
          </a:prstGeom>
          <a:solidFill>
            <a:srgbClr val="7C3AED">
              <a:alpha val="90000"/>
            </a:srgb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8991600" y="3086100"/>
            <a:ext cx="304800" cy="304800"/>
          </a:xfrm>
          <a:prstGeom prst="ellipse">
            <a:avLst/>
          </a:prstGeom>
          <a:noFill/>
          <a:ln w="9525">
            <a:solidFill>
              <a:srgbClr val="7C3AED">
                <a:alpha val="30000"/>
              </a:srgbClr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8572500" y="2571750"/>
            <a:ext cx="114300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E2550">
                  <a:alpha val="85000"/>
                </a:srgbClr>
              </a:gs>
              <a:gs pos="100000">
                <a:srgbClr val="121A35">
                  <a:alpha val="90000"/>
                </a:srgbClr>
              </a:gs>
            </a:gsLst>
            <a:lin ang="5400000" scaled="1"/>
          </a:gradFill>
          <a:ln w="4762">
            <a:solidFill>
              <a:srgbClr val="7C3AED">
                <a:alpha val="40000"/>
              </a:srgbClr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8854981" y="2596515"/>
            <a:ext cx="578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1966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896922" y="28936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文化革命</a:t>
            </a:r>
          </a:p>
        </p:txBody>
      </p:sp>
      <p:sp>
        <p:nvSpPr>
          <p:cNvPr id="75" name="Ellipse 75"/>
          <p:cNvSpPr/>
          <p:nvPr/>
        </p:nvSpPr>
        <p:spPr>
          <a:xfrm>
            <a:off x="10610850" y="3181350"/>
            <a:ext cx="114300" cy="114300"/>
          </a:xfrm>
          <a:prstGeom prst="ellipse">
            <a:avLst/>
          </a:prstGeom>
          <a:solidFill>
            <a:srgbClr val="7C3AED">
              <a:alpha val="90000"/>
            </a:srgb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10515600" y="3086100"/>
            <a:ext cx="304800" cy="304800"/>
          </a:xfrm>
          <a:prstGeom prst="ellipse">
            <a:avLst/>
          </a:prstGeom>
          <a:noFill/>
          <a:ln w="9525">
            <a:solidFill>
              <a:srgbClr val="7C3AED">
                <a:alpha val="30000"/>
              </a:srgbClr>
            </a:solidFill>
          </a:ln>
        </p:spPr>
      </p:sp>
      <p:sp>
        <p:nvSpPr>
          <p:cNvPr id="77" name="Rectangle 77"/>
          <p:cNvSpPr/>
          <p:nvPr/>
        </p:nvSpPr>
        <p:spPr>
          <a:xfrm>
            <a:off x="10096500" y="2571750"/>
            <a:ext cx="114300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E2550">
                  <a:alpha val="85000"/>
                </a:srgbClr>
              </a:gs>
              <a:gs pos="100000">
                <a:srgbClr val="121A35">
                  <a:alpha val="90000"/>
                </a:srgbClr>
              </a:gs>
            </a:gsLst>
            <a:lin ang="5400000" scaled="1"/>
          </a:gradFill>
          <a:ln w="4762">
            <a:solidFill>
              <a:srgbClr val="7C3AED">
                <a:alpha val="40000"/>
              </a:srgbClr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10378981" y="2596515"/>
            <a:ext cx="578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1976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360342" y="28936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逝世于北京</a:t>
            </a:r>
          </a:p>
        </p:txBody>
      </p:sp>
      <p:sp>
        <p:nvSpPr>
          <p:cNvPr id="80" name="Rectangle 80"/>
          <p:cNvSpPr/>
          <p:nvPr/>
        </p:nvSpPr>
        <p:spPr>
          <a:xfrm>
            <a:off x="571500" y="4476750"/>
            <a:ext cx="1666875" cy="1714500"/>
          </a:xfrm>
          <a:prstGeom prst="roundRect">
            <a:avLst>
              <a:gd name="adj" fmla="val 3429"/>
            </a:avLst>
          </a:prstGeom>
          <a:solidFill>
            <a:srgbClr val="121A2F"/>
          </a:solidFill>
          <a:ln w="4762">
            <a:solidFill>
              <a:srgbClr val="38BDF8">
                <a:alpha val="30000"/>
              </a:srgbClr>
            </a:solidFill>
          </a:ln>
        </p:spPr>
      </p:sp>
      <p:sp>
        <p:nvSpPr>
          <p:cNvPr id="81" name="Rectangle 81"/>
          <p:cNvSpPr/>
          <p:nvPr/>
        </p:nvSpPr>
        <p:spPr>
          <a:xfrm>
            <a:off x="571500" y="4476750"/>
            <a:ext cx="1666875" cy="38100"/>
          </a:xfrm>
          <a:prstGeom prst="roundRect">
            <a:avLst>
              <a:gd name="adj" fmla="val 50000"/>
            </a:avLst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755142" y="4597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早年觉醒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56666" y="4934902"/>
            <a:ext cx="10566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1893年12月26日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56666" y="51444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生于湖南湘潭，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56666" y="53540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字润之。早年在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56666" y="55635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湖南第一师范求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56666" y="57731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学，接触马克思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56666" y="59826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主义思想。</a:t>
            </a:r>
          </a:p>
        </p:txBody>
      </p:sp>
      <p:sp>
        <p:nvSpPr>
          <p:cNvPr id="89" name="Rectangle 89"/>
          <p:cNvSpPr/>
          <p:nvPr/>
        </p:nvSpPr>
        <p:spPr>
          <a:xfrm>
            <a:off x="2428875" y="4476750"/>
            <a:ext cx="1666875" cy="1714500"/>
          </a:xfrm>
          <a:prstGeom prst="roundRect">
            <a:avLst>
              <a:gd name="adj" fmla="val 3429"/>
            </a:avLst>
          </a:prstGeom>
          <a:solidFill>
            <a:srgbClr val="121A2F"/>
          </a:solidFill>
          <a:ln w="4762">
            <a:solidFill>
              <a:srgbClr val="38BDF8">
                <a:alpha val="30000"/>
              </a:srgbClr>
            </a:solidFill>
          </a:ln>
        </p:spPr>
      </p:sp>
      <p:sp>
        <p:nvSpPr>
          <p:cNvPr id="90" name="Rectangle 90"/>
          <p:cNvSpPr/>
          <p:nvPr/>
        </p:nvSpPr>
        <p:spPr>
          <a:xfrm>
            <a:off x="2428875" y="4476750"/>
            <a:ext cx="1666875" cy="38100"/>
          </a:xfrm>
          <a:prstGeom prst="roundRect">
            <a:avLst>
              <a:gd name="adj" fmla="val 50000"/>
            </a:avLst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2612517" y="4597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革命征程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614041" y="493490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1921年出席中共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614041" y="514445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一大，1927年领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614041" y="53540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导秋收起义，开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614041" y="55635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辟井冈山革命根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614041" y="57731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据地，走上农村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614041" y="59826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包围城市道路。</a:t>
            </a:r>
          </a:p>
        </p:txBody>
      </p:sp>
      <p:sp>
        <p:nvSpPr>
          <p:cNvPr id="98" name="Rectangle 98"/>
          <p:cNvSpPr/>
          <p:nvPr/>
        </p:nvSpPr>
        <p:spPr>
          <a:xfrm>
            <a:off x="4286250" y="4476750"/>
            <a:ext cx="1666875" cy="1714500"/>
          </a:xfrm>
          <a:prstGeom prst="roundRect">
            <a:avLst>
              <a:gd name="adj" fmla="val 3429"/>
            </a:avLst>
          </a:prstGeom>
          <a:solidFill>
            <a:srgbClr val="121A2F"/>
          </a:solidFill>
          <a:ln w="4762">
            <a:solidFill>
              <a:srgbClr val="7C3AED">
                <a:alpha val="30000"/>
              </a:srgbClr>
            </a:solidFill>
          </a:ln>
        </p:spPr>
      </p:sp>
      <p:sp>
        <p:nvSpPr>
          <p:cNvPr id="99" name="Rectangle 99"/>
          <p:cNvSpPr/>
          <p:nvPr/>
        </p:nvSpPr>
        <p:spPr>
          <a:xfrm>
            <a:off x="4286250" y="4476750"/>
            <a:ext cx="1666875" cy="38100"/>
          </a:xfrm>
          <a:prstGeom prst="roundRect">
            <a:avLst>
              <a:gd name="adj" fmla="val 50000"/>
            </a:avLst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4469892" y="4597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建国执政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471416" y="493490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1949年宣告新中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471416" y="51444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国成立，开启社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471416" y="53540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会主义建设时代。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471416" y="55635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领导制定宪法，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471416" y="57731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推进工业化与抗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471416" y="5982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美援朝。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6143625" y="4476750"/>
            <a:ext cx="1666875" cy="1714500"/>
          </a:xfrm>
          <a:prstGeom prst="roundRect">
            <a:avLst>
              <a:gd name="adj" fmla="val 3429"/>
            </a:avLst>
          </a:prstGeom>
          <a:solidFill>
            <a:srgbClr val="121A2F"/>
          </a:solidFill>
          <a:ln w="4762">
            <a:solidFill>
              <a:srgbClr val="7C3AED">
                <a:alpha val="30000"/>
              </a:srgbClr>
            </a:solidFill>
          </a:ln>
        </p:spPr>
      </p:sp>
      <p:sp>
        <p:nvSpPr>
          <p:cNvPr id="108" name="Rectangle 108"/>
          <p:cNvSpPr/>
          <p:nvPr/>
        </p:nvSpPr>
        <p:spPr>
          <a:xfrm>
            <a:off x="6143625" y="4476750"/>
            <a:ext cx="1666875" cy="38100"/>
          </a:xfrm>
          <a:prstGeom prst="roundRect">
            <a:avLst>
              <a:gd name="adj" fmla="val 50000"/>
            </a:avLst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6327267" y="4597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BFF"/>
                </a:solidFill>
                <a:latin typeface="Segoe UI"/>
                <a:ea typeface="Microsoft YaHei"/>
                <a:cs typeface="Segoe UI"/>
              </a:rPr>
              <a:t>晚年曲折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328791" y="493490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1966年发动文化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328791" y="51444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大革命，晚年陷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328791" y="535400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入曲折。1976年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328791" y="5563552"/>
            <a:ext cx="10142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9月9日逝世，遗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328791" y="5773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产争议延续至今。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8001000" y="4476750"/>
            <a:ext cx="2095500" cy="1714500"/>
          </a:xfrm>
          <a:prstGeom prst="roundRect">
            <a:avLst>
              <a:gd name="adj" fmla="val 3333"/>
            </a:avLst>
          </a:prstGeom>
          <a:solidFill>
            <a:srgbClr val="121A2F"/>
          </a:solidFill>
          <a:ln w="4762">
            <a:solidFill>
              <a:srgbClr val="7C3AED">
                <a:alpha val="20000"/>
              </a:srgbClr>
            </a:solidFill>
          </a:ln>
        </p:spPr>
      </p:sp>
      <p:sp>
        <p:nvSpPr>
          <p:cNvPr id="116" name="Rectangle 116"/>
          <p:cNvSpPr/>
          <p:nvPr/>
        </p:nvSpPr>
        <p:spPr>
          <a:xfrm>
            <a:off x="8001000" y="4476750"/>
            <a:ext cx="2095500" cy="38100"/>
          </a:xfrm>
          <a:prstGeom prst="roundRect">
            <a:avLst>
              <a:gd name="adj" fmla="val 50000"/>
            </a:avLst>
          </a:prstGeom>
          <a:solidFill>
            <a:srgbClr val="7C3AED">
              <a:alpha val="40000"/>
            </a:srgbClr>
          </a:solidFill>
          <a:ln>
            <a:noFill/>
          </a:ln>
        </p:spPr>
      </p:sp>
      <p:sp>
        <p:nvSpPr>
          <p:cNvPr id="117" name="TextBox 117"/>
          <p:cNvSpPr txBox="1"/>
          <p:nvPr/>
        </p:nvSpPr>
        <p:spPr>
          <a:xfrm>
            <a:off x="8186166" y="4649152"/>
            <a:ext cx="7126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KEY FACTS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196072" y="4895374"/>
            <a:ext cx="13027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· 字润之，湖南湘潭人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196072" y="5085874"/>
            <a:ext cx="11715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· 中共一大代表之一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196072" y="5276374"/>
            <a:ext cx="11715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· 井冈山道路开创者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196072" y="5466874"/>
            <a:ext cx="10402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· 中华人民共和国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196072" y="56573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最高领导人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196072" y="5847874"/>
            <a:ext cx="9089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Segoe UI"/>
                <a:ea typeface="Microsoft YaHei"/>
                <a:cs typeface="Segoe UI"/>
              </a:rPr>
              <a:t>· 诗人、思想家</a:t>
            </a:r>
          </a:p>
        </p:txBody>
      </p:sp>
      <p:sp>
        <p:nvSpPr>
          <p:cNvPr id="124" name="Polygon 124"/>
          <p:cNvSpPr/>
          <p:nvPr/>
        </p:nvSpPr>
        <p:spPr>
          <a:xfrm>
            <a:off x="11096625" y="5524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42875" y="0"/>
                </a:moveTo>
                <a:lnTo>
                  <a:pt x="285750" y="95250"/>
                </a:lnTo>
                <a:lnTo>
                  <a:pt x="285750" y="285750"/>
                </a:lnTo>
                <a:lnTo>
                  <a:pt x="142875" y="38100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noFill/>
          <a:ln w="9525">
            <a:solidFill>
              <a:srgbClr val="7C3AED">
                <a:alpha val="30000"/>
              </a:srgbClr>
            </a:solidFill>
          </a:ln>
        </p:spPr>
      </p:sp>
      <p:sp>
        <p:nvSpPr>
          <p:cNvPr id="125" name="Polygon 125"/>
          <p:cNvSpPr/>
          <p:nvPr/>
        </p:nvSpPr>
        <p:spPr>
          <a:xfrm>
            <a:off x="11239500" y="5638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14300" y="0"/>
                </a:moveTo>
                <a:lnTo>
                  <a:pt x="228600" y="76200"/>
                </a:lnTo>
                <a:lnTo>
                  <a:pt x="228600" y="228600"/>
                </a:lnTo>
                <a:lnTo>
                  <a:pt x="114300" y="304800"/>
                </a:lnTo>
                <a:lnTo>
                  <a:pt x="0" y="228600"/>
                </a:lnTo>
                <a:lnTo>
                  <a:pt x="0" y="76200"/>
                </a:lnTo>
                <a:close/>
              </a:path>
            </a:pathLst>
          </a:custGeom>
          <a:noFill/>
          <a:ln w="6668">
            <a:solidFill>
              <a:srgbClr val="38BDF8">
                <a:alpha val="50000"/>
              </a:srgbClr>
            </a:solidFill>
          </a:ln>
        </p:spPr>
      </p:sp>
      <p:sp>
        <p:nvSpPr>
          <p:cNvPr id="126" name="Line 126"/>
          <p:cNvSpPr/>
          <p:nvPr/>
        </p:nvSpPr>
        <p:spPr>
          <a:xfrm>
            <a:off x="533400" y="4191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127" name="Line 127"/>
          <p:cNvSpPr/>
          <p:nvPr/>
        </p:nvSpPr>
        <p:spPr>
          <a:xfrm>
            <a:off x="533400" y="41910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128" name="Line 128"/>
          <p:cNvSpPr/>
          <p:nvPr/>
        </p:nvSpPr>
        <p:spPr>
          <a:xfrm>
            <a:off x="11658600" y="41910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9525">
            <a:solidFill>
              <a:srgbClr val="7C3AED">
                <a:alpha val="30000"/>
              </a:srgbClr>
            </a:solidFill>
          </a:ln>
        </p:spPr>
      </p:sp>
      <p:sp>
        <p:nvSpPr>
          <p:cNvPr id="129" name="Line 129"/>
          <p:cNvSpPr/>
          <p:nvPr/>
        </p:nvSpPr>
        <p:spPr>
          <a:xfrm>
            <a:off x="11049000" y="4191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7C3AED">
                <a:alpha val="3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100000">
                <a:srgbClr val="0F172A"/>
              </a:gs>
            </a:gsLst>
            <a:lin ang="540000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6000"/>
                </a:srgbClr>
              </a:solidFill>
            </a:ln>
          </p:spPr>
        </p:sp>
      </p:grpSp>
      <p:sp>
        <p:nvSpPr>
          <p:cNvPr id="13" name="Rectangle 1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38BDF8">
                  <a:alpha val="80000"/>
                </a:srgbClr>
              </a:gs>
              <a:gs pos="100000">
                <a:srgbClr val="2563EB">
                  <a:alpha val="8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33400" y="419100"/>
            <a:ext cx="4762500" cy="762000"/>
          </a:xfrm>
          <a:prstGeom prst="roundRect">
            <a:avLst>
              <a:gd name="adj" fmla="val 7500"/>
            </a:avLst>
          </a:prstGeom>
          <a:noFill/>
          <a:ln w="9525">
            <a:solidFill>
              <a:srgbClr val="38BDF8">
                <a:alpha val="15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10184" y="489585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革命与建国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7042" y="997268"/>
            <a:ext cx="16281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4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1921 — 1949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2529" y="1318260"/>
            <a:ext cx="5666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从中共一大的星火到开国大典的曙光，武装夺取政权的道路铸就新中国诞生之路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1771650"/>
            <a:ext cx="5334000" cy="342900"/>
          </a:xfrm>
          <a:prstGeom prst="roundRect">
            <a:avLst>
              <a:gd name="adj" fmla="val 11111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533400" y="17716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38BDF8">
                <a:alpha val="8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59892" y="1854518"/>
            <a:ext cx="4784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i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农村包围城市、武装夺取��权 — 毛泽东革命战略的核心路径</a:t>
            </a:r>
          </a:p>
        </p:txBody>
      </p:sp>
      <p:sp>
        <p:nvSpPr>
          <p:cNvPr id="21" name="Line 21"/>
          <p:cNvSpPr/>
          <p:nvPr/>
        </p:nvSpPr>
        <p:spPr>
          <a:xfrm>
            <a:off x="762000" y="3238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gradFill>
              <a:gsLst>
                <a:gs pos="0">
                  <a:srgbClr val="2563EB">
                    <a:alpha val="10000"/>
                  </a:srgbClr>
                </a:gs>
                <a:gs pos="30000">
                  <a:srgbClr val="38BDF8">
                    <a:alpha val="60000"/>
                  </a:srgbClr>
                </a:gs>
                <a:gs pos="70000">
                  <a:srgbClr val="38BDF8">
                    <a:alpha val="60000"/>
                  </a:srgbClr>
                </a:gs>
                <a:gs pos="100000">
                  <a:srgbClr val="2563EB">
                    <a:alpha val="10000"/>
                  </a:srgbClr>
                </a:gs>
              </a:gsLst>
              <a:lin ang="0" scaled="1"/>
            </a:gradFill>
          </a:ln>
        </p:spPr>
      </p:sp>
      <p:grpSp>
        <p:nvGrpSpPr>
          <p:cNvPr id="29" name="Group 29"/>
          <p:cNvGrpSpPr/>
          <p:nvPr/>
        </p:nvGrpSpPr>
        <p:grpSpPr>
          <a:xfrm>
            <a:off x="809625" y="2381250"/>
            <a:ext cx="1428750" cy="933450"/>
            <a:chOff x="809625" y="2381250"/>
            <a:chExt cx="1428750" cy="933450"/>
          </a:xfrm>
        </p:grpSpPr>
        <p:sp>
          <p:nvSpPr>
            <p:cNvPr id="22" name="Ellipse 22"/>
            <p:cNvSpPr/>
            <p:nvPr/>
          </p:nvSpPr>
          <p:spPr>
            <a:xfrm>
              <a:off x="1447800" y="3162300"/>
              <a:ext cx="152400" cy="152400"/>
            </a:xfrm>
            <a:prstGeom prst="ellipse">
              <a:avLst/>
            </a:prstGeom>
            <a:solidFill>
              <a:srgbClr val="0F172A"/>
            </a:solidFill>
            <a:ln w="23812">
              <a:solidFill>
                <a:srgbClr val="38BDF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495425" y="320992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9625" y="2381250"/>
              <a:ext cx="1428750" cy="685800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38BDF8">
                  <a:alpha val="3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09625" y="24003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4288">
              <a:solidFill>
                <a:srgbClr val="38BDF8">
                  <a:alpha val="8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1376" y="2463641"/>
              <a:ext cx="7652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15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1921 · 星火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284" y="2666524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出席中共一大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284" y="28093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开启革命征程</a:t>
              </a:r>
            </a:p>
          </p:txBody>
        </p:sp>
      </p:grpSp>
      <p:sp>
        <p:nvSpPr>
          <p:cNvPr id="30" name="Polyline 30"/>
          <p:cNvSpPr/>
          <p:nvPr/>
        </p:nvSpPr>
        <p:spPr>
          <a:xfrm>
            <a:off x="2286000" y="3238500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285750" y="0"/>
                </a:lnTo>
                <a:lnTo>
                  <a:pt x="285750" y="0"/>
                </a:lnTo>
                <a:lnTo>
                  <a:pt x="523875" y="0"/>
                </a:lnTo>
              </a:path>
            </a:pathLst>
          </a:custGeom>
          <a:noFill/>
          <a:ln w="14288">
            <a:solidFill>
              <a:srgbClr val="38BDF8">
                <a:alpha val="40000"/>
              </a:srgbClr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2714625" y="2381250"/>
            <a:ext cx="1428750" cy="933450"/>
            <a:chOff x="2714625" y="2381250"/>
            <a:chExt cx="1428750" cy="933450"/>
          </a:xfrm>
        </p:grpSpPr>
        <p:sp>
          <p:nvSpPr>
            <p:cNvPr id="31" name="Ellipse 31"/>
            <p:cNvSpPr/>
            <p:nvPr/>
          </p:nvSpPr>
          <p:spPr>
            <a:xfrm>
              <a:off x="3352800" y="3162300"/>
              <a:ext cx="152400" cy="152400"/>
            </a:xfrm>
            <a:prstGeom prst="ellipse">
              <a:avLst/>
            </a:prstGeom>
            <a:solidFill>
              <a:srgbClr val="0F172A"/>
            </a:solidFill>
            <a:ln w="23812">
              <a:solidFill>
                <a:srgbClr val="2563EB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400425" y="320992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14625" y="2381250"/>
              <a:ext cx="1428750" cy="685800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1E293B"/>
                </a:gs>
                <a:gs pos="100000">
                  <a:srgbClr val="111827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714625" y="24003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4288">
              <a:solidFill>
                <a:srgbClr val="2563EB">
                  <a:alpha val="8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046376" y="2463641"/>
              <a:ext cx="7652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150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1930 · 理论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30284" y="2666524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农村包围城市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30284" y="28093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武装夺取政权</a:t>
              </a:r>
            </a:p>
          </p:txBody>
        </p:sp>
      </p:grpSp>
      <p:sp>
        <p:nvSpPr>
          <p:cNvPr id="39" name="Polyline 39"/>
          <p:cNvSpPr/>
          <p:nvPr/>
        </p:nvSpPr>
        <p:spPr>
          <a:xfrm>
            <a:off x="4191000" y="3238500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285750" y="0"/>
                </a:lnTo>
                <a:lnTo>
                  <a:pt x="285750" y="0"/>
                </a:lnTo>
                <a:lnTo>
                  <a:pt x="523875" y="0"/>
                </a:lnTo>
              </a:path>
            </a:pathLst>
          </a:custGeom>
          <a:noFill/>
          <a:ln w="14288">
            <a:solidFill>
              <a:srgbClr val="38BDF8">
                <a:alpha val="40000"/>
              </a:srgbClr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4619625" y="2381250"/>
            <a:ext cx="1428750" cy="933450"/>
            <a:chOff x="4619625" y="2381250"/>
            <a:chExt cx="1428750" cy="933450"/>
          </a:xfrm>
        </p:grpSpPr>
        <p:sp>
          <p:nvSpPr>
            <p:cNvPr id="40" name="Ellipse 40"/>
            <p:cNvSpPr/>
            <p:nvPr/>
          </p:nvSpPr>
          <p:spPr>
            <a:xfrm>
              <a:off x="5257800" y="3162300"/>
              <a:ext cx="152400" cy="152400"/>
            </a:xfrm>
            <a:prstGeom prst="ellipse">
              <a:avLst/>
            </a:prstGeom>
            <a:solidFill>
              <a:srgbClr val="0F172A"/>
            </a:solidFill>
            <a:ln w="23812">
              <a:solidFill>
                <a:srgbClr val="38BDF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305425" y="320992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619625" y="2381250"/>
              <a:ext cx="1428750" cy="685800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38BDF8">
                  <a:alpha val="30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619625" y="24003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4288">
              <a:solidFill>
                <a:srgbClr val="38BDF8">
                  <a:alpha val="8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951376" y="2463641"/>
              <a:ext cx="7652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15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1934 · 长征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66538" y="266652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力挽狂澜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35284" y="28093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保存革命火种</a:t>
              </a:r>
            </a:p>
          </p:txBody>
        </p:sp>
      </p:grpSp>
      <p:sp>
        <p:nvSpPr>
          <p:cNvPr id="48" name="Polyline 48"/>
          <p:cNvSpPr/>
          <p:nvPr/>
        </p:nvSpPr>
        <p:spPr>
          <a:xfrm>
            <a:off x="6096000" y="3238500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285750" y="0"/>
                </a:lnTo>
                <a:lnTo>
                  <a:pt x="285750" y="0"/>
                </a:lnTo>
                <a:lnTo>
                  <a:pt x="523875" y="0"/>
                </a:lnTo>
              </a:path>
            </a:pathLst>
          </a:custGeom>
          <a:noFill/>
          <a:ln w="14288">
            <a:solidFill>
              <a:srgbClr val="38BDF8">
                <a:alpha val="40000"/>
              </a:srgbClr>
            </a:solidFill>
          </a:ln>
        </p:spPr>
      </p:sp>
      <p:grpSp>
        <p:nvGrpSpPr>
          <p:cNvPr id="56" name="Group 56"/>
          <p:cNvGrpSpPr/>
          <p:nvPr/>
        </p:nvGrpSpPr>
        <p:grpSpPr>
          <a:xfrm>
            <a:off x="6524625" y="2381250"/>
            <a:ext cx="1428750" cy="933450"/>
            <a:chOff x="6524625" y="2381250"/>
            <a:chExt cx="1428750" cy="933450"/>
          </a:xfrm>
        </p:grpSpPr>
        <p:sp>
          <p:nvSpPr>
            <p:cNvPr id="49" name="Ellipse 49"/>
            <p:cNvSpPr/>
            <p:nvPr/>
          </p:nvSpPr>
          <p:spPr>
            <a:xfrm>
              <a:off x="7162800" y="3162300"/>
              <a:ext cx="152400" cy="152400"/>
            </a:xfrm>
            <a:prstGeom prst="ellipse">
              <a:avLst/>
            </a:prstGeom>
            <a:solidFill>
              <a:srgbClr val="0F172A"/>
            </a:solidFill>
            <a:ln w="23812">
              <a:solidFill>
                <a:srgbClr val="2563EB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210425" y="320992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524625" y="2381250"/>
              <a:ext cx="1428750" cy="685800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1E293B"/>
                </a:gs>
                <a:gs pos="100000">
                  <a:srgbClr val="111827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524625" y="24003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4288">
              <a:solidFill>
                <a:srgbClr val="2563EB">
                  <a:alpha val="80000"/>
                </a:srgbClr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53184" y="2463641"/>
              <a:ext cx="1171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150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1937—1949 · 决战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74656" y="2666524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抗战与解放战争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40284" y="28093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奠定建国基石</a:t>
              </a:r>
            </a:p>
          </p:txBody>
        </p:sp>
      </p:grpSp>
      <p:sp>
        <p:nvSpPr>
          <p:cNvPr id="57" name="Polyline 57"/>
          <p:cNvSpPr/>
          <p:nvPr/>
        </p:nvSpPr>
        <p:spPr>
          <a:xfrm>
            <a:off x="8001000" y="3238500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285750" y="0"/>
                </a:lnTo>
                <a:lnTo>
                  <a:pt x="285750" y="0"/>
                </a:lnTo>
                <a:lnTo>
                  <a:pt x="523875" y="0"/>
                </a:lnTo>
              </a:path>
            </a:pathLst>
          </a:custGeom>
          <a:noFill/>
          <a:ln w="14288">
            <a:solidFill>
              <a:srgbClr val="38BDF8">
                <a:alpha val="40000"/>
              </a:srgbClr>
            </a:solidFill>
          </a:ln>
        </p:spPr>
      </p:sp>
      <p:grpSp>
        <p:nvGrpSpPr>
          <p:cNvPr id="65" name="Group 65"/>
          <p:cNvGrpSpPr/>
          <p:nvPr/>
        </p:nvGrpSpPr>
        <p:grpSpPr>
          <a:xfrm>
            <a:off x="8429625" y="2381250"/>
            <a:ext cx="1428750" cy="933450"/>
            <a:chOff x="8429625" y="2381250"/>
            <a:chExt cx="1428750" cy="933450"/>
          </a:xfrm>
        </p:grpSpPr>
        <p:sp>
          <p:nvSpPr>
            <p:cNvPr id="58" name="Ellipse 58"/>
            <p:cNvSpPr/>
            <p:nvPr/>
          </p:nvSpPr>
          <p:spPr>
            <a:xfrm>
              <a:off x="9067800" y="3162300"/>
              <a:ext cx="152400" cy="152400"/>
            </a:xfrm>
            <a:prstGeom prst="ellipse">
              <a:avLst/>
            </a:prstGeom>
            <a:solidFill>
              <a:srgbClr val="0F172A"/>
            </a:solidFill>
            <a:ln w="23812">
              <a:solidFill>
                <a:srgbClr val="38BDF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9115425" y="320992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429625" y="2381250"/>
              <a:ext cx="1428750" cy="685800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38BDF8">
                  <a:alpha val="30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8429625" y="24003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4288">
              <a:solidFill>
                <a:srgbClr val="38BDF8">
                  <a:alpha val="80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630121" y="2463641"/>
              <a:ext cx="10277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15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1948 · 三大战役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76538" y="266652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决胜千里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10911" y="28093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历史性转折</a:t>
              </a:r>
            </a:p>
          </p:txBody>
        </p:sp>
      </p:grpSp>
      <p:sp>
        <p:nvSpPr>
          <p:cNvPr id="66" name="Polyline 66"/>
          <p:cNvSpPr/>
          <p:nvPr/>
        </p:nvSpPr>
        <p:spPr>
          <a:xfrm>
            <a:off x="9906000" y="3238500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285750" y="0"/>
                </a:lnTo>
                <a:lnTo>
                  <a:pt x="285750" y="0"/>
                </a:lnTo>
                <a:lnTo>
                  <a:pt x="523875" y="0"/>
                </a:lnTo>
              </a:path>
            </a:pathLst>
          </a:custGeom>
          <a:noFill/>
          <a:ln w="14288">
            <a:solidFill>
              <a:srgbClr val="38BDF8">
                <a:alpha val="40000"/>
              </a:srgbClr>
            </a:solidFill>
          </a:ln>
        </p:spPr>
      </p:sp>
      <p:grpSp>
        <p:nvGrpSpPr>
          <p:cNvPr id="76" name="Group 76"/>
          <p:cNvGrpSpPr/>
          <p:nvPr/>
        </p:nvGrpSpPr>
        <p:grpSpPr>
          <a:xfrm>
            <a:off x="10287000" y="2381250"/>
            <a:ext cx="1428750" cy="1028700"/>
            <a:chOff x="10287000" y="2381250"/>
            <a:chExt cx="1428750" cy="1028700"/>
          </a:xfrm>
        </p:grpSpPr>
        <p:sp>
          <p:nvSpPr>
            <p:cNvPr id="67" name="Ellipse 67"/>
            <p:cNvSpPr/>
            <p:nvPr/>
          </p:nvSpPr>
          <p:spPr>
            <a:xfrm>
              <a:off x="10829925" y="3067050"/>
              <a:ext cx="342900" cy="342900"/>
            </a:xfrm>
            <a:prstGeom prst="ellipse">
              <a:avLst/>
            </a:prstGeom>
            <a:noFill/>
            <a:ln w="28575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887075" y="3124200"/>
              <a:ext cx="228600" cy="228600"/>
            </a:xfrm>
            <a:prstGeom prst="ellipse">
              <a:avLst/>
            </a:prstGeom>
            <a:noFill/>
            <a:ln w="14288">
              <a:solidFill>
                <a:srgbClr val="38BDF8">
                  <a:alpha val="25000"/>
                </a:srgbClr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0925175" y="3162300"/>
              <a:ext cx="152400" cy="152400"/>
            </a:xfrm>
            <a:prstGeom prst="ellipse">
              <a:avLst/>
            </a:prstGeom>
            <a:solidFill>
              <a:srgbClr val="38BDF8"/>
            </a:solidFill>
            <a:ln w="23812">
              <a:solidFill>
                <a:srgbClr val="38BDF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10972800" y="3209925"/>
              <a:ext cx="57150" cy="57150"/>
            </a:xfrm>
            <a:prstGeom prst="ellipse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287000" y="2381250"/>
              <a:ext cx="1428750" cy="685800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10287000" y="24003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603897" y="2463641"/>
              <a:ext cx="7949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spc="15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1949 · 建国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14062" y="26665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中华人民共和国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51879" y="2809399"/>
              <a:ext cx="6989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开辟新纪元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533400" y="4095750"/>
            <a:ext cx="10687050" cy="1333500"/>
            <a:chOff x="533400" y="4095750"/>
            <a:chExt cx="10687050" cy="1333500"/>
          </a:xfrm>
        </p:grpSpPr>
        <p:sp>
          <p:nvSpPr>
            <p:cNvPr id="77" name="Rectangle 77"/>
            <p:cNvSpPr/>
            <p:nvPr/>
          </p:nvSpPr>
          <p:spPr>
            <a:xfrm>
              <a:off x="533400" y="4095750"/>
              <a:ext cx="1714500" cy="266700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95242" y="4179570"/>
              <a:ext cx="1190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spc="225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革命关键节点详录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4476750"/>
              <a:ext cx="2571750" cy="9525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1E293B"/>
                </a:gs>
                <a:gs pos="100000">
                  <a:srgbClr val="111827"/>
                </a:gs>
              </a:gsLst>
              <a:lin ang="5400000" scaled="1"/>
            </a:gradFill>
            <a:ln w="9525">
              <a:solidFill>
                <a:srgbClr val="1E293B">
                  <a:alpha val="80000"/>
                </a:srgbClr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533400" y="4476750"/>
              <a:ext cx="38100" cy="95250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19138" y="4568666"/>
              <a:ext cx="10277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5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1921 · 中共一大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18947" y="4781074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出席中共一大，与何叔衡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8947" y="4971574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秘密乘船北上，开启革命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8947" y="5162074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征程，见证党的诞生。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238500" y="4476750"/>
              <a:ext cx="2571750" cy="9525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1E293B"/>
                </a:gs>
                <a:gs pos="100000">
                  <a:srgbClr val="111827"/>
                </a:gs>
              </a:gsLst>
              <a:lin ang="5400000" scaled="1"/>
            </a:gradFill>
            <a:ln w="9525">
              <a:solidFill>
                <a:srgbClr val="1E293B">
                  <a:alpha val="80000"/>
                </a:srgbClr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3238500" y="4476750"/>
              <a:ext cx="38100" cy="952500"/>
            </a:xfrm>
            <a:prstGeom prst="roundRect">
              <a:avLst>
                <a:gd name="adj" fmla="val 50000"/>
              </a:avLst>
            </a:prstGeom>
            <a:solidFill>
              <a:srgbClr val="2563EB">
                <a:alpha val="80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424238" y="4568666"/>
              <a:ext cx="10277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50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1930 · 战略理论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424047" y="4781074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《星星之火，可以燎原》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424047" y="4971574"/>
              <a:ext cx="15258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系统阐述“农村包围城市、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424047" y="5162074"/>
              <a:ext cx="1263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武装夺取政权”理论。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943600" y="4476750"/>
              <a:ext cx="2571750" cy="9525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1E293B"/>
                </a:gs>
                <a:gs pos="100000">
                  <a:srgbClr val="111827"/>
                </a:gs>
              </a:gsLst>
              <a:lin ang="5400000" scaled="1"/>
            </a:gradFill>
            <a:ln w="9525">
              <a:solidFill>
                <a:srgbClr val="1E293B">
                  <a:alpha val="80000"/>
                </a:srgbClr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5943600" y="4476750"/>
              <a:ext cx="38100" cy="95250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129338" y="4568666"/>
              <a:ext cx="10277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5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1934 · 长征转折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129147" y="4781074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宁都会议后受挫折，长征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129147" y="4971574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途中力挽狂澜，重新确立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129147" y="5162074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领导地位，保存革命火种。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648700" y="4476750"/>
              <a:ext cx="2571750" cy="9525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1E293B"/>
                </a:gs>
                <a:gs pos="100000">
                  <a:srgbClr val="111827"/>
                </a:gs>
              </a:gsLst>
              <a:lin ang="5400000" scaled="1"/>
            </a:gradFill>
            <a:ln w="9525">
              <a:solidFill>
                <a:srgbClr val="1E293B">
                  <a:alpha val="80000"/>
                </a:srgbClr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648700" y="4476750"/>
              <a:ext cx="38100" cy="952500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80000"/>
              </a:srgbClr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834438" y="4568666"/>
              <a:ext cx="10277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50" dirty="0">
                  <a:solidFill>
                    <a:srgbClr val="7C3AED"/>
                  </a:solidFill>
                  <a:latin typeface="Consolas"/>
                  <a:ea typeface="Microsoft YaHei"/>
                  <a:cs typeface="Consolas"/>
                </a:rPr>
                <a:t>1949 · 开国奠基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834247" y="4781074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三大战役决胜千里后，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834247" y="4971574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领导抗日战争与解放战争，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834247" y="5162074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1D5DB"/>
                  </a:solidFill>
                  <a:latin typeface="Arial"/>
                  <a:ea typeface="Microsoft YaHei"/>
                  <a:cs typeface="Arial"/>
                </a:rPr>
                <a:t>宣告中华人民共和国成立。</a:t>
              </a:r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11298332" y="6516052"/>
            <a:ext cx="7265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spc="30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03 / 06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0" y="0"/>
            <a:ext cx="228600" cy="9525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06" name="Rectangle 106"/>
          <p:cNvSpPr/>
          <p:nvPr/>
        </p:nvSpPr>
        <p:spPr>
          <a:xfrm>
            <a:off x="0" y="0"/>
            <a:ext cx="9525" cy="228600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07" name="Rectangle 107"/>
          <p:cNvSpPr/>
          <p:nvPr/>
        </p:nvSpPr>
        <p:spPr>
          <a:xfrm>
            <a:off x="11963400" y="0"/>
            <a:ext cx="228600" cy="9525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08" name="Rectangle 108"/>
          <p:cNvSpPr/>
          <p:nvPr/>
        </p:nvSpPr>
        <p:spPr>
          <a:xfrm>
            <a:off x="12182475" y="0"/>
            <a:ext cx="9525" cy="228600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09" name="Rectangle 109"/>
          <p:cNvSpPr/>
          <p:nvPr/>
        </p:nvSpPr>
        <p:spPr>
          <a:xfrm>
            <a:off x="0" y="6629400"/>
            <a:ext cx="228600" cy="9525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10" name="Rectangle 110"/>
          <p:cNvSpPr/>
          <p:nvPr/>
        </p:nvSpPr>
        <p:spPr>
          <a:xfrm>
            <a:off x="0" y="6848475"/>
            <a:ext cx="9525" cy="228600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11" name="Rectangle 111"/>
          <p:cNvSpPr/>
          <p:nvPr/>
        </p:nvSpPr>
        <p:spPr>
          <a:xfrm>
            <a:off x="11963400" y="6848475"/>
            <a:ext cx="228600" cy="9525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12" name="Rectangle 112"/>
          <p:cNvSpPr/>
          <p:nvPr/>
        </p:nvSpPr>
        <p:spPr>
          <a:xfrm>
            <a:off x="12182475" y="6629400"/>
            <a:ext cx="9525" cy="228600"/>
          </a:xfrm>
          <a:prstGeom prst="rect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13" name="Ellipse 113"/>
          <p:cNvSpPr/>
          <p:nvPr/>
        </p:nvSpPr>
        <p:spPr>
          <a:xfrm>
            <a:off x="11430000" y="6096000"/>
            <a:ext cx="762000" cy="762000"/>
          </a:xfrm>
          <a:prstGeom prst="ellipse">
            <a:avLst/>
          </a:prstGeom>
          <a:noFill/>
          <a:ln w="9525">
            <a:solidFill>
              <a:srgbClr val="2563EB">
                <a:alpha val="5000"/>
              </a:srgbClr>
            </a:solidFill>
          </a:ln>
        </p:spPr>
      </p:sp>
      <p:sp>
        <p:nvSpPr>
          <p:cNvPr id="114" name="Ellipse 114"/>
          <p:cNvSpPr/>
          <p:nvPr/>
        </p:nvSpPr>
        <p:spPr>
          <a:xfrm>
            <a:off x="11239500" y="5905500"/>
            <a:ext cx="1143000" cy="1143000"/>
          </a:xfrm>
          <a:prstGeom prst="ellipse">
            <a:avLst/>
          </a:prstGeom>
          <a:noFill/>
          <a:ln w="9525">
            <a:solidFill>
              <a:srgbClr val="2563EB">
                <a:alpha val="3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020617"/>
              </a:gs>
            </a:gsLst>
            <a:lin ang="54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10" name="Line 10"/>
          <p:cNvSpPr/>
          <p:nvPr/>
        </p:nvSpPr>
        <p:spPr>
          <a:xfrm>
            <a:off x="533400" y="4191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533400" y="419100"/>
            <a:ext cx="4038600" cy="9525"/>
          </a:xfrm>
          <a:custGeom>
            <a:avLst/>
            <a:gdLst/>
            <a:ahLst/>
            <a:cxnLst/>
            <a:rect l="l" t="t" r="r" b="b"/>
            <a:pathLst>
              <a:path w="4038600" h="9525">
                <a:moveTo>
                  <a:pt x="0" y="0"/>
                </a:moveTo>
                <a:lnTo>
                  <a:pt x="4038600" y="0"/>
                </a:lnTo>
              </a:path>
            </a:pathLst>
          </a:custGeom>
          <a:noFill/>
          <a:ln w="19050"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</a:ln>
        </p:spPr>
      </p:sp>
      <p:sp>
        <p:nvSpPr>
          <p:cNvPr id="12" name="TextBox 12"/>
          <p:cNvSpPr txBox="1"/>
          <p:nvPr/>
        </p:nvSpPr>
        <p:spPr>
          <a:xfrm>
            <a:off x="417701" y="609600"/>
            <a:ext cx="495656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1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探索与代价：1949—1976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6542" y="1092518"/>
            <a:ext cx="8060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75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建设成就与政治运动并存：制度奠基、工业化、外交突破背后是反右、大跃进、文革的人道代价</a:t>
            </a:r>
          </a:p>
        </p:txBody>
      </p:sp>
      <p:sp>
        <p:nvSpPr>
          <p:cNvPr id="14" name="Line 14"/>
          <p:cNvSpPr/>
          <p:nvPr/>
        </p:nvSpPr>
        <p:spPr>
          <a:xfrm>
            <a:off x="533400" y="14097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gradFill>
              <a:gsLst>
                <a:gs pos="0">
                  <a:srgbClr val="38BDF8">
                    <a:alpha val="0"/>
                  </a:srgbClr>
                </a:gs>
                <a:gs pos="50000">
                  <a:srgbClr val="38BDF8">
                    <a:alpha val="60000"/>
                  </a:srgbClr>
                </a:gs>
                <a:gs pos="100000">
                  <a:srgbClr val="38BDF8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15" name="Rectangle 15"/>
          <p:cNvSpPr/>
          <p:nvPr/>
        </p:nvSpPr>
        <p:spPr>
          <a:xfrm>
            <a:off x="533400" y="1581150"/>
            <a:ext cx="1371600" cy="266700"/>
          </a:xfrm>
          <a:prstGeom prst="roundRect">
            <a:avLst>
              <a:gd name="adj" fmla="val 14286"/>
            </a:avLst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3369" y="1658302"/>
            <a:ext cx="9516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spc="75" dirty="0">
                <a:solidFill>
                  <a:srgbClr val="38BDF8"/>
                </a:solidFill>
                <a:latin typeface="Consolas"/>
                <a:ea typeface="Microsoft YaHei"/>
                <a:cs typeface="Consolas"/>
              </a:rPr>
              <a:t>【建设成就】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287000" y="1581150"/>
            <a:ext cx="1371600" cy="266700"/>
          </a:xfrm>
          <a:prstGeom prst="roundRect">
            <a:avLst>
              <a:gd name="adj" fmla="val 14286"/>
            </a:avLst>
          </a:prstGeom>
          <a:solidFill>
            <a:srgbClr val="7C3AED">
              <a:alpha val="18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496969" y="1658302"/>
            <a:ext cx="9516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spc="75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【政治代价】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198120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33400" y="198120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647700" y="2200275"/>
            <a:ext cx="190500" cy="190500"/>
          </a:xfrm>
          <a:prstGeom prst="ellipse">
            <a:avLst/>
          </a:prstGeom>
          <a:noFill/>
          <a:ln w="14288">
            <a:solidFill>
              <a:srgbClr val="38BDF8"/>
            </a:solidFill>
          </a:ln>
        </p:spPr>
      </p:sp>
      <p:sp>
        <p:nvSpPr>
          <p:cNvPr id="22" name="Line 22"/>
          <p:cNvSpPr/>
          <p:nvPr/>
        </p:nvSpPr>
        <p:spPr>
          <a:xfrm>
            <a:off x="695325" y="229552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38BDF8"/>
            </a:solidFill>
          </a:ln>
        </p:spPr>
      </p:sp>
      <p:sp>
        <p:nvSpPr>
          <p:cNvPr id="23" name="Line 23"/>
          <p:cNvSpPr/>
          <p:nvPr/>
        </p:nvSpPr>
        <p:spPr>
          <a:xfrm>
            <a:off x="742950" y="224790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38BDF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08685" y="209788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制度奠基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9447" y="2323624"/>
            <a:ext cx="30287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土地改革、社会主义改造、人民公社化奠定制度基础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33400" y="272415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33400" y="272415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666750" y="2981325"/>
            <a:ext cx="152400" cy="123825"/>
          </a:xfrm>
          <a:custGeom>
            <a:avLst/>
            <a:gdLst/>
            <a:ahLst/>
            <a:cxnLst/>
            <a:rect l="l" t="t" r="r" b="b"/>
            <a:pathLst>
              <a:path w="152400" h="123825">
                <a:moveTo>
                  <a:pt x="76200" y="0"/>
                </a:moveTo>
                <a:lnTo>
                  <a:pt x="104775" y="47625"/>
                </a:lnTo>
                <a:lnTo>
                  <a:pt x="152400" y="47625"/>
                </a:lnTo>
                <a:lnTo>
                  <a:pt x="114300" y="76200"/>
                </a:lnTo>
                <a:lnTo>
                  <a:pt x="133350" y="123825"/>
                </a:lnTo>
                <a:lnTo>
                  <a:pt x="76200" y="95250"/>
                </a:lnTo>
                <a:lnTo>
                  <a:pt x="19050" y="123825"/>
                </a:lnTo>
                <a:lnTo>
                  <a:pt x="38100" y="76200"/>
                </a:lnTo>
                <a:lnTo>
                  <a:pt x="0" y="47625"/>
                </a:lnTo>
                <a:lnTo>
                  <a:pt x="47625" y="47625"/>
                </a:lnTo>
                <a:close/>
              </a:path>
            </a:pathLst>
          </a:custGeom>
          <a:noFill/>
          <a:ln w="14288">
            <a:solidFill>
              <a:srgbClr val="38BDF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08685" y="2840831"/>
            <a:ext cx="965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军事工业飞跃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9447" y="3066574"/>
            <a:ext cx="22412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两弹一星成功研制、三线建设全面铺开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33400" y="346710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33400" y="346710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647700" y="3686175"/>
            <a:ext cx="190500" cy="190500"/>
          </a:xfrm>
          <a:prstGeom prst="ellipse">
            <a:avLst/>
          </a:prstGeom>
          <a:noFill/>
          <a:ln w="14288">
            <a:solidFill>
              <a:srgbClr val="38BDF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13199" y="3746659"/>
            <a:ext cx="5950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8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8685" y="358378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外交突破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9447" y="3809524"/>
            <a:ext cx="2634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三个世界理论、抗美援朝、援越抗美打破孤立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33400" y="421005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33400" y="421005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76275" y="4448175"/>
            <a:ext cx="133350" cy="133350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38BDF8"/>
            </a:solidFill>
          </a:ln>
        </p:spPr>
      </p:sp>
      <p:sp>
        <p:nvSpPr>
          <p:cNvPr id="40" name="Line 40"/>
          <p:cNvSpPr/>
          <p:nvPr/>
        </p:nvSpPr>
        <p:spPr>
          <a:xfrm>
            <a:off x="742950" y="447675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38BDF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08685" y="432673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安全强化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9447" y="4552474"/>
            <a:ext cx="22412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深挖洞、广积粮、不称霸巩固国防安全</a:t>
            </a:r>
          </a:p>
        </p:txBody>
      </p:sp>
      <p:sp>
        <p:nvSpPr>
          <p:cNvPr id="43" name="Line 43"/>
          <p:cNvSpPr/>
          <p:nvPr/>
        </p:nvSpPr>
        <p:spPr>
          <a:xfrm>
            <a:off x="6096000" y="1981200"/>
            <a:ext cx="9525" cy="2857500"/>
          </a:xfrm>
          <a:custGeom>
            <a:avLst/>
            <a:gdLst/>
            <a:ahLst/>
            <a:cxnLst/>
            <a:rect l="l" t="t" r="r" b="b"/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/>
          <a:ln w="9525">
            <a:solidFill>
              <a:srgbClr val="38BDF8">
                <a:alpha val="20000"/>
              </a:srgbClr>
            </a:solidFill>
            <a:custDash>
              <a:ds d="400000" sp="600000"/>
            </a:custDash>
          </a:ln>
        </p:spPr>
      </p:sp>
      <p:sp>
        <p:nvSpPr>
          <p:cNvPr id="44" name="Rectangle 44"/>
          <p:cNvSpPr/>
          <p:nvPr/>
        </p:nvSpPr>
        <p:spPr>
          <a:xfrm>
            <a:off x="6515100" y="198120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11620500" y="198120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6629400" y="2200275"/>
            <a:ext cx="190500" cy="190500"/>
          </a:xfrm>
          <a:prstGeom prst="ellipse">
            <a:avLst/>
          </a:prstGeom>
          <a:noFill/>
          <a:ln w="14288">
            <a:solidFill>
              <a:srgbClr val="7C3AED"/>
            </a:solidFill>
          </a:ln>
        </p:spPr>
      </p:sp>
      <p:sp>
        <p:nvSpPr>
          <p:cNvPr id="47" name="Line 47"/>
          <p:cNvSpPr/>
          <p:nvPr/>
        </p:nvSpPr>
        <p:spPr>
          <a:xfrm>
            <a:off x="6677025" y="229552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7C3AE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890385" y="2097881"/>
            <a:ext cx="14426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政治运动连续扩大化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91147" y="2323624"/>
            <a:ext cx="31403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镇反→三反五反→肃反→反右→大跃进→反右倾→四清→文革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515100" y="272415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11620500" y="272415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98113" y="2953702"/>
            <a:ext cx="530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!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648450" y="2933700"/>
            <a:ext cx="171450" cy="171450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7C3AED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890385" y="2840831"/>
            <a:ext cx="965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人道代价沉重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91147" y="3066574"/>
            <a:ext cx="3153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非正常死亡估计4000万—8000万，三年大饥荒加剧悲剧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515100" y="346710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11620500" y="346710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8" name="Polygon 58"/>
          <p:cNvSpPr/>
          <p:nvPr/>
        </p:nvSpPr>
        <p:spPr>
          <a:xfrm>
            <a:off x="6638925" y="3657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0"/>
                </a:moveTo>
                <a:lnTo>
                  <a:pt x="114300" y="57150"/>
                </a:lnTo>
                <a:lnTo>
                  <a:pt x="171450" y="57150"/>
                </a:lnTo>
                <a:lnTo>
                  <a:pt x="133350" y="95250"/>
                </a:lnTo>
                <a:lnTo>
                  <a:pt x="142875" y="152400"/>
                </a:lnTo>
                <a:lnTo>
                  <a:pt x="85725" y="123825"/>
                </a:lnTo>
                <a:lnTo>
                  <a:pt x="28575" y="152400"/>
                </a:lnTo>
                <a:lnTo>
                  <a:pt x="38100" y="95250"/>
                </a:lnTo>
                <a:lnTo>
                  <a:pt x="0" y="57150"/>
                </a:lnTo>
                <a:lnTo>
                  <a:pt x="57150" y="57150"/>
                </a:lnTo>
                <a:close/>
              </a:path>
            </a:pathLst>
          </a:custGeom>
          <a:noFill/>
          <a:ln w="14288">
            <a:solidFill>
              <a:srgbClr val="7C3AED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6890385" y="3583781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大跃进运动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891147" y="3809524"/>
            <a:ext cx="25037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大炼钢铁、人民公社化导致经济失衡与饥荒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515100" y="4210050"/>
            <a:ext cx="5143500" cy="628650"/>
          </a:xfrm>
          <a:prstGeom prst="roundRect">
            <a:avLst>
              <a:gd name="adj" fmla="val 9091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334155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11620500" y="421005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6648450" y="4448175"/>
            <a:ext cx="152400" cy="114300"/>
          </a:xfrm>
          <a:prstGeom prst="roundRect">
            <a:avLst>
              <a:gd name="adj" fmla="val 16667"/>
            </a:avLst>
          </a:prstGeom>
          <a:noFill/>
          <a:ln w="14288">
            <a:solidFill>
              <a:srgbClr val="7C3AED"/>
            </a:solidFill>
          </a:ln>
        </p:spPr>
      </p:sp>
      <p:sp>
        <p:nvSpPr>
          <p:cNvPr id="64" name="Line 64"/>
          <p:cNvSpPr/>
          <p:nvPr/>
        </p:nvSpPr>
        <p:spPr>
          <a:xfrm>
            <a:off x="6686550" y="4495800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7C3AED"/>
            </a:solidFill>
          </a:ln>
        </p:spPr>
      </p:sp>
      <p:sp>
        <p:nvSpPr>
          <p:cNvPr id="65" name="Line 65"/>
          <p:cNvSpPr/>
          <p:nvPr/>
        </p:nvSpPr>
        <p:spPr>
          <a:xfrm>
            <a:off x="6686550" y="4524375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7C3AED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6890385" y="4326731"/>
            <a:ext cx="12835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理想与现实的冲突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891147" y="4552474"/>
            <a:ext cx="2897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毛泽东思想成理论结晶，但实践偏差暴露深层矛盾</a:t>
            </a:r>
          </a:p>
        </p:txBody>
      </p:sp>
      <p:sp>
        <p:nvSpPr>
          <p:cNvPr id="68" name="Rectangle 68"/>
          <p:cNvSpPr/>
          <p:nvPr/>
        </p:nvSpPr>
        <p:spPr>
          <a:xfrm>
            <a:off x="533400" y="5048250"/>
            <a:ext cx="11125200" cy="495300"/>
          </a:xfrm>
          <a:prstGeom prst="roundRect">
            <a:avLst>
              <a:gd name="adj" fmla="val 11538"/>
            </a:avLst>
          </a:prstGeom>
          <a:noFill/>
          <a:ln w="9525">
            <a:solidFill>
              <a:srgbClr val="38BDF8">
                <a:alpha val="15000"/>
              </a:srgbClr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533400" y="5048250"/>
            <a:ext cx="11125200" cy="19050"/>
          </a:xfrm>
          <a:prstGeom prst="rect">
            <a:avLst/>
          </a:prstGeom>
          <a:gradFill>
            <a:gsLst>
              <a:gs pos="0">
                <a:srgbClr val="2563EB">
                  <a:alpha val="30000"/>
                </a:srgbClr>
              </a:gs>
              <a:gs pos="100000">
                <a:srgbClr val="38BDF8">
                  <a:alpha val="3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719138" y="5178266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2637A"/>
                </a:solidFill>
                <a:latin typeface="Consolas"/>
                <a:ea typeface="Microsoft YaHei"/>
                <a:cs typeface="Consolas"/>
              </a:rPr>
              <a:t>成就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8185" y="5326856"/>
            <a:ext cx="16175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制度建设+工业化+外交</a:t>
            </a:r>
          </a:p>
        </p:txBody>
      </p:sp>
      <p:sp>
        <p:nvSpPr>
          <p:cNvPr id="72" name="Line 72"/>
          <p:cNvSpPr/>
          <p:nvPr/>
        </p:nvSpPr>
        <p:spPr>
          <a:xfrm>
            <a:off x="2952750" y="51435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38BDF8">
                <a:alpha val="20000"/>
              </a:srgbClr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138488" y="5178266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2637A"/>
                </a:solidFill>
                <a:latin typeface="Consolas"/>
                <a:ea typeface="Microsoft YaHei"/>
                <a:cs typeface="Consolas"/>
              </a:rPr>
              <a:t>运动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137535" y="5326856"/>
            <a:ext cx="1371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8次大规模政治运动</a:t>
            </a:r>
          </a:p>
        </p:txBody>
      </p:sp>
      <p:sp>
        <p:nvSpPr>
          <p:cNvPr id="75" name="Line 75"/>
          <p:cNvSpPr/>
          <p:nvPr/>
        </p:nvSpPr>
        <p:spPr>
          <a:xfrm>
            <a:off x="5524500" y="51435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38BDF8">
                <a:alpha val="20000"/>
              </a:srgbClr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5710238" y="5178266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2637A"/>
                </a:solidFill>
                <a:latin typeface="Consolas"/>
                <a:ea typeface="Microsoft YaHei"/>
                <a:cs typeface="Consolas"/>
              </a:rPr>
              <a:t>代价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709285" y="5326856"/>
            <a:ext cx="19117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非正常死亡4000万—8000万</a:t>
            </a:r>
          </a:p>
        </p:txBody>
      </p:sp>
      <p:sp>
        <p:nvSpPr>
          <p:cNvPr id="78" name="Line 78"/>
          <p:cNvSpPr/>
          <p:nvPr/>
        </p:nvSpPr>
        <p:spPr>
          <a:xfrm>
            <a:off x="8382000" y="51435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38BDF8">
                <a:alpha val="20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8567738" y="5178266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2637A"/>
                </a:solidFill>
                <a:latin typeface="Consolas"/>
                <a:ea typeface="Microsoft YaHei"/>
                <a:cs typeface="Consolas"/>
              </a:rPr>
              <a:t>跨度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566785" y="5326856"/>
            <a:ext cx="12915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1949—1976共27年</a:t>
            </a:r>
          </a:p>
        </p:txBody>
      </p:sp>
      <p:sp>
        <p:nvSpPr>
          <p:cNvPr id="81" name="Line 81"/>
          <p:cNvSpPr/>
          <p:nvPr/>
        </p:nvSpPr>
        <p:spPr>
          <a:xfrm>
            <a:off x="533400" y="57531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4762">
            <a:solidFill>
              <a:srgbClr val="38BDF8">
                <a:alpha val="12000"/>
              </a:srgbClr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528638" y="5903595"/>
            <a:ext cx="14755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37A"/>
                </a:solidFill>
                <a:latin typeface="Consolas"/>
                <a:ea typeface="Microsoft YaHei"/>
                <a:cs typeface="Consolas"/>
              </a:rPr>
              <a:t>毛泽东：革命者·领袖·诗人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247958" y="590359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04 / 06</a:t>
            </a:r>
          </a:p>
        </p:txBody>
      </p:sp>
      <p:sp>
        <p:nvSpPr>
          <p:cNvPr id="84" name="Rectangle 84"/>
          <p:cNvSpPr/>
          <p:nvPr/>
        </p:nvSpPr>
        <p:spPr>
          <a:xfrm>
            <a:off x="11734800" y="6400800"/>
            <a:ext cx="28575" cy="28575"/>
          </a:xfrm>
          <a:prstGeom prst="roundRect">
            <a:avLst>
              <a:gd name="adj" fmla="val 33333"/>
            </a:avLst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85" name="Rectangle 85"/>
          <p:cNvSpPr/>
          <p:nvPr/>
        </p:nvSpPr>
        <p:spPr>
          <a:xfrm>
            <a:off x="11849100" y="6400800"/>
            <a:ext cx="28575" cy="28575"/>
          </a:xfrm>
          <a:prstGeom prst="roundRect">
            <a:avLst>
              <a:gd name="adj" fmla="val 33333"/>
            </a:avLst>
          </a:prstGeom>
          <a:solidFill>
            <a:srgbClr val="2563EB">
              <a:alpha val="40000"/>
            </a:srgbClr>
          </a:solidFill>
          <a:ln>
            <a:noFill/>
          </a:ln>
        </p:spPr>
      </p:sp>
      <p:sp>
        <p:nvSpPr>
          <p:cNvPr id="86" name="Rectangle 86"/>
          <p:cNvSpPr/>
          <p:nvPr/>
        </p:nvSpPr>
        <p:spPr>
          <a:xfrm>
            <a:off x="11791950" y="6457950"/>
            <a:ext cx="28575" cy="28575"/>
          </a:xfrm>
          <a:prstGeom prst="roundRect">
            <a:avLst>
              <a:gd name="adj" fmla="val 33333"/>
            </a:avLst>
          </a:prstGeom>
          <a:solidFill>
            <a:srgbClr val="38BDF8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100000">
                <a:srgbClr val="111827"/>
              </a:gs>
            </a:gsLst>
            <a:lin ang="5400000" scaled="1"/>
          </a:gra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0" y="571500"/>
            <a:ext cx="12192000" cy="5724525"/>
            <a:chOff x="0" y="571500"/>
            <a:chExt cx="12192000" cy="5724525"/>
          </a:xfrm>
        </p:grpSpPr>
        <p:sp>
          <p:nvSpPr>
            <p:cNvPr id="3" name="Line 3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/>
              </a:solidFill>
            </a:ln>
          </p:spPr>
        </p:sp>
      </p:grpSp>
      <p:sp>
        <p:nvSpPr>
          <p:cNvPr id="15" name="Line 15"/>
          <p:cNvSpPr/>
          <p:nvPr/>
        </p:nvSpPr>
        <p:spPr>
          <a:xfrm>
            <a:off x="533400" y="4191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6" name="Line 16"/>
          <p:cNvSpPr/>
          <p:nvPr/>
        </p:nvSpPr>
        <p:spPr>
          <a:xfrm>
            <a:off x="533400" y="4191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495300" y="3810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9239250" y="-762000"/>
            <a:ext cx="3429000" cy="3429000"/>
          </a:xfrm>
          <a:prstGeom prst="ellipse">
            <a:avLst/>
          </a:prstGeom>
          <a:gradFill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3400" y="4191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09041" y="493871"/>
            <a:ext cx="4064734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spc="2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思想·家庭·文人侧面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6280" y="942975"/>
            <a:ext cx="31855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75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多维透视：从理论遗产到个人情怀</a:t>
            </a:r>
          </a:p>
        </p:txBody>
      </p:sp>
      <p:sp>
        <p:nvSpPr>
          <p:cNvPr id="22" name="Line 22"/>
          <p:cNvSpPr/>
          <p:nvPr/>
        </p:nvSpPr>
        <p:spPr>
          <a:xfrm>
            <a:off x="723900" y="12382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19050"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</a:ln>
        </p:spPr>
      </p:sp>
      <p:grpSp>
        <p:nvGrpSpPr>
          <p:cNvPr id="44" name="Group 44"/>
          <p:cNvGrpSpPr/>
          <p:nvPr/>
        </p:nvGrpSpPr>
        <p:grpSpPr>
          <a:xfrm>
            <a:off x="533400" y="1619250"/>
            <a:ext cx="2571750" cy="4857750"/>
            <a:chOff x="533400" y="1619250"/>
            <a:chExt cx="2571750" cy="4857750"/>
          </a:xfrm>
        </p:grpSpPr>
        <p:sp>
          <p:nvSpPr>
            <p:cNvPr id="23" name="Rectangle 23"/>
            <p:cNvSpPr/>
            <p:nvPr/>
          </p:nvSpPr>
          <p:spPr>
            <a:xfrm>
              <a:off x="533400" y="1619250"/>
              <a:ext cx="2571750" cy="4857750"/>
            </a:xfrm>
            <a:prstGeom prst="roundRect">
              <a:avLst>
                <a:gd name="adj" fmla="val 2963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1E3A5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1619250"/>
              <a:ext cx="25717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609725" y="1790700"/>
              <a:ext cx="419100" cy="419100"/>
            </a:xfrm>
            <a:prstGeom prst="ellipse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685925" y="1866900"/>
              <a:ext cx="266700" cy="266700"/>
            </a:xfrm>
            <a:prstGeom prst="ellipse">
              <a:avLst/>
            </a:prstGeom>
            <a:noFill/>
            <a:ln w="9525">
              <a:solidFill>
                <a:srgbClr val="38BDF8"/>
              </a:solidFill>
              <a:prstDash val="dash"/>
            </a:ln>
          </p:spPr>
        </p:sp>
        <p:sp>
          <p:nvSpPr>
            <p:cNvPr id="27" name="Ellipse 27"/>
            <p:cNvSpPr/>
            <p:nvPr/>
          </p:nvSpPr>
          <p:spPr>
            <a:xfrm>
              <a:off x="1771650" y="1952625"/>
              <a:ext cx="95250" cy="952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819275" y="17145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819275" y="22288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533525" y="200025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571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047875" y="200025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619250" y="18002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8100" y="381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981200" y="216217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lnTo>
                    <a:pt x="38100" y="3810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619250" y="216217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8100" y="0"/>
                  </a:move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981200" y="18002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38100"/>
                  </a:moveTo>
                  <a:lnTo>
                    <a:pt x="38100" y="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8566" y="2420302"/>
              <a:ext cx="1146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0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◆ 思 想 体 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39698" y="287083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马列主义中国��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09319" y="31375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的首创成果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31621" y="3404235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1945年七大确立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7775" y="36709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为党的指导思想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47775" y="39376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涵盖政治、军事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6231" y="42043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外交、哲学等多领域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28547" y="44710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影响超越时代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295650" y="1619250"/>
            <a:ext cx="2571750" cy="4857750"/>
            <a:chOff x="3295650" y="1619250"/>
            <a:chExt cx="2571750" cy="4857750"/>
          </a:xfrm>
        </p:grpSpPr>
        <p:sp>
          <p:nvSpPr>
            <p:cNvPr id="45" name="Rectangle 45"/>
            <p:cNvSpPr/>
            <p:nvPr/>
          </p:nvSpPr>
          <p:spPr>
            <a:xfrm>
              <a:off x="3295650" y="1619250"/>
              <a:ext cx="2571750" cy="4857750"/>
            </a:xfrm>
            <a:prstGeom prst="roundRect">
              <a:avLst>
                <a:gd name="adj" fmla="val 2963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1E3A5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3295650" y="1619250"/>
              <a:ext cx="25717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/>
                </a:gs>
                <a:gs pos="100000">
                  <a:srgbClr val="A78B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38650" y="1809750"/>
              <a:ext cx="342900" cy="266700"/>
            </a:xfrm>
            <a:prstGeom prst="roundRect">
              <a:avLst>
                <a:gd name="adj" fmla="val 7143"/>
              </a:avLst>
            </a:prstGeom>
            <a:noFill/>
            <a:ln w="14288">
              <a:solidFill>
                <a:srgbClr val="7C3AED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381500" y="1847850"/>
              <a:ext cx="342900" cy="266700"/>
            </a:xfrm>
            <a:prstGeom prst="roundRect">
              <a:avLst>
                <a:gd name="adj" fmla="val 7143"/>
              </a:avLst>
            </a:prstGeom>
            <a:noFill/>
            <a:ln w="14288">
              <a:solidFill>
                <a:srgbClr val="A78BFA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400550" y="19812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7620">
              <a:solidFill>
                <a:srgbClr val="7C3AED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400550" y="19812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7620">
              <a:solidFill>
                <a:srgbClr val="A78BF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52950" y="1962150"/>
              <a:ext cx="114300" cy="114300"/>
            </a:xfrm>
            <a:prstGeom prst="roundRect">
              <a:avLst>
                <a:gd name="adj" fmla="val 8333"/>
              </a:avLst>
            </a:prstGeom>
            <a:noFill/>
            <a:ln w="7620">
              <a:solidFill>
                <a:srgbClr val="A78BF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4381500" y="21717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9525">
              <a:solidFill>
                <a:srgbClr val="7C3AED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480816" y="2420302"/>
              <a:ext cx="1146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00" dirty="0">
                  <a:solidFill>
                    <a:srgbClr val="A78BFA"/>
                  </a:solidFill>
                  <a:latin typeface="Consolas"/>
                  <a:ea typeface="Microsoft YaHei"/>
                  <a:cs typeface="Consolas"/>
                </a:rPr>
                <a:t>◆ 著 作 遗 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90797" y="28708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逾千万字著述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010025" y="31375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《毛泽东选集》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67709" y="34042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《文集》《军事文集》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090797" y="36709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《诗词集》等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52341" y="39376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系统总结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10025" y="4204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革命与建设经验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57900" y="1619250"/>
            <a:ext cx="2571750" cy="4857750"/>
            <a:chOff x="6057900" y="1619250"/>
            <a:chExt cx="2571750" cy="4857750"/>
          </a:xfrm>
        </p:grpSpPr>
        <p:sp>
          <p:nvSpPr>
            <p:cNvPr id="61" name="Rectangle 61"/>
            <p:cNvSpPr/>
            <p:nvPr/>
          </p:nvSpPr>
          <p:spPr>
            <a:xfrm>
              <a:off x="6057900" y="1619250"/>
              <a:ext cx="2571750" cy="4857750"/>
            </a:xfrm>
            <a:prstGeom prst="roundRect">
              <a:avLst>
                <a:gd name="adj" fmla="val 2963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1E3A5F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57900" y="1619250"/>
              <a:ext cx="25717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7343775" y="1809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8BDF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7267575" y="1695450"/>
              <a:ext cx="152400" cy="152400"/>
            </a:xfrm>
            <a:prstGeom prst="ellipse">
              <a:avLst/>
            </a:prstGeom>
            <a:noFill/>
            <a:ln w="14288">
              <a:solidFill>
                <a:srgbClr val="38BDF8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267575" y="176212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0" y="142875"/>
                  </a:moveTo>
                  <a:lnTo>
                    <a:pt x="76200" y="0"/>
                  </a:lnTo>
                  <a:lnTo>
                    <a:pt x="152400" y="142875"/>
                  </a:lnTo>
                  <a:close/>
                </a:path>
              </a:pathLst>
            </a:custGeom>
            <a:noFill/>
            <a:ln w="9525">
              <a:solidFill>
                <a:srgbClr val="2563EB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296150" y="17335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133350"/>
                  </a:moveTo>
                  <a:lnTo>
                    <a:pt x="47625" y="0"/>
                  </a:lnTo>
                  <a:lnTo>
                    <a:pt x="95250" y="133350"/>
                  </a:lnTo>
                  <a:close/>
                </a:path>
              </a:pathLst>
            </a:custGeom>
            <a:noFill/>
            <a:ln w="7620">
              <a:solidFill>
                <a:srgbClr val="38BDF8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7258050" y="20002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9525">
              <a:solidFill>
                <a:srgbClr val="38BDF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43066" y="2420302"/>
              <a:ext cx="1146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0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◆ 家 庭 一 角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14591" y="2870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三任妻子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14591" y="30460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六子四女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33819" y="32213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长子毛岸英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33819" y="33966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在朝鲜牺牲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53047" y="35718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干女儿刘思齐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53047" y="37471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后成为大儿媳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53047" y="392239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领袖个人牺牲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33819" y="40976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与血缘纽带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820150" y="1619250"/>
            <a:ext cx="2838450" cy="4857750"/>
            <a:chOff x="8820150" y="1619250"/>
            <a:chExt cx="2838450" cy="4857750"/>
          </a:xfrm>
        </p:grpSpPr>
        <p:sp>
          <p:nvSpPr>
            <p:cNvPr id="78" name="Rectangle 78"/>
            <p:cNvSpPr/>
            <p:nvPr/>
          </p:nvSpPr>
          <p:spPr>
            <a:xfrm>
              <a:off x="8820150" y="1619250"/>
              <a:ext cx="2838450" cy="4857750"/>
            </a:xfrm>
            <a:prstGeom prst="roundRect">
              <a:avLst>
                <a:gd name="adj" fmla="val 2685"/>
              </a:avLst>
            </a:prstGeom>
            <a:gradFill>
              <a:gsLst>
                <a:gs pos="0">
                  <a:srgbClr val="1E293B"/>
                </a:gs>
                <a:gs pos="100000">
                  <a:srgbClr val="0F172A"/>
                </a:gs>
              </a:gsLst>
              <a:lin ang="2700000" scaled="1"/>
            </a:gradFill>
            <a:ln w="9525">
              <a:solidFill>
                <a:srgbClr val="1E3A5F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820150" y="1619250"/>
              <a:ext cx="28384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/>
                </a:gs>
                <a:gs pos="100000">
                  <a:srgbClr val="A78B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10058400" y="1857375"/>
              <a:ext cx="361950" cy="95250"/>
            </a:xfrm>
            <a:custGeom>
              <a:avLst/>
              <a:gdLst/>
              <a:ahLst/>
              <a:cxnLst/>
              <a:rect l="l" t="t" r="r" b="b"/>
              <a:pathLst>
                <a:path w="361950" h="95250">
                  <a:moveTo>
                    <a:pt x="0" y="0"/>
                  </a:moveTo>
                  <a:cubicBezTo>
                    <a:pt x="85725" y="0"/>
                    <a:pt x="180975" y="47625"/>
                    <a:pt x="180975" y="95250"/>
                  </a:cubicBezTo>
                  <a:cubicBezTo>
                    <a:pt x="180975" y="47625"/>
                    <a:pt x="276225" y="0"/>
                    <a:pt x="361950" y="0"/>
                  </a:cubicBezTo>
                </a:path>
              </a:pathLst>
            </a:custGeom>
            <a:noFill/>
            <a:ln w="14288">
              <a:solidFill>
                <a:srgbClr val="A78BFA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10020300" y="1905000"/>
              <a:ext cx="438150" cy="95250"/>
            </a:xfrm>
            <a:custGeom>
              <a:avLst/>
              <a:gdLst/>
              <a:ahLst/>
              <a:cxnLst/>
              <a:rect l="l" t="t" r="r" b="b"/>
              <a:pathLst>
                <a:path w="438150" h="95250">
                  <a:moveTo>
                    <a:pt x="0" y="0"/>
                  </a:moveTo>
                  <a:cubicBezTo>
                    <a:pt x="76200" y="0"/>
                    <a:pt x="219075" y="47625"/>
                    <a:pt x="219075" y="95250"/>
                  </a:cubicBezTo>
                  <a:cubicBezTo>
                    <a:pt x="219075" y="47625"/>
                    <a:pt x="361950" y="0"/>
                    <a:pt x="438150" y="0"/>
                  </a:cubicBezTo>
                </a:path>
              </a:pathLst>
            </a:custGeom>
            <a:noFill/>
            <a:ln w="14288">
              <a:solidFill>
                <a:srgbClr val="7C3AED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239375" y="17907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solidFill>
              <a:srgbClr val="000000"/>
            </a:solidFill>
            <a:ln w="17145">
              <a:solidFill>
                <a:srgbClr val="A78BFA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10201275" y="18288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solidFill>
              <a:srgbClr val="000000"/>
            </a:solidFill>
            <a:ln w="11430">
              <a:solidFill>
                <a:srgbClr val="7C3AED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0001250" y="2000250"/>
              <a:ext cx="228600" cy="76200"/>
            </a:xfrm>
            <a:custGeom>
              <a:avLst/>
              <a:gdLst/>
              <a:ahLst/>
              <a:cxnLst/>
              <a:rect l="l" t="t" r="r" b="b"/>
              <a:pathLst>
                <a:path w="228600" h="76200">
                  <a:moveTo>
                    <a:pt x="0" y="76200"/>
                  </a:moveTo>
                  <a:cubicBezTo>
                    <a:pt x="76200" y="19050"/>
                    <a:pt x="152400" y="76200"/>
                    <a:pt x="228600" y="0"/>
                  </a:cubicBezTo>
                </a:path>
              </a:pathLst>
            </a:custGeom>
            <a:noFill/>
            <a:ln w="7620">
              <a:solidFill>
                <a:srgbClr val="A78BF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005316" y="2420302"/>
              <a:ext cx="1146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00" dirty="0">
                  <a:solidFill>
                    <a:srgbClr val="A78BFA"/>
                  </a:solidFill>
                  <a:latin typeface="Consolas"/>
                  <a:ea typeface="Microsoft YaHei"/>
                  <a:cs typeface="Consolas"/>
                </a:rPr>
                <a:t>◆ 诗 人 情 怀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04222" y="2870835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《沁园春·雪》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704222" y="3137535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《七律·长征》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990963" y="34042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等名篇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48647" y="36709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融豪情与壮丽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990963" y="39376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于诗词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67875" y="4204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显露其文人底蕴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829419" y="4471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与精神世界</a:t>
              </a:r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11179740" y="65732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05 / 06</a:t>
            </a:r>
          </a:p>
        </p:txBody>
      </p:sp>
      <p:sp>
        <p:nvSpPr>
          <p:cNvPr id="95" name="Freeform 95"/>
          <p:cNvSpPr/>
          <p:nvPr/>
        </p:nvSpPr>
        <p:spPr>
          <a:xfrm>
            <a:off x="533400" y="6553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9525">
            <a:solidFill>
              <a:srgbClr val="2563EB"/>
            </a:solidFill>
          </a:ln>
        </p:spPr>
      </p:sp>
      <p:sp>
        <p:nvSpPr>
          <p:cNvPr id="96" name="Freeform 96"/>
          <p:cNvSpPr/>
          <p:nvPr/>
        </p:nvSpPr>
        <p:spPr>
          <a:xfrm>
            <a:off x="533400" y="6667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</a:path>
            </a:pathLst>
          </a:custGeom>
          <a:noFill/>
          <a:ln w="7620">
            <a:solidFill>
              <a:srgbClr val="38BDF8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11D32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>
                  <a:alpha val="12000"/>
                </a:srgbClr>
              </a:gs>
              <a:gs pos="100000">
                <a:srgbClr val="0A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C3AED">
                  <a:alpha val="8000"/>
                </a:srgbClr>
              </a:gs>
              <a:gs pos="100000">
                <a:srgbClr val="0A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Line 5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143000" y="952500"/>
            <a:ext cx="9906000" cy="4953000"/>
            <a:chOff x="1143000" y="952500"/>
            <a:chExt cx="9906000" cy="4953000"/>
          </a:xfrm>
        </p:grpSpPr>
        <p:sp>
          <p:nvSpPr>
            <p:cNvPr id="20" name="Ellipse 20"/>
            <p:cNvSpPr/>
            <p:nvPr/>
          </p:nvSpPr>
          <p:spPr>
            <a:xfrm>
              <a:off x="1143000" y="952500"/>
              <a:ext cx="9906000" cy="4953000"/>
            </a:xfrm>
            <a:prstGeom prst="ellipse">
              <a:avLst/>
            </a:pr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24000" y="1333500"/>
              <a:ext cx="9144000" cy="4191000"/>
            </a:xfrm>
            <a:prstGeom prst="ellipse">
              <a:avLst/>
            </a:prstGeom>
            <a:noFill/>
            <a:ln w="4762">
              <a:solidFill>
                <a:srgbClr val="2563EB">
                  <a:alpha val="4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476500" y="1809750"/>
              <a:ext cx="7239000" cy="3238500"/>
            </a:xfrm>
            <a:prstGeom prst="ellipse">
              <a:avLst/>
            </a:prstGeom>
            <a:noFill/>
            <a:ln w="2858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095500" y="2159000"/>
              <a:ext cx="2984500" cy="1143000"/>
            </a:xfrm>
            <a:custGeom>
              <a:avLst/>
              <a:gdLst/>
              <a:ahLst/>
              <a:cxnLst/>
              <a:rect l="l" t="t" r="r" b="b"/>
              <a:pathLst>
                <a:path w="2984500" h="1143000">
                  <a:moveTo>
                    <a:pt x="0" y="317500"/>
                  </a:moveTo>
                  <a:cubicBezTo>
                    <a:pt x="254000" y="127000"/>
                    <a:pt x="571500" y="63500"/>
                    <a:pt x="952500" y="127000"/>
                  </a:cubicBezTo>
                  <a:cubicBezTo>
                    <a:pt x="1333500" y="0"/>
                    <a:pt x="1714500" y="31750"/>
                    <a:pt x="2095500" y="222250"/>
                  </a:cubicBezTo>
                  <a:cubicBezTo>
                    <a:pt x="2476500" y="158750"/>
                    <a:pt x="2730500" y="222250"/>
                    <a:pt x="2857500" y="412750"/>
                  </a:cubicBezTo>
                  <a:cubicBezTo>
                    <a:pt x="2984500" y="603250"/>
                    <a:pt x="2952750" y="793750"/>
                    <a:pt x="2762250" y="984250"/>
                  </a:cubicBezTo>
                  <a:cubicBezTo>
                    <a:pt x="2571750" y="1111250"/>
                    <a:pt x="2286000" y="1143000"/>
                    <a:pt x="1905000" y="1079500"/>
                  </a:cubicBezTo>
                  <a:cubicBezTo>
                    <a:pt x="1524000" y="1143000"/>
                    <a:pt x="1143000" y="1111250"/>
                    <a:pt x="762000" y="984250"/>
                  </a:cubicBezTo>
                  <a:cubicBezTo>
                    <a:pt x="381000" y="857250"/>
                    <a:pt x="127000" y="698500"/>
                    <a:pt x="0" y="508000"/>
                  </a:cubicBez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270500" y="1746250"/>
              <a:ext cx="1905000" cy="984250"/>
            </a:xfrm>
            <a:custGeom>
              <a:avLst/>
              <a:gdLst/>
              <a:ahLst/>
              <a:cxnLst/>
              <a:rect l="l" t="t" r="r" b="b"/>
              <a:pathLst>
                <a:path w="1905000" h="984250">
                  <a:moveTo>
                    <a:pt x="63500" y="158750"/>
                  </a:moveTo>
                  <a:cubicBezTo>
                    <a:pt x="317500" y="31750"/>
                    <a:pt x="571500" y="0"/>
                    <a:pt x="825500" y="63500"/>
                  </a:cubicBezTo>
                  <a:cubicBezTo>
                    <a:pt x="1079500" y="0"/>
                    <a:pt x="1333500" y="31750"/>
                    <a:pt x="1587500" y="158750"/>
                  </a:cubicBezTo>
                  <a:cubicBezTo>
                    <a:pt x="1841500" y="285750"/>
                    <a:pt x="1905000" y="476250"/>
                    <a:pt x="1778000" y="730250"/>
                  </a:cubicBezTo>
                  <a:cubicBezTo>
                    <a:pt x="1651000" y="920750"/>
                    <a:pt x="1428750" y="984250"/>
                    <a:pt x="1111250" y="920750"/>
                  </a:cubicBezTo>
                  <a:cubicBezTo>
                    <a:pt x="793750" y="857250"/>
                    <a:pt x="508000" y="762000"/>
                    <a:pt x="254000" y="635000"/>
                  </a:cubicBezTo>
                  <a:cubicBezTo>
                    <a:pt x="63500" y="508000"/>
                    <a:pt x="0" y="349250"/>
                    <a:pt x="63500" y="158750"/>
                  </a:cubicBez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270750" y="2698750"/>
              <a:ext cx="1619250" cy="984250"/>
            </a:xfrm>
            <a:custGeom>
              <a:avLst/>
              <a:gdLst/>
              <a:ahLst/>
              <a:cxnLst/>
              <a:rect l="l" t="t" r="r" b="b"/>
              <a:pathLst>
                <a:path w="1619250" h="984250">
                  <a:moveTo>
                    <a:pt x="158750" y="158750"/>
                  </a:moveTo>
                  <a:cubicBezTo>
                    <a:pt x="412750" y="31750"/>
                    <a:pt x="666750" y="0"/>
                    <a:pt x="920750" y="63500"/>
                  </a:cubicBezTo>
                  <a:cubicBezTo>
                    <a:pt x="1174750" y="127000"/>
                    <a:pt x="1365250" y="254000"/>
                    <a:pt x="1492250" y="444500"/>
                  </a:cubicBezTo>
                  <a:cubicBezTo>
                    <a:pt x="1619250" y="635000"/>
                    <a:pt x="1587500" y="793750"/>
                    <a:pt x="1397000" y="920750"/>
                  </a:cubicBezTo>
                  <a:cubicBezTo>
                    <a:pt x="1143000" y="984250"/>
                    <a:pt x="889000" y="952500"/>
                    <a:pt x="635000" y="825500"/>
                  </a:cubicBezTo>
                  <a:cubicBezTo>
                    <a:pt x="381000" y="698500"/>
                    <a:pt x="190500" y="539750"/>
                    <a:pt x="63500" y="349250"/>
                  </a:cubicBezTo>
                  <a:cubicBezTo>
                    <a:pt x="0" y="222250"/>
                    <a:pt x="31750" y="158750"/>
                    <a:pt x="158750" y="158750"/>
                  </a:cubicBez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698750" y="3460750"/>
              <a:ext cx="1460500" cy="889000"/>
            </a:xfrm>
            <a:custGeom>
              <a:avLst/>
              <a:gdLst/>
              <a:ahLst/>
              <a:cxnLst/>
              <a:rect l="l" t="t" r="r" b="b"/>
              <a:pathLst>
                <a:path w="1460500" h="889000">
                  <a:moveTo>
                    <a:pt x="158750" y="158750"/>
                  </a:moveTo>
                  <a:cubicBezTo>
                    <a:pt x="412750" y="31750"/>
                    <a:pt x="666750" y="0"/>
                    <a:pt x="920750" y="63500"/>
                  </a:cubicBezTo>
                  <a:cubicBezTo>
                    <a:pt x="1174750" y="127000"/>
                    <a:pt x="1333500" y="254000"/>
                    <a:pt x="1397000" y="444500"/>
                  </a:cubicBezTo>
                  <a:cubicBezTo>
                    <a:pt x="1460500" y="635000"/>
                    <a:pt x="1365250" y="762000"/>
                    <a:pt x="1111250" y="825500"/>
                  </a:cubicBezTo>
                  <a:cubicBezTo>
                    <a:pt x="857250" y="889000"/>
                    <a:pt x="603250" y="857250"/>
                    <a:pt x="349250" y="730250"/>
                  </a:cubicBezTo>
                  <a:cubicBezTo>
                    <a:pt x="95250" y="603250"/>
                    <a:pt x="0" y="444500"/>
                    <a:pt x="63500" y="254000"/>
                  </a:cubicBez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603750" y="3651250"/>
              <a:ext cx="1460500" cy="889000"/>
            </a:xfrm>
            <a:custGeom>
              <a:avLst/>
              <a:gdLst/>
              <a:ahLst/>
              <a:cxnLst/>
              <a:rect l="l" t="t" r="r" b="b"/>
              <a:pathLst>
                <a:path w="1460500" h="889000">
                  <a:moveTo>
                    <a:pt x="158750" y="158750"/>
                  </a:moveTo>
                  <a:cubicBezTo>
                    <a:pt x="412750" y="31750"/>
                    <a:pt x="666750" y="0"/>
                    <a:pt x="920750" y="63500"/>
                  </a:cubicBezTo>
                  <a:cubicBezTo>
                    <a:pt x="1174750" y="127000"/>
                    <a:pt x="1333500" y="254000"/>
                    <a:pt x="1397000" y="444500"/>
                  </a:cubicBezTo>
                  <a:cubicBezTo>
                    <a:pt x="1460500" y="635000"/>
                    <a:pt x="1365250" y="762000"/>
                    <a:pt x="1111250" y="825500"/>
                  </a:cubicBezTo>
                  <a:cubicBezTo>
                    <a:pt x="857250" y="889000"/>
                    <a:pt x="603250" y="857250"/>
                    <a:pt x="349250" y="730250"/>
                  </a:cubicBezTo>
                  <a:cubicBezTo>
                    <a:pt x="95250" y="603250"/>
                    <a:pt x="0" y="444500"/>
                    <a:pt x="63500" y="254000"/>
                  </a:cubicBez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2286000" y="2228850"/>
            <a:ext cx="4191000" cy="1562100"/>
            <a:chOff x="2286000" y="2228850"/>
            <a:chExt cx="4191000" cy="1562100"/>
          </a:xfrm>
        </p:grpSpPr>
        <p:sp>
          <p:nvSpPr>
            <p:cNvPr id="29" name="Ellipse 29"/>
            <p:cNvSpPr/>
            <p:nvPr/>
          </p:nvSpPr>
          <p:spPr>
            <a:xfrm>
              <a:off x="4914900" y="2438400"/>
              <a:ext cx="457200" cy="457200"/>
            </a:xfrm>
            <a:prstGeom prst="ellipse">
              <a:avLst/>
            </a:prstGeom>
            <a:gradFill>
              <a:gsLst>
                <a:gs pos="0">
                  <a:srgbClr val="38BDF8">
                    <a:alpha val="100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105400" y="26289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5143500" y="2667000"/>
              <a:ext cx="1333500" cy="381000"/>
            </a:xfrm>
            <a:custGeom>
              <a:avLst/>
              <a:gdLst/>
              <a:ahLst/>
              <a:cxnLst/>
              <a:rect l="l" t="t" r="r" b="b"/>
              <a:pathLst>
                <a:path w="1333500" h="381000">
                  <a:moveTo>
                    <a:pt x="0" y="0"/>
                  </a:moveTo>
                  <a:lnTo>
                    <a:pt x="1333500" y="381000"/>
                  </a:lnTo>
                </a:path>
              </a:pathLst>
            </a:custGeom>
            <a:noFill/>
            <a:ln w="7620">
              <a:solidFill>
                <a:srgbClr val="38BDF8">
                  <a:alpha val="30000"/>
                </a:srgbClr>
              </a:solidFill>
              <a:custDash>
                <a:ds d="500000" sp="750000"/>
              </a:custDash>
            </a:ln>
          </p:spPr>
        </p:sp>
        <p:sp>
          <p:nvSpPr>
            <p:cNvPr id="32" name="Ellipse 32"/>
            <p:cNvSpPr/>
            <p:nvPr/>
          </p:nvSpPr>
          <p:spPr>
            <a:xfrm>
              <a:off x="5334000" y="23812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38BDF8">
                    <a:alpha val="75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495925" y="254317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838700" y="2743200"/>
              <a:ext cx="419100" cy="419100"/>
            </a:xfrm>
            <a:prstGeom prst="ellipse">
              <a:avLst/>
            </a:prstGeom>
            <a:gradFill>
              <a:gsLst>
                <a:gs pos="0">
                  <a:srgbClr val="38BDF8">
                    <a:alpha val="75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019675" y="292417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5048250" y="2667000"/>
              <a:ext cx="95250" cy="285750"/>
            </a:xfrm>
            <a:custGeom>
              <a:avLst/>
              <a:gdLst/>
              <a:ahLst/>
              <a:cxnLst/>
              <a:rect l="l" t="t" r="r" b="b"/>
              <a:pathLst>
                <a:path w="95250" h="285750">
                  <a:moveTo>
                    <a:pt x="95250" y="0"/>
                  </a:moveTo>
                  <a:lnTo>
                    <a:pt x="0" y="285750"/>
                  </a:lnTo>
                </a:path>
              </a:pathLst>
            </a:custGeom>
            <a:noFill/>
            <a:ln w="5715">
              <a:solidFill>
                <a:srgbClr val="2563EB">
                  <a:alpha val="25000"/>
                </a:srgbClr>
              </a:solidFill>
              <a:custDash>
                <a:ds d="500000" sp="833333"/>
              </a:custDash>
            </a:ln>
          </p:spPr>
        </p:sp>
        <p:sp>
          <p:nvSpPr>
            <p:cNvPr id="37" name="Ellipse 37"/>
            <p:cNvSpPr/>
            <p:nvPr/>
          </p:nvSpPr>
          <p:spPr>
            <a:xfrm>
              <a:off x="2286000" y="3048000"/>
              <a:ext cx="381000" cy="381000"/>
            </a:xfrm>
            <a:prstGeom prst="ellipse">
              <a:avLst/>
            </a:prstGeom>
            <a:gradFill>
              <a:gsLst>
                <a:gs pos="0">
                  <a:srgbClr val="7C3AED">
                    <a:alpha val="7500"/>
                  </a:srgbClr>
                </a:gs>
                <a:gs pos="100000">
                  <a:srgbClr val="7C3AED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447925" y="3209925"/>
              <a:ext cx="57150" cy="5715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2476500" y="2667000"/>
              <a:ext cx="2667000" cy="571500"/>
            </a:xfrm>
            <a:custGeom>
              <a:avLst/>
              <a:gdLst/>
              <a:ahLst/>
              <a:cxnLst/>
              <a:rect l="l" t="t" r="r" b="b"/>
              <a:pathLst>
                <a:path w="2667000" h="571500">
                  <a:moveTo>
                    <a:pt x="2667000" y="0"/>
                  </a:moveTo>
                  <a:lnTo>
                    <a:pt x="0" y="571500"/>
                  </a:lnTo>
                </a:path>
              </a:pathLst>
            </a:custGeom>
            <a:noFill/>
            <a:ln w="4762">
              <a:solidFill>
                <a:srgbClr val="7C3AED">
                  <a:alpha val="20000"/>
                </a:srgbClr>
              </a:solidFill>
              <a:custDash>
                <a:ds d="1200000" sp="2000000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4019550" y="3448050"/>
              <a:ext cx="342900" cy="342900"/>
            </a:xfrm>
            <a:prstGeom prst="ellipse">
              <a:avLst/>
            </a:prstGeom>
            <a:gradFill>
              <a:gsLst>
                <a:gs pos="0">
                  <a:srgbClr val="7C3AED">
                    <a:alpha val="6000"/>
                  </a:srgbClr>
                </a:gs>
                <a:gs pos="100000">
                  <a:srgbClr val="7C3AED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167188" y="3595688"/>
              <a:ext cx="47625" cy="47625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4191000" y="266700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952500" y="0"/>
                  </a:moveTo>
                  <a:lnTo>
                    <a:pt x="0" y="952500"/>
                  </a:lnTo>
                </a:path>
              </a:pathLst>
            </a:custGeom>
            <a:noFill/>
            <a:ln w="3810">
              <a:solidFill>
                <a:srgbClr val="7C3AED">
                  <a:alpha val="18000"/>
                </a:srgbClr>
              </a:solidFill>
              <a:custDash>
                <a:ds d="1250000" sp="3000000"/>
              </a:custDash>
            </a:ln>
          </p:spPr>
        </p:sp>
        <p:sp>
          <p:nvSpPr>
            <p:cNvPr id="43" name="Ellipse 43"/>
            <p:cNvSpPr/>
            <p:nvPr/>
          </p:nvSpPr>
          <p:spPr>
            <a:xfrm>
              <a:off x="3276600" y="2228850"/>
              <a:ext cx="304800" cy="304800"/>
            </a:xfrm>
            <a:prstGeom prst="ellipse">
              <a:avLst/>
            </a:prstGeom>
            <a:gradFill>
              <a:gsLst>
                <a:gs pos="0">
                  <a:srgbClr val="7C3AED">
                    <a:alpha val="5000"/>
                  </a:srgbClr>
                </a:gs>
                <a:gs pos="100000">
                  <a:srgbClr val="7C3AED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405188" y="2357438"/>
              <a:ext cx="47625" cy="47625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3429000" y="2381250"/>
              <a:ext cx="1714500" cy="285750"/>
            </a:xfrm>
            <a:custGeom>
              <a:avLst/>
              <a:gdLst/>
              <a:ahLst/>
              <a:cxnLst/>
              <a:rect l="l" t="t" r="r" b="b"/>
              <a:pathLst>
                <a:path w="1714500" h="285750">
                  <a:moveTo>
                    <a:pt x="1714500" y="285750"/>
                  </a:moveTo>
                  <a:lnTo>
                    <a:pt x="0" y="0"/>
                  </a:lnTo>
                </a:path>
              </a:pathLst>
            </a:custGeom>
            <a:noFill/>
            <a:ln w="3810">
              <a:solidFill>
                <a:srgbClr val="7C3AED">
                  <a:alpha val="15000"/>
                </a:srgbClr>
              </a:solidFill>
              <a:custDash>
                <a:ds d="1250000" sp="3000000"/>
              </a:custDash>
            </a:ln>
          </p:spPr>
        </p:sp>
      </p:grpSp>
      <p:sp>
        <p:nvSpPr>
          <p:cNvPr id="47" name="Line 47"/>
          <p:cNvSpPr/>
          <p:nvPr/>
        </p:nvSpPr>
        <p:spPr>
          <a:xfrm>
            <a:off x="6096000" y="952500"/>
            <a:ext cx="9525" cy="4953000"/>
          </a:xfrm>
          <a:custGeom>
            <a:avLst/>
            <a:gdLst/>
            <a:ahLst/>
            <a:cxnLst/>
            <a:rect l="l" t="t" r="r" b="b"/>
            <a:pathLst>
              <a:path w="9525"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noFill/>
          <a:ln w="9525">
            <a:gradFill>
              <a:gsLst>
                <a:gs pos="0">
                  <a:srgbClr val="7C3AED">
                    <a:alpha val="15000"/>
                  </a:srgbClr>
                </a:gs>
                <a:gs pos="50000">
                  <a:srgbClr val="2563EB">
                    <a:alpha val="15000"/>
                  </a:srgbClr>
                </a:gs>
                <a:gs pos="100000">
                  <a:srgbClr val="38BDF8">
                    <a:alpha val="15000"/>
                  </a:srgbClr>
                </a:gs>
              </a:gsLst>
              <a:lin ang="0" scaled="1"/>
            </a:gradFill>
          </a:ln>
        </p:spPr>
      </p:sp>
      <p:sp>
        <p:nvSpPr>
          <p:cNvPr id="48" name="TextBox 48"/>
          <p:cNvSpPr txBox="1"/>
          <p:nvPr/>
        </p:nvSpPr>
        <p:spPr>
          <a:xfrm>
            <a:off x="5068329" y="726758"/>
            <a:ext cx="205534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6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历史回声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170045" y="13811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spc="3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全球影响与两极评价交织的复杂遗产</a:t>
            </a:r>
          </a:p>
        </p:txBody>
      </p:sp>
      <p:sp>
        <p:nvSpPr>
          <p:cNvPr id="50" name="Line 50"/>
          <p:cNvSpPr/>
          <p:nvPr/>
        </p:nvSpPr>
        <p:spPr>
          <a:xfrm>
            <a:off x="3810000" y="17145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gradFill>
              <a:gsLst>
                <a:gs pos="0">
                  <a:srgbClr val="7C3AED">
                    <a:alpha val="30000"/>
                  </a:srgbClr>
                </a:gs>
                <a:gs pos="50000">
                  <a:srgbClr val="2563EB">
                    <a:alpha val="30000"/>
                  </a:srgbClr>
                </a:gs>
                <a:gs pos="100000">
                  <a:srgbClr val="38BDF8">
                    <a:alpha val="30000"/>
                  </a:srgbClr>
                </a:gs>
              </a:gsLst>
              <a:lin ang="0" scaled="1"/>
            </a:gradFill>
          </a:ln>
        </p:spPr>
      </p:sp>
      <p:sp>
        <p:nvSpPr>
          <p:cNvPr id="51" name="TextBox 51"/>
          <p:cNvSpPr txBox="1"/>
          <p:nvPr/>
        </p:nvSpPr>
        <p:spPr>
          <a:xfrm>
            <a:off x="947166" y="2029778"/>
            <a:ext cx="17054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// GLOBAL REACH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62000" y="2333625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2563EB">
                <a:alpha val="15000"/>
              </a:srgbClr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762000" y="2333625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22604" y="2518410"/>
            <a:ext cx="47131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毛泽东是20世纪最具影响力的人物之一，其思想被毛主义者广泛传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2604" y="269367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播至全球。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62000" y="3238500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2563EB">
                <a:alpha val="15000"/>
              </a:srgbClr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762000" y="32385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022794" y="3427333"/>
            <a:ext cx="4722333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他提出“三个世界”理论，介入朝鲜战争、越南战争等重大冷战事件。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62000" y="4143375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2563EB">
                <a:alpha val="15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62000" y="4143375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022794" y="4332208"/>
            <a:ext cx="4863179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著作逾千万字，涵盖政治、军事、外交、诗词等领域，思想影响深远。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62166" y="2029778"/>
            <a:ext cx="1082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// DUALITY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477000" y="2333625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7C3AED">
                <a:alpha val="15000"/>
              </a:srgbClr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6477000" y="2333625"/>
            <a:ext cx="38100" cy="76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651879" y="251841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评价严重两极分化：官方决议肯定其历史功绩，但明确否定晚年错误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651879" y="26936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论点。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3238500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7C3AED">
                <a:alpha val="15000"/>
              </a:srgbClr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6477000" y="3238500"/>
            <a:ext cx="38100" cy="76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737604" y="3423285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历史周期率对话展现其对政权长治久安的深层思考。</a:t>
            </a:r>
          </a:p>
        </p:txBody>
      </p:sp>
      <p:sp>
        <p:nvSpPr>
          <p:cNvPr id="70" name="Rectangle 70"/>
          <p:cNvSpPr/>
          <p:nvPr/>
        </p:nvSpPr>
        <p:spPr>
          <a:xfrm>
            <a:off x="6477000" y="4143375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2000"/>
            </a:srgbClr>
          </a:solidFill>
          <a:ln w="7620">
            <a:solidFill>
              <a:srgbClr val="52337A">
                <a:alpha val="10000"/>
              </a:srgbClr>
            </a:solidFill>
          </a:ln>
        </p:spPr>
      </p:sp>
      <p:sp>
        <p:nvSpPr>
          <p:cNvPr id="71" name="Rectangle 71"/>
          <p:cNvSpPr/>
          <p:nvPr/>
        </p:nvSpPr>
        <p:spPr>
          <a:xfrm>
            <a:off x="6477000" y="4143375"/>
            <a:ext cx="38100" cy="76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8858250" y="4238625"/>
            <a:ext cx="9525" cy="5715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7473639" y="427958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功绩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37882" y="4617720"/>
            <a:ext cx="5547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spc="1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官方肯定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902514" y="427958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争议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866757" y="4617720"/>
            <a:ext cx="5547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spc="1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晚年错误</a:t>
            </a:r>
          </a:p>
        </p:txBody>
      </p:sp>
      <p:sp>
        <p:nvSpPr>
          <p:cNvPr id="77" name="Freeform 77"/>
          <p:cNvSpPr/>
          <p:nvPr/>
        </p:nvSpPr>
        <p:spPr>
          <a:xfrm>
            <a:off x="5143500" y="2667000"/>
            <a:ext cx="1905000" cy="952500"/>
          </a:xfrm>
          <a:custGeom>
            <a:avLst/>
            <a:gdLst/>
            <a:ahLst/>
            <a:cxnLst/>
            <a:rect l="l" t="t" r="r" b="b"/>
            <a:pathLst>
              <a:path w="1905000" h="952500">
                <a:moveTo>
                  <a:pt x="0" y="952500"/>
                </a:moveTo>
                <a:cubicBezTo>
                  <a:pt x="0" y="426449"/>
                  <a:pt x="426449" y="0"/>
                  <a:pt x="952500" y="0"/>
                </a:cubicBezTo>
                <a:cubicBezTo>
                  <a:pt x="1478551" y="0"/>
                  <a:pt x="1905000" y="426449"/>
                  <a:pt x="1905000" y="952500"/>
                </a:cubicBezTo>
              </a:path>
            </a:pathLst>
          </a:custGeom>
          <a:noFill/>
          <a:ln w="19050">
            <a:solidFill>
              <a:srgbClr val="2563EB">
                <a:alpha val="25000"/>
              </a:srgbClr>
            </a:solidFill>
          </a:ln>
        </p:spPr>
      </p:sp>
      <p:sp>
        <p:nvSpPr>
          <p:cNvPr id="78" name="Freeform 78"/>
          <p:cNvSpPr/>
          <p:nvPr/>
        </p:nvSpPr>
        <p:spPr>
          <a:xfrm>
            <a:off x="5143500" y="3619500"/>
            <a:ext cx="1905000" cy="952500"/>
          </a:xfrm>
          <a:custGeom>
            <a:avLst/>
            <a:gdLst/>
            <a:ahLst/>
            <a:cxnLst/>
            <a:rect l="l" t="t" r="r" b="b"/>
            <a:pathLst>
              <a:path w="1905000" h="952500">
                <a:moveTo>
                  <a:pt x="0" y="0"/>
                </a:moveTo>
                <a:cubicBezTo>
                  <a:pt x="0" y="526051"/>
                  <a:pt x="426449" y="952500"/>
                  <a:pt x="952500" y="952500"/>
                </a:cubicBezTo>
                <a:cubicBezTo>
                  <a:pt x="1478551" y="952500"/>
                  <a:pt x="1905000" y="526051"/>
                  <a:pt x="1905000" y="0"/>
                </a:cubicBezTo>
              </a:path>
            </a:pathLst>
          </a:custGeom>
          <a:noFill/>
          <a:ln w="19050">
            <a:solidFill>
              <a:srgbClr val="7C3AED">
                <a:alpha val="25000"/>
              </a:srgbClr>
            </a:solidFill>
          </a:ln>
        </p:spPr>
      </p:sp>
      <p:sp>
        <p:nvSpPr>
          <p:cNvPr id="79" name="Ellipse 79"/>
          <p:cNvSpPr/>
          <p:nvPr/>
        </p:nvSpPr>
        <p:spPr>
          <a:xfrm>
            <a:off x="6038850" y="3562350"/>
            <a:ext cx="114300" cy="114300"/>
          </a:xfrm>
          <a:prstGeom prst="ellipse">
            <a:avLst/>
          </a:prstGeom>
          <a:solidFill>
            <a:srgbClr val="E2E8F0">
              <a:alpha val="60000"/>
            </a:srgbClr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6067425" y="3590925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4085368" y="5748814"/>
            <a:ext cx="402126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i="1" spc="1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领袖遗产的复杂面，仍在历史长河中持续回响。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937451" y="6409849"/>
            <a:ext cx="59275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spc="15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06 / 06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438150" y="419100"/>
            <a:ext cx="11315700" cy="228600"/>
            <a:chOff x="438150" y="419100"/>
            <a:chExt cx="11315700" cy="228600"/>
          </a:xfrm>
        </p:grpSpPr>
        <p:sp>
          <p:nvSpPr>
            <p:cNvPr id="83" name="Polygon 83"/>
            <p:cNvSpPr/>
            <p:nvPr/>
          </p:nvSpPr>
          <p:spPr>
            <a:xfrm>
              <a:off x="438150" y="41910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95250" y="0"/>
                  </a:moveTo>
                  <a:lnTo>
                    <a:pt x="285750" y="0"/>
                  </a:lnTo>
                  <a:lnTo>
                    <a:pt x="381000" y="114300"/>
                  </a:lnTo>
                  <a:lnTo>
                    <a:pt x="285750" y="228600"/>
                  </a:lnTo>
                  <a:lnTo>
                    <a:pt x="95250" y="2286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9525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84" name="Polygon 84"/>
            <p:cNvSpPr/>
            <p:nvPr/>
          </p:nvSpPr>
          <p:spPr>
            <a:xfrm>
              <a:off x="11372850" y="41910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285750" y="0"/>
                  </a:moveTo>
                  <a:lnTo>
                    <a:pt x="95250" y="0"/>
                  </a:lnTo>
                  <a:lnTo>
                    <a:pt x="0" y="114300"/>
                  </a:lnTo>
                  <a:lnTo>
                    <a:pt x="95250" y="228600"/>
                  </a:lnTo>
                  <a:lnTo>
                    <a:pt x="285750" y="228600"/>
                  </a:lnTo>
                  <a:lnTo>
                    <a:pt x="381000" y="114300"/>
                  </a:lnTo>
                  <a:close/>
                </a:path>
              </a:pathLst>
            </a:custGeom>
            <a:noFill/>
            <a:ln w="9525">
              <a:solidFill>
                <a:srgbClr val="2563EB">
                  <a:alpha val="12000"/>
                </a:srgbClr>
              </a:solidFill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438150" y="6210300"/>
            <a:ext cx="11315700" cy="228600"/>
            <a:chOff x="438150" y="6210300"/>
            <a:chExt cx="11315700" cy="228600"/>
          </a:xfrm>
        </p:grpSpPr>
        <p:sp>
          <p:nvSpPr>
            <p:cNvPr id="86" name="Polygon 86"/>
            <p:cNvSpPr/>
            <p:nvPr/>
          </p:nvSpPr>
          <p:spPr>
            <a:xfrm>
              <a:off x="438150" y="621030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95250" y="228600"/>
                  </a:moveTo>
                  <a:lnTo>
                    <a:pt x="285750" y="228600"/>
                  </a:lnTo>
                  <a:lnTo>
                    <a:pt x="381000" y="114300"/>
                  </a:lnTo>
                  <a:lnTo>
                    <a:pt x="285750" y="0"/>
                  </a:lnTo>
                  <a:lnTo>
                    <a:pt x="95250" y="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7620">
              <a:solidFill>
                <a:srgbClr val="7C3AED">
                  <a:alpha val="10000"/>
                </a:srgbClr>
              </a:solidFill>
            </a:ln>
          </p:spPr>
        </p:sp>
        <p:sp>
          <p:nvSpPr>
            <p:cNvPr id="87" name="Polygon 87"/>
            <p:cNvSpPr/>
            <p:nvPr/>
          </p:nvSpPr>
          <p:spPr>
            <a:xfrm>
              <a:off x="11372850" y="621030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285750" y="228600"/>
                  </a:moveTo>
                  <a:lnTo>
                    <a:pt x="95250" y="228600"/>
                  </a:lnTo>
                  <a:lnTo>
                    <a:pt x="0" y="114300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381000" y="114300"/>
                  </a:lnTo>
                  <a:close/>
                </a:path>
              </a:pathLst>
            </a:custGeom>
            <a:noFill/>
            <a:ln w="7620">
              <a:solidFill>
                <a:srgbClr val="7C3AED">
                  <a:alpha val="1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2026-07-18T13:35:06Z</dcterms:created>
  <dcterms:modified xsi:type="dcterms:W3CDTF">2026-07-18T13:35:06Z</dcterms:modified>
  <cp:category/>
  <cp:contentStatus/>
</cp:coreProperties>
</file>