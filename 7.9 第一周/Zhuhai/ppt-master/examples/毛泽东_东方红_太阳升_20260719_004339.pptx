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以“东方红”为主题，奠定红色基调。采用深红底色与放射状光芒，象征太阳升起。竖排金色标题“东方红”置于中央，下衬青年毛泽东半透明肖像，背景融入韶山山峦剪影。左侧以印章风格标注汇报人信息。整体营造庄重、热烈的历史叙事感，唤起对革命领袖的敬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以时间线方式梳理毛泽东同志从韶山走向全国的革命历程。首先展现他领导秋收起义、创建井冈山根据地的开创性贡献；随后聚焦长征途中的生死考验与遵义会议的历史转折；最后落脚延安时期，通过整风运动与中共七大确立毛泽东思想为全党指导思想。讲解时请注意结合历史影像与地图，强调红色道路的艰难与正确，传递革命传统教育意义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国大典的历史瞬间是整个中国革命的辉煌顶点。这一页需要让评委感受到从井冈山到延安，再到天安门的伟大历程，重点凝结了解放战争、建国仪式和初期建设的三个历史断面。在讲到五四宪法、扫盲运动时，可以补充这些举措为社会主义制度奠定了基础。注意保持视觉上的庄重与热烈，用历史影像与红金元素营造胜利氛围，避免纯数据堆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聚焦毛泽东晚年复杂探索，通过时间轴串联关键事件。1962年七千人大会是一次自我纠偏的努力，但随后四清运动逐渐转向阶级斗争，为文革埋下伏笔。1966年文化大革命全面爆发，国家经历十年动荡，期间出现林彪事件等重大转折。外交上，1972年尼克松访华打开了中美关系新局面，体现了毛泽东在冷战格局中的战略调整。我们在呈现这段历史时，既要正视曲折，也要看到在困境中寻求突破的努力，为下一页对毛泽东思想的评价做好过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从思想、家庭、文采三个维度展现毛泽东的多面人生。毛泽东思想不仅是革命胜利的法宝，其著作更是影响世界的思想财富。家庭方面，杨开慧和贺子珍的牺牲与奉献令人动容。诗词书法则让我们看到一个豪迈又细腻的诗人形象。请讲出温度，让听众感受到伟人也有血肉亲情与诗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作为全篇总结，与封面“东方红”形成闭环。讲解时先点明两个历史决议的权威地位：1945年决议确立毛泽东思想指导地位，1981年决议科学区分思想体系与晚年错误。接着强调毛泽东思想是集体智慧结晶，指引中国革命与建设走向胜利，其著作和思想至今深刻影响着中国。对于晚年错误，按《决议》口径客观定性，避免情绪化。最后升华：毛泽东的千秋功过已由历史记录，我们传承的是那份追求真理、为人民服务的红色精神，正如东方红日，永照前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1E1E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0" y="0"/>
            <a:ext cx="12192000" cy="6619875"/>
            <a:chOff x="0" y="0"/>
            <a:chExt cx="12192000" cy="6619875"/>
          </a:xfrm>
        </p:grpSpPr>
        <p:sp>
          <p:nvSpPr>
            <p:cNvPr id="3" name="Polygon 3"/>
            <p:cNvSpPr/>
            <p:nvPr/>
          </p:nvSpPr>
          <p:spPr>
            <a:xfrm>
              <a:off x="6096000" y="0"/>
              <a:ext cx="142875" cy="3429000"/>
            </a:xfrm>
            <a:custGeom>
              <a:avLst/>
              <a:gdLst/>
              <a:ahLst/>
              <a:cxnLst/>
              <a:rect l="l" t="t" r="r" b="b"/>
              <a:pathLst>
                <a:path w="142875" h="3429000">
                  <a:moveTo>
                    <a:pt x="0" y="3429000"/>
                  </a:moveTo>
                  <a:lnTo>
                    <a:pt x="0" y="0"/>
                  </a:lnTo>
                  <a:lnTo>
                    <a:pt x="142875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5429250" y="0"/>
              <a:ext cx="666750" cy="3429000"/>
            </a:xfrm>
            <a:custGeom>
              <a:avLst/>
              <a:gdLst/>
              <a:ahLst/>
              <a:cxnLst/>
              <a:rect l="l" t="t" r="r" b="b"/>
              <a:pathLst>
                <a:path w="666750" h="3429000">
                  <a:moveTo>
                    <a:pt x="666750" y="3429000"/>
                  </a:moveTo>
                  <a:lnTo>
                    <a:pt x="0" y="0"/>
                  </a:lnTo>
                  <a:lnTo>
                    <a:pt x="142875" y="0"/>
                  </a:lnTo>
                  <a:lnTo>
                    <a:pt x="66675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5" name="Polygon 5"/>
            <p:cNvSpPr/>
            <p:nvPr/>
          </p:nvSpPr>
          <p:spPr>
            <a:xfrm>
              <a:off x="6096000" y="0"/>
              <a:ext cx="809625" cy="3429000"/>
            </a:xfrm>
            <a:custGeom>
              <a:avLst/>
              <a:gdLst/>
              <a:ahLst/>
              <a:cxnLst/>
              <a:rect l="l" t="t" r="r" b="b"/>
              <a:pathLst>
                <a:path w="809625" h="3429000">
                  <a:moveTo>
                    <a:pt x="0" y="3429000"/>
                  </a:moveTo>
                  <a:lnTo>
                    <a:pt x="666750" y="0"/>
                  </a:lnTo>
                  <a:lnTo>
                    <a:pt x="809625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6" name="Polygon 6"/>
            <p:cNvSpPr/>
            <p:nvPr/>
          </p:nvSpPr>
          <p:spPr>
            <a:xfrm>
              <a:off x="4762500" y="0"/>
              <a:ext cx="1333500" cy="3429000"/>
            </a:xfrm>
            <a:custGeom>
              <a:avLst/>
              <a:gdLst/>
              <a:ahLst/>
              <a:cxnLst/>
              <a:rect l="l" t="t" r="r" b="b"/>
              <a:pathLst>
                <a:path w="1333500" h="3429000">
                  <a:moveTo>
                    <a:pt x="1333500" y="3429000"/>
                  </a:moveTo>
                  <a:lnTo>
                    <a:pt x="0" y="0"/>
                  </a:lnTo>
                  <a:lnTo>
                    <a:pt x="142875" y="0"/>
                  </a:lnTo>
                  <a:lnTo>
                    <a:pt x="133350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7" name="Polygon 7"/>
            <p:cNvSpPr/>
            <p:nvPr/>
          </p:nvSpPr>
          <p:spPr>
            <a:xfrm>
              <a:off x="6096000" y="0"/>
              <a:ext cx="1476375" cy="3429000"/>
            </a:xfrm>
            <a:custGeom>
              <a:avLst/>
              <a:gdLst/>
              <a:ahLst/>
              <a:cxnLst/>
              <a:rect l="l" t="t" r="r" b="b"/>
              <a:pathLst>
                <a:path w="1476375" h="3429000">
                  <a:moveTo>
                    <a:pt x="0" y="3429000"/>
                  </a:moveTo>
                  <a:lnTo>
                    <a:pt x="1333500" y="0"/>
                  </a:lnTo>
                  <a:lnTo>
                    <a:pt x="1476375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4095750" y="0"/>
              <a:ext cx="2000250" cy="3429000"/>
            </a:xfrm>
            <a:custGeom>
              <a:avLst/>
              <a:gdLst/>
              <a:ahLst/>
              <a:cxnLst/>
              <a:rect l="l" t="t" r="r" b="b"/>
              <a:pathLst>
                <a:path w="2000250" h="3429000">
                  <a:moveTo>
                    <a:pt x="2000250" y="3429000"/>
                  </a:moveTo>
                  <a:lnTo>
                    <a:pt x="0" y="0"/>
                  </a:lnTo>
                  <a:lnTo>
                    <a:pt x="142875" y="0"/>
                  </a:lnTo>
                  <a:lnTo>
                    <a:pt x="200025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9" name="Polygon 9"/>
            <p:cNvSpPr/>
            <p:nvPr/>
          </p:nvSpPr>
          <p:spPr>
            <a:xfrm>
              <a:off x="6096000" y="0"/>
              <a:ext cx="2143125" cy="3429000"/>
            </a:xfrm>
            <a:custGeom>
              <a:avLst/>
              <a:gdLst/>
              <a:ahLst/>
              <a:cxnLst/>
              <a:rect l="l" t="t" r="r" b="b"/>
              <a:pathLst>
                <a:path w="2143125" h="3429000">
                  <a:moveTo>
                    <a:pt x="0" y="3429000"/>
                  </a:moveTo>
                  <a:lnTo>
                    <a:pt x="2000250" y="0"/>
                  </a:lnTo>
                  <a:lnTo>
                    <a:pt x="2143125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3429000" y="0"/>
              <a:ext cx="2667000" cy="3429000"/>
            </a:xfrm>
            <a:custGeom>
              <a:avLst/>
              <a:gdLst/>
              <a:ahLst/>
              <a:cxnLst/>
              <a:rect l="l" t="t" r="r" b="b"/>
              <a:pathLst>
                <a:path w="2667000" h="3429000">
                  <a:moveTo>
                    <a:pt x="2667000" y="3429000"/>
                  </a:moveTo>
                  <a:lnTo>
                    <a:pt x="0" y="0"/>
                  </a:lnTo>
                  <a:lnTo>
                    <a:pt x="142875" y="0"/>
                  </a:lnTo>
                  <a:lnTo>
                    <a:pt x="266700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6096000" y="0"/>
              <a:ext cx="2809875" cy="3429000"/>
            </a:xfrm>
            <a:custGeom>
              <a:avLst/>
              <a:gdLst/>
              <a:ahLst/>
              <a:cxnLst/>
              <a:rect l="l" t="t" r="r" b="b"/>
              <a:pathLst>
                <a:path w="2809875" h="3429000">
                  <a:moveTo>
                    <a:pt x="0" y="3429000"/>
                  </a:moveTo>
                  <a:lnTo>
                    <a:pt x="2667000" y="0"/>
                  </a:lnTo>
                  <a:lnTo>
                    <a:pt x="2809875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2" name="Polygon 12"/>
            <p:cNvSpPr/>
            <p:nvPr/>
          </p:nvSpPr>
          <p:spPr>
            <a:xfrm>
              <a:off x="2762250" y="0"/>
              <a:ext cx="3333750" cy="3429000"/>
            </a:xfrm>
            <a:custGeom>
              <a:avLst/>
              <a:gdLst/>
              <a:ahLst/>
              <a:cxnLst/>
              <a:rect l="l" t="t" r="r" b="b"/>
              <a:pathLst>
                <a:path w="3333750" h="3429000">
                  <a:moveTo>
                    <a:pt x="3333750" y="3429000"/>
                  </a:moveTo>
                  <a:lnTo>
                    <a:pt x="0" y="0"/>
                  </a:lnTo>
                  <a:lnTo>
                    <a:pt x="142875" y="0"/>
                  </a:lnTo>
                  <a:lnTo>
                    <a:pt x="333375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3" name="Polygon 13"/>
            <p:cNvSpPr/>
            <p:nvPr/>
          </p:nvSpPr>
          <p:spPr>
            <a:xfrm>
              <a:off x="6096000" y="0"/>
              <a:ext cx="3476625" cy="3429000"/>
            </a:xfrm>
            <a:custGeom>
              <a:avLst/>
              <a:gdLst/>
              <a:ahLst/>
              <a:cxnLst/>
              <a:rect l="l" t="t" r="r" b="b"/>
              <a:pathLst>
                <a:path w="3476625" h="3429000">
                  <a:moveTo>
                    <a:pt x="0" y="3429000"/>
                  </a:moveTo>
                  <a:lnTo>
                    <a:pt x="3333750" y="0"/>
                  </a:lnTo>
                  <a:lnTo>
                    <a:pt x="3476625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2095500" y="0"/>
              <a:ext cx="4000500" cy="3429000"/>
            </a:xfrm>
            <a:custGeom>
              <a:avLst/>
              <a:gdLst/>
              <a:ahLst/>
              <a:cxnLst/>
              <a:rect l="l" t="t" r="r" b="b"/>
              <a:pathLst>
                <a:path w="4000500" h="3429000">
                  <a:moveTo>
                    <a:pt x="4000500" y="3429000"/>
                  </a:moveTo>
                  <a:lnTo>
                    <a:pt x="0" y="0"/>
                  </a:lnTo>
                  <a:lnTo>
                    <a:pt x="142875" y="0"/>
                  </a:lnTo>
                  <a:lnTo>
                    <a:pt x="400050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6096000" y="0"/>
              <a:ext cx="4143375" cy="3429000"/>
            </a:xfrm>
            <a:custGeom>
              <a:avLst/>
              <a:gdLst/>
              <a:ahLst/>
              <a:cxnLst/>
              <a:rect l="l" t="t" r="r" b="b"/>
              <a:pathLst>
                <a:path w="4143375" h="3429000">
                  <a:moveTo>
                    <a:pt x="0" y="3429000"/>
                  </a:moveTo>
                  <a:lnTo>
                    <a:pt x="4000500" y="0"/>
                  </a:lnTo>
                  <a:lnTo>
                    <a:pt x="4143375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6" name="Polygon 16"/>
            <p:cNvSpPr/>
            <p:nvPr/>
          </p:nvSpPr>
          <p:spPr>
            <a:xfrm>
              <a:off x="1428750" y="0"/>
              <a:ext cx="4667250" cy="3429000"/>
            </a:xfrm>
            <a:custGeom>
              <a:avLst/>
              <a:gdLst/>
              <a:ahLst/>
              <a:cxnLst/>
              <a:rect l="l" t="t" r="r" b="b"/>
              <a:pathLst>
                <a:path w="4667250" h="3429000">
                  <a:moveTo>
                    <a:pt x="4667250" y="3429000"/>
                  </a:moveTo>
                  <a:lnTo>
                    <a:pt x="0" y="0"/>
                  </a:lnTo>
                  <a:lnTo>
                    <a:pt x="142875" y="0"/>
                  </a:lnTo>
                  <a:lnTo>
                    <a:pt x="466725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7" name="Polygon 17"/>
            <p:cNvSpPr/>
            <p:nvPr/>
          </p:nvSpPr>
          <p:spPr>
            <a:xfrm>
              <a:off x="6096000" y="0"/>
              <a:ext cx="4810125" cy="3429000"/>
            </a:xfrm>
            <a:custGeom>
              <a:avLst/>
              <a:gdLst/>
              <a:ahLst/>
              <a:cxnLst/>
              <a:rect l="l" t="t" r="r" b="b"/>
              <a:pathLst>
                <a:path w="4810125" h="3429000">
                  <a:moveTo>
                    <a:pt x="0" y="3429000"/>
                  </a:moveTo>
                  <a:lnTo>
                    <a:pt x="4667250" y="0"/>
                  </a:lnTo>
                  <a:lnTo>
                    <a:pt x="4810125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8" name="Polygon 18"/>
            <p:cNvSpPr/>
            <p:nvPr/>
          </p:nvSpPr>
          <p:spPr>
            <a:xfrm>
              <a:off x="762000" y="0"/>
              <a:ext cx="5334000" cy="3429000"/>
            </a:xfrm>
            <a:custGeom>
              <a:avLst/>
              <a:gdLst/>
              <a:ahLst/>
              <a:cxnLst/>
              <a:rect l="l" t="t" r="r" b="b"/>
              <a:pathLst>
                <a:path w="5334000" h="3429000">
                  <a:moveTo>
                    <a:pt x="5334000" y="3429000"/>
                  </a:moveTo>
                  <a:lnTo>
                    <a:pt x="0" y="0"/>
                  </a:lnTo>
                  <a:lnTo>
                    <a:pt x="142875" y="0"/>
                  </a:lnTo>
                  <a:lnTo>
                    <a:pt x="533400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19" name="Polygon 19"/>
            <p:cNvSpPr/>
            <p:nvPr/>
          </p:nvSpPr>
          <p:spPr>
            <a:xfrm>
              <a:off x="6096000" y="0"/>
              <a:ext cx="5476875" cy="3429000"/>
            </a:xfrm>
            <a:custGeom>
              <a:avLst/>
              <a:gdLst/>
              <a:ahLst/>
              <a:cxnLst/>
              <a:rect l="l" t="t" r="r" b="b"/>
              <a:pathLst>
                <a:path w="5476875" h="3429000">
                  <a:moveTo>
                    <a:pt x="0" y="3429000"/>
                  </a:moveTo>
                  <a:lnTo>
                    <a:pt x="5334000" y="0"/>
                  </a:lnTo>
                  <a:lnTo>
                    <a:pt x="5476875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0" name="Polygon 20"/>
            <p:cNvSpPr/>
            <p:nvPr/>
          </p:nvSpPr>
          <p:spPr>
            <a:xfrm>
              <a:off x="0" y="1143000"/>
              <a:ext cx="6096000" cy="2286000"/>
            </a:xfrm>
            <a:custGeom>
              <a:avLst/>
              <a:gdLst/>
              <a:ahLst/>
              <a:cxnLst/>
              <a:rect l="l" t="t" r="r" b="b"/>
              <a:pathLst>
                <a:path w="6096000" h="2286000">
                  <a:moveTo>
                    <a:pt x="6096000" y="228600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6096000" y="2286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1" name="Polygon 21"/>
            <p:cNvSpPr/>
            <p:nvPr/>
          </p:nvSpPr>
          <p:spPr>
            <a:xfrm>
              <a:off x="0" y="476250"/>
              <a:ext cx="6096000" cy="2952750"/>
            </a:xfrm>
            <a:custGeom>
              <a:avLst/>
              <a:gdLst/>
              <a:ahLst/>
              <a:cxnLst/>
              <a:rect l="l" t="t" r="r" b="b"/>
              <a:pathLst>
                <a:path w="6096000" h="2952750">
                  <a:moveTo>
                    <a:pt x="6096000" y="295275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6096000" y="295275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2" name="Polygon 22"/>
            <p:cNvSpPr/>
            <p:nvPr/>
          </p:nvSpPr>
          <p:spPr>
            <a:xfrm>
              <a:off x="0" y="1809750"/>
              <a:ext cx="6096000" cy="1619250"/>
            </a:xfrm>
            <a:custGeom>
              <a:avLst/>
              <a:gdLst/>
              <a:ahLst/>
              <a:cxnLst/>
              <a:rect l="l" t="t" r="r" b="b"/>
              <a:pathLst>
                <a:path w="6096000" h="1619250">
                  <a:moveTo>
                    <a:pt x="6096000" y="161925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6096000" y="161925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3" name="Polygon 23"/>
            <p:cNvSpPr/>
            <p:nvPr/>
          </p:nvSpPr>
          <p:spPr>
            <a:xfrm>
              <a:off x="0" y="2476500"/>
              <a:ext cx="6096000" cy="952500"/>
            </a:xfrm>
            <a:custGeom>
              <a:avLst/>
              <a:gdLst/>
              <a:ahLst/>
              <a:cxnLst/>
              <a:rect l="l" t="t" r="r" b="b"/>
              <a:pathLst>
                <a:path w="6096000" h="952500">
                  <a:moveTo>
                    <a:pt x="6096000" y="95250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6096000" y="9525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4" name="Polygon 24"/>
            <p:cNvSpPr/>
            <p:nvPr/>
          </p:nvSpPr>
          <p:spPr>
            <a:xfrm>
              <a:off x="0" y="3143250"/>
              <a:ext cx="6096000" cy="285750"/>
            </a:xfrm>
            <a:custGeom>
              <a:avLst/>
              <a:gdLst/>
              <a:ahLst/>
              <a:cxnLst/>
              <a:rect l="l" t="t" r="r" b="b"/>
              <a:pathLst>
                <a:path w="6096000" h="285750">
                  <a:moveTo>
                    <a:pt x="6096000" y="28575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6096000" y="28575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5" name="Polygon 25"/>
            <p:cNvSpPr/>
            <p:nvPr/>
          </p:nvSpPr>
          <p:spPr>
            <a:xfrm>
              <a:off x="0" y="3429000"/>
              <a:ext cx="6096000" cy="523875"/>
            </a:xfrm>
            <a:custGeom>
              <a:avLst/>
              <a:gdLst/>
              <a:ahLst/>
              <a:cxnLst/>
              <a:rect l="l" t="t" r="r" b="b"/>
              <a:pathLst>
                <a:path w="6096000" h="523875">
                  <a:moveTo>
                    <a:pt x="6096000" y="0"/>
                  </a:moveTo>
                  <a:lnTo>
                    <a:pt x="0" y="381000"/>
                  </a:lnTo>
                  <a:lnTo>
                    <a:pt x="0" y="523875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6" name="Polygon 26"/>
            <p:cNvSpPr/>
            <p:nvPr/>
          </p:nvSpPr>
          <p:spPr>
            <a:xfrm>
              <a:off x="0" y="3429000"/>
              <a:ext cx="6096000" cy="1190625"/>
            </a:xfrm>
            <a:custGeom>
              <a:avLst/>
              <a:gdLst/>
              <a:ahLst/>
              <a:cxnLst/>
              <a:rect l="l" t="t" r="r" b="b"/>
              <a:pathLst>
                <a:path w="6096000" h="1190625">
                  <a:moveTo>
                    <a:pt x="6096000" y="0"/>
                  </a:moveTo>
                  <a:lnTo>
                    <a:pt x="0" y="1047750"/>
                  </a:lnTo>
                  <a:lnTo>
                    <a:pt x="0" y="1190625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7" name="Polygon 27"/>
            <p:cNvSpPr/>
            <p:nvPr/>
          </p:nvSpPr>
          <p:spPr>
            <a:xfrm>
              <a:off x="0" y="3429000"/>
              <a:ext cx="6096000" cy="1857375"/>
            </a:xfrm>
            <a:custGeom>
              <a:avLst/>
              <a:gdLst/>
              <a:ahLst/>
              <a:cxnLst/>
              <a:rect l="l" t="t" r="r" b="b"/>
              <a:pathLst>
                <a:path w="6096000" h="1857375">
                  <a:moveTo>
                    <a:pt x="6096000" y="0"/>
                  </a:moveTo>
                  <a:lnTo>
                    <a:pt x="0" y="1714500"/>
                  </a:lnTo>
                  <a:lnTo>
                    <a:pt x="0" y="1857375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8" name="Polygon 28"/>
            <p:cNvSpPr/>
            <p:nvPr/>
          </p:nvSpPr>
          <p:spPr>
            <a:xfrm>
              <a:off x="0" y="3429000"/>
              <a:ext cx="6096000" cy="2524125"/>
            </a:xfrm>
            <a:custGeom>
              <a:avLst/>
              <a:gdLst/>
              <a:ahLst/>
              <a:cxnLst/>
              <a:rect l="l" t="t" r="r" b="b"/>
              <a:pathLst>
                <a:path w="6096000" h="2524125">
                  <a:moveTo>
                    <a:pt x="6096000" y="0"/>
                  </a:moveTo>
                  <a:lnTo>
                    <a:pt x="0" y="2381250"/>
                  </a:lnTo>
                  <a:lnTo>
                    <a:pt x="0" y="2524125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29" name="Polygon 29"/>
            <p:cNvSpPr/>
            <p:nvPr/>
          </p:nvSpPr>
          <p:spPr>
            <a:xfrm>
              <a:off x="0" y="3429000"/>
              <a:ext cx="6096000" cy="3190875"/>
            </a:xfrm>
            <a:custGeom>
              <a:avLst/>
              <a:gdLst/>
              <a:ahLst/>
              <a:cxnLst/>
              <a:rect l="l" t="t" r="r" b="b"/>
              <a:pathLst>
                <a:path w="6096000" h="3190875">
                  <a:moveTo>
                    <a:pt x="6096000" y="0"/>
                  </a:moveTo>
                  <a:lnTo>
                    <a:pt x="0" y="3048000"/>
                  </a:lnTo>
                  <a:lnTo>
                    <a:pt x="0" y="3190875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0" name="Polygon 30"/>
            <p:cNvSpPr/>
            <p:nvPr/>
          </p:nvSpPr>
          <p:spPr>
            <a:xfrm>
              <a:off x="6096000" y="1143000"/>
              <a:ext cx="6096000" cy="2286000"/>
            </a:xfrm>
            <a:custGeom>
              <a:avLst/>
              <a:gdLst/>
              <a:ahLst/>
              <a:cxnLst/>
              <a:rect l="l" t="t" r="r" b="b"/>
              <a:pathLst>
                <a:path w="6096000" h="2286000">
                  <a:moveTo>
                    <a:pt x="0" y="2286000"/>
                  </a:moveTo>
                  <a:lnTo>
                    <a:pt x="6096000" y="0"/>
                  </a:lnTo>
                  <a:lnTo>
                    <a:pt x="6096000" y="142875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1" name="Polygon 31"/>
            <p:cNvSpPr/>
            <p:nvPr/>
          </p:nvSpPr>
          <p:spPr>
            <a:xfrm>
              <a:off x="6096000" y="476250"/>
              <a:ext cx="6096000" cy="2952750"/>
            </a:xfrm>
            <a:custGeom>
              <a:avLst/>
              <a:gdLst/>
              <a:ahLst/>
              <a:cxnLst/>
              <a:rect l="l" t="t" r="r" b="b"/>
              <a:pathLst>
                <a:path w="6096000" h="2952750">
                  <a:moveTo>
                    <a:pt x="0" y="2952750"/>
                  </a:moveTo>
                  <a:lnTo>
                    <a:pt x="6096000" y="0"/>
                  </a:lnTo>
                  <a:lnTo>
                    <a:pt x="6096000" y="142875"/>
                  </a:lnTo>
                  <a:lnTo>
                    <a:pt x="0" y="295275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2" name="Polygon 32"/>
            <p:cNvSpPr/>
            <p:nvPr/>
          </p:nvSpPr>
          <p:spPr>
            <a:xfrm>
              <a:off x="6096000" y="1809750"/>
              <a:ext cx="6096000" cy="1619250"/>
            </a:xfrm>
            <a:custGeom>
              <a:avLst/>
              <a:gdLst/>
              <a:ahLst/>
              <a:cxnLst/>
              <a:rect l="l" t="t" r="r" b="b"/>
              <a:pathLst>
                <a:path w="6096000" h="1619250">
                  <a:moveTo>
                    <a:pt x="0" y="1619250"/>
                  </a:moveTo>
                  <a:lnTo>
                    <a:pt x="6096000" y="0"/>
                  </a:lnTo>
                  <a:lnTo>
                    <a:pt x="6096000" y="142875"/>
                  </a:lnTo>
                  <a:lnTo>
                    <a:pt x="0" y="161925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3" name="Polygon 33"/>
            <p:cNvSpPr/>
            <p:nvPr/>
          </p:nvSpPr>
          <p:spPr>
            <a:xfrm>
              <a:off x="6096000" y="2476500"/>
              <a:ext cx="6096000" cy="952500"/>
            </a:xfrm>
            <a:custGeom>
              <a:avLst/>
              <a:gdLst/>
              <a:ahLst/>
              <a:cxnLst/>
              <a:rect l="l" t="t" r="r" b="b"/>
              <a:pathLst>
                <a:path w="6096000" h="952500">
                  <a:moveTo>
                    <a:pt x="0" y="952500"/>
                  </a:moveTo>
                  <a:lnTo>
                    <a:pt x="6096000" y="0"/>
                  </a:lnTo>
                  <a:lnTo>
                    <a:pt x="6096000" y="142875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4" name="Polygon 34"/>
            <p:cNvSpPr/>
            <p:nvPr/>
          </p:nvSpPr>
          <p:spPr>
            <a:xfrm>
              <a:off x="6096000" y="3143250"/>
              <a:ext cx="6096000" cy="285750"/>
            </a:xfrm>
            <a:custGeom>
              <a:avLst/>
              <a:gdLst/>
              <a:ahLst/>
              <a:cxnLst/>
              <a:rect l="l" t="t" r="r" b="b"/>
              <a:pathLst>
                <a:path w="6096000" h="285750">
                  <a:moveTo>
                    <a:pt x="0" y="285750"/>
                  </a:moveTo>
                  <a:lnTo>
                    <a:pt x="6096000" y="0"/>
                  </a:lnTo>
                  <a:lnTo>
                    <a:pt x="60960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5" name="Polygon 35"/>
            <p:cNvSpPr/>
            <p:nvPr/>
          </p:nvSpPr>
          <p:spPr>
            <a:xfrm>
              <a:off x="6096000" y="3429000"/>
              <a:ext cx="6096000" cy="523875"/>
            </a:xfrm>
            <a:custGeom>
              <a:avLst/>
              <a:gdLst/>
              <a:ahLst/>
              <a:cxnLst/>
              <a:rect l="l" t="t" r="r" b="b"/>
              <a:pathLst>
                <a:path w="6096000" h="523875">
                  <a:moveTo>
                    <a:pt x="0" y="0"/>
                  </a:moveTo>
                  <a:lnTo>
                    <a:pt x="6096000" y="381000"/>
                  </a:lnTo>
                  <a:lnTo>
                    <a:pt x="6096000" y="523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6" name="Polygon 36"/>
            <p:cNvSpPr/>
            <p:nvPr/>
          </p:nvSpPr>
          <p:spPr>
            <a:xfrm>
              <a:off x="6096000" y="3429000"/>
              <a:ext cx="6096000" cy="1190625"/>
            </a:xfrm>
            <a:custGeom>
              <a:avLst/>
              <a:gdLst/>
              <a:ahLst/>
              <a:cxnLst/>
              <a:rect l="l" t="t" r="r" b="b"/>
              <a:pathLst>
                <a:path w="6096000" h="1190625">
                  <a:moveTo>
                    <a:pt x="0" y="0"/>
                  </a:moveTo>
                  <a:lnTo>
                    <a:pt x="6096000" y="1047750"/>
                  </a:lnTo>
                  <a:lnTo>
                    <a:pt x="6096000" y="1190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7" name="Polygon 37"/>
            <p:cNvSpPr/>
            <p:nvPr/>
          </p:nvSpPr>
          <p:spPr>
            <a:xfrm>
              <a:off x="6096000" y="3429000"/>
              <a:ext cx="6096000" cy="1857375"/>
            </a:xfrm>
            <a:custGeom>
              <a:avLst/>
              <a:gdLst/>
              <a:ahLst/>
              <a:cxnLst/>
              <a:rect l="l" t="t" r="r" b="b"/>
              <a:pathLst>
                <a:path w="6096000" h="1857375">
                  <a:moveTo>
                    <a:pt x="0" y="0"/>
                  </a:moveTo>
                  <a:lnTo>
                    <a:pt x="6096000" y="1714500"/>
                  </a:lnTo>
                  <a:lnTo>
                    <a:pt x="6096000" y="1857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8" name="Polygon 38"/>
            <p:cNvSpPr/>
            <p:nvPr/>
          </p:nvSpPr>
          <p:spPr>
            <a:xfrm>
              <a:off x="6096000" y="3429000"/>
              <a:ext cx="6096000" cy="2524125"/>
            </a:xfrm>
            <a:custGeom>
              <a:avLst/>
              <a:gdLst/>
              <a:ahLst/>
              <a:cxnLst/>
              <a:rect l="l" t="t" r="r" b="b"/>
              <a:pathLst>
                <a:path w="6096000" h="2524125">
                  <a:moveTo>
                    <a:pt x="0" y="0"/>
                  </a:moveTo>
                  <a:lnTo>
                    <a:pt x="6096000" y="2381250"/>
                  </a:lnTo>
                  <a:lnTo>
                    <a:pt x="6096000" y="2524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39" name="Polygon 39"/>
            <p:cNvSpPr/>
            <p:nvPr/>
          </p:nvSpPr>
          <p:spPr>
            <a:xfrm>
              <a:off x="6096000" y="3429000"/>
              <a:ext cx="6096000" cy="3190875"/>
            </a:xfrm>
            <a:custGeom>
              <a:avLst/>
              <a:gdLst/>
              <a:ahLst/>
              <a:cxnLst/>
              <a:rect l="l" t="t" r="r" b="b"/>
              <a:pathLst>
                <a:path w="6096000" h="3190875">
                  <a:moveTo>
                    <a:pt x="0" y="0"/>
                  </a:moveTo>
                  <a:lnTo>
                    <a:pt x="6096000" y="3048000"/>
                  </a:lnTo>
                  <a:lnTo>
                    <a:pt x="6096000" y="3190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</p:grpSp>
      <p:sp>
        <p:nvSpPr>
          <p:cNvPr id="41" name="Ellipse 41"/>
          <p:cNvSpPr/>
          <p:nvPr/>
        </p:nvSpPr>
        <p:spPr>
          <a:xfrm>
            <a:off x="4191000" y="1809750"/>
            <a:ext cx="3810000" cy="3810000"/>
          </a:xfrm>
          <a:prstGeom prst="ellipse">
            <a:avLst/>
          </a:prstGeom>
          <a:solidFill>
            <a:srgbClr val="B91C1C">
              <a:alpha val="30000"/>
            </a:srgbClr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4762500" y="2476500"/>
            <a:ext cx="2667000" cy="2667000"/>
          </a:xfrm>
          <a:prstGeom prst="ellipse">
            <a:avLst/>
          </a:prstGeom>
          <a:solidFill>
            <a:srgbClr val="D4A017">
              <a:alpha val="20000"/>
            </a:srgb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5143500" y="2952750"/>
            <a:ext cx="1905000" cy="190500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0" y="40005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lnTo>
                  <a:pt x="1714500" y="952500"/>
                </a:lnTo>
                <a:lnTo>
                  <a:pt x="2857500" y="1524000"/>
                </a:lnTo>
                <a:lnTo>
                  <a:pt x="4191000" y="476250"/>
                </a:lnTo>
                <a:lnTo>
                  <a:pt x="5334000" y="1143000"/>
                </a:lnTo>
                <a:lnTo>
                  <a:pt x="6477000" y="95250"/>
                </a:lnTo>
                <a:lnTo>
                  <a:pt x="7810500" y="666750"/>
                </a:lnTo>
                <a:lnTo>
                  <a:pt x="9144000" y="0"/>
                </a:lnTo>
                <a:lnTo>
                  <a:pt x="10477500" y="762000"/>
                </a:lnTo>
                <a:lnTo>
                  <a:pt x="11430000" y="285750"/>
                </a:lnTo>
                <a:lnTo>
                  <a:pt x="12192000" y="381000"/>
                </a:lnTo>
                <a:lnTo>
                  <a:pt x="12192000" y="2857500"/>
                </a:lnTo>
                <a:close/>
              </a:path>
            </a:pathLst>
          </a:custGeom>
          <a:solidFill>
            <a:srgbClr val="7F1D1D">
              <a:alpha val="60000"/>
            </a:srgbClr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0" y="457200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lnTo>
                  <a:pt x="2095500" y="762000"/>
                </a:lnTo>
                <a:lnTo>
                  <a:pt x="3333750" y="1143000"/>
                </a:lnTo>
                <a:lnTo>
                  <a:pt x="4667250" y="381000"/>
                </a:lnTo>
                <a:lnTo>
                  <a:pt x="5905500" y="952500"/>
                </a:lnTo>
                <a:lnTo>
                  <a:pt x="7239000" y="95250"/>
                </a:lnTo>
                <a:lnTo>
                  <a:pt x="8572500" y="571500"/>
                </a:lnTo>
                <a:lnTo>
                  <a:pt x="9906000" y="0"/>
                </a:lnTo>
                <a:lnTo>
                  <a:pt x="11239500" y="476250"/>
                </a:lnTo>
                <a:lnTo>
                  <a:pt x="12192000" y="190500"/>
                </a:lnTo>
                <a:lnTo>
                  <a:pt x="12192000" y="2286000"/>
                </a:lnTo>
                <a:close/>
              </a:path>
            </a:pathLst>
          </a:custGeom>
          <a:solidFill>
            <a:srgbClr val="2A1713">
              <a:alpha val="50000"/>
            </a:srgb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5334000" y="3429000"/>
            <a:ext cx="1524000" cy="15240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5381625" y="3476625"/>
            <a:ext cx="1428750" cy="1428750"/>
          </a:xfrm>
          <a:prstGeom prst="ellipse">
            <a:avLst/>
          </a:prstGeom>
          <a:solidFill>
            <a:srgbClr val="D4A017">
              <a:alpha val="40000"/>
            </a:srgbClr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5524500" y="3619500"/>
            <a:ext cx="1143000" cy="11430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0" y="5143500"/>
            <a:ext cx="2286000" cy="1714500"/>
          </a:xfrm>
          <a:custGeom>
            <a:avLst/>
            <a:gdLst/>
            <a:ahLst/>
            <a:cxnLst/>
            <a:rect l="l" t="t" r="r" b="b"/>
            <a:pathLst>
              <a:path w="2286000" h="1714500">
                <a:moveTo>
                  <a:pt x="0" y="1714500"/>
                </a:moveTo>
                <a:lnTo>
                  <a:pt x="1143000" y="0"/>
                </a:lnTo>
                <a:lnTo>
                  <a:pt x="1905000" y="95250"/>
                </a:lnTo>
                <a:lnTo>
                  <a:pt x="2286000" y="381000"/>
                </a:lnTo>
              </a:path>
            </a:pathLst>
          </a:custGeom>
          <a:noFill/>
          <a:ln w="14288">
            <a:solidFill>
              <a:srgbClr val="7F1D1D">
                <a:alpha val="50000"/>
              </a:srgbClr>
            </a:solidFill>
          </a:ln>
        </p:spPr>
      </p:sp>
      <p:sp>
        <p:nvSpPr>
          <p:cNvPr id="50" name="Freeform 50"/>
          <p:cNvSpPr/>
          <p:nvPr/>
        </p:nvSpPr>
        <p:spPr>
          <a:xfrm>
            <a:off x="9906000" y="4857750"/>
            <a:ext cx="2286000" cy="2000250"/>
          </a:xfrm>
          <a:custGeom>
            <a:avLst/>
            <a:gdLst/>
            <a:ahLst/>
            <a:cxnLst/>
            <a:rect l="l" t="t" r="r" b="b"/>
            <a:pathLst>
              <a:path w="2286000" h="2000250">
                <a:moveTo>
                  <a:pt x="0" y="2000250"/>
                </a:moveTo>
                <a:lnTo>
                  <a:pt x="762000" y="0"/>
                </a:lnTo>
                <a:lnTo>
                  <a:pt x="1333500" y="95250"/>
                </a:lnTo>
                <a:lnTo>
                  <a:pt x="2286000" y="381000"/>
                </a:lnTo>
              </a:path>
            </a:pathLst>
          </a:custGeom>
          <a:noFill/>
          <a:ln w="14288">
            <a:solidFill>
              <a:srgbClr val="7F1D1D">
                <a:alpha val="5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651297" y="2242185"/>
            <a:ext cx="889406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00" b="1" spc="1200" dirty="0">
                <a:solidFill>
                  <a:srgbClr val="D4A017"/>
                </a:solidFill>
                <a:latin typeface="Georgia"/>
                <a:ea typeface="SimSun"/>
                <a:cs typeface="Georgia"/>
              </a:rPr>
              <a:t>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51297" y="3004185"/>
            <a:ext cx="889406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00" b="1" spc="1200" dirty="0">
                <a:solidFill>
                  <a:srgbClr val="D4A017"/>
                </a:solidFill>
                <a:latin typeface="Georgia"/>
                <a:ea typeface="SimSun"/>
                <a:cs typeface="Georgia"/>
              </a:rPr>
              <a:t>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51297" y="3766185"/>
            <a:ext cx="889406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00" b="1" spc="1200" dirty="0">
                <a:solidFill>
                  <a:srgbClr val="D4A017"/>
                </a:solidFill>
                <a:latin typeface="Georgia"/>
                <a:ea typeface="SimSun"/>
                <a:cs typeface="Georgia"/>
              </a:rPr>
              <a:t>红</a:t>
            </a:r>
          </a:p>
        </p:txBody>
      </p:sp>
      <p:sp>
        <p:nvSpPr>
          <p:cNvPr id="54" name="Rectangle 54"/>
          <p:cNvSpPr/>
          <p:nvPr/>
        </p:nvSpPr>
        <p:spPr>
          <a:xfrm>
            <a:off x="1762125" y="2095500"/>
            <a:ext cx="76200" cy="1524000"/>
          </a:xfrm>
          <a:prstGeom prst="rect">
            <a:avLst/>
          </a:prstGeom>
          <a:solidFill>
            <a:srgbClr val="D4A017">
              <a:alpha val="70000"/>
            </a:srgbClr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1762125" y="2095500"/>
            <a:ext cx="476250" cy="476250"/>
          </a:xfrm>
          <a:prstGeom prst="rect">
            <a:avLst/>
          </a:prstGeom>
          <a:noFill/>
          <a:ln w="19050">
            <a:solidFill>
              <a:srgbClr val="D4A017">
                <a:alpha val="60000"/>
              </a:srgbClr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10353675" y="2095500"/>
            <a:ext cx="76200" cy="1524000"/>
          </a:xfrm>
          <a:prstGeom prst="rect">
            <a:avLst/>
          </a:prstGeom>
          <a:solidFill>
            <a:srgbClr val="D4A017">
              <a:alpha val="70000"/>
            </a:srgbClr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10001250" y="3619500"/>
            <a:ext cx="476250" cy="476250"/>
          </a:xfrm>
          <a:prstGeom prst="rect">
            <a:avLst/>
          </a:prstGeom>
          <a:noFill/>
          <a:ln w="19050">
            <a:solidFill>
              <a:srgbClr val="D4A017">
                <a:alpha val="60000"/>
              </a:srgbClr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762000" y="5619750"/>
            <a:ext cx="38100" cy="76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944880" y="57245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4A017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汇报人：张三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45642" y="6083618"/>
            <a:ext cx="9769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88A5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2025年12月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71500" y="4667250"/>
            <a:ext cx="11049000" cy="9525"/>
          </a:xfrm>
          <a:prstGeom prst="rect">
            <a:avLst/>
          </a:prstGeom>
          <a:solidFill>
            <a:srgbClr val="C88A58">
              <a:alpha val="50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106418" y="4783455"/>
            <a:ext cx="397916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9F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纪念毛泽东同志，传承红色精神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78852" y="526446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3E3D3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他从韶山走来，思想光照千秋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907852" y="526446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3E3D3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逾千万字著述，铸就革命灯塔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700326" y="52644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3E3D3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红色情怀，永续辉煌</a:t>
            </a:r>
          </a:p>
        </p:txBody>
      </p:sp>
      <p:sp>
        <p:nvSpPr>
          <p:cNvPr id="66" name="Ellipse 66"/>
          <p:cNvSpPr/>
          <p:nvPr/>
        </p:nvSpPr>
        <p:spPr>
          <a:xfrm>
            <a:off x="4162425" y="5305425"/>
            <a:ext cx="57150" cy="57150"/>
          </a:xfrm>
          <a:prstGeom prst="ellipse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7591425" y="5305425"/>
            <a:ext cx="57150" cy="57150"/>
          </a:xfrm>
          <a:prstGeom prst="ellipse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571500" y="6286500"/>
            <a:ext cx="381000" cy="381000"/>
          </a:xfrm>
          <a:prstGeom prst="rect">
            <a:avLst/>
          </a:prstGeom>
          <a:noFill/>
          <a:ln w="19050">
            <a:solidFill>
              <a:srgbClr val="D4A017">
                <a:alpha val="50000"/>
              </a:srgbClr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687705" y="6352699"/>
            <a:ext cx="1485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D4A017">
                    <a:alphaMod val="60000"/>
                  </a:srgbClr>
                </a:solidFill>
                <a:latin typeface="Georgia"/>
                <a:ea typeface="SimSun"/>
                <a:cs typeface="Georgia"/>
              </a:rPr>
              <a:t>红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87705" y="6486049"/>
            <a:ext cx="1485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D4A017">
                    <a:alphaMod val="60000"/>
                  </a:srgbClr>
                </a:solidFill>
                <a:latin typeface="Georgia"/>
                <a:ea typeface="SimSun"/>
                <a:cs typeface="Georgia"/>
              </a:rPr>
              <a:t>韵</a:t>
            </a:r>
          </a:p>
        </p:txBody>
      </p:sp>
      <p:sp>
        <p:nvSpPr>
          <p:cNvPr id="71" name="Polygon 71"/>
          <p:cNvSpPr/>
          <p:nvPr/>
        </p:nvSpPr>
        <p:spPr>
          <a:xfrm>
            <a:off x="11620500" y="6191250"/>
            <a:ext cx="95250" cy="190500"/>
          </a:xfrm>
          <a:custGeom>
            <a:avLst/>
            <a:gdLst/>
            <a:ahLst/>
            <a:cxnLst/>
            <a:rect l="l" t="t" r="r" b="b"/>
            <a:pathLst>
              <a:path w="95250" h="190500">
                <a:moveTo>
                  <a:pt x="0" y="0"/>
                </a:moveTo>
                <a:lnTo>
                  <a:pt x="28575" y="95250"/>
                </a:lnTo>
                <a:lnTo>
                  <a:pt x="57150" y="190500"/>
                </a:lnTo>
                <a:lnTo>
                  <a:pt x="95250" y="142875"/>
                </a:lnTo>
                <a:lnTo>
                  <a:pt x="47625" y="123825"/>
                </a:lnTo>
                <a:close/>
              </a:path>
            </a:pathLst>
          </a:custGeom>
          <a:solidFill>
            <a:srgbClr val="D4A017">
              <a:alpha val="40000"/>
            </a:srgbClr>
          </a:solidFill>
          <a:ln>
            <a:noFill/>
          </a:ln>
        </p:spPr>
      </p:sp>
      <p:sp>
        <p:nvSpPr>
          <p:cNvPr id="72" name="Polygon 72"/>
          <p:cNvSpPr/>
          <p:nvPr/>
        </p:nvSpPr>
        <p:spPr>
          <a:xfrm>
            <a:off x="11525250" y="6191250"/>
            <a:ext cx="95250" cy="190500"/>
          </a:xfrm>
          <a:custGeom>
            <a:avLst/>
            <a:gdLst/>
            <a:ahLst/>
            <a:cxnLst/>
            <a:rect l="l" t="t" r="r" b="b"/>
            <a:pathLst>
              <a:path w="95250" h="190500">
                <a:moveTo>
                  <a:pt x="95250" y="0"/>
                </a:moveTo>
                <a:lnTo>
                  <a:pt x="66675" y="95250"/>
                </a:lnTo>
                <a:lnTo>
                  <a:pt x="38100" y="190500"/>
                </a:lnTo>
                <a:lnTo>
                  <a:pt x="0" y="142875"/>
                </a:lnTo>
                <a:lnTo>
                  <a:pt x="47625" y="123825"/>
                </a:lnTo>
                <a:close/>
              </a:path>
            </a:pathLst>
          </a:custGeom>
          <a:solidFill>
            <a:srgbClr val="D4A017">
              <a:alpha val="40000"/>
            </a:srgbClr>
          </a:solidFill>
          <a:ln>
            <a:noFill/>
          </a:ln>
        </p:spPr>
      </p:sp>
      <p:sp>
        <p:nvSpPr>
          <p:cNvPr id="73" name="Polygon 73"/>
          <p:cNvSpPr/>
          <p:nvPr/>
        </p:nvSpPr>
        <p:spPr>
          <a:xfrm>
            <a:off x="11620500" y="6000750"/>
            <a:ext cx="47625" cy="190500"/>
          </a:xfrm>
          <a:custGeom>
            <a:avLst/>
            <a:gdLst/>
            <a:ahLst/>
            <a:cxnLst/>
            <a:rect l="l" t="t" r="r" b="b"/>
            <a:pathLst>
              <a:path w="47625" h="190500">
                <a:moveTo>
                  <a:pt x="0" y="190500"/>
                </a:moveTo>
                <a:lnTo>
                  <a:pt x="0" y="95250"/>
                </a:lnTo>
                <a:lnTo>
                  <a:pt x="0" y="0"/>
                </a:lnTo>
                <a:lnTo>
                  <a:pt x="47625" y="47625"/>
                </a:lnTo>
                <a:lnTo>
                  <a:pt x="47625" y="95250"/>
                </a:lnTo>
                <a:close/>
              </a:path>
            </a:pathLst>
          </a:custGeom>
          <a:solidFill>
            <a:srgbClr val="D4A017">
              <a:alpha val="40000"/>
            </a:srgbClr>
          </a:solidFill>
          <a:ln>
            <a:noFill/>
          </a:ln>
        </p:spPr>
      </p:sp>
      <p:sp>
        <p:nvSpPr>
          <p:cNvPr id="74" name="Polygon 74"/>
          <p:cNvSpPr/>
          <p:nvPr/>
        </p:nvSpPr>
        <p:spPr>
          <a:xfrm>
            <a:off x="11572875" y="6000750"/>
            <a:ext cx="47625" cy="190500"/>
          </a:xfrm>
          <a:custGeom>
            <a:avLst/>
            <a:gdLst/>
            <a:ahLst/>
            <a:cxnLst/>
            <a:rect l="l" t="t" r="r" b="b"/>
            <a:pathLst>
              <a:path w="47625" h="190500">
                <a:moveTo>
                  <a:pt x="47625" y="190500"/>
                </a:moveTo>
                <a:lnTo>
                  <a:pt x="47625" y="95250"/>
                </a:lnTo>
                <a:lnTo>
                  <a:pt x="47625" y="0"/>
                </a:lnTo>
                <a:lnTo>
                  <a:pt x="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D4A017">
              <a:alpha val="40000"/>
            </a:srgbClr>
          </a:solidFill>
          <a:ln>
            <a:noFill/>
          </a:ln>
        </p:spPr>
      </p:sp>
      <p:sp>
        <p:nvSpPr>
          <p:cNvPr id="75" name="Polygon 75"/>
          <p:cNvSpPr/>
          <p:nvPr/>
        </p:nvSpPr>
        <p:spPr>
          <a:xfrm>
            <a:off x="11620500" y="6096000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0" y="95250"/>
                </a:moveTo>
                <a:lnTo>
                  <a:pt x="76200" y="47625"/>
                </a:lnTo>
                <a:lnTo>
                  <a:pt x="142875" y="0"/>
                </a:lnTo>
                <a:lnTo>
                  <a:pt x="95250" y="28575"/>
                </a:lnTo>
                <a:lnTo>
                  <a:pt x="47625" y="57150"/>
                </a:lnTo>
                <a:close/>
              </a:path>
            </a:pathLst>
          </a:custGeom>
          <a:solidFill>
            <a:srgbClr val="D4A017">
              <a:alpha val="40000"/>
            </a:srgbClr>
          </a:solidFill>
          <a:ln>
            <a:noFill/>
          </a:ln>
        </p:spPr>
      </p:sp>
      <p:sp>
        <p:nvSpPr>
          <p:cNvPr id="76" name="Polygon 76"/>
          <p:cNvSpPr/>
          <p:nvPr/>
        </p:nvSpPr>
        <p:spPr>
          <a:xfrm>
            <a:off x="11477625" y="6096000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142875" y="95250"/>
                </a:moveTo>
                <a:lnTo>
                  <a:pt x="66675" y="47625"/>
                </a:lnTo>
                <a:lnTo>
                  <a:pt x="0" y="0"/>
                </a:lnTo>
                <a:lnTo>
                  <a:pt x="47625" y="28575"/>
                </a:lnTo>
                <a:lnTo>
                  <a:pt x="95250" y="57150"/>
                </a:lnTo>
                <a:close/>
              </a:path>
            </a:pathLst>
          </a:custGeom>
          <a:solidFill>
            <a:srgbClr val="D4A017">
              <a:alpha val="4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0E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3E3D3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C88A58">
                <a:alpha val="12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C88A58">
                <a:alpha val="12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C88A58">
                <a:alpha val="8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C88A58">
                <a:alpha val="8000"/>
              </a:srgbClr>
            </a:solidFill>
          </a:ln>
        </p:spPr>
      </p:sp>
      <p:sp>
        <p:nvSpPr>
          <p:cNvPr id="8" name="Polygon 8"/>
          <p:cNvSpPr/>
          <p:nvPr/>
        </p:nvSpPr>
        <p:spPr>
          <a:xfrm>
            <a:off x="0" y="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0" y="0"/>
                </a:moveTo>
                <a:lnTo>
                  <a:pt x="152400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B91C1C">
              <a:alpha val="12000"/>
            </a:srgbClr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0" y="5715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1143000"/>
                </a:moveTo>
                <a:lnTo>
                  <a:pt x="114300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B91C1C">
              <a:alpha val="12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0477500" y="571500"/>
            <a:ext cx="571500" cy="571500"/>
          </a:xfrm>
          <a:prstGeom prst="rect">
            <a:avLst/>
          </a:prstGeom>
          <a:noFill/>
          <a:ln w="23812">
            <a:solidFill>
              <a:srgbClr val="D4A017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0572750" y="666750"/>
            <a:ext cx="381000" cy="381000"/>
          </a:xfrm>
          <a:prstGeom prst="rect">
            <a:avLst/>
          </a:prstGeom>
          <a:noFill/>
          <a:ln w="14288">
            <a:solidFill>
              <a:srgbClr val="D4A017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381000"/>
            <a:ext cx="57150" cy="6096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6498" y="441008"/>
            <a:ext cx="49298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革命之路：从韶山到延安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880" y="92392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从青年觉醒到全党核心的确立</a:t>
            </a:r>
          </a:p>
        </p:txBody>
      </p:sp>
      <p:sp>
        <p:nvSpPr>
          <p:cNvPr id="15" name="Line 15"/>
          <p:cNvSpPr/>
          <p:nvPr/>
        </p:nvSpPr>
        <p:spPr>
          <a:xfrm>
            <a:off x="762000" y="1238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C88A58"/>
            </a:solidFill>
          </a:ln>
        </p:spPr>
      </p:sp>
      <p:sp>
        <p:nvSpPr>
          <p:cNvPr id="16" name="Line 16"/>
          <p:cNvSpPr/>
          <p:nvPr/>
        </p:nvSpPr>
        <p:spPr>
          <a:xfrm>
            <a:off x="762000" y="12668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</p:sp>
      <p:sp>
        <p:nvSpPr>
          <p:cNvPr id="17" name="Line 17"/>
          <p:cNvSpPr/>
          <p:nvPr/>
        </p:nvSpPr>
        <p:spPr>
          <a:xfrm>
            <a:off x="1333500" y="34290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38100">
            <a:gradFill>
              <a:gsLst>
                <a:gs pos="0">
                  <a:srgbClr val="D4A017"/>
                </a:gs>
                <a:gs pos="50000">
                  <a:srgbClr val="B91C1C"/>
                </a:gs>
                <a:gs pos="100000">
                  <a:srgbClr val="7F1D1D"/>
                </a:gs>
              </a:gsLst>
              <a:lin ang="0" scaled="1"/>
            </a:gradFill>
          </a:ln>
        </p:spPr>
      </p:sp>
      <p:sp>
        <p:nvSpPr>
          <p:cNvPr id="18" name="Polygon 18"/>
          <p:cNvSpPr/>
          <p:nvPr/>
        </p:nvSpPr>
        <p:spPr>
          <a:xfrm>
            <a:off x="1157288" y="3238500"/>
            <a:ext cx="352425" cy="333375"/>
          </a:xfrm>
          <a:custGeom>
            <a:avLst/>
            <a:gdLst/>
            <a:ahLst/>
            <a:cxnLst/>
            <a:rect l="l" t="t" r="r" b="b"/>
            <a:pathLst>
              <a:path w="352425" h="333375">
                <a:moveTo>
                  <a:pt x="176212" y="0"/>
                </a:moveTo>
                <a:lnTo>
                  <a:pt x="220980" y="124778"/>
                </a:lnTo>
                <a:lnTo>
                  <a:pt x="352425" y="124778"/>
                </a:lnTo>
                <a:lnTo>
                  <a:pt x="248602" y="204788"/>
                </a:lnTo>
                <a:lnTo>
                  <a:pt x="288608" y="333375"/>
                </a:lnTo>
                <a:lnTo>
                  <a:pt x="176212" y="252412"/>
                </a:lnTo>
                <a:lnTo>
                  <a:pt x="63817" y="333375"/>
                </a:lnTo>
                <a:lnTo>
                  <a:pt x="103823" y="204788"/>
                </a:lnTo>
                <a:lnTo>
                  <a:pt x="0" y="124778"/>
                </a:lnTo>
                <a:lnTo>
                  <a:pt x="131445" y="124778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</p:spPr>
      </p:sp>
      <p:sp>
        <p:nvSpPr>
          <p:cNvPr id="19" name="Polygon 19"/>
          <p:cNvSpPr/>
          <p:nvPr/>
        </p:nvSpPr>
        <p:spPr>
          <a:xfrm>
            <a:off x="10682288" y="3238500"/>
            <a:ext cx="352425" cy="333375"/>
          </a:xfrm>
          <a:custGeom>
            <a:avLst/>
            <a:gdLst/>
            <a:ahLst/>
            <a:cxnLst/>
            <a:rect l="l" t="t" r="r" b="b"/>
            <a:pathLst>
              <a:path w="352425" h="333375">
                <a:moveTo>
                  <a:pt x="176212" y="0"/>
                </a:moveTo>
                <a:lnTo>
                  <a:pt x="220980" y="124778"/>
                </a:lnTo>
                <a:lnTo>
                  <a:pt x="352425" y="124778"/>
                </a:lnTo>
                <a:lnTo>
                  <a:pt x="248602" y="204788"/>
                </a:lnTo>
                <a:lnTo>
                  <a:pt x="288607" y="333375"/>
                </a:lnTo>
                <a:lnTo>
                  <a:pt x="176212" y="252412"/>
                </a:lnTo>
                <a:lnTo>
                  <a:pt x="63818" y="333375"/>
                </a:lnTo>
                <a:lnTo>
                  <a:pt x="103823" y="204788"/>
                </a:lnTo>
                <a:lnTo>
                  <a:pt x="0" y="124778"/>
                </a:lnTo>
                <a:lnTo>
                  <a:pt x="131445" y="124778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2266950" y="3314700"/>
            <a:ext cx="228600" cy="228600"/>
          </a:xfrm>
          <a:prstGeom prst="ellipse">
            <a:avLst/>
          </a:prstGeom>
          <a:solidFill>
            <a:srgbClr val="FFF9F0"/>
          </a:solidFill>
          <a:ln w="28575">
            <a:solidFill>
              <a:srgbClr val="B91C1C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257425" y="3314700"/>
            <a:ext cx="247650" cy="235267"/>
          </a:xfrm>
          <a:custGeom>
            <a:avLst/>
            <a:gdLst/>
            <a:ahLst/>
            <a:cxnLst/>
            <a:rect l="l" t="t" r="r" b="b"/>
            <a:pathLst>
              <a:path w="247650" h="235267">
                <a:moveTo>
                  <a:pt x="123825" y="0"/>
                </a:moveTo>
                <a:lnTo>
                  <a:pt x="157162" y="87630"/>
                </a:lnTo>
                <a:lnTo>
                  <a:pt x="247650" y="87630"/>
                </a:lnTo>
                <a:lnTo>
                  <a:pt x="179070" y="144780"/>
                </a:lnTo>
                <a:lnTo>
                  <a:pt x="204788" y="235267"/>
                </a:lnTo>
                <a:lnTo>
                  <a:pt x="123825" y="179070"/>
                </a:lnTo>
                <a:lnTo>
                  <a:pt x="42862" y="235267"/>
                </a:lnTo>
                <a:lnTo>
                  <a:pt x="68580" y="144780"/>
                </a:lnTo>
                <a:lnTo>
                  <a:pt x="0" y="87630"/>
                </a:lnTo>
                <a:lnTo>
                  <a:pt x="90488" y="8763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238250" y="1333500"/>
            <a:ext cx="2286000" cy="1524000"/>
          </a:xfrm>
          <a:prstGeom prst="roundRect">
            <a:avLst>
              <a:gd name="adj" fmla="val 2500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1238250" y="1333500"/>
            <a:ext cx="2286000" cy="3619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785256" y="140017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9F0"/>
                </a:solidFill>
                <a:latin typeface="Arial"/>
                <a:ea typeface="Arial"/>
                <a:cs typeface="Arial"/>
              </a:rPr>
              <a:t>1919 – 1927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7023" y="1767364"/>
            <a:ext cx="22296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求学长沙 · 建党 · 秋收起义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7785" y="2050256"/>
            <a:ext cx="13744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领导秋收起义，开辟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7785" y="2259806"/>
            <a:ext cx="13744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井冈山革命根据地，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7785" y="2469356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创立工农武装割据思想</a:t>
            </a:r>
          </a:p>
        </p:txBody>
      </p:sp>
      <p:sp>
        <p:nvSpPr>
          <p:cNvPr id="29" name="Line 29"/>
          <p:cNvSpPr/>
          <p:nvPr/>
        </p:nvSpPr>
        <p:spPr>
          <a:xfrm>
            <a:off x="2381250" y="28575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4288">
            <a:solidFill>
              <a:srgbClr val="C88A58"/>
            </a:solidFill>
            <a:custDash>
              <a:ds d="266666" sp="200000"/>
            </a:custDash>
          </a:ln>
        </p:spPr>
      </p:sp>
      <p:sp>
        <p:nvSpPr>
          <p:cNvPr id="30" name="Ellipse 30"/>
          <p:cNvSpPr/>
          <p:nvPr/>
        </p:nvSpPr>
        <p:spPr>
          <a:xfrm>
            <a:off x="5505450" y="3314700"/>
            <a:ext cx="228600" cy="228600"/>
          </a:xfrm>
          <a:prstGeom prst="ellipse">
            <a:avLst/>
          </a:prstGeom>
          <a:solidFill>
            <a:srgbClr val="FFF9F0"/>
          </a:solidFill>
          <a:ln w="28575">
            <a:solidFill>
              <a:srgbClr val="B91C1C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5495925" y="3314700"/>
            <a:ext cx="247650" cy="235267"/>
          </a:xfrm>
          <a:custGeom>
            <a:avLst/>
            <a:gdLst/>
            <a:ahLst/>
            <a:cxnLst/>
            <a:rect l="l" t="t" r="r" b="b"/>
            <a:pathLst>
              <a:path w="247650" h="235267">
                <a:moveTo>
                  <a:pt x="123825" y="0"/>
                </a:moveTo>
                <a:lnTo>
                  <a:pt x="157162" y="87630"/>
                </a:lnTo>
                <a:lnTo>
                  <a:pt x="247650" y="87630"/>
                </a:lnTo>
                <a:lnTo>
                  <a:pt x="179070" y="144780"/>
                </a:lnTo>
                <a:lnTo>
                  <a:pt x="204788" y="235267"/>
                </a:lnTo>
                <a:lnTo>
                  <a:pt x="123825" y="179070"/>
                </a:lnTo>
                <a:lnTo>
                  <a:pt x="42862" y="235267"/>
                </a:lnTo>
                <a:lnTo>
                  <a:pt x="68580" y="144780"/>
                </a:lnTo>
                <a:lnTo>
                  <a:pt x="0" y="87630"/>
                </a:lnTo>
                <a:lnTo>
                  <a:pt x="90488" y="8763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4476750" y="3905250"/>
            <a:ext cx="2286000" cy="1524000"/>
          </a:xfrm>
          <a:prstGeom prst="roundRect">
            <a:avLst>
              <a:gd name="adj" fmla="val 2500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476750" y="3905250"/>
            <a:ext cx="2286000" cy="361950"/>
          </a:xfrm>
          <a:prstGeom prst="rect">
            <a:avLst/>
          </a:prstGeom>
          <a:solidFill>
            <a:srgbClr val="7F1D1D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023756" y="39719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9F0"/>
                </a:solidFill>
                <a:latin typeface="Arial"/>
                <a:ea typeface="Arial"/>
                <a:cs typeface="Arial"/>
              </a:rPr>
              <a:t>1934 – 1935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65523" y="4320064"/>
            <a:ext cx="22296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长征 · 遵义会议 · 伟大转折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66285" y="4602956"/>
            <a:ext cx="1677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遵义会议确立正确领导，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66285" y="4812506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挽救了党和红军，成为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66285" y="5022056"/>
            <a:ext cx="1980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中共历史上生死攸关的转折点</a:t>
            </a:r>
          </a:p>
        </p:txBody>
      </p:sp>
      <p:sp>
        <p:nvSpPr>
          <p:cNvPr id="39" name="Line 39"/>
          <p:cNvSpPr/>
          <p:nvPr/>
        </p:nvSpPr>
        <p:spPr>
          <a:xfrm>
            <a:off x="5619750" y="3543300"/>
            <a:ext cx="9525" cy="361950"/>
          </a:xfrm>
          <a:custGeom>
            <a:avLst/>
            <a:gdLst/>
            <a:ahLst/>
            <a:cxnLst/>
            <a:rect l="l" t="t" r="r" b="b"/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14288">
            <a:solidFill>
              <a:srgbClr val="C88A58"/>
            </a:solidFill>
            <a:custDash>
              <a:ds d="266666" sp="200000"/>
            </a:custDash>
          </a:ln>
        </p:spPr>
      </p:sp>
      <p:sp>
        <p:nvSpPr>
          <p:cNvPr id="40" name="Ellipse 40"/>
          <p:cNvSpPr/>
          <p:nvPr/>
        </p:nvSpPr>
        <p:spPr>
          <a:xfrm>
            <a:off x="8743950" y="3314700"/>
            <a:ext cx="228600" cy="228600"/>
          </a:xfrm>
          <a:prstGeom prst="ellipse">
            <a:avLst/>
          </a:prstGeom>
          <a:solidFill>
            <a:srgbClr val="FFF9F0"/>
          </a:solidFill>
          <a:ln w="28575">
            <a:solidFill>
              <a:srgbClr val="B91C1C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8734425" y="3314700"/>
            <a:ext cx="247650" cy="235267"/>
          </a:xfrm>
          <a:custGeom>
            <a:avLst/>
            <a:gdLst/>
            <a:ahLst/>
            <a:cxnLst/>
            <a:rect l="l" t="t" r="r" b="b"/>
            <a:pathLst>
              <a:path w="247650" h="235267">
                <a:moveTo>
                  <a:pt x="123825" y="0"/>
                </a:moveTo>
                <a:lnTo>
                  <a:pt x="157162" y="87630"/>
                </a:lnTo>
                <a:lnTo>
                  <a:pt x="247650" y="87630"/>
                </a:lnTo>
                <a:lnTo>
                  <a:pt x="179070" y="144780"/>
                </a:lnTo>
                <a:lnTo>
                  <a:pt x="204788" y="235267"/>
                </a:lnTo>
                <a:lnTo>
                  <a:pt x="123825" y="179070"/>
                </a:lnTo>
                <a:lnTo>
                  <a:pt x="42862" y="235267"/>
                </a:lnTo>
                <a:lnTo>
                  <a:pt x="68580" y="144780"/>
                </a:lnTo>
                <a:lnTo>
                  <a:pt x="0" y="87630"/>
                </a:lnTo>
                <a:lnTo>
                  <a:pt x="90488" y="8763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7715250" y="1333500"/>
            <a:ext cx="2667000" cy="1524000"/>
          </a:xfrm>
          <a:prstGeom prst="roundRect">
            <a:avLst>
              <a:gd name="adj" fmla="val 2500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7715250" y="1333500"/>
            <a:ext cx="2667000" cy="361950"/>
          </a:xfrm>
          <a:prstGeom prst="rect">
            <a:avLst/>
          </a:prstGeom>
          <a:solidFill>
            <a:srgbClr val="8B1E1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52756" y="140017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9F0"/>
                </a:solidFill>
                <a:latin typeface="Arial"/>
                <a:ea typeface="Arial"/>
                <a:cs typeface="Arial"/>
              </a:rPr>
              <a:t>1942 – 1945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804023" y="1767364"/>
            <a:ext cx="25901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延安整风 · 中共七大 · 思想确立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04785" y="2050256"/>
            <a:ext cx="1677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中共七大确立毛泽东思想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04785" y="2259806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为中国共产党的指导思想，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804785" y="2469356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奠定了全党思想统一的理论基础</a:t>
            </a:r>
          </a:p>
        </p:txBody>
      </p:sp>
      <p:sp>
        <p:nvSpPr>
          <p:cNvPr id="49" name="Line 49"/>
          <p:cNvSpPr/>
          <p:nvPr/>
        </p:nvSpPr>
        <p:spPr>
          <a:xfrm>
            <a:off x="8858250" y="28575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4288">
            <a:solidFill>
              <a:srgbClr val="C88A58"/>
            </a:solidFill>
            <a:custDash>
              <a:ds d="266666" sp="200000"/>
            </a:custDash>
          </a:ln>
        </p:spPr>
      </p:sp>
      <p:sp>
        <p:nvSpPr>
          <p:cNvPr id="50" name="Polygon 50"/>
          <p:cNvSpPr/>
          <p:nvPr/>
        </p:nvSpPr>
        <p:spPr>
          <a:xfrm>
            <a:off x="762000" y="4762500"/>
            <a:ext cx="11430000" cy="2095500"/>
          </a:xfrm>
          <a:custGeom>
            <a:avLst/>
            <a:gdLst/>
            <a:ahLst/>
            <a:cxnLst/>
            <a:rect l="l" t="t" r="r" b="b"/>
            <a:pathLst>
              <a:path w="11430000" h="2095500">
                <a:moveTo>
                  <a:pt x="0" y="1714500"/>
                </a:moveTo>
                <a:lnTo>
                  <a:pt x="1143000" y="571500"/>
                </a:lnTo>
                <a:lnTo>
                  <a:pt x="1905000" y="1333500"/>
                </a:lnTo>
                <a:lnTo>
                  <a:pt x="2857500" y="476250"/>
                </a:lnTo>
                <a:lnTo>
                  <a:pt x="3619500" y="1143000"/>
                </a:lnTo>
                <a:lnTo>
                  <a:pt x="4572000" y="381000"/>
                </a:lnTo>
                <a:lnTo>
                  <a:pt x="5524500" y="952500"/>
                </a:lnTo>
                <a:lnTo>
                  <a:pt x="6667500" y="190500"/>
                </a:lnTo>
                <a:lnTo>
                  <a:pt x="7620000" y="762000"/>
                </a:lnTo>
                <a:lnTo>
                  <a:pt x="8572500" y="0"/>
                </a:lnTo>
                <a:lnTo>
                  <a:pt x="9525000" y="571500"/>
                </a:lnTo>
                <a:lnTo>
                  <a:pt x="10477500" y="95250"/>
                </a:lnTo>
                <a:lnTo>
                  <a:pt x="11430000" y="762000"/>
                </a:lnTo>
                <a:lnTo>
                  <a:pt x="11430000" y="2095500"/>
                </a:lnTo>
                <a:lnTo>
                  <a:pt x="0" y="2095500"/>
                </a:lnTo>
                <a:close/>
              </a:path>
            </a:pathLst>
          </a:custGeom>
          <a:solidFill>
            <a:srgbClr val="7F1D1D">
              <a:alpha val="8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8096250" y="5334000"/>
            <a:ext cx="381000" cy="762000"/>
          </a:xfrm>
          <a:prstGeom prst="roundRect">
            <a:avLst>
              <a:gd name="adj" fmla="val 5000"/>
            </a:avLst>
          </a:prstGeom>
          <a:solidFill>
            <a:srgbClr val="B91C1C">
              <a:alpha val="15000"/>
            </a:srgbClr>
          </a:solidFill>
          <a:ln>
            <a:noFill/>
          </a:ln>
        </p:spPr>
      </p:sp>
      <p:sp>
        <p:nvSpPr>
          <p:cNvPr id="52" name="Polygon 52"/>
          <p:cNvSpPr/>
          <p:nvPr/>
        </p:nvSpPr>
        <p:spPr>
          <a:xfrm>
            <a:off x="8096250" y="495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381000"/>
                </a:moveTo>
                <a:lnTo>
                  <a:pt x="190500" y="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B91C1C">
              <a:alpha val="15000"/>
            </a:srgbClr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8143875" y="5143500"/>
            <a:ext cx="95250" cy="952500"/>
          </a:xfrm>
          <a:prstGeom prst="rect">
            <a:avLst/>
          </a:pr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952500" y="5429250"/>
            <a:ext cx="666750" cy="476250"/>
          </a:xfrm>
          <a:prstGeom prst="roundRect">
            <a:avLst>
              <a:gd name="adj" fmla="val 4000"/>
            </a:avLst>
          </a:prstGeom>
          <a:solidFill>
            <a:srgbClr val="F3E3D3">
              <a:alpha val="50000"/>
            </a:srgbClr>
          </a:solidFill>
          <a:ln w="9525">
            <a:solidFill>
              <a:srgbClr val="C88A58">
                <a:alpha val="50000"/>
              </a:srgbClr>
            </a:solidFill>
          </a:ln>
        </p:spPr>
      </p:sp>
      <p:sp>
        <p:nvSpPr>
          <p:cNvPr id="55" name="Polygon 55"/>
          <p:cNvSpPr/>
          <p:nvPr/>
        </p:nvSpPr>
        <p:spPr>
          <a:xfrm>
            <a:off x="952500" y="5095875"/>
            <a:ext cx="666750" cy="333375"/>
          </a:xfrm>
          <a:custGeom>
            <a:avLst/>
            <a:gdLst/>
            <a:ahLst/>
            <a:cxnLst/>
            <a:rect l="l" t="t" r="r" b="b"/>
            <a:pathLst>
              <a:path w="666750" h="333375">
                <a:moveTo>
                  <a:pt x="0" y="333375"/>
                </a:moveTo>
                <a:lnTo>
                  <a:pt x="333375" y="0"/>
                </a:lnTo>
                <a:lnTo>
                  <a:pt x="666750" y="333375"/>
                </a:lnTo>
                <a:close/>
              </a:path>
            </a:pathLst>
          </a:custGeom>
          <a:solidFill>
            <a:srgbClr val="F3E3D3">
              <a:alpha val="50000"/>
            </a:srgbClr>
          </a:solidFill>
          <a:ln w="9525">
            <a:solidFill>
              <a:srgbClr val="C88A58">
                <a:alpha val="50000"/>
              </a:srgbClr>
            </a:solidFill>
          </a:ln>
        </p:spPr>
      </p:sp>
      <p:sp>
        <p:nvSpPr>
          <p:cNvPr id="56" name="Line 56"/>
          <p:cNvSpPr/>
          <p:nvPr/>
        </p:nvSpPr>
        <p:spPr>
          <a:xfrm>
            <a:off x="1000125" y="476250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3333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91C1C">
                <a:alpha val="30000"/>
              </a:srgbClr>
            </a:solidFill>
          </a:ln>
        </p:spPr>
      </p:sp>
      <p:sp>
        <p:nvSpPr>
          <p:cNvPr id="57" name="Polygon 57"/>
          <p:cNvSpPr/>
          <p:nvPr/>
        </p:nvSpPr>
        <p:spPr>
          <a:xfrm>
            <a:off x="1000125" y="4781550"/>
            <a:ext cx="333375" cy="219075"/>
          </a:xfrm>
          <a:custGeom>
            <a:avLst/>
            <a:gdLst/>
            <a:ahLst/>
            <a:cxnLst/>
            <a:rect l="l" t="t" r="r" b="b"/>
            <a:pathLst>
              <a:path w="333375" h="219075">
                <a:moveTo>
                  <a:pt x="0" y="0"/>
                </a:moveTo>
                <a:lnTo>
                  <a:pt x="333375" y="95250"/>
                </a:lnTo>
                <a:lnTo>
                  <a:pt x="0" y="219075"/>
                </a:lnTo>
                <a:close/>
              </a:path>
            </a:pathLst>
          </a:custGeom>
          <a:solidFill>
            <a:srgbClr val="B91C1C">
              <a:alpha val="30000"/>
            </a:srgbClr>
          </a:solidFill>
          <a:ln>
            <a:noFill/>
          </a:ln>
        </p:spPr>
      </p:sp>
      <p:sp>
        <p:nvSpPr>
          <p:cNvPr id="58" name="Line 58"/>
          <p:cNvSpPr/>
          <p:nvPr/>
        </p:nvSpPr>
        <p:spPr>
          <a:xfrm>
            <a:off x="762000" y="6286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7620">
            <a:solidFill>
              <a:srgbClr val="C88A58">
                <a:alpha val="40000"/>
              </a:srgbClr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758374" y="6458902"/>
            <a:ext cx="46752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4B43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从走出韶山到创建井冈山根据地，历经长征磨难，在延安奠定全党指导思想</a:t>
            </a:r>
          </a:p>
        </p:txBody>
      </p:sp>
      <p:sp>
        <p:nvSpPr>
          <p:cNvPr id="60" name="Rectangle 60"/>
          <p:cNvSpPr/>
          <p:nvPr/>
        </p:nvSpPr>
        <p:spPr>
          <a:xfrm>
            <a:off x="381000" y="381000"/>
            <a:ext cx="190500" cy="19050"/>
          </a:xfrm>
          <a:prstGeom prst="rect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381000" y="438150"/>
            <a:ext cx="114300" cy="19050"/>
          </a:xfrm>
          <a:prstGeom prst="rect">
            <a:avLst/>
          </a:prstGeom>
          <a:solidFill>
            <a:srgbClr val="B91C1C">
              <a:alpha val="6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0E6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285750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1714500"/>
                </a:moveTo>
                <a:lnTo>
                  <a:pt x="12192000" y="0"/>
                </a:lnTo>
                <a:lnTo>
                  <a:pt x="12192000" y="4000500"/>
                </a:lnTo>
                <a:lnTo>
                  <a:pt x="0" y="4000500"/>
                </a:lnTo>
                <a:close/>
              </a:path>
            </a:pathLst>
          </a:custGeom>
          <a:solidFill>
            <a:srgbClr val="F3E3D3">
              <a:alpha val="50000"/>
            </a:srgbClr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3619500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524000"/>
                </a:moveTo>
                <a:lnTo>
                  <a:pt x="12192000" y="0"/>
                </a:lnTo>
                <a:lnTo>
                  <a:pt x="12192000" y="3238500"/>
                </a:lnTo>
                <a:lnTo>
                  <a:pt x="0" y="3238500"/>
                </a:lnTo>
                <a:close/>
              </a:path>
            </a:pathLst>
          </a:custGeom>
          <a:solidFill>
            <a:srgbClr val="8B1E1E">
              <a:alpha val="8000"/>
            </a:srgbClr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762000" y="762000"/>
            <a:ext cx="1333500" cy="952500"/>
          </a:xfrm>
          <a:custGeom>
            <a:avLst/>
            <a:gdLst/>
            <a:ahLst/>
            <a:cxnLst/>
            <a:rect l="l" t="t" r="r" b="b"/>
            <a:pathLst>
              <a:path w="1333500" h="952500">
                <a:moveTo>
                  <a:pt x="0" y="0"/>
                </a:moveTo>
                <a:lnTo>
                  <a:pt x="1333500" y="952500"/>
                </a:lnTo>
              </a:path>
            </a:pathLst>
          </a:custGeom>
          <a:noFill/>
          <a:ln w="19050">
            <a:solidFill>
              <a:srgbClr val="D4A017">
                <a:alpha val="25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762000" y="762000"/>
            <a:ext cx="1047750" cy="381000"/>
          </a:xfrm>
          <a:custGeom>
            <a:avLst/>
            <a:gdLst/>
            <a:ahLst/>
            <a:cxnLst/>
            <a:rect l="l" t="t" r="r" b="b"/>
            <a:pathLst>
              <a:path w="1047750" h="381000">
                <a:moveTo>
                  <a:pt x="0" y="0"/>
                </a:moveTo>
                <a:lnTo>
                  <a:pt x="1047750" y="381000"/>
                </a:lnTo>
              </a:path>
            </a:pathLst>
          </a:custGeom>
          <a:noFill/>
          <a:ln w="14288">
            <a:solidFill>
              <a:srgbClr val="D4A017">
                <a:alpha val="2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762000" y="762000"/>
            <a:ext cx="1619250" cy="762000"/>
          </a:xfrm>
          <a:custGeom>
            <a:avLst/>
            <a:gdLst/>
            <a:ahLst/>
            <a:cxnLst/>
            <a:rect l="l" t="t" r="r" b="b"/>
            <a:pathLst>
              <a:path w="1619250" h="762000">
                <a:moveTo>
                  <a:pt x="0" y="0"/>
                </a:moveTo>
                <a:lnTo>
                  <a:pt x="1619250" y="762000"/>
                </a:lnTo>
              </a:path>
            </a:pathLst>
          </a:custGeom>
          <a:noFill/>
          <a:ln w="9525">
            <a:solidFill>
              <a:srgbClr val="D4A017">
                <a:alpha val="15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762000" y="7620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857250"/>
                </a:lnTo>
              </a:path>
            </a:pathLst>
          </a:custGeom>
          <a:noFill/>
          <a:ln w="19050">
            <a:solidFill>
              <a:srgbClr val="D4A017">
                <a:alpha val="20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762000" y="762000"/>
            <a:ext cx="1238250" cy="476250"/>
          </a:xfrm>
          <a:custGeom>
            <a:avLst/>
            <a:gdLst/>
            <a:ahLst/>
            <a:cxnLst/>
            <a:rect l="l" t="t" r="r" b="b"/>
            <a:pathLst>
              <a:path w="1238250" h="476250">
                <a:moveTo>
                  <a:pt x="0" y="0"/>
                </a:moveTo>
                <a:lnTo>
                  <a:pt x="1238250" y="476250"/>
                </a:lnTo>
              </a:path>
            </a:pathLst>
          </a:custGeom>
          <a:noFill/>
          <a:ln w="9525">
            <a:solidFill>
              <a:srgbClr val="D4A017">
                <a:alpha val="18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90500" y="3810000"/>
            <a:ext cx="2286000" cy="2286000"/>
          </a:xfrm>
          <a:prstGeom prst="ellipse">
            <a:avLst/>
          </a:prstGeom>
          <a:gradFill>
            <a:gsLst>
              <a:gs pos="0">
                <a:srgbClr val="D4A017">
                  <a:alpha val="20000"/>
                </a:srgbClr>
              </a:gs>
              <a:gs pos="100000">
                <a:srgbClr val="F7F0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714375" y="4333875"/>
            <a:ext cx="1238250" cy="1238250"/>
          </a:xfrm>
          <a:prstGeom prst="ellipse">
            <a:avLst/>
          </a:prstGeom>
          <a:solidFill>
            <a:srgbClr val="B91C1C">
              <a:alpha val="4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" y="4552950"/>
            <a:ext cx="800100" cy="800100"/>
          </a:xfrm>
          <a:prstGeom prst="ellipse">
            <a:avLst/>
          </a:prstGeom>
          <a:solidFill>
            <a:srgbClr val="D4A017">
              <a:alpha val="3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619500" y="742950"/>
            <a:ext cx="4953000" cy="3238500"/>
          </a:xfrm>
          <a:prstGeom prst="rect">
            <a:avLst/>
          </a:prstGeom>
          <a:solidFill>
            <a:srgbClr val="FFF9F0"/>
          </a:solidFill>
          <a:ln w="28575">
            <a:solidFill>
              <a:srgbClr val="C88A5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695700" y="819150"/>
            <a:ext cx="4800600" cy="3086100"/>
          </a:xfrm>
          <a:prstGeom prst="rect">
            <a:avLst/>
          </a:prstGeom>
          <a:solidFill>
            <a:srgbClr val="F3E3D3">
              <a:alpha val="5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381500" y="1428750"/>
            <a:ext cx="3429000" cy="1714500"/>
          </a:xfrm>
          <a:prstGeom prst="rect">
            <a:avLst/>
          </a:prstGeom>
          <a:solidFill>
            <a:srgbClr val="8B1E1E">
              <a:alpha val="15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762500" y="1619250"/>
            <a:ext cx="2667000" cy="1333500"/>
          </a:xfrm>
          <a:prstGeom prst="rect">
            <a:avLst/>
          </a:prstGeom>
          <a:solidFill>
            <a:srgbClr val="8B1E1E">
              <a:alpha val="8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953000" y="1619250"/>
            <a:ext cx="152400" cy="1333500"/>
          </a:xfrm>
          <a:prstGeom prst="rect">
            <a:avLst/>
          </a:prstGeom>
          <a:solidFill>
            <a:srgbClr val="7F1D1D">
              <a:alpha val="2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429250" y="1619250"/>
            <a:ext cx="152400" cy="1333500"/>
          </a:xfrm>
          <a:prstGeom prst="rect">
            <a:avLst/>
          </a:prstGeom>
          <a:solidFill>
            <a:srgbClr val="7F1D1D">
              <a:alpha val="2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572250" y="1619250"/>
            <a:ext cx="152400" cy="1333500"/>
          </a:xfrm>
          <a:prstGeom prst="rect">
            <a:avLst/>
          </a:prstGeom>
          <a:solidFill>
            <a:srgbClr val="7F1D1D">
              <a:alpha val="20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048500" y="1619250"/>
            <a:ext cx="152400" cy="1333500"/>
          </a:xfrm>
          <a:prstGeom prst="rect">
            <a:avLst/>
          </a:prstGeom>
          <a:solidFill>
            <a:srgbClr val="7F1D1D">
              <a:alpha val="20000"/>
            </a:srgbClr>
          </a:solidFill>
          <a:ln>
            <a:noFill/>
          </a:ln>
        </p:spPr>
      </p:sp>
      <p:sp>
        <p:nvSpPr>
          <p:cNvPr id="21" name="Polygon 21"/>
          <p:cNvSpPr/>
          <p:nvPr/>
        </p:nvSpPr>
        <p:spPr>
          <a:xfrm>
            <a:off x="4762500" y="1143000"/>
            <a:ext cx="2667000" cy="476250"/>
          </a:xfrm>
          <a:custGeom>
            <a:avLst/>
            <a:gdLst/>
            <a:ahLst/>
            <a:cxnLst/>
            <a:rect l="l" t="t" r="r" b="b"/>
            <a:pathLst>
              <a:path w="2667000" h="476250">
                <a:moveTo>
                  <a:pt x="0" y="476250"/>
                </a:moveTo>
                <a:lnTo>
                  <a:pt x="1333500" y="0"/>
                </a:lnTo>
                <a:lnTo>
                  <a:pt x="2667000" y="476250"/>
                </a:lnTo>
                <a:close/>
              </a:path>
            </a:pathLst>
          </a:custGeom>
          <a:solidFill>
            <a:srgbClr val="7F1D1D">
              <a:alpha val="25000"/>
            </a:srgbClr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6096000" y="7620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noFill/>
          <a:ln w="23812">
            <a:solidFill>
              <a:srgbClr val="B91C1C">
                <a:alpha val="40000"/>
              </a:srgbClr>
            </a:solidFill>
          </a:ln>
        </p:spPr>
      </p:sp>
      <p:sp>
        <p:nvSpPr>
          <p:cNvPr id="23" name="Polygon 23"/>
          <p:cNvSpPr/>
          <p:nvPr/>
        </p:nvSpPr>
        <p:spPr>
          <a:xfrm>
            <a:off x="6096000" y="7620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0" y="0"/>
                </a:moveTo>
                <a:lnTo>
                  <a:pt x="2857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B91C1C">
              <a:alpha val="35000"/>
            </a:srgbClr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3695700" y="819150"/>
            <a:ext cx="2400300" cy="323850"/>
          </a:xfrm>
          <a:custGeom>
            <a:avLst/>
            <a:gdLst/>
            <a:ahLst/>
            <a:cxnLst/>
            <a:rect l="l" t="t" r="r" b="b"/>
            <a:pathLst>
              <a:path w="2400300" h="323850">
                <a:moveTo>
                  <a:pt x="2400300" y="3238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4A017">
                <a:alpha val="1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6096000" y="819150"/>
            <a:ext cx="2400300" cy="323850"/>
          </a:xfrm>
          <a:custGeom>
            <a:avLst/>
            <a:gdLst/>
            <a:ahLst/>
            <a:cxnLst/>
            <a:rect l="l" t="t" r="r" b="b"/>
            <a:pathLst>
              <a:path w="2400300" h="323850">
                <a:moveTo>
                  <a:pt x="0" y="323850"/>
                </a:moveTo>
                <a:lnTo>
                  <a:pt x="2400300" y="0"/>
                </a:lnTo>
              </a:path>
            </a:pathLst>
          </a:custGeom>
          <a:noFill/>
          <a:ln w="9525">
            <a:solidFill>
              <a:srgbClr val="D4A017">
                <a:alpha val="1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3695700" y="1143000"/>
            <a:ext cx="2400300" cy="2762250"/>
          </a:xfrm>
          <a:custGeom>
            <a:avLst/>
            <a:gdLst/>
            <a:ahLst/>
            <a:cxnLst/>
            <a:rect l="l" t="t" r="r" b="b"/>
            <a:pathLst>
              <a:path w="2400300" h="2762250">
                <a:moveTo>
                  <a:pt x="2400300" y="0"/>
                </a:moveTo>
                <a:lnTo>
                  <a:pt x="0" y="2762250"/>
                </a:lnTo>
              </a:path>
            </a:pathLst>
          </a:custGeom>
          <a:noFill/>
          <a:ln w="9525">
            <a:solidFill>
              <a:srgbClr val="D4A017">
                <a:alpha val="10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6096000" y="1143000"/>
            <a:ext cx="2400300" cy="2762250"/>
          </a:xfrm>
          <a:custGeom>
            <a:avLst/>
            <a:gdLst/>
            <a:ahLst/>
            <a:cxnLst/>
            <a:rect l="l" t="t" r="r" b="b"/>
            <a:pathLst>
              <a:path w="2400300" h="2762250">
                <a:moveTo>
                  <a:pt x="0" y="0"/>
                </a:moveTo>
                <a:lnTo>
                  <a:pt x="2400300" y="2762250"/>
                </a:lnTo>
              </a:path>
            </a:pathLst>
          </a:custGeom>
          <a:noFill/>
          <a:ln w="9525">
            <a:solidFill>
              <a:srgbClr val="D4A017">
                <a:alpha val="1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189799" y="1988820"/>
            <a:ext cx="1812402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B91C1C">
                    <a:alphaMod val="25000"/>
                  </a:srgbClr>
                </a:solidFill>
                <a:latin typeface="Georgia"/>
                <a:ea typeface="Georgia"/>
                <a:cs typeface="Georgia"/>
              </a:rPr>
              <a:t>1949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905750" y="3429000"/>
            <a:ext cx="457200" cy="457200"/>
          </a:xfrm>
          <a:prstGeom prst="rect">
            <a:avLst/>
          </a:prstGeom>
          <a:noFill/>
          <a:ln w="23812">
            <a:solidFill>
              <a:srgbClr val="B91C1C">
                <a:alpha val="6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925867" y="3588068"/>
            <a:ext cx="4169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91C1C">
                    <a:alphaMod val="70000"/>
                  </a:srgbClr>
                </a:solidFill>
                <a:latin typeface="Georgia"/>
                <a:ea typeface="SimSun"/>
                <a:cs typeface="Georgia"/>
              </a:rPr>
              <a:t>开国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953500" y="742950"/>
            <a:ext cx="2857500" cy="3238500"/>
          </a:xfrm>
          <a:prstGeom prst="rect">
            <a:avLst/>
          </a:prstGeom>
          <a:solidFill>
            <a:srgbClr val="8B1E1E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953500" y="742950"/>
            <a:ext cx="76200" cy="32385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8953500" y="742950"/>
            <a:ext cx="2857500" cy="38100"/>
          </a:xfrm>
          <a:prstGeom prst="rect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166347" y="930592"/>
            <a:ext cx="4318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66347" y="1425892"/>
            <a:ext cx="4318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造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66347" y="1921192"/>
            <a:ext cx="4318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66347" y="2416492"/>
            <a:ext cx="4318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中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66347" y="2911792"/>
            <a:ext cx="4318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国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429750" y="3619500"/>
            <a:ext cx="762000" cy="266700"/>
          </a:xfrm>
          <a:prstGeom prst="rect">
            <a:avLst/>
          </a:prstGeom>
          <a:noFill/>
          <a:ln w="19050">
            <a:solidFill>
              <a:srgbClr val="D4A017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384982" y="3688556"/>
            <a:ext cx="8515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4A017"/>
                </a:solidFill>
                <a:latin typeface="Georgia"/>
                <a:ea typeface="SimSun"/>
                <a:cs typeface="Georgia"/>
              </a:rPr>
              <a:t>共和国基石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4572000"/>
            <a:ext cx="2428875" cy="1905000"/>
          </a:xfrm>
          <a:prstGeom prst="rect">
            <a:avLst/>
          </a:prstGeom>
          <a:solidFill>
            <a:srgbClr val="FFF9F0"/>
          </a:solidFill>
          <a:ln w="19050">
            <a:solidFill>
              <a:srgbClr val="C88A5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71500" y="4572000"/>
            <a:ext cx="2428875" cy="571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3" name="Polygon 43"/>
          <p:cNvSpPr/>
          <p:nvPr/>
        </p:nvSpPr>
        <p:spPr>
          <a:xfrm>
            <a:off x="714375" y="4572000"/>
            <a:ext cx="285750" cy="333375"/>
          </a:xfrm>
          <a:custGeom>
            <a:avLst/>
            <a:gdLst/>
            <a:ahLst/>
            <a:cxnLst/>
            <a:rect l="l" t="t" r="r" b="b"/>
            <a:pathLst>
              <a:path w="285750" h="333375">
                <a:moveTo>
                  <a:pt x="142875" y="333375"/>
                </a:moveTo>
                <a:lnTo>
                  <a:pt x="190500" y="190500"/>
                </a:lnTo>
                <a:lnTo>
                  <a:pt x="285750" y="190500"/>
                </a:lnTo>
                <a:lnTo>
                  <a:pt x="209550" y="114300"/>
                </a:lnTo>
                <a:lnTo>
                  <a:pt x="238125" y="0"/>
                </a:lnTo>
                <a:lnTo>
                  <a:pt x="142875" y="57150"/>
                </a:lnTo>
                <a:lnTo>
                  <a:pt x="47625" y="0"/>
                </a:lnTo>
                <a:lnTo>
                  <a:pt x="76200" y="114300"/>
                </a:lnTo>
                <a:lnTo>
                  <a:pt x="0" y="190500"/>
                </a:lnTo>
                <a:lnTo>
                  <a:pt x="95250" y="190500"/>
                </a:lnTo>
                <a:close/>
              </a:path>
            </a:pathLst>
          </a:custGeom>
          <a:solidFill>
            <a:srgbClr val="D4A017">
              <a:alpha val="80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135380" y="4791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三大战役</a:t>
            </a:r>
          </a:p>
        </p:txBody>
      </p:sp>
      <p:sp>
        <p:nvSpPr>
          <p:cNvPr id="45" name="Line 45"/>
          <p:cNvSpPr/>
          <p:nvPr/>
        </p:nvSpPr>
        <p:spPr>
          <a:xfrm>
            <a:off x="714375" y="5095875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4288">
            <a:solidFill>
              <a:srgbClr val="D4A017">
                <a:alpha val="6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08660" y="5260181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辽沈、淮海、平津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08660" y="5479256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三大战役决胜千里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8660" y="5698331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渡江作战席卷全国</a:t>
            </a:r>
          </a:p>
        </p:txBody>
      </p:sp>
      <p:sp>
        <p:nvSpPr>
          <p:cNvPr id="49" name="Rectangle 49"/>
          <p:cNvSpPr/>
          <p:nvPr/>
        </p:nvSpPr>
        <p:spPr>
          <a:xfrm>
            <a:off x="3333750" y="4572000"/>
            <a:ext cx="2428875" cy="1905000"/>
          </a:xfrm>
          <a:prstGeom prst="rect">
            <a:avLst/>
          </a:prstGeom>
          <a:solidFill>
            <a:srgbClr val="FFF9F0"/>
          </a:solidFill>
          <a:ln w="19050">
            <a:solidFill>
              <a:srgbClr val="C88A58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3333750" y="4572000"/>
            <a:ext cx="2428875" cy="571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3505200" y="4648200"/>
            <a:ext cx="228600" cy="228600"/>
          </a:xfrm>
          <a:prstGeom prst="ellipse">
            <a:avLst/>
          </a:prstGeom>
          <a:noFill/>
          <a:ln w="19050">
            <a:solidFill>
              <a:srgbClr val="D4A017">
                <a:alpha val="70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3878580" y="4791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开国大典</a:t>
            </a:r>
          </a:p>
        </p:txBody>
      </p:sp>
      <p:sp>
        <p:nvSpPr>
          <p:cNvPr id="53" name="Line 53"/>
          <p:cNvSpPr/>
          <p:nvPr/>
        </p:nvSpPr>
        <p:spPr>
          <a:xfrm>
            <a:off x="3476625" y="5095875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4288">
            <a:solidFill>
              <a:srgbClr val="D4A017">
                <a:alpha val="60000"/>
              </a:srgbClr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3470910" y="5260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1949年10月1日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470910" y="5479256"/>
            <a:ext cx="10715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天安门庄严宣告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470910" y="5698331"/>
            <a:ext cx="10715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新中国正式成立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4572000"/>
            <a:ext cx="2428875" cy="1905000"/>
          </a:xfrm>
          <a:prstGeom prst="rect">
            <a:avLst/>
          </a:prstGeom>
          <a:solidFill>
            <a:srgbClr val="FFF9F0"/>
          </a:solidFill>
          <a:ln w="19050">
            <a:solidFill>
              <a:srgbClr val="C88A58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6096000" y="4572000"/>
            <a:ext cx="2428875" cy="571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9" name="Freeform 59"/>
          <p:cNvSpPr/>
          <p:nvPr/>
        </p:nvSpPr>
        <p:spPr>
          <a:xfrm>
            <a:off x="6381750" y="4667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0" y="95250"/>
                </a:moveTo>
                <a:lnTo>
                  <a:pt x="95250" y="190500"/>
                </a:lnTo>
                <a:lnTo>
                  <a:pt x="238125" y="0"/>
                </a:lnTo>
              </a:path>
            </a:pathLst>
          </a:custGeom>
          <a:noFill/>
          <a:ln w="23812">
            <a:solidFill>
              <a:srgbClr val="D4A017">
                <a:alpha val="80000"/>
              </a:srgbClr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6736080" y="4791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巩固政权</a:t>
            </a:r>
          </a:p>
        </p:txBody>
      </p:sp>
      <p:sp>
        <p:nvSpPr>
          <p:cNvPr id="61" name="Line 61"/>
          <p:cNvSpPr/>
          <p:nvPr/>
        </p:nvSpPr>
        <p:spPr>
          <a:xfrm>
            <a:off x="6238875" y="5095875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4288">
            <a:solidFill>
              <a:srgbClr val="D4A017">
                <a:alpha val="60000"/>
              </a:srgbClr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6233160" y="5260181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土地改革惠及亿万农民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233160" y="5479256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抗美援朝保家卫国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233160" y="5698331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确立社会主义基本制度</a:t>
            </a:r>
          </a:p>
        </p:txBody>
      </p:sp>
      <p:sp>
        <p:nvSpPr>
          <p:cNvPr id="65" name="Rectangle 65"/>
          <p:cNvSpPr/>
          <p:nvPr/>
        </p:nvSpPr>
        <p:spPr>
          <a:xfrm>
            <a:off x="8858250" y="4572000"/>
            <a:ext cx="2428875" cy="1905000"/>
          </a:xfrm>
          <a:prstGeom prst="rect">
            <a:avLst/>
          </a:prstGeom>
          <a:solidFill>
            <a:srgbClr val="FFF9F0"/>
          </a:solidFill>
          <a:ln w="19050">
            <a:solidFill>
              <a:srgbClr val="C88A58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8858250" y="4572000"/>
            <a:ext cx="2428875" cy="571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9144000" y="4743450"/>
            <a:ext cx="171450" cy="133350"/>
          </a:xfrm>
          <a:prstGeom prst="rect">
            <a:avLst/>
          </a:prstGeom>
          <a:noFill/>
          <a:ln w="19050">
            <a:solidFill>
              <a:srgbClr val="D4A017">
                <a:alpha val="70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9469755" y="4791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建设征程</a:t>
            </a:r>
          </a:p>
        </p:txBody>
      </p:sp>
      <p:sp>
        <p:nvSpPr>
          <p:cNvPr id="69" name="Line 69"/>
          <p:cNvSpPr/>
          <p:nvPr/>
        </p:nvSpPr>
        <p:spPr>
          <a:xfrm>
            <a:off x="9001125" y="5095875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4288">
            <a:solidFill>
              <a:srgbClr val="D4A017">
                <a:alpha val="60000"/>
              </a:srgbClr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8995410" y="5260181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五四宪法奠定法制根基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995410" y="5479256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扫盲运动开启民智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95410" y="5698331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两弹一星三线建设</a:t>
            </a:r>
          </a:p>
        </p:txBody>
      </p:sp>
      <p:sp>
        <p:nvSpPr>
          <p:cNvPr id="73" name="Line 73"/>
          <p:cNvSpPr/>
          <p:nvPr/>
        </p:nvSpPr>
        <p:spPr>
          <a:xfrm>
            <a:off x="571500" y="6667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4A017">
                <a:alpha val="40000"/>
              </a:srgbClr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566738" y="6684645"/>
            <a:ext cx="12574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4B43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毛泽东：东方红 太阳升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43132" y="6684645"/>
            <a:ext cx="2821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B4B43">
                    <a:alphaMod val="70000"/>
                  </a:srgbClr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0E6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171450" y="171450"/>
            <a:ext cx="1562100" cy="419100"/>
            <a:chOff x="171450" y="171450"/>
            <a:chExt cx="1562100" cy="419100"/>
          </a:xfrm>
        </p:grpSpPr>
        <p:sp>
          <p:nvSpPr>
            <p:cNvPr id="3" name="Ellipse 3"/>
            <p:cNvSpPr/>
            <p:nvPr/>
          </p:nvSpPr>
          <p:spPr>
            <a:xfrm>
              <a:off x="171450" y="171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61950" y="171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552450" y="171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71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33450" y="171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3950" y="171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314450" y="171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504950" y="171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695450" y="171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66700" y="3619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57200" y="3619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47700" y="3619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38200" y="3619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28700" y="3619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219200" y="3619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409700" y="3619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600200" y="3619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71450" y="552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61950" y="552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2450" y="552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42950" y="552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33450" y="552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23950" y="552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314450" y="552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504950" y="552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695450" y="552450"/>
              <a:ext cx="38100" cy="38100"/>
            </a:xfrm>
            <a:prstGeom prst="ellipse">
              <a:avLst/>
            </a:prstGeom>
            <a:solidFill>
              <a:srgbClr val="2A1713">
                <a:alpha val="4000"/>
              </a:srgbClr>
            </a:solidFill>
            <a:ln>
              <a:noFill/>
            </a:ln>
          </p:spPr>
        </p:sp>
      </p:grpSp>
      <p:sp>
        <p:nvSpPr>
          <p:cNvPr id="30" name="Rectangle 3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381000" y="0"/>
            <a:ext cx="57150" cy="6858000"/>
          </a:xfrm>
          <a:prstGeom prst="rect">
            <a:avLst/>
          </a:prstGeom>
          <a:solidFill>
            <a:srgbClr val="8B1E1E">
              <a:alpha val="30000"/>
            </a:srgbClr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457200" y="228600"/>
            <a:ext cx="152400" cy="152400"/>
          </a:xfrm>
          <a:prstGeom prst="rect">
            <a:avLst/>
          </a:prstGeom>
          <a:noFill/>
          <a:ln w="19050">
            <a:solidFill>
              <a:srgbClr val="D4A017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95300" y="266700"/>
            <a:ext cx="76200" cy="76200"/>
          </a:xfrm>
          <a:prstGeom prst="rect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45998" y="288608"/>
            <a:ext cx="403930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曲折探索与晚年岁月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2856" y="85344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建设与革命的反复抉择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1181100"/>
            <a:ext cx="1143000" cy="28575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1962150" y="1181100"/>
            <a:ext cx="381000" cy="285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grpSp>
        <p:nvGrpSpPr>
          <p:cNvPr id="56" name="Group 56"/>
          <p:cNvGrpSpPr/>
          <p:nvPr/>
        </p:nvGrpSpPr>
        <p:grpSpPr>
          <a:xfrm>
            <a:off x="2950571" y="1565910"/>
            <a:ext cx="1361943" cy="4739640"/>
            <a:chOff x="2950571" y="1565910"/>
            <a:chExt cx="1361943" cy="4739640"/>
          </a:xfrm>
        </p:grpSpPr>
        <p:sp>
          <p:nvSpPr>
            <p:cNvPr id="38" name="Line 38"/>
            <p:cNvSpPr/>
            <p:nvPr/>
          </p:nvSpPr>
          <p:spPr>
            <a:xfrm>
              <a:off x="36195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38100">
              <a:solidFill>
                <a:srgbClr val="C88A58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619500" y="1714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D4A017">
                  <a:alpha val="60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3619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B91C1C">
                  <a:alpha val="60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3619500" y="4000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7F1D1D">
                  <a:alpha val="60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619500" y="5143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D4A017">
                  <a:alpha val="60000"/>
                </a:srgbClr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3505200" y="1790700"/>
              <a:ext cx="228600" cy="228600"/>
            </a:xfrm>
            <a:prstGeom prst="ellipse">
              <a:avLst/>
            </a:prstGeom>
            <a:solidFill>
              <a:srgbClr val="FFF9F0"/>
            </a:solidFill>
            <a:ln w="28575">
              <a:solidFill>
                <a:srgbClr val="D4A017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3505200" y="2695575"/>
              <a:ext cx="228600" cy="228600"/>
            </a:xfrm>
            <a:prstGeom prst="ellipse">
              <a:avLst/>
            </a:prstGeom>
            <a:solidFill>
              <a:srgbClr val="FFF9F0"/>
            </a:solidFill>
            <a:ln w="28575">
              <a:solidFill>
                <a:srgbClr val="D4A017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3486150" y="3581400"/>
              <a:ext cx="266700" cy="266700"/>
            </a:xfrm>
            <a:prstGeom prst="ellipse">
              <a:avLst/>
            </a:prstGeom>
            <a:solidFill>
              <a:srgbClr val="FFF9F0"/>
            </a:solidFill>
            <a:ln w="28575">
              <a:solidFill>
                <a:srgbClr val="B91C1C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3505200" y="4505325"/>
              <a:ext cx="228600" cy="228600"/>
            </a:xfrm>
            <a:prstGeom prst="ellipse">
              <a:avLst/>
            </a:prstGeom>
            <a:solidFill>
              <a:srgbClr val="FFF9F0"/>
            </a:solidFill>
            <a:ln w="28575">
              <a:solidFill>
                <a:srgbClr val="7F1D1D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505200" y="5410200"/>
              <a:ext cx="228600" cy="228600"/>
            </a:xfrm>
            <a:prstGeom prst="ellipse">
              <a:avLst/>
            </a:prstGeom>
            <a:solidFill>
              <a:srgbClr val="FFF9F0"/>
            </a:solidFill>
            <a:ln w="28575">
              <a:solidFill>
                <a:srgbClr val="D4A017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3505200" y="6076950"/>
              <a:ext cx="228600" cy="228600"/>
            </a:xfrm>
            <a:prstGeom prst="ellipse">
              <a:avLst/>
            </a:prstGeom>
            <a:solidFill>
              <a:srgbClr val="FFF9F0"/>
            </a:solidFill>
            <a:ln w="28575">
              <a:solidFill>
                <a:srgbClr val="D4A017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3486150" y="356235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133350" y="0"/>
                  </a:moveTo>
                  <a:lnTo>
                    <a:pt x="171450" y="85725"/>
                  </a:lnTo>
                  <a:lnTo>
                    <a:pt x="266700" y="85725"/>
                  </a:lnTo>
                  <a:lnTo>
                    <a:pt x="190500" y="142875"/>
                  </a:lnTo>
                  <a:lnTo>
                    <a:pt x="219075" y="228600"/>
                  </a:lnTo>
                  <a:lnTo>
                    <a:pt x="133350" y="180975"/>
                  </a:lnTo>
                  <a:lnTo>
                    <a:pt x="47625" y="228600"/>
                  </a:lnTo>
                  <a:lnTo>
                    <a:pt x="76200" y="142875"/>
                  </a:lnTo>
                  <a:lnTo>
                    <a:pt x="0" y="85725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950571" y="156591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A1713"/>
                  </a:solidFill>
                  <a:latin typeface="Arial"/>
                  <a:ea typeface="Arial"/>
                  <a:cs typeface="Arial"/>
                </a:rPr>
                <a:t>1962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950571" y="247078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A1713"/>
                  </a:solidFill>
                  <a:latin typeface="Arial"/>
                  <a:ea typeface="Arial"/>
                  <a:cs typeface="Arial"/>
                </a:rPr>
                <a:t>1963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78986" y="335946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B91C1C"/>
                  </a:solidFill>
                  <a:latin typeface="Arial"/>
                  <a:ea typeface="Arial"/>
                  <a:cs typeface="Arial"/>
                </a:rPr>
                <a:t>1966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50571" y="428053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A1713"/>
                  </a:solidFill>
                  <a:latin typeface="Arial"/>
                  <a:ea typeface="Arial"/>
                  <a:cs typeface="Arial"/>
                </a:rPr>
                <a:t>1971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50571" y="518541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A1713"/>
                  </a:solidFill>
                  <a:latin typeface="Arial"/>
                  <a:ea typeface="Arial"/>
                  <a:cs typeface="Arial"/>
                </a:rPr>
                <a:t>1972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878986" y="583596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F1D1D"/>
                  </a:solidFill>
                  <a:latin typeface="Arial"/>
                  <a:ea typeface="Arial"/>
                  <a:cs typeface="Arial"/>
                </a:rPr>
                <a:t>1976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733800" y="1619250"/>
            <a:ext cx="3314700" cy="571500"/>
            <a:chOff x="3733800" y="1619250"/>
            <a:chExt cx="3314700" cy="571500"/>
          </a:xfrm>
        </p:grpSpPr>
        <p:sp>
          <p:nvSpPr>
            <p:cNvPr id="57" name="Line 57"/>
            <p:cNvSpPr/>
            <p:nvPr/>
          </p:nvSpPr>
          <p:spPr>
            <a:xfrm>
              <a:off x="3733800" y="190500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rgbClr val="D4A017"/>
              </a:solidFill>
              <a:custDash>
                <a:ds d="200000" sp="150000"/>
              </a:custDash>
            </a:ln>
          </p:spPr>
        </p:sp>
        <p:sp>
          <p:nvSpPr>
            <p:cNvPr id="58" name="Rectangle 58"/>
            <p:cNvSpPr/>
            <p:nvPr/>
          </p:nvSpPr>
          <p:spPr>
            <a:xfrm>
              <a:off x="4191000" y="1619250"/>
              <a:ext cx="2857500" cy="571500"/>
            </a:xfrm>
            <a:prstGeom prst="rect">
              <a:avLst/>
            </a:prstGeom>
            <a:solidFill>
              <a:srgbClr val="FFF9F0"/>
            </a:solidFill>
            <a:ln w="14288">
              <a:solidFill>
                <a:srgbClr val="C88A5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191000" y="1619250"/>
              <a:ext cx="2857500" cy="381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99204" y="16897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七千人大会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299966" y="191547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总结教训，统一思想共渡难关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733800" y="2552700"/>
            <a:ext cx="3314700" cy="514350"/>
            <a:chOff x="3733800" y="2552700"/>
            <a:chExt cx="3314700" cy="514350"/>
          </a:xfrm>
        </p:grpSpPr>
        <p:sp>
          <p:nvSpPr>
            <p:cNvPr id="63" name="Line 63"/>
            <p:cNvSpPr/>
            <p:nvPr/>
          </p:nvSpPr>
          <p:spPr>
            <a:xfrm>
              <a:off x="3733800" y="280987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rgbClr val="D4A017"/>
              </a:solidFill>
              <a:custDash>
                <a:ds d="200000" sp="150000"/>
              </a:custDash>
            </a:ln>
          </p:spPr>
        </p:sp>
        <p:sp>
          <p:nvSpPr>
            <p:cNvPr id="64" name="Rectangle 64"/>
            <p:cNvSpPr/>
            <p:nvPr/>
          </p:nvSpPr>
          <p:spPr>
            <a:xfrm>
              <a:off x="4191000" y="2552700"/>
              <a:ext cx="2857500" cy="514350"/>
            </a:xfrm>
            <a:prstGeom prst="rect">
              <a:avLst/>
            </a:prstGeom>
            <a:solidFill>
              <a:srgbClr val="F3E3D3"/>
            </a:solidFill>
            <a:ln w="14288">
              <a:solidFill>
                <a:srgbClr val="C88A5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4191000" y="2552700"/>
              <a:ext cx="2857500" cy="381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299204" y="26231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四清运动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299966" y="28489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从经济整顿转向阶级斗争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71500" y="3409950"/>
            <a:ext cx="2971800" cy="609600"/>
            <a:chOff x="571500" y="3409950"/>
            <a:chExt cx="2971800" cy="609600"/>
          </a:xfrm>
        </p:grpSpPr>
        <p:sp>
          <p:nvSpPr>
            <p:cNvPr id="69" name="Line 69"/>
            <p:cNvSpPr/>
            <p:nvPr/>
          </p:nvSpPr>
          <p:spPr>
            <a:xfrm>
              <a:off x="2857500" y="371475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6286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91C1C"/>
              </a:solidFill>
              <a:custDash>
                <a:ds d="200000" sp="150000"/>
              </a:custDash>
            </a:ln>
          </p:spPr>
        </p:sp>
        <p:sp>
          <p:nvSpPr>
            <p:cNvPr id="70" name="Rectangle 70"/>
            <p:cNvSpPr/>
            <p:nvPr/>
          </p:nvSpPr>
          <p:spPr>
            <a:xfrm>
              <a:off x="571500" y="3409950"/>
              <a:ext cx="2857500" cy="609600"/>
            </a:xfrm>
            <a:prstGeom prst="rect">
              <a:avLst/>
            </a:prstGeom>
            <a:solidFill>
              <a:srgbClr val="FFF9F0"/>
            </a:solidFill>
            <a:ln w="19050">
              <a:solidFill>
                <a:srgbClr val="B91C1C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71500" y="3409950"/>
              <a:ext cx="2857500" cy="57150"/>
            </a:xfrm>
            <a:prstGeom prst="rect">
              <a:avLst/>
            </a:prstGeom>
            <a:solidFill>
              <a:srgbClr val="8B1E1E"/>
            </a:solidFill>
            <a:ln>
              <a:noFill/>
            </a:ln>
          </p:spPr>
        </p:sp>
        <p:sp>
          <p:nvSpPr>
            <p:cNvPr id="72" name="Polygon 72"/>
            <p:cNvSpPr/>
            <p:nvPr/>
          </p:nvSpPr>
          <p:spPr>
            <a:xfrm>
              <a:off x="3429000" y="361950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14300" h="190500">
                  <a:moveTo>
                    <a:pt x="0" y="0"/>
                  </a:moveTo>
                  <a:lnTo>
                    <a:pt x="1143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B91C1C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8942" y="35213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1E1E"/>
                  </a:solidFill>
                  <a:latin typeface="Arial"/>
                  <a:ea typeface="Microsoft YaHei"/>
                  <a:cs typeface="Arial"/>
                </a:rPr>
                <a:t>文化大革命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0466" y="376332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全面发动，社会进入动荡时期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733800" y="4362450"/>
            <a:ext cx="3314700" cy="514350"/>
            <a:chOff x="3733800" y="4362450"/>
            <a:chExt cx="3314700" cy="514350"/>
          </a:xfrm>
        </p:grpSpPr>
        <p:sp>
          <p:nvSpPr>
            <p:cNvPr id="76" name="Line 76"/>
            <p:cNvSpPr/>
            <p:nvPr/>
          </p:nvSpPr>
          <p:spPr>
            <a:xfrm>
              <a:off x="3733800" y="461962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rgbClr val="7F1D1D"/>
              </a:solidFill>
              <a:custDash>
                <a:ds d="200000" sp="150000"/>
              </a:custDash>
            </a:ln>
          </p:spPr>
        </p:sp>
        <p:sp>
          <p:nvSpPr>
            <p:cNvPr id="77" name="Rectangle 77"/>
            <p:cNvSpPr/>
            <p:nvPr/>
          </p:nvSpPr>
          <p:spPr>
            <a:xfrm>
              <a:off x="4191000" y="4362450"/>
              <a:ext cx="2857500" cy="514350"/>
            </a:xfrm>
            <a:prstGeom prst="rect">
              <a:avLst/>
            </a:prstGeom>
            <a:solidFill>
              <a:srgbClr val="F3E3D3"/>
            </a:solidFill>
            <a:ln w="14288">
              <a:solidFill>
                <a:srgbClr val="C88A5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4191000" y="4362450"/>
              <a:ext cx="2857500" cy="38100"/>
            </a:xfrm>
            <a:prstGeom prst="rect">
              <a:avLst/>
            </a:prstGeom>
            <a:solidFill>
              <a:srgbClr val="7F1D1D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299204" y="44329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F1D1D"/>
                  </a:solidFill>
                  <a:latin typeface="Arial"/>
                  <a:ea typeface="Microsoft YaHei"/>
                  <a:cs typeface="Arial"/>
                </a:rPr>
                <a:t>林彪事件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299966" y="465867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重大政治转折，局势更趋复杂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238750"/>
            <a:ext cx="2914650" cy="571500"/>
            <a:chOff x="571500" y="5238750"/>
            <a:chExt cx="2914650" cy="571500"/>
          </a:xfrm>
        </p:grpSpPr>
        <p:sp>
          <p:nvSpPr>
            <p:cNvPr id="82" name="Line 82"/>
            <p:cNvSpPr/>
            <p:nvPr/>
          </p:nvSpPr>
          <p:spPr>
            <a:xfrm>
              <a:off x="2857500" y="552450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6286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4A017"/>
              </a:solidFill>
              <a:custDash>
                <a:ds d="200000" sp="150000"/>
              </a:custDash>
            </a:ln>
          </p:spPr>
        </p:sp>
        <p:sp>
          <p:nvSpPr>
            <p:cNvPr id="83" name="Rectangle 83"/>
            <p:cNvSpPr/>
            <p:nvPr/>
          </p:nvSpPr>
          <p:spPr>
            <a:xfrm>
              <a:off x="571500" y="5238750"/>
              <a:ext cx="2857500" cy="571500"/>
            </a:xfrm>
            <a:prstGeom prst="rect">
              <a:avLst/>
            </a:prstGeom>
            <a:solidFill>
              <a:srgbClr val="FFF9F0"/>
            </a:solidFill>
            <a:ln w="19050">
              <a:solidFill>
                <a:srgbClr val="D4A017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571500" y="5238750"/>
              <a:ext cx="2857500" cy="381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3333750" y="5486400"/>
              <a:ext cx="76200" cy="76200"/>
            </a:xfrm>
            <a:prstGeom prst="ellipse">
              <a:avLst/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9704" y="53473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尼克松访华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80466" y="5573078"/>
              <a:ext cx="20178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1972年外交破冰，重塑冷战格局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3733800" y="5934075"/>
            <a:ext cx="3314700" cy="514350"/>
            <a:chOff x="3733800" y="5934075"/>
            <a:chExt cx="3314700" cy="514350"/>
          </a:xfrm>
        </p:grpSpPr>
        <p:sp>
          <p:nvSpPr>
            <p:cNvPr id="89" name="Line 89"/>
            <p:cNvSpPr/>
            <p:nvPr/>
          </p:nvSpPr>
          <p:spPr>
            <a:xfrm>
              <a:off x="3733800" y="61912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rgbClr val="D4A017"/>
              </a:solidFill>
              <a:custDash>
                <a:ds d="200000" sp="150000"/>
              </a:custDash>
            </a:ln>
          </p:spPr>
        </p:sp>
        <p:sp>
          <p:nvSpPr>
            <p:cNvPr id="90" name="Rectangle 90"/>
            <p:cNvSpPr/>
            <p:nvPr/>
          </p:nvSpPr>
          <p:spPr>
            <a:xfrm>
              <a:off x="4191000" y="5934075"/>
              <a:ext cx="2857500" cy="514350"/>
            </a:xfrm>
            <a:prstGeom prst="rect">
              <a:avLst/>
            </a:prstGeom>
            <a:solidFill>
              <a:srgbClr val="F3E3D3"/>
            </a:solidFill>
            <a:ln w="14288">
              <a:solidFill>
                <a:srgbClr val="C88A58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4191000" y="5934075"/>
              <a:ext cx="2857500" cy="38100"/>
            </a:xfrm>
            <a:prstGeom prst="rect">
              <a:avLst/>
            </a:prstGeom>
            <a:solidFill>
              <a:srgbClr val="8B1E1E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308920" y="6037183"/>
              <a:ext cx="99773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8B1E1E"/>
                  </a:solidFill>
                  <a:latin typeface="Arial"/>
                  <a:ea typeface="Microsoft YaHei"/>
                  <a:cs typeface="Arial"/>
                </a:rPr>
                <a:t>伟大领袖逝世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299966" y="62303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一个时代终结，遗产留待后人评说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7802880" y="1714500"/>
            <a:ext cx="2865120" cy="2879884"/>
            <a:chOff x="7802880" y="1714500"/>
            <a:chExt cx="2865120" cy="2879884"/>
          </a:xfrm>
        </p:grpSpPr>
        <p:sp>
          <p:nvSpPr>
            <p:cNvPr id="95" name="Rectangle 95"/>
            <p:cNvSpPr/>
            <p:nvPr/>
          </p:nvSpPr>
          <p:spPr>
            <a:xfrm>
              <a:off x="7810500" y="1714500"/>
              <a:ext cx="381000" cy="381000"/>
            </a:xfrm>
            <a:prstGeom prst="rect">
              <a:avLst/>
            </a:prstGeom>
            <a:noFill/>
            <a:ln w="19050">
              <a:solidFill>
                <a:srgbClr val="D4A017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7848600" y="1752600"/>
              <a:ext cx="304800" cy="304800"/>
            </a:xfrm>
            <a:prstGeom prst="rect">
              <a:avLst/>
            </a:prstGeom>
            <a:noFill/>
            <a:ln w="9525">
              <a:solidFill>
                <a:srgbClr val="D4A017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917256" y="1848802"/>
              <a:ext cx="167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A017"/>
                  </a:solidFill>
                  <a:latin typeface="Georgia"/>
                  <a:ea typeface="SimSun"/>
                  <a:cs typeface="Georgia"/>
                </a:rPr>
                <a:t>曲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802880" y="2238375"/>
              <a:ext cx="1839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i="1" dirty="0">
                  <a:solidFill>
                    <a:srgbClr val="2A1713"/>
                  </a:solidFill>
                  <a:latin typeface="Georgia"/>
                  <a:ea typeface="SimSun"/>
                  <a:cs typeface="Georgia"/>
                </a:rPr>
                <a:t>“在经济建设速度与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802880" y="2505075"/>
              <a:ext cx="2575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i="1" dirty="0">
                  <a:solidFill>
                    <a:srgbClr val="2A1713"/>
                  </a:solidFill>
                  <a:latin typeface="Georgia"/>
                  <a:ea typeface="SimSun"/>
                  <a:cs typeface="Georgia"/>
                </a:rPr>
                <a:t>阶级斗争理论间艰难抉择，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802880" y="2771775"/>
              <a:ext cx="1722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i="1" dirty="0">
                  <a:solidFill>
                    <a:srgbClr val="2A1713"/>
                  </a:solidFill>
                  <a:latin typeface="Georgia"/>
                  <a:ea typeface="SimSun"/>
                  <a:cs typeface="Georgia"/>
                </a:rPr>
                <a:t>发动文化大革命并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802880" y="3038475"/>
              <a:ext cx="16261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i="1" dirty="0">
                  <a:solidFill>
                    <a:srgbClr val="2A1713"/>
                  </a:solidFill>
                  <a:latin typeface="Georgia"/>
                  <a:ea typeface="SimSun"/>
                  <a:cs typeface="Georgia"/>
                </a:rPr>
                <a:t>重塑外交格局。”</a:t>
              </a:r>
            </a:p>
          </p:txBody>
        </p:sp>
        <p:sp>
          <p:nvSpPr>
            <p:cNvPr id="102" name="Line 102"/>
            <p:cNvSpPr/>
            <p:nvPr/>
          </p:nvSpPr>
          <p:spPr>
            <a:xfrm>
              <a:off x="7810500" y="3524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4288">
              <a:solidFill>
                <a:srgbClr val="D4A017"/>
              </a:solidFill>
            </a:ln>
          </p:spPr>
        </p:sp>
        <p:sp>
          <p:nvSpPr>
            <p:cNvPr id="103" name="Line 103"/>
            <p:cNvSpPr/>
            <p:nvPr/>
          </p:nvSpPr>
          <p:spPr>
            <a:xfrm>
              <a:off x="7810500" y="35814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4288">
              <a:solidFill>
                <a:srgbClr val="B91C1C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804785" y="3802856"/>
              <a:ext cx="1821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1962–1976年间，毛泽东在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804785" y="3993356"/>
              <a:ext cx="1980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经济建设与阶级斗争之间反复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804785" y="41838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探索，经历曲折，也在国际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804785" y="4374356"/>
              <a:ext cx="137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外交中打开新局面。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0" y="6477000"/>
            <a:ext cx="11430000" cy="190500"/>
            <a:chOff x="0" y="6477000"/>
            <a:chExt cx="11430000" cy="190500"/>
          </a:xfrm>
        </p:grpSpPr>
        <p:sp>
          <p:nvSpPr>
            <p:cNvPr id="109" name="Line 109"/>
            <p:cNvSpPr/>
            <p:nvPr/>
          </p:nvSpPr>
          <p:spPr>
            <a:xfrm>
              <a:off x="0" y="6477000"/>
              <a:ext cx="6096000" cy="190500"/>
            </a:xfrm>
            <a:custGeom>
              <a:avLst/>
              <a:gdLst/>
              <a:ahLst/>
              <a:cxnLst/>
              <a:rect l="l" t="t" r="r" b="b"/>
              <a:pathLst>
                <a:path w="6096000" h="190500">
                  <a:moveTo>
                    <a:pt x="6096000" y="190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91C1C">
                  <a:alpha val="8000"/>
                </a:srgbClr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1905000" y="6477000"/>
              <a:ext cx="4191000" cy="190500"/>
            </a:xfrm>
            <a:custGeom>
              <a:avLst/>
              <a:gdLst/>
              <a:ahLst/>
              <a:cxnLst/>
              <a:rect l="l" t="t" r="r" b="b"/>
              <a:pathLst>
                <a:path w="4191000" h="190500">
                  <a:moveTo>
                    <a:pt x="4191000" y="190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91C1C">
                  <a:alpha val="8000"/>
                </a:srgbClr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3810000" y="6477000"/>
              <a:ext cx="2286000" cy="190500"/>
            </a:xfrm>
            <a:custGeom>
              <a:avLst/>
              <a:gdLst/>
              <a:ahLst/>
              <a:cxnLst/>
              <a:rect l="l" t="t" r="r" b="b"/>
              <a:pathLst>
                <a:path w="2286000" h="190500">
                  <a:moveTo>
                    <a:pt x="2286000" y="190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91C1C">
                  <a:alpha val="8000"/>
                </a:srgbClr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5715000" y="647700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381000" y="190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91C1C">
                  <a:alpha val="8000"/>
                </a:srgbClr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6096000" y="6477000"/>
              <a:ext cx="1524000" cy="190500"/>
            </a:xfrm>
            <a:custGeom>
              <a:avLst/>
              <a:gdLst/>
              <a:ahLst/>
              <a:cxnLst/>
              <a:rect l="l" t="t" r="r" b="b"/>
              <a:pathLst>
                <a:path w="1524000" h="190500">
                  <a:moveTo>
                    <a:pt x="0" y="19050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B91C1C">
                  <a:alpha val="8000"/>
                </a:srgbClr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6096000" y="6477000"/>
              <a:ext cx="3429000" cy="190500"/>
            </a:xfrm>
            <a:custGeom>
              <a:avLst/>
              <a:gdLst/>
              <a:ahLst/>
              <a:cxnLst/>
              <a:rect l="l" t="t" r="r" b="b"/>
              <a:pathLst>
                <a:path w="3429000" h="190500">
                  <a:moveTo>
                    <a:pt x="0" y="19050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B91C1C">
                  <a:alpha val="8000"/>
                </a:srgbClr>
              </a:solidFill>
            </a:ln>
          </p:spPr>
        </p:sp>
        <p:sp>
          <p:nvSpPr>
            <p:cNvPr id="115" name="Line 115"/>
            <p:cNvSpPr/>
            <p:nvPr/>
          </p:nvSpPr>
          <p:spPr>
            <a:xfrm>
              <a:off x="6096000" y="6477000"/>
              <a:ext cx="5334000" cy="190500"/>
            </a:xfrm>
            <a:custGeom>
              <a:avLst/>
              <a:gdLst/>
              <a:ahLst/>
              <a:cxnLst/>
              <a:rect l="l" t="t" r="r" b="b"/>
              <a:pathLst>
                <a:path w="5334000" h="190500">
                  <a:moveTo>
                    <a:pt x="0" y="19050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B91C1C">
                  <a:alpha val="8000"/>
                </a:srgbClr>
              </a:solidFill>
            </a:ln>
          </p:spPr>
        </p:sp>
      </p:grpSp>
      <p:sp>
        <p:nvSpPr>
          <p:cNvPr id="117" name="Rectangle 11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11840680" y="662082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B4B4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0E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9F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6743700"/>
            <a:ext cx="121920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11430000" y="-190500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0" y="571500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D4A017">
                <a:alpha val="20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11430000" y="95250"/>
            <a:ext cx="1143000" cy="476250"/>
          </a:xfrm>
          <a:custGeom>
            <a:avLst/>
            <a:gdLst/>
            <a:ahLst/>
            <a:cxnLst/>
            <a:rect l="l" t="t" r="r" b="b"/>
            <a:pathLst>
              <a:path w="1143000" h="476250">
                <a:moveTo>
                  <a:pt x="0" y="47625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4A017">
                <a:alpha val="15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11525250" y="285750"/>
            <a:ext cx="1047750" cy="95250"/>
          </a:xfrm>
          <a:custGeom>
            <a:avLst/>
            <a:gdLst/>
            <a:ahLst/>
            <a:cxnLst/>
            <a:rect l="l" t="t" r="r" b="b"/>
            <a:pathLst>
              <a:path w="1047750" h="95250">
                <a:moveTo>
                  <a:pt x="0" y="95250"/>
                </a:moveTo>
                <a:lnTo>
                  <a:pt x="1047750" y="0"/>
                </a:lnTo>
              </a:path>
            </a:pathLst>
          </a:custGeom>
          <a:noFill/>
          <a:ln w="9525">
            <a:solidFill>
              <a:srgbClr val="D4A017">
                <a:alpha val="20000"/>
              </a:srgb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285750" y="6286500"/>
            <a:ext cx="381000" cy="381000"/>
          </a:xfrm>
          <a:prstGeom prst="rect">
            <a:avLst/>
          </a:prstGeom>
          <a:noFill/>
          <a:ln w="19050">
            <a:solidFill>
              <a:srgbClr val="C88A58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23850" y="6324600"/>
            <a:ext cx="304800" cy="304800"/>
          </a:xfrm>
          <a:prstGeom prst="rect">
            <a:avLst/>
          </a:prstGeom>
          <a:noFill/>
          <a:ln w="9525">
            <a:solidFill>
              <a:srgbClr val="D4A017"/>
            </a:solidFill>
          </a:ln>
        </p:spPr>
      </p:sp>
      <p:sp>
        <p:nvSpPr>
          <p:cNvPr id="13" name="Line 13"/>
          <p:cNvSpPr/>
          <p:nvPr/>
        </p:nvSpPr>
        <p:spPr>
          <a:xfrm>
            <a:off x="11811000" y="952500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9525">
            <a:solidFill>
              <a:srgbClr val="C88A58">
                <a:alpha val="4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11906250" y="1428750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9525">
            <a:solidFill>
              <a:srgbClr val="D4A017">
                <a:alpha val="2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5498" y="564832"/>
            <a:ext cx="319331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思想·家庭·文采</a:t>
            </a:r>
          </a:p>
        </p:txBody>
      </p:sp>
      <p:sp>
        <p:nvSpPr>
          <p:cNvPr id="16" name="Line 16"/>
          <p:cNvSpPr/>
          <p:nvPr/>
        </p:nvSpPr>
        <p:spPr>
          <a:xfrm>
            <a:off x="571500" y="10668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28575">
            <a:solidFill>
              <a:srgbClr val="D4A017"/>
            </a:solidFill>
          </a:ln>
        </p:spPr>
      </p:sp>
      <p:sp>
        <p:nvSpPr>
          <p:cNvPr id="17" name="Line 17"/>
          <p:cNvSpPr/>
          <p:nvPr/>
        </p:nvSpPr>
        <p:spPr>
          <a:xfrm>
            <a:off x="2476500" y="10668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88A5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63880" y="12477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多维人生：从革命思想到诗词书法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1714500"/>
            <a:ext cx="3238500" cy="1714500"/>
          </a:xfrm>
          <a:prstGeom prst="roundRect">
            <a:avLst>
              <a:gd name="adj" fmla="val 2222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1714500"/>
            <a:ext cx="3238500" cy="57150"/>
          </a:xfrm>
          <a:prstGeom prst="rect">
            <a:avLst/>
          </a:prstGeom>
          <a:solidFill>
            <a:srgbClr val="7F1D1D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714375" y="1905000"/>
            <a:ext cx="228600" cy="228600"/>
          </a:xfrm>
          <a:prstGeom prst="rect">
            <a:avLst/>
          </a:prstGeom>
          <a:noFill/>
          <a:ln w="14288">
            <a:solidFill>
              <a:srgbClr val="D4A01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44931" y="1953578"/>
            <a:ext cx="1674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91C1C"/>
                </a:solidFill>
                <a:latin typeface="Georgia"/>
                <a:ea typeface="SimSun"/>
                <a:cs typeface="Georgia"/>
              </a:rPr>
              <a:t>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9368" y="19173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思想光辉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8660" y="231695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毛泽东思想是全党集体智慧的结晶，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8660" y="2526506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指导中国革命与建设走向胜利。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8660" y="2736056"/>
            <a:ext cx="25860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《毛泽东选集》《毛泽东语录》等著作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8660" y="2945606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影响深远，全球发行量高达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8660" y="3155156"/>
            <a:ext cx="6634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50亿册。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3667125"/>
            <a:ext cx="3238500" cy="1905000"/>
          </a:xfrm>
          <a:prstGeom prst="roundRect">
            <a:avLst>
              <a:gd name="adj" fmla="val 2000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71500" y="3667125"/>
            <a:ext cx="3238500" cy="57150"/>
          </a:xfrm>
          <a:prstGeom prst="rect">
            <a:avLst/>
          </a:prstGeom>
          <a:solidFill>
            <a:srgbClr val="7F1D1D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14375" y="3857625"/>
            <a:ext cx="228600" cy="228600"/>
          </a:xfrm>
          <a:prstGeom prst="rect">
            <a:avLst/>
          </a:prstGeom>
          <a:noFill/>
          <a:ln w="14288">
            <a:solidFill>
              <a:srgbClr val="D4A017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4931" y="3906202"/>
            <a:ext cx="1674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91C1C"/>
                </a:solidFill>
                <a:latin typeface="Georgia"/>
                <a:ea typeface="SimSun"/>
                <a:cs typeface="Georgia"/>
              </a:rPr>
              <a:t>诗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9368" y="3870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诗词书法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14375" y="4238625"/>
            <a:ext cx="2952750" cy="76200"/>
          </a:xfrm>
          <a:prstGeom prst="roundRect">
            <a:avLst>
              <a:gd name="adj" fmla="val 25000"/>
            </a:avLst>
          </a:prstGeom>
          <a:solidFill>
            <a:srgbClr val="8B1E1E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14375" y="4314825"/>
            <a:ext cx="2952750" cy="1143000"/>
          </a:xfrm>
          <a:prstGeom prst="rect">
            <a:avLst/>
          </a:prstGeom>
          <a:solidFill>
            <a:srgbClr val="F3E3D3">
              <a:alpha val="50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714375" y="5457825"/>
            <a:ext cx="2952750" cy="76200"/>
          </a:xfrm>
          <a:prstGeom prst="roundRect">
            <a:avLst>
              <a:gd name="adj" fmla="val 25000"/>
            </a:avLst>
          </a:prstGeom>
          <a:solidFill>
            <a:srgbClr val="8B1E1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98779" y="4518660"/>
            <a:ext cx="1719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B91C1C"/>
                </a:solidFill>
                <a:latin typeface="Georgia"/>
                <a:ea typeface="SimSun"/>
                <a:cs typeface="Georgia"/>
              </a:rPr>
              <a:t>北国风光，千里冰封，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98779" y="4747260"/>
            <a:ext cx="18897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B91C1C"/>
                </a:solidFill>
                <a:latin typeface="Georgia"/>
                <a:ea typeface="SimSun"/>
                <a:cs typeface="Georgia"/>
              </a:rPr>
              <a:t>万里雪飘。望长城内外，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98779" y="4975860"/>
            <a:ext cx="1719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rgbClr val="B91C1C"/>
                </a:solidFill>
                <a:latin typeface="Georgia"/>
                <a:ea typeface="SimSun"/>
                <a:cs typeface="Georgia"/>
              </a:rPr>
              <a:t>惟余莽莽；大河上下，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99922" y="5228749"/>
            <a:ext cx="10708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i="1" dirty="0">
                <a:solidFill>
                  <a:srgbClr val="6B4B43"/>
                </a:solidFill>
                <a:latin typeface="Georgia"/>
                <a:ea typeface="SimSun"/>
                <a:cs typeface="Georgia"/>
              </a:rPr>
              <a:t>——《沁园春·雪》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191000" y="1714500"/>
            <a:ext cx="3619500" cy="3238500"/>
          </a:xfrm>
          <a:prstGeom prst="roundRect">
            <a:avLst>
              <a:gd name="adj" fmla="val 1176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4191000" y="1714500"/>
            <a:ext cx="3619500" cy="57150"/>
          </a:xfrm>
          <a:prstGeom prst="rect">
            <a:avLst/>
          </a:prstGeom>
          <a:solidFill>
            <a:srgbClr val="7F1D1D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4333875" y="1905000"/>
            <a:ext cx="228600" cy="228600"/>
          </a:xfrm>
          <a:prstGeom prst="rect">
            <a:avLst/>
          </a:prstGeom>
          <a:noFill/>
          <a:ln w="14288">
            <a:solidFill>
              <a:srgbClr val="D4A017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364431" y="1953578"/>
            <a:ext cx="1674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91C1C"/>
                </a:solidFill>
                <a:latin typeface="Georgia"/>
                <a:ea typeface="SimSun"/>
                <a:cs typeface="Georgia"/>
              </a:rPr>
              <a:t>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58868" y="19173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家庭牺牲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334000" y="2286000"/>
            <a:ext cx="1333500" cy="342900"/>
          </a:xfrm>
          <a:prstGeom prst="roundRect">
            <a:avLst>
              <a:gd name="adj" fmla="val 8333"/>
            </a:avLst>
          </a:prstGeom>
          <a:solidFill>
            <a:srgbClr val="8B1E1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707656" y="235934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48" name="Line 48"/>
          <p:cNvSpPr/>
          <p:nvPr/>
        </p:nvSpPr>
        <p:spPr>
          <a:xfrm>
            <a:off x="5143500" y="2628900"/>
            <a:ext cx="476250" cy="323850"/>
          </a:xfrm>
          <a:custGeom>
            <a:avLst/>
            <a:gdLst/>
            <a:ahLst/>
            <a:cxnLst/>
            <a:rect l="l" t="t" r="r" b="b"/>
            <a:pathLst>
              <a:path w="476250" h="323850">
                <a:moveTo>
                  <a:pt x="476250" y="0"/>
                </a:moveTo>
                <a:lnTo>
                  <a:pt x="0" y="323850"/>
                </a:lnTo>
              </a:path>
            </a:pathLst>
          </a:custGeom>
          <a:noFill/>
          <a:ln w="14288">
            <a:solidFill>
              <a:srgbClr val="C88A58"/>
            </a:solidFill>
          </a:ln>
        </p:spPr>
      </p:sp>
      <p:sp>
        <p:nvSpPr>
          <p:cNvPr id="49" name="Line 49"/>
          <p:cNvSpPr/>
          <p:nvPr/>
        </p:nvSpPr>
        <p:spPr>
          <a:xfrm>
            <a:off x="6381750" y="2628900"/>
            <a:ext cx="476250" cy="323850"/>
          </a:xfrm>
          <a:custGeom>
            <a:avLst/>
            <a:gdLst/>
            <a:ahLst/>
            <a:cxnLst/>
            <a:rect l="l" t="t" r="r" b="b"/>
            <a:pathLst>
              <a:path w="476250" h="323850">
                <a:moveTo>
                  <a:pt x="0" y="0"/>
                </a:moveTo>
                <a:lnTo>
                  <a:pt x="476250" y="323850"/>
                </a:lnTo>
              </a:path>
            </a:pathLst>
          </a:custGeom>
          <a:noFill/>
          <a:ln w="14288">
            <a:solidFill>
              <a:srgbClr val="C88A58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4476750" y="2971800"/>
            <a:ext cx="1524000" cy="323850"/>
          </a:xfrm>
          <a:prstGeom prst="roundRect">
            <a:avLst>
              <a:gd name="adj" fmla="val 8824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978222" y="30518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9F0"/>
                </a:solidFill>
                <a:latin typeface="Arial"/>
                <a:ea typeface="Microsoft YaHei"/>
                <a:cs typeface="Arial"/>
              </a:rPr>
              <a:t>杨开慧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741593" y="3361849"/>
            <a:ext cx="994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英勇就义 1930年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191250" y="2971800"/>
            <a:ext cx="1524000" cy="323850"/>
          </a:xfrm>
          <a:prstGeom prst="roundRect">
            <a:avLst>
              <a:gd name="adj" fmla="val 8824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92722" y="30518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9F0"/>
                </a:solidFill>
                <a:latin typeface="Arial"/>
                <a:ea typeface="Microsoft YaHei"/>
                <a:cs typeface="Arial"/>
              </a:rPr>
              <a:t>贺子珍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85788" y="336184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历经战火</a:t>
            </a:r>
          </a:p>
        </p:txBody>
      </p:sp>
      <p:sp>
        <p:nvSpPr>
          <p:cNvPr id="56" name="Line 56"/>
          <p:cNvSpPr/>
          <p:nvPr/>
        </p:nvSpPr>
        <p:spPr>
          <a:xfrm>
            <a:off x="5238750" y="3619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C88A58"/>
            </a:solidFill>
          </a:ln>
        </p:spPr>
      </p:sp>
      <p:sp>
        <p:nvSpPr>
          <p:cNvPr id="57" name="Line 57"/>
          <p:cNvSpPr/>
          <p:nvPr/>
        </p:nvSpPr>
        <p:spPr>
          <a:xfrm>
            <a:off x="6953250" y="3619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C88A58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4652429" y="3989070"/>
            <a:ext cx="11726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毛岸英 毛岸青 毛岸龙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806565" y="3972878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李敏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76166" y="4430078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家庭为革命付出巨大牺牲，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76166" y="46396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展现了伟人的坚定信念与深情。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191000" y="5143500"/>
            <a:ext cx="3619500" cy="952500"/>
          </a:xfrm>
          <a:prstGeom prst="roundRect">
            <a:avLst>
              <a:gd name="adj" fmla="val 4000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4191000" y="5143500"/>
            <a:ext cx="3619500" cy="57150"/>
          </a:xfrm>
          <a:prstGeom prst="rect">
            <a:avLst/>
          </a:prstGeom>
          <a:solidFill>
            <a:srgbClr val="7F1D1D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375023" y="5358289"/>
            <a:ext cx="217562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《毛泽东语录》全球发行量</a:t>
            </a:r>
          </a:p>
        </p:txBody>
      </p:sp>
      <p:sp>
        <p:nvSpPr>
          <p:cNvPr id="65" name="Rectangle 65"/>
          <p:cNvSpPr/>
          <p:nvPr/>
        </p:nvSpPr>
        <p:spPr>
          <a:xfrm>
            <a:off x="4381500" y="5600700"/>
            <a:ext cx="2857500" cy="190500"/>
          </a:xfrm>
          <a:prstGeom prst="roundRect">
            <a:avLst>
              <a:gd name="adj" fmla="val 15000"/>
            </a:avLst>
          </a:prstGeom>
          <a:solidFill>
            <a:srgbClr val="F3E3D3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4381500" y="5600700"/>
            <a:ext cx="2286000" cy="190500"/>
          </a:xfrm>
          <a:prstGeom prst="roundRect">
            <a:avLst>
              <a:gd name="adj" fmla="val 1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4372737" y="5862161"/>
            <a:ext cx="7734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50亿册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423916" y="5935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（全球影响力）</a:t>
            </a:r>
          </a:p>
        </p:txBody>
      </p:sp>
      <p:sp>
        <p:nvSpPr>
          <p:cNvPr id="69" name="Line 69"/>
          <p:cNvSpPr/>
          <p:nvPr/>
        </p:nvSpPr>
        <p:spPr>
          <a:xfrm>
            <a:off x="571500" y="5905500"/>
            <a:ext cx="7334250" cy="9525"/>
          </a:xfrm>
          <a:custGeom>
            <a:avLst/>
            <a:gdLst/>
            <a:ahLst/>
            <a:cxnLst/>
            <a:rect l="l" t="t" r="r" b="b"/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/>
          <a:ln w="4762">
            <a:solidFill>
              <a:srgbClr val="C88A58">
                <a:alpha val="50000"/>
              </a:srgbClr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11620500" y="6286500"/>
            <a:ext cx="285750" cy="285750"/>
          </a:xfrm>
          <a:prstGeom prst="rect">
            <a:avLst/>
          </a:prstGeom>
          <a:noFill/>
          <a:ln w="14288">
            <a:solidFill>
              <a:srgbClr val="D4A017">
                <a:alpha val="60000"/>
              </a:srgbClr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11672468" y="6619399"/>
            <a:ext cx="2387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B4B43"/>
                </a:solidFill>
                <a:latin typeface="Arial"/>
                <a:ea typeface="Arial"/>
                <a:cs typeface="Arial"/>
              </a:rPr>
              <a:t>P05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0E6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62000" y="0"/>
            <a:ext cx="10668000" cy="3429000"/>
            <a:chOff x="762000" y="0"/>
            <a:chExt cx="10668000" cy="3429000"/>
          </a:xfrm>
        </p:grpSpPr>
        <p:sp>
          <p:nvSpPr>
            <p:cNvPr id="3" name="Polygon 3"/>
            <p:cNvSpPr/>
            <p:nvPr/>
          </p:nvSpPr>
          <p:spPr>
            <a:xfrm>
              <a:off x="5334000" y="0"/>
              <a:ext cx="1524000" cy="2667000"/>
            </a:xfrm>
            <a:custGeom>
              <a:avLst/>
              <a:gdLst/>
              <a:ahLst/>
              <a:cxnLst/>
              <a:rect l="l" t="t" r="r" b="b"/>
              <a:pathLst>
                <a:path w="1524000" h="2667000">
                  <a:moveTo>
                    <a:pt x="762000" y="0"/>
                  </a:moveTo>
                  <a:lnTo>
                    <a:pt x="0" y="2667000"/>
                  </a:lnTo>
                  <a:lnTo>
                    <a:pt x="1524000" y="2667000"/>
                  </a:lnTo>
                  <a:close/>
                </a:path>
              </a:pathLst>
            </a:cu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4" name="Polygon 4"/>
            <p:cNvSpPr/>
            <p:nvPr/>
          </p:nvSpPr>
          <p:spPr>
            <a:xfrm>
              <a:off x="4572000" y="0"/>
              <a:ext cx="3048000" cy="3048000"/>
            </a:xfrm>
            <a:custGeom>
              <a:avLst/>
              <a:gdLst/>
              <a:ahLst/>
              <a:cxnLst/>
              <a:rect l="l" t="t" r="r" b="b"/>
              <a:pathLst>
                <a:path w="3048000" h="3048000">
                  <a:moveTo>
                    <a:pt x="1524000" y="0"/>
                  </a:moveTo>
                  <a:lnTo>
                    <a:pt x="0" y="3048000"/>
                  </a:lnTo>
                  <a:lnTo>
                    <a:pt x="3048000" y="3048000"/>
                  </a:lnTo>
                  <a:close/>
                </a:path>
              </a:pathLst>
            </a:custGeom>
            <a:solidFill>
              <a:srgbClr val="B91C1C">
                <a:alpha val="10000"/>
              </a:srgbClr>
            </a:solidFill>
            <a:ln>
              <a:noFill/>
            </a:ln>
          </p:spPr>
        </p:sp>
        <p:sp>
          <p:nvSpPr>
            <p:cNvPr id="5" name="Polygon 5"/>
            <p:cNvSpPr/>
            <p:nvPr/>
          </p:nvSpPr>
          <p:spPr>
            <a:xfrm>
              <a:off x="3810000" y="0"/>
              <a:ext cx="4572000" cy="3333750"/>
            </a:xfrm>
            <a:custGeom>
              <a:avLst/>
              <a:gdLst/>
              <a:ahLst/>
              <a:cxnLst/>
              <a:rect l="l" t="t" r="r" b="b"/>
              <a:pathLst>
                <a:path w="4572000" h="3333750">
                  <a:moveTo>
                    <a:pt x="2286000" y="0"/>
                  </a:moveTo>
                  <a:lnTo>
                    <a:pt x="0" y="3333750"/>
                  </a:lnTo>
                  <a:lnTo>
                    <a:pt x="4572000" y="3333750"/>
                  </a:lnTo>
                  <a:close/>
                </a:path>
              </a:pathLst>
            </a:custGeom>
            <a:solidFill>
              <a:srgbClr val="D4A017">
                <a:alpha val="8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905000" y="0"/>
              <a:ext cx="4191000" cy="2667000"/>
            </a:xfrm>
            <a:custGeom>
              <a:avLst/>
              <a:gdLst/>
              <a:ahLst/>
              <a:cxnLst/>
              <a:rect l="l" t="t" r="r" b="b"/>
              <a:pathLst>
                <a:path w="4191000" h="2667000">
                  <a:moveTo>
                    <a:pt x="419100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rgbClr val="D4A017">
                  <a:alpha val="2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4191000" cy="2667000"/>
            </a:xfrm>
            <a:custGeom>
              <a:avLst/>
              <a:gdLst/>
              <a:ahLst/>
              <a:cxnLst/>
              <a:rect l="l" t="t" r="r" b="b"/>
              <a:pathLst>
                <a:path w="4191000" h="2667000">
                  <a:moveTo>
                    <a:pt x="0" y="0"/>
                  </a:moveTo>
                  <a:lnTo>
                    <a:pt x="4191000" y="2667000"/>
                  </a:lnTo>
                </a:path>
              </a:pathLst>
            </a:custGeom>
            <a:noFill/>
            <a:ln w="14288">
              <a:solidFill>
                <a:srgbClr val="D4A017">
                  <a:alpha val="2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62000" y="0"/>
              <a:ext cx="5334000" cy="3429000"/>
            </a:xfrm>
            <a:custGeom>
              <a:avLst/>
              <a:gdLst/>
              <a:ahLst/>
              <a:cxnLst/>
              <a:rect l="l" t="t" r="r" b="b"/>
              <a:pathLst>
                <a:path w="5334000" h="3429000">
                  <a:moveTo>
                    <a:pt x="533400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B91C1C">
                  <a:alpha val="1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0"/>
              <a:ext cx="5334000" cy="3429000"/>
            </a:xfrm>
            <a:custGeom>
              <a:avLst/>
              <a:gdLst/>
              <a:ahLst/>
              <a:cxnLst/>
              <a:rect l="l" t="t" r="r" b="b"/>
              <a:pathLst>
                <a:path w="5334000" h="3429000">
                  <a:moveTo>
                    <a:pt x="0" y="0"/>
                  </a:moveTo>
                  <a:lnTo>
                    <a:pt x="5334000" y="3429000"/>
                  </a:lnTo>
                </a:path>
              </a:pathLst>
            </a:custGeom>
            <a:noFill/>
            <a:ln w="9525">
              <a:solidFill>
                <a:srgbClr val="B91C1C">
                  <a:alpha val="15000"/>
                </a:srgb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428750" y="1168400"/>
            <a:ext cx="9001125" cy="815975"/>
            <a:chOff x="1428750" y="1168400"/>
            <a:chExt cx="9001125" cy="815975"/>
          </a:xfrm>
        </p:grpSpPr>
        <p:sp>
          <p:nvSpPr>
            <p:cNvPr id="11" name="Freeform 11"/>
            <p:cNvSpPr/>
            <p:nvPr/>
          </p:nvSpPr>
          <p:spPr>
            <a:xfrm>
              <a:off x="1428750" y="1454150"/>
              <a:ext cx="1238250" cy="307975"/>
            </a:xfrm>
            <a:custGeom>
              <a:avLst/>
              <a:gdLst/>
              <a:ahLst/>
              <a:cxnLst/>
              <a:rect l="l" t="t" r="r" b="b"/>
              <a:pathLst>
                <a:path w="1238250" h="307975">
                  <a:moveTo>
                    <a:pt x="0" y="260350"/>
                  </a:moveTo>
                  <a:cubicBezTo>
                    <a:pt x="190500" y="133350"/>
                    <a:pt x="349250" y="117475"/>
                    <a:pt x="476250" y="212725"/>
                  </a:cubicBezTo>
                  <a:cubicBezTo>
                    <a:pt x="603250" y="307975"/>
                    <a:pt x="730250" y="285750"/>
                    <a:pt x="857250" y="146050"/>
                  </a:cubicBezTo>
                  <a:cubicBezTo>
                    <a:pt x="984250" y="0"/>
                    <a:pt x="1111250" y="6350"/>
                    <a:pt x="1238250" y="165100"/>
                  </a:cubicBezTo>
                </a:path>
              </a:pathLst>
            </a:custGeom>
            <a:noFill/>
            <a:ln w="28575">
              <a:solidFill>
                <a:srgbClr val="2A1713">
                  <a:alpha val="6000"/>
                </a:srgbClr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33750" y="1168400"/>
              <a:ext cx="1238250" cy="330200"/>
            </a:xfrm>
            <a:custGeom>
              <a:avLst/>
              <a:gdLst/>
              <a:ahLst/>
              <a:cxnLst/>
              <a:rect l="l" t="t" r="r" b="b"/>
              <a:pathLst>
                <a:path w="1238250" h="330200">
                  <a:moveTo>
                    <a:pt x="0" y="260350"/>
                  </a:moveTo>
                  <a:cubicBezTo>
                    <a:pt x="127000" y="165100"/>
                    <a:pt x="269875" y="158750"/>
                    <a:pt x="428625" y="241300"/>
                  </a:cubicBezTo>
                  <a:cubicBezTo>
                    <a:pt x="587375" y="330200"/>
                    <a:pt x="730250" y="298450"/>
                    <a:pt x="857250" y="146050"/>
                  </a:cubicBezTo>
                  <a:cubicBezTo>
                    <a:pt x="984250" y="0"/>
                    <a:pt x="1111250" y="12700"/>
                    <a:pt x="1238250" y="184150"/>
                  </a:cubicBezTo>
                </a:path>
              </a:pathLst>
            </a:custGeom>
            <a:noFill/>
            <a:ln w="28575">
              <a:solidFill>
                <a:srgbClr val="2A1713">
                  <a:alpha val="6000"/>
                </a:srgb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620000" y="1625600"/>
              <a:ext cx="1285875" cy="358775"/>
            </a:xfrm>
            <a:custGeom>
              <a:avLst/>
              <a:gdLst/>
              <a:ahLst/>
              <a:cxnLst/>
              <a:rect l="l" t="t" r="r" b="b"/>
              <a:pathLst>
                <a:path w="1285875" h="358775">
                  <a:moveTo>
                    <a:pt x="0" y="279400"/>
                  </a:moveTo>
                  <a:cubicBezTo>
                    <a:pt x="190500" y="120650"/>
                    <a:pt x="349250" y="104775"/>
                    <a:pt x="476250" y="231775"/>
                  </a:cubicBezTo>
                  <a:cubicBezTo>
                    <a:pt x="603250" y="358775"/>
                    <a:pt x="730250" y="336550"/>
                    <a:pt x="857250" y="165100"/>
                  </a:cubicBezTo>
                  <a:cubicBezTo>
                    <a:pt x="984250" y="0"/>
                    <a:pt x="1127125" y="6350"/>
                    <a:pt x="1285875" y="184150"/>
                  </a:cubicBezTo>
                </a:path>
              </a:pathLst>
            </a:custGeom>
            <a:noFill/>
            <a:ln w="28575">
              <a:solidFill>
                <a:srgbClr val="2A1713">
                  <a:alpha val="6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525000" y="1390650"/>
              <a:ext cx="904875" cy="222250"/>
            </a:xfrm>
            <a:custGeom>
              <a:avLst/>
              <a:gdLst/>
              <a:ahLst/>
              <a:cxnLst/>
              <a:rect l="l" t="t" r="r" b="b"/>
              <a:pathLst>
                <a:path w="904875" h="222250">
                  <a:moveTo>
                    <a:pt x="0" y="133350"/>
                  </a:moveTo>
                  <a:cubicBezTo>
                    <a:pt x="158750" y="6350"/>
                    <a:pt x="317500" y="0"/>
                    <a:pt x="476250" y="114300"/>
                  </a:cubicBezTo>
                  <a:cubicBezTo>
                    <a:pt x="635000" y="222250"/>
                    <a:pt x="777875" y="196850"/>
                    <a:pt x="904875" y="38100"/>
                  </a:cubicBezTo>
                </a:path>
              </a:pathLst>
            </a:custGeom>
            <a:noFill/>
            <a:ln w="28575">
              <a:solidFill>
                <a:srgbClr val="2A1713">
                  <a:alpha val="6000"/>
                </a:srgbClr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4076348" y="326708"/>
            <a:ext cx="403930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历史回响：千秋功过</a:t>
            </a:r>
          </a:p>
        </p:txBody>
      </p:sp>
      <p:sp>
        <p:nvSpPr>
          <p:cNvPr id="17" name="Line 17"/>
          <p:cNvSpPr/>
          <p:nvPr/>
        </p:nvSpPr>
        <p:spPr>
          <a:xfrm>
            <a:off x="4572000" y="8763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rgbClr val="D4A017"/>
            </a:solidFill>
          </a:ln>
        </p:spPr>
      </p:sp>
      <p:sp>
        <p:nvSpPr>
          <p:cNvPr id="18" name="Line 18"/>
          <p:cNvSpPr/>
          <p:nvPr/>
        </p:nvSpPr>
        <p:spPr>
          <a:xfrm>
            <a:off x="4953000" y="9144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7F1D1D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968115" y="1019175"/>
            <a:ext cx="42557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以历史决议为尺，铭记思想光辉，传承红色情怀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75" y="1600200"/>
            <a:ext cx="1619250" cy="1746123"/>
            <a:chOff x="5286375" y="1600200"/>
            <a:chExt cx="1619250" cy="1746123"/>
          </a:xfrm>
        </p:grpSpPr>
        <p:sp>
          <p:nvSpPr>
            <p:cNvPr id="20" name="Rectangle 20"/>
            <p:cNvSpPr/>
            <p:nvPr/>
          </p:nvSpPr>
          <p:spPr>
            <a:xfrm>
              <a:off x="5286375" y="1600200"/>
              <a:ext cx="1619250" cy="1619250"/>
            </a:xfrm>
            <a:prstGeom prst="roundRect">
              <a:avLst>
                <a:gd name="adj" fmla="val 1176"/>
              </a:avLst>
            </a:prstGeom>
            <a:noFill/>
            <a:ln w="28575">
              <a:solidFill>
                <a:srgbClr val="B91C1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62575" y="1676400"/>
              <a:ext cx="1466850" cy="1466850"/>
            </a:xfrm>
            <a:prstGeom prst="roundRect">
              <a:avLst>
                <a:gd name="adj" fmla="val 1299"/>
              </a:avLst>
            </a:prstGeom>
            <a:solidFill>
              <a:srgbClr val="FFF9F0"/>
            </a:solidFill>
            <a:ln w="14288">
              <a:solidFill>
                <a:srgbClr val="D4A017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5791200" y="1905000"/>
              <a:ext cx="609600" cy="552450"/>
            </a:xfrm>
            <a:custGeom>
              <a:avLst/>
              <a:gdLst/>
              <a:ahLst/>
              <a:cxnLst/>
              <a:rect l="l" t="t" r="r" b="b"/>
              <a:pathLst>
                <a:path w="609600" h="552450">
                  <a:moveTo>
                    <a:pt x="304800" y="0"/>
                  </a:moveTo>
                  <a:lnTo>
                    <a:pt x="381000" y="209550"/>
                  </a:lnTo>
                  <a:lnTo>
                    <a:pt x="609600" y="209550"/>
                  </a:lnTo>
                  <a:lnTo>
                    <a:pt x="428625" y="342900"/>
                  </a:lnTo>
                  <a:lnTo>
                    <a:pt x="495300" y="552450"/>
                  </a:lnTo>
                  <a:lnTo>
                    <a:pt x="304800" y="438150"/>
                  </a:lnTo>
                  <a:lnTo>
                    <a:pt x="114300" y="552450"/>
                  </a:lnTo>
                  <a:lnTo>
                    <a:pt x="180975" y="342900"/>
                  </a:lnTo>
                  <a:lnTo>
                    <a:pt x="0" y="209550"/>
                  </a:lnTo>
                  <a:lnTo>
                    <a:pt x="228600" y="209550"/>
                  </a:lnTo>
                  <a:close/>
                </a:path>
              </a:pathLst>
            </a:custGeom>
            <a:solidFill>
              <a:srgbClr val="B91C1C">
                <a:alpha val="7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35980" y="1906905"/>
              <a:ext cx="320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spc="300" dirty="0">
                  <a:solidFill>
                    <a:srgbClr val="7F1D1D"/>
                  </a:solidFill>
                  <a:latin typeface="Georgia"/>
                  <a:ea typeface="SimSun"/>
                  <a:cs typeface="Georgia"/>
                </a:rPr>
                <a:t>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35980" y="2249805"/>
              <a:ext cx="320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spc="300" dirty="0">
                  <a:solidFill>
                    <a:srgbClr val="7F1D1D"/>
                  </a:solidFill>
                  <a:latin typeface="Georgia"/>
                  <a:ea typeface="SimSun"/>
                  <a:cs typeface="Georgia"/>
                </a:rPr>
                <a:t>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35980" y="2592705"/>
              <a:ext cx="320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spc="300" dirty="0">
                  <a:solidFill>
                    <a:srgbClr val="7F1D1D"/>
                  </a:solidFill>
                  <a:latin typeface="Georgia"/>
                  <a:ea typeface="SimSun"/>
                  <a:cs typeface="Georgia"/>
                </a:rPr>
                <a:t>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35980" y="2935605"/>
              <a:ext cx="320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spc="300" dirty="0">
                  <a:solidFill>
                    <a:srgbClr val="7F1D1D"/>
                  </a:solidFill>
                  <a:latin typeface="Georgia"/>
                  <a:ea typeface="SimSun"/>
                  <a:cs typeface="Georgia"/>
                </a:rPr>
                <a:t>过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524000"/>
            <a:ext cx="4000500" cy="3619500"/>
            <a:chOff x="762000" y="1524000"/>
            <a:chExt cx="4000500" cy="3619500"/>
          </a:xfrm>
        </p:grpSpPr>
        <p:sp>
          <p:nvSpPr>
            <p:cNvPr id="28" name="Rectangle 28"/>
            <p:cNvSpPr/>
            <p:nvPr/>
          </p:nvSpPr>
          <p:spPr>
            <a:xfrm>
              <a:off x="762000" y="1524000"/>
              <a:ext cx="4000500" cy="3619500"/>
            </a:xfrm>
            <a:prstGeom prst="roundRect">
              <a:avLst>
                <a:gd name="adj" fmla="val 789"/>
              </a:avLst>
            </a:prstGeom>
            <a:solidFill>
              <a:srgbClr val="FFF9F0"/>
            </a:solidFill>
            <a:ln w="14288">
              <a:solidFill>
                <a:srgbClr val="C88A5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" y="1524000"/>
              <a:ext cx="4000500" cy="457200"/>
            </a:xfrm>
            <a:prstGeom prst="roundRect">
              <a:avLst>
                <a:gd name="adj" fmla="val 6250"/>
              </a:avLst>
            </a:prstGeom>
            <a:solidFill>
              <a:srgbClr val="8B1E1E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1952625"/>
              <a:ext cx="4000500" cy="28575"/>
            </a:xfrm>
            <a:prstGeom prst="rect">
              <a:avLst/>
            </a:prstGeom>
            <a:solidFill>
              <a:srgbClr val="8B1E1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1456" y="16344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历史决议根本遵循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41654" y="2156460"/>
            <a:ext cx="27665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• 1945年《关于若干历史问题的决议》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9279" y="24041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确立毛泽东思想指导地位，奠定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9279" y="26517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全党对历史问题的共识基础。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41654" y="3394710"/>
            <a:ext cx="24434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• 1981年《关于建国以来党的若干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9279" y="364236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历史问题的决议》科学区分毛泽东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9279" y="389001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思想体系与晚年错误。</a:t>
            </a:r>
          </a:p>
        </p:txBody>
      </p:sp>
      <p:sp>
        <p:nvSpPr>
          <p:cNvPr id="39" name="Line 39"/>
          <p:cNvSpPr/>
          <p:nvPr/>
        </p:nvSpPr>
        <p:spPr>
          <a:xfrm>
            <a:off x="1047750" y="46672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4288">
            <a:solidFill>
              <a:srgbClr val="D4A017">
                <a:alpha val="6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042035" y="4793456"/>
            <a:ext cx="21797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i="1" dirty="0">
                <a:solidFill>
                  <a:srgbClr val="6B4B43"/>
                </a:solidFill>
                <a:latin typeface="Georgia"/>
                <a:ea typeface="SimSun"/>
                <a:cs typeface="Georgia"/>
              </a:rPr>
              <a:t>"毛泽东思想不包含毛泽东晚年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2035" y="5022056"/>
            <a:ext cx="24117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i="1" dirty="0">
                <a:solidFill>
                  <a:srgbClr val="6B4B43"/>
                </a:solidFill>
                <a:latin typeface="Georgia"/>
                <a:ea typeface="SimSun"/>
                <a:cs typeface="Georgia"/>
              </a:rPr>
              <a:t>错误论点，是被实践证明关于中国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2035" y="5250656"/>
            <a:ext cx="21797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i="1" dirty="0">
                <a:solidFill>
                  <a:srgbClr val="6B4B43"/>
                </a:solidFill>
                <a:latin typeface="Georgia"/>
                <a:ea typeface="SimSun"/>
                <a:cs typeface="Georgia"/>
              </a:rPr>
              <a:t>革命和建设的正确理论原则。"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7429500" y="1524000"/>
            <a:ext cx="4000500" cy="3619500"/>
            <a:chOff x="7429500" y="1524000"/>
            <a:chExt cx="4000500" cy="3619500"/>
          </a:xfrm>
        </p:grpSpPr>
        <p:sp>
          <p:nvSpPr>
            <p:cNvPr id="43" name="Rectangle 43"/>
            <p:cNvSpPr/>
            <p:nvPr/>
          </p:nvSpPr>
          <p:spPr>
            <a:xfrm>
              <a:off x="7429500" y="1524000"/>
              <a:ext cx="4000500" cy="3619500"/>
            </a:xfrm>
            <a:prstGeom prst="roundRect">
              <a:avLst>
                <a:gd name="adj" fmla="val 789"/>
              </a:avLst>
            </a:prstGeom>
            <a:solidFill>
              <a:srgbClr val="FFF9F0"/>
            </a:solidFill>
            <a:ln w="14288">
              <a:solidFill>
                <a:srgbClr val="C88A5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429500" y="1524000"/>
              <a:ext cx="4000500" cy="457200"/>
            </a:xfrm>
            <a:prstGeom prst="roundRect">
              <a:avLst>
                <a:gd name="adj" fmla="val 6250"/>
              </a:avLst>
            </a:prstGeom>
            <a:solidFill>
              <a:srgbClr val="8B1E1E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429500" y="1952625"/>
              <a:ext cx="4000500" cy="28575"/>
            </a:xfrm>
            <a:prstGeom prst="rect">
              <a:avLst/>
            </a:prstGeom>
            <a:solidFill>
              <a:srgbClr val="8B1E1E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48956" y="16344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毛泽东思想光辉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709154" y="2156460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• 马克思列宁主义在中国的创造性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756779" y="24041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运用，新民主主义革命与社会主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756779" y="26517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义建设的科学指导思想。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09154" y="3585210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• 逾千万字的著述、诗词与思想遗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756779" y="383286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产，构成中国共产党宝贵的精神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756779" y="40805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财富，持续影响中国各领域。</a:t>
            </a:r>
          </a:p>
        </p:txBody>
      </p:sp>
      <p:sp>
        <p:nvSpPr>
          <p:cNvPr id="54" name="Line 54"/>
          <p:cNvSpPr/>
          <p:nvPr/>
        </p:nvSpPr>
        <p:spPr>
          <a:xfrm>
            <a:off x="7715250" y="46672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4288">
            <a:solidFill>
              <a:srgbClr val="D4A017">
                <a:alpha val="60000"/>
              </a:srgbClr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709535" y="4793456"/>
            <a:ext cx="23397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i="1" dirty="0">
                <a:solidFill>
                  <a:srgbClr val="6B4B43"/>
                </a:solidFill>
                <a:latin typeface="Georgia"/>
                <a:ea typeface="SimSun"/>
                <a:cs typeface="Georgia"/>
              </a:rPr>
              <a:t>"《毛泽东选集》《毛泽东文集》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09535" y="5022056"/>
            <a:ext cx="23397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i="1" dirty="0">
                <a:solidFill>
                  <a:srgbClr val="6B4B43"/>
                </a:solidFill>
                <a:latin typeface="Georgia"/>
                <a:ea typeface="SimSun"/>
                <a:cs typeface="Georgia"/>
              </a:rPr>
              <a:t>红色精神代代相传，光辉永驻。"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0" y="5286375"/>
            <a:ext cx="12192000" cy="1285875"/>
            <a:chOff x="0" y="5286375"/>
            <a:chExt cx="12192000" cy="1285875"/>
          </a:xfrm>
        </p:grpSpPr>
        <p:sp>
          <p:nvSpPr>
            <p:cNvPr id="57" name="Line 57"/>
            <p:cNvSpPr/>
            <p:nvPr/>
          </p:nvSpPr>
          <p:spPr>
            <a:xfrm>
              <a:off x="0" y="5905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88A58">
                  <a:alpha val="40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762000" y="5429250"/>
              <a:ext cx="5334000" cy="666750"/>
            </a:xfrm>
            <a:custGeom>
              <a:avLst/>
              <a:gdLst/>
              <a:ahLst/>
              <a:cxnLst/>
              <a:rect l="l" t="t" r="r" b="b"/>
              <a:pathLst>
                <a:path w="5334000" h="666750">
                  <a:moveTo>
                    <a:pt x="5334000" y="666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905000" y="5334000"/>
              <a:ext cx="4191000" cy="762000"/>
            </a:xfrm>
            <a:custGeom>
              <a:avLst/>
              <a:gdLst/>
              <a:ahLst/>
              <a:cxnLst/>
              <a:rect l="l" t="t" r="r" b="b"/>
              <a:pathLst>
                <a:path w="4191000" h="762000">
                  <a:moveTo>
                    <a:pt x="4191000" y="7620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A017">
                  <a:alpha val="25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3810000" y="5286375"/>
              <a:ext cx="2286000" cy="809625"/>
            </a:xfrm>
            <a:custGeom>
              <a:avLst/>
              <a:gdLst/>
              <a:ahLst/>
              <a:cxnLst/>
              <a:rect l="l" t="t" r="r" b="b"/>
              <a:pathLst>
                <a:path w="2286000" h="809625">
                  <a:moveTo>
                    <a:pt x="2286000" y="8096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4A017">
                  <a:alpha val="30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5286375"/>
              <a:ext cx="2286000" cy="809625"/>
            </a:xfrm>
            <a:custGeom>
              <a:avLst/>
              <a:gdLst/>
              <a:ahLst/>
              <a:cxnLst/>
              <a:rect l="l" t="t" r="r" b="b"/>
              <a:pathLst>
                <a:path w="2286000" h="809625">
                  <a:moveTo>
                    <a:pt x="0" y="809625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rgbClr val="D4A017">
                  <a:alpha val="30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6096000" y="5334000"/>
              <a:ext cx="4191000" cy="762000"/>
            </a:xfrm>
            <a:custGeom>
              <a:avLst/>
              <a:gdLst/>
              <a:ahLst/>
              <a:cxnLst/>
              <a:rect l="l" t="t" r="r" b="b"/>
              <a:pathLst>
                <a:path w="4191000" h="762000">
                  <a:moveTo>
                    <a:pt x="0" y="762000"/>
                  </a:moveTo>
                  <a:lnTo>
                    <a:pt x="4191000" y="0"/>
                  </a:lnTo>
                </a:path>
              </a:pathLst>
            </a:custGeom>
            <a:noFill/>
            <a:ln w="14288">
              <a:solidFill>
                <a:srgbClr val="D4A017">
                  <a:alpha val="25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6096000" y="5429250"/>
              <a:ext cx="5334000" cy="666750"/>
            </a:xfrm>
            <a:custGeom>
              <a:avLst/>
              <a:gdLst/>
              <a:ahLst/>
              <a:cxnLst/>
              <a:rect l="l" t="t" r="r" b="b"/>
              <a:pathLst>
                <a:path w="5334000" h="666750">
                  <a:moveTo>
                    <a:pt x="0" y="66675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4953000" y="5619750"/>
              <a:ext cx="2286000" cy="952500"/>
            </a:xfrm>
            <a:prstGeom prst="ellipse">
              <a:avLst/>
            </a:prstGeom>
            <a:solidFill>
              <a:srgbClr val="B91C1C">
                <a:alpha val="18000"/>
              </a:srgbClr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5334000" y="5762625"/>
              <a:ext cx="1524000" cy="666750"/>
            </a:xfrm>
            <a:prstGeom prst="ellipse">
              <a:avLst/>
            </a:prstGeom>
            <a:solidFill>
              <a:srgbClr val="B91C1C">
                <a:alpha val="25000"/>
              </a:srgbClr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5619750" y="5886450"/>
              <a:ext cx="952500" cy="419100"/>
            </a:xfrm>
            <a:prstGeom prst="ellipse">
              <a:avLst/>
            </a:pr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5429250" y="6048375"/>
              <a:ext cx="1333500" cy="190500"/>
            </a:xfrm>
            <a:prstGeom prst="ellipse">
              <a:avLst/>
            </a:prstGeom>
            <a:solidFill>
              <a:srgbClr val="D4A017">
                <a:alpha val="8000"/>
              </a:srgbClr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4444746" y="6317932"/>
            <a:ext cx="33025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i="1" dirty="0">
                <a:solidFill>
                  <a:srgbClr val="7F1D1D"/>
                </a:solidFill>
                <a:latin typeface="Georgia"/>
                <a:ea typeface="SimSun"/>
                <a:cs typeface="Georgia"/>
              </a:rPr>
              <a:t>红色精神永续，东方红日照前路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392376" y="65922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B4B43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2026-07-18T16:43:27Z</dcterms:created>
  <dcterms:modified xsi:type="dcterms:W3CDTF">2026-07-18T16:43:27Z</dcterms:modified>
  <cp:category/>
  <cp:contentStatus/>
</cp:coreProperties>
</file>