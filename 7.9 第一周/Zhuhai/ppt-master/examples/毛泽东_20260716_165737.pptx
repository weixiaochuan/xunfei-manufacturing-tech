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0806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毛泽东：多维观察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349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从来源 1与毛泽东等维度展开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38200" y="2659380"/>
            <a:ext cx="2090517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1893</a:t>
            </a:r>
          </a:p>
        </p:txBody>
      </p:sp>
      <p:sp>
        <p:nvSpPr>
          <p:cNvPr id="10" name="Ellipse 10"/>
          <p:cNvSpPr/>
          <p:nvPr/>
        </p:nvSpPr>
        <p:spPr>
          <a:xfrm>
            <a:off x="3467100" y="4667250"/>
            <a:ext cx="1409700" cy="14097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51154" y="2436495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毛泽东：多维观察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6582" y="4331018"/>
            <a:ext cx="383569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从来源 1与毛泽东等维度展开</a:t>
            </a:r>
          </a:p>
        </p:txBody>
      </p:sp>
      <p:sp>
        <p:nvSpPr>
          <p:cNvPr id="13" name="Line 13"/>
          <p:cNvSpPr/>
          <p:nvPr/>
        </p:nvSpPr>
        <p:spPr>
          <a:xfrm>
            <a:off x="5162550" y="18669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4" name="Line 14"/>
          <p:cNvSpPr/>
          <p:nvPr/>
        </p:nvSpPr>
        <p:spPr>
          <a:xfrm>
            <a:off x="5162550" y="381952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345430" y="2084070"/>
            <a:ext cx="6195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46192" y="2474595"/>
            <a:ext cx="66448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毛泽东**（1893年12月26日—1976年9月9日），字**润之**，湖南湘潭人[\[1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47716" y="3024188"/>
            <a:ext cx="4703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2 ( 3813 ，中国近代马列主义理论家、革命家、政治家、军事战略家与诗人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8288" y="3584734"/>
            <a:ext cx="13589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1：文档｜毛泽东 素材</a:t>
            </a:r>
          </a:p>
        </p:txBody>
      </p:sp>
      <p:sp>
        <p:nvSpPr>
          <p:cNvPr id="19" name="Line 19"/>
          <p:cNvSpPr/>
          <p:nvPr/>
        </p:nvSpPr>
        <p:spPr>
          <a:xfrm>
            <a:off x="5162550" y="39814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20" name="Line 20"/>
          <p:cNvSpPr/>
          <p:nvPr/>
        </p:nvSpPr>
        <p:spPr>
          <a:xfrm>
            <a:off x="5162550" y="59340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6269498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 xml:space="preserve">毛泽东**（1893年12月26日—1976年9月9日），字**润之**，湖南湘潭人[\[1 </a:t>
            </a: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2 ( 38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47716" y="5138738"/>
            <a:ext cx="43077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13 ，中国近代马列主义理论家、革命家、政治家、军事战略家与诗人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48288" y="5699284"/>
            <a:ext cx="62845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毛泽东**（1893年12月26日—1976年9月9日），字**润之**，湖南湘潭人[\[12 ( 3813 ，中国近代马列主义理论家、革命家、…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5" name="Line 25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1151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来源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2218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来源 1：文档｜毛泽东 素材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6195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8185" y="2665571"/>
            <a:ext cx="55373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毛泽东**（1893年12月26日—1976年9月9日），字**润之**，湖南湘潭人[\[1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8566" y="3094673"/>
            <a:ext cx="4703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2 ( 3813 ，中国近代马列主义理论家、革命家、政治家、军事战略家与诗人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575209"/>
            <a:ext cx="13589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1：文档｜毛泽东 素材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103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10300" y="1962150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393180" y="2293620"/>
            <a:ext cx="8951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第 2 部分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93942" y="2665095"/>
            <a:ext cx="30668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毛泽东: 来源 1：文档｜毛泽东 素材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6038" y="3575209"/>
            <a:ext cx="51738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毛泽东**（1893年12月26日—1976年9月9日），字**润之**，湖南湘潭人[\[12 ( 3813 ，中国近代马列…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33400" y="4010025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16280" y="434149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8566" y="4713922"/>
            <a:ext cx="5191315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 xml:space="preserve">毛泽东**（1893年12月26日—1976年9月9日），字**润之**，湖南湘潭人[\[12 ( 3 </a:t>
            </a:r>
            <a:r>
              <a:rPr lang="en-US" sz="10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8566" y="5142548"/>
            <a:ext cx="43077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13 ，中国近代马列主义理论家、革命家、政治家、军事战略家与诗人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9138" y="5623084"/>
            <a:ext cx="51016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1943年成为中共最高领导人[\[注 1 ( ，是中国共产党、中国人民解放军和中华人民共和国的缔造者之一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103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10300" y="4010025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393180" y="434149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毛泽东生于农民家庭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95466" y="4713922"/>
            <a:ext cx="5247322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毛泽东生于农民家庭，早年入私塾，1918年毕业于湖南省立第一师范学校，1920年在</a:t>
            </a: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湖南创建中共早期组织，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95466" y="514254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次年出席中共一大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96038" y="5623084"/>
            <a:ext cx="52238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毛泽东生于农民家庭，早年入私塾，1918年毕业于湖南省立第一师范学校，1920年在湖南创建中共早期组…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0" name="Line 30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中华人民共和国成立后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9942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从1949到1970，关键事件沿时间推进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Line 7"/>
          <p:cNvSpPr/>
          <p:nvPr/>
        </p:nvSpPr>
        <p:spPr>
          <a:xfrm>
            <a:off x="781050" y="2152650"/>
            <a:ext cx="10629900" cy="9525"/>
          </a:xfrm>
          <a:custGeom>
            <a:avLst/>
            <a:gdLst/>
            <a:ahLst/>
            <a:cxnLst/>
            <a:rect l="l" t="t" r="r" b="b"/>
            <a:pathLst>
              <a:path w="10629900" h="9525">
                <a:moveTo>
                  <a:pt x="0" y="0"/>
                </a:moveTo>
                <a:lnTo>
                  <a:pt x="10629900" y="0"/>
                </a:lnTo>
              </a:path>
            </a:pathLst>
          </a:custGeom>
          <a:noFill/>
          <a:ln w="38100">
            <a:solidFill>
              <a:srgbClr val="C1D3FA"/>
            </a:solidFill>
          </a:ln>
        </p:spPr>
      </p:sp>
      <p:sp>
        <p:nvSpPr>
          <p:cNvPr id="8" name="Line 8"/>
          <p:cNvSpPr/>
          <p:nvPr/>
        </p:nvSpPr>
        <p:spPr>
          <a:xfrm>
            <a:off x="3267075" y="21526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9" name="Ellipse 9"/>
          <p:cNvSpPr/>
          <p:nvPr/>
        </p:nvSpPr>
        <p:spPr>
          <a:xfrm>
            <a:off x="3143250" y="2028825"/>
            <a:ext cx="247650" cy="2476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3219450" y="2105025"/>
            <a:ext cx="95250" cy="9525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51777" y="4053840"/>
            <a:ext cx="96339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1949</a:t>
            </a:r>
          </a:p>
        </p:txBody>
      </p:sp>
      <p:sp>
        <p:nvSpPr>
          <p:cNvPr id="12" name="Line 12"/>
          <p:cNvSpPr/>
          <p:nvPr/>
        </p:nvSpPr>
        <p:spPr>
          <a:xfrm>
            <a:off x="1714500" y="2647950"/>
            <a:ext cx="9525" cy="3200400"/>
          </a:xfrm>
          <a:custGeom>
            <a:avLst/>
            <a:gdLst/>
            <a:ahLst/>
            <a:cxnLst/>
            <a:rect l="l" t="t" r="r" b="b"/>
            <a:pathLst>
              <a:path w="9525" h="3200400">
                <a:moveTo>
                  <a:pt x="0" y="0"/>
                </a:moveTo>
                <a:lnTo>
                  <a:pt x="0" y="320040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125980" y="276987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据多方估计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26742" y="3160395"/>
            <a:ext cx="3794189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据多方估计，1949年至1976年间，因上述政治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运动以及三年大饥荒等灾祸，中国大陆的非正常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死亡人数达到4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28266" y="4856798"/>
            <a:ext cx="14736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000万至8000万[\[注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28838" y="5718334"/>
            <a:ext cx="373563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中华人民共和国成立后，毛泽东先后主导发起了土地改革运动、社会主义改…</a:t>
            </a:r>
          </a:p>
        </p:txBody>
      </p:sp>
      <p:sp>
        <p:nvSpPr>
          <p:cNvPr id="17" name="Line 17"/>
          <p:cNvSpPr/>
          <p:nvPr/>
        </p:nvSpPr>
        <p:spPr>
          <a:xfrm>
            <a:off x="8924925" y="21526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8801100" y="2028825"/>
            <a:ext cx="247650" cy="2476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8877300" y="2105025"/>
            <a:ext cx="95250" cy="9525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09627" y="4053840"/>
            <a:ext cx="96339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1970</a:t>
            </a:r>
          </a:p>
        </p:txBody>
      </p:sp>
      <p:sp>
        <p:nvSpPr>
          <p:cNvPr id="21" name="Line 21"/>
          <p:cNvSpPr/>
          <p:nvPr/>
        </p:nvSpPr>
        <p:spPr>
          <a:xfrm>
            <a:off x="7372350" y="2647950"/>
            <a:ext cx="9525" cy="3200400"/>
          </a:xfrm>
          <a:custGeom>
            <a:avLst/>
            <a:gdLst/>
            <a:ahLst/>
            <a:cxnLst/>
            <a:rect l="l" t="t" r="r" b="b"/>
            <a:pathLst>
              <a:path w="9525" h="3200400">
                <a:moveTo>
                  <a:pt x="0" y="0"/>
                </a:moveTo>
                <a:lnTo>
                  <a:pt x="0" y="320040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783830" y="27698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与此同时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84592" y="3160395"/>
            <a:ext cx="3974211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与此同时，毛泽东等人在中国大陆展开扫盲运动，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制定《五四宪法》，并于1970年代初期开始实行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计划生育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86116" y="485679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86688" y="5718334"/>
            <a:ext cx="37967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与此同时，毛泽东等人在中国大陆展开扫盲运动，制定《五四宪法》，并于1…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6" name="Line 26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75458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新中国成立后 vs 认清只有彻底改造这个社会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对照新中国成立后与认清只有彻底改造这个社会的关键差异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192405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867400" y="3648075"/>
            <a:ext cx="457200" cy="457200"/>
          </a:xfrm>
          <a:prstGeom prst="ellipse">
            <a:avLst/>
          </a:prstGeom>
          <a:solidFill>
            <a:srgbClr val="F8FBFF"/>
          </a:solidFill>
          <a:ln w="19050">
            <a:solidFill>
              <a:srgbClr val="2563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10957" y="3813334"/>
            <a:ext cx="1700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10" name="Line 10"/>
          <p:cNvSpPr/>
          <p:nvPr/>
        </p:nvSpPr>
        <p:spPr>
          <a:xfrm>
            <a:off x="5334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2563EB"/>
            </a:solidFill>
          </a:ln>
        </p:spPr>
      </p:sp>
      <p:sp>
        <p:nvSpPr>
          <p:cNvPr id="11" name="Line 11"/>
          <p:cNvSpPr/>
          <p:nvPr/>
        </p:nvSpPr>
        <p:spPr>
          <a:xfrm>
            <a:off x="5334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91337" y="2083594"/>
            <a:ext cx="148050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新中国成立后</a:t>
            </a:r>
          </a:p>
        </p:txBody>
      </p:sp>
      <p:sp>
        <p:nvSpPr>
          <p:cNvPr id="13" name="Line 13"/>
          <p:cNvSpPr/>
          <p:nvPr/>
        </p:nvSpPr>
        <p:spPr>
          <a:xfrm>
            <a:off x="7239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4" name="Line 14"/>
          <p:cNvSpPr/>
          <p:nvPr/>
        </p:nvSpPr>
        <p:spPr>
          <a:xfrm>
            <a:off x="7239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06780" y="27889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新中国成立后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7542" y="3179445"/>
            <a:ext cx="487432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新中国成立后，毛泽东曾向堂弟毛泽连称，认为父亲毛顺生买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进毛泽连父亲毛菊生赖以活命的7亩田极不道德，并反思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9066" y="4723448"/>
            <a:ext cx="31981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道：“这不光是个人与家庭问题，还是社会制度问题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9638" y="5584984"/>
            <a:ext cx="47962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新中国成立后，毛泽东曾向堂弟毛泽连称，认为父亲毛顺生买进毛泽连父亲毛菊生赖以活命的7亩…</a:t>
            </a:r>
          </a:p>
        </p:txBody>
      </p:sp>
      <p:sp>
        <p:nvSpPr>
          <p:cNvPr id="19" name="Line 19"/>
          <p:cNvSpPr/>
          <p:nvPr/>
        </p:nvSpPr>
        <p:spPr>
          <a:xfrm>
            <a:off x="62103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7C3AED"/>
            </a:solidFill>
          </a:ln>
        </p:spPr>
      </p:sp>
      <p:sp>
        <p:nvSpPr>
          <p:cNvPr id="20" name="Line 20"/>
          <p:cNvSpPr/>
          <p:nvPr/>
        </p:nvSpPr>
        <p:spPr>
          <a:xfrm>
            <a:off x="62103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468237" y="2083594"/>
            <a:ext cx="294349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认清只有彻底改造这个社会</a:t>
            </a:r>
          </a:p>
        </p:txBody>
      </p:sp>
      <p:sp>
        <p:nvSpPr>
          <p:cNvPr id="22" name="Line 22"/>
          <p:cNvSpPr/>
          <p:nvPr/>
        </p:nvSpPr>
        <p:spPr>
          <a:xfrm>
            <a:off x="64008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23" name="Line 23"/>
          <p:cNvSpPr/>
          <p:nvPr/>
        </p:nvSpPr>
        <p:spPr>
          <a:xfrm>
            <a:off x="64008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583680" y="2788920"/>
            <a:ext cx="2559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认清只有彻底改造这个社会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84442" y="3179445"/>
            <a:ext cx="487432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认清只有彻底改造这个社会，才能根绝这类事情，于是下决心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寻找一条解救穷苦农民的道路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86538" y="5584984"/>
            <a:ext cx="44519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认清只有彻底改造这个社会，才能根绝这类事情，于是下决心寻找一条解救穷苦农民的道路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93567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武昌起义后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82645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35 ( [\[30 ( 10–11 10月24日，毛泽东投入湖南新军二十五混成协五十标第一营左队当列兵[\[31 ( 20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33400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04850" y="2266950"/>
            <a:ext cx="438150" cy="285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9194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9680" y="235077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武昌起义后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442" y="2741295"/>
            <a:ext cx="1453896" cy="1407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35 ( [\[30 ( 10– 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11 10月24日，毛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泽东投入湖南新军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二十五混成协五十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标第一营左队当列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兵[\[31 ( 20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2538" y="5642134"/>
            <a:ext cx="15144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武昌起义后，中华民国湖南省…</a:t>
            </a:r>
          </a:p>
        </p:txBody>
      </p:sp>
      <p:sp>
        <p:nvSpPr>
          <p:cNvPr id="13" name="Line 13"/>
          <p:cNvSpPr/>
          <p:nvPr/>
        </p:nvSpPr>
        <p:spPr>
          <a:xfrm>
            <a:off x="3148012" y="40005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3319462" y="39243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0" y="0"/>
                </a:moveTo>
                <a:lnTo>
                  <a:pt x="952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5" name="Polygon 15"/>
          <p:cNvSpPr/>
          <p:nvPr/>
        </p:nvSpPr>
        <p:spPr>
          <a:xfrm>
            <a:off x="3395662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3567112" y="2266950"/>
            <a:ext cx="438150" cy="2857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711456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11942" y="2350770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2704" y="2741295"/>
            <a:ext cx="1453896" cy="1407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35 ( [\[30 ( 10– 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11 10月24日，毛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泽东投入湖南新军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二十五混成协五十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标第一营左队当列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14228" y="478059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31 ( 20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14800" y="5642134"/>
            <a:ext cx="144777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35 ( [\[30 ( 10–11 10月24…</a:t>
            </a:r>
          </a:p>
        </p:txBody>
      </p:sp>
      <p:sp>
        <p:nvSpPr>
          <p:cNvPr id="22" name="Line 22"/>
          <p:cNvSpPr/>
          <p:nvPr/>
        </p:nvSpPr>
        <p:spPr>
          <a:xfrm>
            <a:off x="6010275" y="40005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6181725" y="39243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0" y="0"/>
                </a:moveTo>
                <a:lnTo>
                  <a:pt x="952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6257925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429375" y="2266950"/>
            <a:ext cx="438150" cy="285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573719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74205" y="2350770"/>
            <a:ext cx="9057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1912年春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74967" y="2741295"/>
            <a:ext cx="1489900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1912年春，毛泽东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退出军队，继续求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学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77062" y="5642134"/>
            <a:ext cx="15366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1912年春，毛泽东退出军队，…</a:t>
            </a:r>
          </a:p>
        </p:txBody>
      </p:sp>
      <p:sp>
        <p:nvSpPr>
          <p:cNvPr id="30" name="Line 30"/>
          <p:cNvSpPr/>
          <p:nvPr/>
        </p:nvSpPr>
        <p:spPr>
          <a:xfrm>
            <a:off x="8872538" y="40005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9043988" y="39243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0" y="0"/>
                </a:moveTo>
                <a:lnTo>
                  <a:pt x="952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32" name="Polygon 32"/>
          <p:cNvSpPr/>
          <p:nvPr/>
        </p:nvSpPr>
        <p:spPr>
          <a:xfrm>
            <a:off x="9120188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9291638" y="2266950"/>
            <a:ext cx="438150" cy="2857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435981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37610" y="2265521"/>
            <a:ext cx="1543145" cy="449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575"/>
              </a:lnSpc>
            </a:pPr>
            <a:r>
              <a:rPr lang="zh-CN" sz="128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他曾在湖南公立高等</a:t>
            </a:r>
            <a:r>
              <a:rPr lang="zh-CN" sz="128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商业学校学习一个月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837230" y="2741295"/>
            <a:ext cx="1453896" cy="1178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他曾在湖南公立高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等商业学校学习一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个月，后因不适应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全英文教学而主动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退学[\[36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39325" y="5642134"/>
            <a:ext cx="15144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他曾在湖南公立高等商业学校…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8" name="Line 3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98885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毛泽东：关键脉络与核心结论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沿关键阶段与主要事件回看毛泽东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Ellipse 7"/>
          <p:cNvSpPr/>
          <p:nvPr/>
        </p:nvSpPr>
        <p:spPr>
          <a:xfrm>
            <a:off x="4591050" y="2352675"/>
            <a:ext cx="3009900" cy="30099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4972050" y="2733675"/>
            <a:ext cx="2247900" cy="22479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633815" y="2947035"/>
            <a:ext cx="924371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7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92735" y="3003709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总结与回望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55915" y="3873818"/>
            <a:ext cx="2880170" cy="6957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475"/>
              </a:lnSpc>
            </a:pPr>
            <a:r>
              <a:rPr lang="zh-CN" sz="19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沿关键阶段与主要事件回</a:t>
            </a:r>
            <a:r>
              <a:rPr lang="zh-CN" sz="19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看毛泽东</a:t>
            </a:r>
          </a:p>
        </p:txBody>
      </p:sp>
      <p:sp>
        <p:nvSpPr>
          <p:cNvPr id="12" name="Line 12"/>
          <p:cNvSpPr/>
          <p:nvPr/>
        </p:nvSpPr>
        <p:spPr>
          <a:xfrm>
            <a:off x="3676650" y="2600325"/>
            <a:ext cx="590550" cy="581025"/>
          </a:xfrm>
          <a:custGeom>
            <a:avLst/>
            <a:gdLst/>
            <a:ahLst/>
            <a:cxnLst/>
            <a:rect l="l" t="t" r="r" b="b"/>
            <a:pathLst>
              <a:path w="590550" h="581025">
                <a:moveTo>
                  <a:pt x="0" y="0"/>
                </a:moveTo>
                <a:lnTo>
                  <a:pt x="590550" y="581025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3609975" y="2533650"/>
            <a:ext cx="133350" cy="1333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533400" y="19050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47625">
            <a:solidFill>
              <a:srgbClr val="2563E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0080" y="2122170"/>
            <a:ext cx="6195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223" y="2532221"/>
            <a:ext cx="2895219" cy="458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毛泽东**（1893年12月26日—1976年9月</a:t>
            </a: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9日），字**润之**，湖南湘潭人[\[1</a:t>
            </a:r>
          </a:p>
        </p:txBody>
      </p:sp>
      <p:sp>
        <p:nvSpPr>
          <p:cNvPr id="17" name="Line 17"/>
          <p:cNvSpPr/>
          <p:nvPr/>
        </p:nvSpPr>
        <p:spPr>
          <a:xfrm>
            <a:off x="7924800" y="2600325"/>
            <a:ext cx="590550" cy="581025"/>
          </a:xfrm>
          <a:custGeom>
            <a:avLst/>
            <a:gdLst/>
            <a:ahLst/>
            <a:cxnLst/>
            <a:rect l="l" t="t" r="r" b="b"/>
            <a:pathLst>
              <a:path w="590550" h="581025">
                <a:moveTo>
                  <a:pt x="590550" y="0"/>
                </a:moveTo>
                <a:lnTo>
                  <a:pt x="0" y="581025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8448675" y="2533650"/>
            <a:ext cx="133350" cy="1333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8515350" y="19050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622030" y="212217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据多方估计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23173" y="2532221"/>
            <a:ext cx="2927604" cy="6684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据多方估计，1949年至1976年间，因上</a:t>
            </a: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述政治运动以及三年大饥荒等灾祸，中国</a:t>
            </a: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大陆的非正常死亡人数达到4</a:t>
            </a:r>
          </a:p>
        </p:txBody>
      </p:sp>
      <p:sp>
        <p:nvSpPr>
          <p:cNvPr id="22" name="Line 22"/>
          <p:cNvSpPr/>
          <p:nvPr/>
        </p:nvSpPr>
        <p:spPr>
          <a:xfrm>
            <a:off x="3676650" y="4533900"/>
            <a:ext cx="590550" cy="695325"/>
          </a:xfrm>
          <a:custGeom>
            <a:avLst/>
            <a:gdLst/>
            <a:ahLst/>
            <a:cxnLst/>
            <a:rect l="l" t="t" r="r" b="b"/>
            <a:pathLst>
              <a:path w="590550" h="695325">
                <a:moveTo>
                  <a:pt x="0" y="695325"/>
                </a:moveTo>
                <a:lnTo>
                  <a:pt x="590550" y="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3609975" y="5162550"/>
            <a:ext cx="133350" cy="1333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" y="45339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47625">
            <a:solidFill>
              <a:srgbClr val="2563E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40080" y="475107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新中国成立后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1223" y="5161121"/>
            <a:ext cx="3089529" cy="6684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新中国成立后，毛泽东曾向堂弟毛泽连称，</a:t>
            </a: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认为父亲毛顺生买进毛泽连父亲毛菊生赖</a:t>
            </a: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以活命的7亩田极不道德，并反思</a:t>
            </a:r>
          </a:p>
        </p:txBody>
      </p:sp>
      <p:sp>
        <p:nvSpPr>
          <p:cNvPr id="27" name="Line 27"/>
          <p:cNvSpPr/>
          <p:nvPr/>
        </p:nvSpPr>
        <p:spPr>
          <a:xfrm>
            <a:off x="7924800" y="4533900"/>
            <a:ext cx="590550" cy="695325"/>
          </a:xfrm>
          <a:custGeom>
            <a:avLst/>
            <a:gdLst/>
            <a:ahLst/>
            <a:cxnLst/>
            <a:rect l="l" t="t" r="r" b="b"/>
            <a:pathLst>
              <a:path w="590550" h="695325">
                <a:moveTo>
                  <a:pt x="590550" y="6953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448675" y="5162550"/>
            <a:ext cx="133350" cy="1333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8515350" y="45339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622030" y="475107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武昌起义后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173" y="5161121"/>
            <a:ext cx="2927604" cy="6684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35 ( [\[30 ( 10–11 10月24日，毛泽东</a:t>
            </a: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投入湖南新军二十五混成协五十标第一营</a:t>
            </a: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左队当列兵[\[31 ( 20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2" name="Line 32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06 / 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2026-07-16T08:57:37Z</dcterms:created>
  <dcterms:modified xsi:type="dcterms:W3CDTF">2026-07-16T08:57:37Z</dcterms:modified>
  <cp:category/>
  <cp:contentStatus/>
</cp:coreProperties>
</file>