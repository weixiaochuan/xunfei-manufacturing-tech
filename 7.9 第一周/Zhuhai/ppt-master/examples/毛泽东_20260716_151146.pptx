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533400" y="514350"/>
            <a:ext cx="1866900" cy="9525"/>
          </a:xfrm>
          <a:custGeom>
            <a:avLst/>
            <a:gdLst/>
            <a:ahLst/>
            <a:cxnLst/>
            <a:rect l="l" t="t" r="r" b="b"/>
            <a:pathLst>
              <a:path w="1866900" h="9525">
                <a:moveTo>
                  <a:pt x="0" y="0"/>
                </a:moveTo>
                <a:lnTo>
                  <a:pt x="1866900" y="0"/>
                </a:lnTo>
              </a:path>
            </a:pathLst>
          </a:custGeom>
          <a:noFill/>
          <a:ln w="57150">
            <a:solidFill>
              <a:srgbClr val="2563EB"/>
            </a:solidFill>
          </a:ln>
        </p:spPr>
      </p:sp>
      <p:sp>
        <p:nvSpPr>
          <p:cNvPr id="4" name="Line 4"/>
          <p:cNvSpPr/>
          <p:nvPr/>
        </p:nvSpPr>
        <p:spPr>
          <a:xfrm>
            <a:off x="533400" y="5734050"/>
            <a:ext cx="7239000" cy="9525"/>
          </a:xfrm>
          <a:custGeom>
            <a:avLst/>
            <a:gdLst/>
            <a:ahLst/>
            <a:cxnLst/>
            <a:rect l="l" t="t" r="r" b="b"/>
            <a:pathLst>
              <a:path w="7239000" h="9525">
                <a:moveTo>
                  <a:pt x="0" y="0"/>
                </a:moveTo>
                <a:lnTo>
                  <a:pt x="7239000" y="0"/>
                </a:lnTo>
              </a:path>
            </a:pathLst>
          </a:custGeom>
          <a:noFill/>
          <a:ln w="14288">
            <a:solidFill>
              <a:srgbClr val="C1D3FA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926973" y="912971"/>
            <a:ext cx="145473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毛泽东：总体认识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95350" y="1704975"/>
            <a:ext cx="1755515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0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毛泽东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3925" y="3264694"/>
            <a:ext cx="5103543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80" dirty="0">
                <a:solidFill>
                  <a:srgbClr val="52657D"/>
                </a:solidFill>
                <a:latin typeface="Arial"/>
                <a:ea typeface="Arial"/>
                <a:cs typeface="Arial"/>
              </a:rPr>
              <a:t>User-Edited Structured AI Understanding</a:t>
            </a:r>
          </a:p>
        </p:txBody>
      </p:sp>
      <p:sp>
        <p:nvSpPr>
          <p:cNvPr id="8" name="Ellipse 8"/>
          <p:cNvSpPr/>
          <p:nvPr/>
        </p:nvSpPr>
        <p:spPr>
          <a:xfrm>
            <a:off x="1019175" y="4476750"/>
            <a:ext cx="95250" cy="9525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251585" y="4508659"/>
            <a:ext cx="467671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>User-Edited Struct · User-Edited Structured AI Understanding</a:t>
            </a:r>
          </a:p>
        </p:txBody>
      </p:sp>
      <p:sp>
        <p:nvSpPr>
          <p:cNvPr id="10" name="Ellipse 10"/>
          <p:cNvSpPr/>
          <p:nvPr/>
        </p:nvSpPr>
        <p:spPr>
          <a:xfrm>
            <a:off x="1019175" y="4953000"/>
            <a:ext cx="95250" cy="9525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251585" y="4894421"/>
            <a:ext cx="5690711" cy="40100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425"/>
              </a:lnSpc>
            </a:pPr>
            <a:r>
              <a:rPr lang="zh-CN" sz="1120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素材完整覆盖毛泽东从1893年出生到 · 素材完整覆盖毛泽东从1893年出生到1976年逝世的</a:t>
            </a:r>
            <a:r>
              <a:rPr lang="zh-CN" sz="1120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生平，并扩展至家庭、思想体系、著作成果、诗词书法修养</a:t>
            </a:r>
          </a:p>
        </p:txBody>
      </p:sp>
      <p:sp>
        <p:nvSpPr>
          <p:cNvPr id="12" name="Ellipse 12"/>
          <p:cNvSpPr/>
          <p:nvPr/>
        </p:nvSpPr>
        <p:spPr>
          <a:xfrm>
            <a:off x="8515350" y="1600200"/>
            <a:ext cx="2705100" cy="2705100"/>
          </a:xfrm>
          <a:prstGeom prst="ellipse">
            <a:avLst/>
          </a:prstGeom>
          <a:solidFill>
            <a:srgbClr val="E9F0FE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8896350" y="1981200"/>
            <a:ext cx="1943100" cy="1943100"/>
          </a:xfrm>
          <a:prstGeom prst="ellipse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9372600" y="2457450"/>
            <a:ext cx="990600" cy="990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5" name="Line 15"/>
          <p:cNvSpPr/>
          <p:nvPr/>
        </p:nvSpPr>
        <p:spPr>
          <a:xfrm>
            <a:off x="8572500" y="4857750"/>
            <a:ext cx="2590800" cy="9525"/>
          </a:xfrm>
          <a:custGeom>
            <a:avLst/>
            <a:gdLst/>
            <a:ahLst/>
            <a:cxnLst/>
            <a:rect l="l" t="t" r="r" b="b"/>
            <a:pathLst>
              <a:path w="2590800" h="9525">
                <a:moveTo>
                  <a:pt x="0" y="0"/>
                </a:moveTo>
                <a:lnTo>
                  <a:pt x="2590800" y="0"/>
                </a:lnTo>
              </a:path>
            </a:pathLst>
          </a:custGeom>
          <a:noFill/>
          <a:ln w="47625">
            <a:solidFill>
              <a:srgbClr val="7C3AED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656701" y="2787968"/>
            <a:ext cx="422398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5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19488" y="520827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科技蓝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528638" y="6334125"/>
            <a:ext cx="11134725" cy="327659"/>
            <a:chOff x="528638" y="6334125"/>
            <a:chExt cx="11134725" cy="327659"/>
          </a:xfrm>
        </p:grpSpPr>
        <p:sp>
          <p:nvSpPr>
            <p:cNvPr id="18" name="Line 18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01 / 06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290364" y="648557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毛泽东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53030" y="6489859"/>
              <a:ext cx="259994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User-Edited Structured AI Understanding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3652995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>User-Edited Struct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1062715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素材完整覆盖毛泽东从1893年出生到1976年逝世的生平，并扩展至家庭、思想体系、著作成果、诗词书法修养、姓名源流和历史评价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962150"/>
            <a:ext cx="5448300" cy="1857375"/>
          </a:xfrm>
          <a:prstGeom prst="roundRect">
            <a:avLst>
              <a:gd name="adj" fmla="val 3077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33400" y="1962150"/>
            <a:ext cx="54483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16280" y="2293620"/>
            <a:ext cx="202944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User-Edited Struct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17042" y="2665095"/>
            <a:ext cx="385759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>User-Edited Structured AI Understanding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19138" y="3575209"/>
            <a:ext cx="224670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User-Edited Structured AI Understanding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210300" y="1962150"/>
            <a:ext cx="5448300" cy="1857375"/>
          </a:xfrm>
          <a:prstGeom prst="roundRect">
            <a:avLst>
              <a:gd name="adj" fmla="val 3077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6210300" y="1962150"/>
            <a:ext cx="5448300" cy="762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393180" y="2293620"/>
            <a:ext cx="34500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素材完整覆盖毛泽东从1893年出生到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395466" y="2666048"/>
            <a:ext cx="5247322" cy="3768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350"/>
              </a:lnSpc>
            </a:pPr>
            <a:r>
              <a:rPr lang="zh-CN" sz="10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素材完整覆盖毛泽东从1893年出生到1976年逝世的生平，并扩展至家庭、思想体系、</a:t>
            </a:r>
            <a:r>
              <a:rPr lang="zh-CN" sz="10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著作成果、诗词书法修养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395466" y="3094673"/>
            <a:ext cx="142417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、姓名源流和历史评价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396038" y="3575209"/>
            <a:ext cx="522386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素材完整覆盖毛泽东从1893年出生到1976年逝世的生平，并扩展至家庭、思想体系、著作成果、诗词书法…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33400" y="4010025"/>
            <a:ext cx="5448300" cy="1857375"/>
          </a:xfrm>
          <a:prstGeom prst="roundRect">
            <a:avLst>
              <a:gd name="adj" fmla="val 3077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533400" y="4010025"/>
            <a:ext cx="54483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716280" y="4341495"/>
            <a:ext cx="383171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早年求学与思想转变、土地革命与长征、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18566" y="4713922"/>
            <a:ext cx="5331333" cy="3768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350"/>
              </a:lnSpc>
            </a:pPr>
            <a:r>
              <a:rPr lang="zh-CN" sz="10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早年求学与思想转变、土地革命与长征、抗战与领导地位确立、解放战争与建国、建国</a:t>
            </a:r>
            <a:r>
              <a:rPr lang="zh-CN" sz="10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初期政治运动与经济探索、晚年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18566" y="5142548"/>
            <a:ext cx="269633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文化革命与外交调整等阶段形成完整时间线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19138" y="5623084"/>
            <a:ext cx="517943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早年求学与思想转变、土地革命与长征、抗战与领导地位确立、解放战争与建国、建国初期政治运动与经…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210300" y="4010025"/>
            <a:ext cx="5448300" cy="1857375"/>
          </a:xfrm>
          <a:prstGeom prst="roundRect">
            <a:avLst>
              <a:gd name="adj" fmla="val 3077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6210300" y="4010025"/>
            <a:ext cx="5448300" cy="762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393180" y="4341495"/>
            <a:ext cx="319563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家庭部分详列四次婚姻、子女命运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393942" y="4712970"/>
            <a:ext cx="287607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家庭部分详列四次婚姻、子女命运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396038" y="5623084"/>
            <a:ext cx="167544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家庭部分详列四次婚姻、子女命运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528638" y="6334125"/>
            <a:ext cx="11134725" cy="327659"/>
            <a:chOff x="528638" y="6334125"/>
            <a:chExt cx="11134725" cy="327659"/>
          </a:xfrm>
        </p:grpSpPr>
        <p:sp>
          <p:nvSpPr>
            <p:cNvPr id="29" name="Line 29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02 / 06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90364" y="648557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毛泽东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653030" y="6489859"/>
              <a:ext cx="259994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User-Edited Structured AI Understanding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6210125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1972年尼克松访华实现中美关系破冰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564756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家庭经历四次婚姻，子女毛岸英、毛岸青、李敏、李讷等，孙辈毛新宇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Line 7"/>
          <p:cNvSpPr/>
          <p:nvPr/>
        </p:nvSpPr>
        <p:spPr>
          <a:xfrm>
            <a:off x="781050" y="2152650"/>
            <a:ext cx="10629900" cy="9525"/>
          </a:xfrm>
          <a:custGeom>
            <a:avLst/>
            <a:gdLst/>
            <a:ahLst/>
            <a:cxnLst/>
            <a:rect l="l" t="t" r="r" b="b"/>
            <a:pathLst>
              <a:path w="10629900" h="9525">
                <a:moveTo>
                  <a:pt x="0" y="0"/>
                </a:moveTo>
                <a:lnTo>
                  <a:pt x="10629900" y="0"/>
                </a:lnTo>
              </a:path>
            </a:pathLst>
          </a:custGeom>
          <a:noFill/>
          <a:ln w="38100">
            <a:solidFill>
              <a:srgbClr val="C1D3FA"/>
            </a:solidFill>
          </a:ln>
        </p:spPr>
      </p:sp>
      <p:sp>
        <p:nvSpPr>
          <p:cNvPr id="8" name="Line 8"/>
          <p:cNvSpPr/>
          <p:nvPr/>
        </p:nvSpPr>
        <p:spPr>
          <a:xfrm>
            <a:off x="1852612" y="215265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19050">
            <a:solidFill>
              <a:srgbClr val="C1D3FA"/>
            </a:solidFill>
          </a:ln>
        </p:spPr>
      </p:sp>
      <p:sp>
        <p:nvSpPr>
          <p:cNvPr id="9" name="Ellipse 9"/>
          <p:cNvSpPr/>
          <p:nvPr/>
        </p:nvSpPr>
        <p:spPr>
          <a:xfrm>
            <a:off x="1728788" y="2028825"/>
            <a:ext cx="247650" cy="24765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804988" y="2105025"/>
            <a:ext cx="95250" cy="95250"/>
          </a:xfrm>
          <a:prstGeom prst="ellipse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11" name="Line 11"/>
          <p:cNvSpPr/>
          <p:nvPr/>
        </p:nvSpPr>
        <p:spPr>
          <a:xfrm>
            <a:off x="1852612" y="2533650"/>
            <a:ext cx="9525" cy="400050"/>
          </a:xfrm>
          <a:custGeom>
            <a:avLst/>
            <a:gdLst/>
            <a:ahLst/>
            <a:cxnLst/>
            <a:rect l="l" t="t" r="r" b="b"/>
            <a:pathLst>
              <a:path w="9525"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/>
          <a:ln w="19050">
            <a:solidFill>
              <a:srgbClr val="C1D3FA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1747838" y="2619375"/>
            <a:ext cx="209550" cy="20955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1814512" y="2686050"/>
            <a:ext cx="76200" cy="76200"/>
          </a:xfrm>
          <a:prstGeom prst="ellipse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23995" y="2989421"/>
            <a:ext cx="2257234" cy="4493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1575"/>
              </a:lnSpc>
            </a:pPr>
            <a:r>
              <a:rPr lang="zh-CN" sz="128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1972年尼克松访华实现中美关</a:t>
            </a:r>
            <a:r>
              <a:rPr lang="zh-CN" sz="128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系破冰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17042" y="3465195"/>
            <a:ext cx="2372011" cy="9498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1972年尼克松访华实现中美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关系破冰，提出“三个世界”理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 xml:space="preserve">论，晚年健康状况恶化，197 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6年逝世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19138" y="5718334"/>
            <a:ext cx="226407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1972年尼克松访华实现中美关系破冰，提出“…</a:t>
            </a:r>
          </a:p>
        </p:txBody>
      </p:sp>
      <p:sp>
        <p:nvSpPr>
          <p:cNvPr id="17" name="Line 17"/>
          <p:cNvSpPr/>
          <p:nvPr/>
        </p:nvSpPr>
        <p:spPr>
          <a:xfrm>
            <a:off x="4681538" y="215265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19050">
            <a:solidFill>
              <a:srgbClr val="C1D3FA"/>
            </a:solidFill>
          </a:ln>
        </p:spPr>
      </p:sp>
      <p:sp>
        <p:nvSpPr>
          <p:cNvPr id="18" name="Ellipse 18"/>
          <p:cNvSpPr/>
          <p:nvPr/>
        </p:nvSpPr>
        <p:spPr>
          <a:xfrm>
            <a:off x="4557712" y="2028825"/>
            <a:ext cx="247650" cy="24765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4633912" y="2105025"/>
            <a:ext cx="95250" cy="95250"/>
          </a:xfrm>
          <a:prstGeom prst="ellipse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20" name="Line 20"/>
          <p:cNvSpPr/>
          <p:nvPr/>
        </p:nvSpPr>
        <p:spPr>
          <a:xfrm>
            <a:off x="4681538" y="2533650"/>
            <a:ext cx="9525" cy="400050"/>
          </a:xfrm>
          <a:custGeom>
            <a:avLst/>
            <a:gdLst/>
            <a:ahLst/>
            <a:cxnLst/>
            <a:rect l="l" t="t" r="r" b="b"/>
            <a:pathLst>
              <a:path w="9525"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/>
          <a:ln w="19050">
            <a:solidFill>
              <a:srgbClr val="C1D3FA"/>
            </a:solidFill>
          </a:ln>
        </p:spPr>
      </p:sp>
      <p:sp>
        <p:nvSpPr>
          <p:cNvPr id="21" name="Ellipse 21"/>
          <p:cNvSpPr/>
          <p:nvPr/>
        </p:nvSpPr>
        <p:spPr>
          <a:xfrm>
            <a:off x="4576762" y="2619375"/>
            <a:ext cx="209550" cy="20955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2" name="Ellipse 22"/>
          <p:cNvSpPr/>
          <p:nvPr/>
        </p:nvSpPr>
        <p:spPr>
          <a:xfrm>
            <a:off x="4643438" y="2686050"/>
            <a:ext cx="76200" cy="76200"/>
          </a:xfrm>
          <a:prstGeom prst="ellipse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3825811" y="3074670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家庭经历四次婚姻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545967" y="3465195"/>
            <a:ext cx="2354008" cy="7212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家庭经历四次婚姻，子女毛岸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英、毛岸青、李敏、李讷等，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孙辈毛新宇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548062" y="5718334"/>
            <a:ext cx="229183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家庭经历四次婚姻，子女毛岸英、毛岸青、李…</a:t>
            </a:r>
          </a:p>
        </p:txBody>
      </p:sp>
      <p:sp>
        <p:nvSpPr>
          <p:cNvPr id="26" name="Line 26"/>
          <p:cNvSpPr/>
          <p:nvPr/>
        </p:nvSpPr>
        <p:spPr>
          <a:xfrm>
            <a:off x="7510462" y="215265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19050">
            <a:solidFill>
              <a:srgbClr val="C1D3FA"/>
            </a:solidFill>
          </a:ln>
        </p:spPr>
      </p:sp>
      <p:sp>
        <p:nvSpPr>
          <p:cNvPr id="27" name="Ellipse 27"/>
          <p:cNvSpPr/>
          <p:nvPr/>
        </p:nvSpPr>
        <p:spPr>
          <a:xfrm>
            <a:off x="7386638" y="2028825"/>
            <a:ext cx="247650" cy="24765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7462838" y="2105025"/>
            <a:ext cx="95250" cy="95250"/>
          </a:xfrm>
          <a:prstGeom prst="ellipse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29" name="Line 29"/>
          <p:cNvSpPr/>
          <p:nvPr/>
        </p:nvSpPr>
        <p:spPr>
          <a:xfrm>
            <a:off x="7510462" y="2533650"/>
            <a:ext cx="9525" cy="400050"/>
          </a:xfrm>
          <a:custGeom>
            <a:avLst/>
            <a:gdLst/>
            <a:ahLst/>
            <a:cxnLst/>
            <a:rect l="l" t="t" r="r" b="b"/>
            <a:pathLst>
              <a:path w="9525"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/>
          <a:ln w="19050">
            <a:solidFill>
              <a:srgbClr val="C1D3FA"/>
            </a:solidFill>
          </a:ln>
        </p:spPr>
      </p:sp>
      <p:sp>
        <p:nvSpPr>
          <p:cNvPr id="30" name="Ellipse 30"/>
          <p:cNvSpPr/>
          <p:nvPr/>
        </p:nvSpPr>
        <p:spPr>
          <a:xfrm>
            <a:off x="7405688" y="2619375"/>
            <a:ext cx="209550" cy="20955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1" name="Ellipse 31"/>
          <p:cNvSpPr/>
          <p:nvPr/>
        </p:nvSpPr>
        <p:spPr>
          <a:xfrm>
            <a:off x="7472362" y="2686050"/>
            <a:ext cx="76200" cy="76200"/>
          </a:xfrm>
          <a:prstGeom prst="ellipse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654737" y="3074670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著作总量逾千万字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374892" y="3465195"/>
            <a:ext cx="2372011" cy="9498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著作总量逾千万字，《毛泽东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语录》全球发行约50亿册，诗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词《沁园春·雪》等传世，酷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爱读史，书法自成一体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376988" y="5718334"/>
            <a:ext cx="229183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著作总量逾千万字，《毛泽东语录》全球发行…</a:t>
            </a:r>
          </a:p>
        </p:txBody>
      </p:sp>
      <p:sp>
        <p:nvSpPr>
          <p:cNvPr id="35" name="Line 35"/>
          <p:cNvSpPr/>
          <p:nvPr/>
        </p:nvSpPr>
        <p:spPr>
          <a:xfrm>
            <a:off x="10339388" y="215265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19050">
            <a:solidFill>
              <a:srgbClr val="C1D3FA"/>
            </a:solidFill>
          </a:ln>
        </p:spPr>
      </p:sp>
      <p:sp>
        <p:nvSpPr>
          <p:cNvPr id="36" name="Ellipse 36"/>
          <p:cNvSpPr/>
          <p:nvPr/>
        </p:nvSpPr>
        <p:spPr>
          <a:xfrm>
            <a:off x="10215562" y="2028825"/>
            <a:ext cx="247650" cy="24765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37" name="Ellipse 37"/>
          <p:cNvSpPr/>
          <p:nvPr/>
        </p:nvSpPr>
        <p:spPr>
          <a:xfrm>
            <a:off x="10291762" y="2105025"/>
            <a:ext cx="95250" cy="95250"/>
          </a:xfrm>
          <a:prstGeom prst="ellipse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8" name="Line 38"/>
          <p:cNvSpPr/>
          <p:nvPr/>
        </p:nvSpPr>
        <p:spPr>
          <a:xfrm>
            <a:off x="10339388" y="2533650"/>
            <a:ext cx="9525" cy="400050"/>
          </a:xfrm>
          <a:custGeom>
            <a:avLst/>
            <a:gdLst/>
            <a:ahLst/>
            <a:cxnLst/>
            <a:rect l="l" t="t" r="r" b="b"/>
            <a:pathLst>
              <a:path w="9525"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/>
          <a:ln w="19050">
            <a:solidFill>
              <a:srgbClr val="C1D3FA"/>
            </a:solidFill>
          </a:ln>
        </p:spPr>
      </p:sp>
      <p:sp>
        <p:nvSpPr>
          <p:cNvPr id="39" name="Ellipse 39"/>
          <p:cNvSpPr/>
          <p:nvPr/>
        </p:nvSpPr>
        <p:spPr>
          <a:xfrm>
            <a:off x="10234612" y="2619375"/>
            <a:ext cx="209550" cy="20955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40" name="Ellipse 40"/>
          <p:cNvSpPr/>
          <p:nvPr/>
        </p:nvSpPr>
        <p:spPr>
          <a:xfrm>
            <a:off x="10301288" y="2686050"/>
            <a:ext cx="76200" cy="76200"/>
          </a:xfrm>
          <a:prstGeom prst="ellipse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9092174" y="3084195"/>
            <a:ext cx="249442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二十世纪最具影响力人物之一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203817" y="3465195"/>
            <a:ext cx="2534031" cy="9498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二十世纪最具影响力人物之一，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影响全球左翼运动，历史评价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两极分化，涉及非正常死亡数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字与功过争论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205912" y="5718334"/>
            <a:ext cx="229183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二十世纪最具影响力人物之一，影响全球左翼…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528638" y="6334125"/>
            <a:ext cx="11134725" cy="327659"/>
            <a:chOff x="528638" y="6334125"/>
            <a:chExt cx="11134725" cy="327659"/>
          </a:xfrm>
        </p:grpSpPr>
        <p:sp>
          <p:nvSpPr>
            <p:cNvPr id="44" name="Line 44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03 / 06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290364" y="648557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毛泽东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468790" y="6489859"/>
              <a:ext cx="49684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1972年尼克松访华实现中美关系破冰，提出“三个世界”理论，晚年健康状况恶化，1976年逝世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6381866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第3页的“探索与代价”可用半透明图表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973" y="912971"/>
            <a:ext cx="1051735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第4页“晚岁风云”中，人物关系图以毛泽东为中心，向刘少奇、林彪、周恩来、邓小平、江青放射，支持/分歧用不同颜色的实线与虚线呈现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Line 7"/>
          <p:cNvSpPr/>
          <p:nvPr/>
        </p:nvSpPr>
        <p:spPr>
          <a:xfrm>
            <a:off x="533400" y="1790700"/>
            <a:ext cx="5448300" cy="9525"/>
          </a:xfrm>
          <a:custGeom>
            <a:avLst/>
            <a:gdLst/>
            <a:ahLst/>
            <a:cxnLst/>
            <a:rect l="l" t="t" r="r" b="b"/>
            <a:pathLst>
              <a:path w="5448300" h="9525">
                <a:moveTo>
                  <a:pt x="0" y="0"/>
                </a:moveTo>
                <a:lnTo>
                  <a:pt x="5448300" y="0"/>
                </a:lnTo>
              </a:path>
            </a:pathLst>
          </a:custGeom>
          <a:noFill/>
          <a:ln w="76200">
            <a:solidFill>
              <a:srgbClr val="2563EB"/>
            </a:solidFill>
          </a:ln>
        </p:spPr>
      </p:sp>
      <p:sp>
        <p:nvSpPr>
          <p:cNvPr id="8" name="Line 8"/>
          <p:cNvSpPr/>
          <p:nvPr/>
        </p:nvSpPr>
        <p:spPr>
          <a:xfrm>
            <a:off x="533400" y="5962650"/>
            <a:ext cx="5448300" cy="9525"/>
          </a:xfrm>
          <a:custGeom>
            <a:avLst/>
            <a:gdLst/>
            <a:ahLst/>
            <a:cxnLst/>
            <a:rect l="l" t="t" r="r" b="b"/>
            <a:pathLst>
              <a:path w="5448300" h="9525">
                <a:moveTo>
                  <a:pt x="0" y="0"/>
                </a:moveTo>
                <a:lnTo>
                  <a:pt x="544830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791337" y="2083594"/>
            <a:ext cx="4077303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第3页的“探索与代价”可用半透明图表</a:t>
            </a:r>
          </a:p>
        </p:txBody>
      </p:sp>
      <p:sp>
        <p:nvSpPr>
          <p:cNvPr id="10" name="Line 10"/>
          <p:cNvSpPr/>
          <p:nvPr/>
        </p:nvSpPr>
        <p:spPr>
          <a:xfrm>
            <a:off x="723900" y="257175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11" name="Line 11"/>
          <p:cNvSpPr/>
          <p:nvPr/>
        </p:nvSpPr>
        <p:spPr>
          <a:xfrm>
            <a:off x="723900" y="4114800"/>
            <a:ext cx="5067300" cy="9525"/>
          </a:xfrm>
          <a:custGeom>
            <a:avLst/>
            <a:gdLst/>
            <a:ahLst/>
            <a:cxnLst/>
            <a:rect l="l" t="t" r="r" b="b"/>
            <a:pathLst>
              <a:path w="5067300" h="9525">
                <a:moveTo>
                  <a:pt x="0" y="0"/>
                </a:moveTo>
                <a:lnTo>
                  <a:pt x="506730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906780" y="2788920"/>
            <a:ext cx="354548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第3页的“探索与代价”可用半透明图表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07542" y="3179445"/>
            <a:ext cx="4811316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第3页的“探索与代价”可用半透明图表叠加数据，如粮食产量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变化曲线与人口非正常死亡范围示意，谨慎用色体现沉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09638" y="3880009"/>
            <a:ext cx="48073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第3页的“探索与代价”可用半透明图表叠加数据，如粮食产量变化曲线与人口非正常死亡范围示意…</a:t>
            </a:r>
          </a:p>
        </p:txBody>
      </p:sp>
      <p:sp>
        <p:nvSpPr>
          <p:cNvPr id="15" name="Line 15"/>
          <p:cNvSpPr/>
          <p:nvPr/>
        </p:nvSpPr>
        <p:spPr>
          <a:xfrm>
            <a:off x="723900" y="4276725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7C3AED"/>
            </a:solidFill>
          </a:ln>
        </p:spPr>
      </p:sp>
      <p:sp>
        <p:nvSpPr>
          <p:cNvPr id="16" name="Line 16"/>
          <p:cNvSpPr/>
          <p:nvPr/>
        </p:nvSpPr>
        <p:spPr>
          <a:xfrm>
            <a:off x="723900" y="5819775"/>
            <a:ext cx="5067300" cy="9525"/>
          </a:xfrm>
          <a:custGeom>
            <a:avLst/>
            <a:gdLst/>
            <a:ahLst/>
            <a:cxnLst/>
            <a:rect l="l" t="t" r="r" b="b"/>
            <a:pathLst>
              <a:path w="5067300" h="9525">
                <a:moveTo>
                  <a:pt x="0" y="0"/>
                </a:moveTo>
                <a:lnTo>
                  <a:pt x="506730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906780" y="4493895"/>
            <a:ext cx="18492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第4页“晚岁风云”中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07542" y="4884420"/>
            <a:ext cx="4991338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第4页“晚岁风云”中，人物关系图以毛泽东为中心，向刘少奇、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林彪、周恩来、邓小平、江青放射，支持/分歧用不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09638" y="5584984"/>
            <a:ext cx="48073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第4页“晚岁风云”中，人物关系图以毛泽东为中心，向刘少奇、林彪、周恩来、邓小平、江青放射…</a:t>
            </a:r>
          </a:p>
        </p:txBody>
      </p:sp>
      <p:sp>
        <p:nvSpPr>
          <p:cNvPr id="20" name="Line 20"/>
          <p:cNvSpPr/>
          <p:nvPr/>
        </p:nvSpPr>
        <p:spPr>
          <a:xfrm>
            <a:off x="6210300" y="1790700"/>
            <a:ext cx="5448300" cy="9525"/>
          </a:xfrm>
          <a:custGeom>
            <a:avLst/>
            <a:gdLst/>
            <a:ahLst/>
            <a:cxnLst/>
            <a:rect l="l" t="t" r="r" b="b"/>
            <a:pathLst>
              <a:path w="5448300" h="9525">
                <a:moveTo>
                  <a:pt x="0" y="0"/>
                </a:moveTo>
                <a:lnTo>
                  <a:pt x="5448300" y="0"/>
                </a:lnTo>
              </a:path>
            </a:pathLst>
          </a:custGeom>
          <a:noFill/>
          <a:ln w="76200">
            <a:solidFill>
              <a:srgbClr val="7C3AED"/>
            </a:solidFill>
          </a:ln>
        </p:spPr>
      </p:sp>
      <p:sp>
        <p:nvSpPr>
          <p:cNvPr id="21" name="Line 21"/>
          <p:cNvSpPr/>
          <p:nvPr/>
        </p:nvSpPr>
        <p:spPr>
          <a:xfrm>
            <a:off x="6210300" y="5962650"/>
            <a:ext cx="5448300" cy="9525"/>
          </a:xfrm>
          <a:custGeom>
            <a:avLst/>
            <a:gdLst/>
            <a:ahLst/>
            <a:cxnLst/>
            <a:rect l="l" t="t" r="r" b="b"/>
            <a:pathLst>
              <a:path w="5448300" h="9525">
                <a:moveTo>
                  <a:pt x="0" y="0"/>
                </a:moveTo>
                <a:lnTo>
                  <a:pt x="544830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468237" y="2083594"/>
            <a:ext cx="1858446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第5页思想著作页</a:t>
            </a:r>
          </a:p>
        </p:txBody>
      </p:sp>
      <p:sp>
        <p:nvSpPr>
          <p:cNvPr id="23" name="Line 23"/>
          <p:cNvSpPr/>
          <p:nvPr/>
        </p:nvSpPr>
        <p:spPr>
          <a:xfrm>
            <a:off x="6400800" y="257175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24" name="Line 24"/>
          <p:cNvSpPr/>
          <p:nvPr/>
        </p:nvSpPr>
        <p:spPr>
          <a:xfrm>
            <a:off x="6400800" y="4114800"/>
            <a:ext cx="5067300" cy="9525"/>
          </a:xfrm>
          <a:custGeom>
            <a:avLst/>
            <a:gdLst/>
            <a:ahLst/>
            <a:cxnLst/>
            <a:rect l="l" t="t" r="r" b="b"/>
            <a:pathLst>
              <a:path w="5067300" h="9525">
                <a:moveTo>
                  <a:pt x="0" y="0"/>
                </a:moveTo>
                <a:lnTo>
                  <a:pt x="506730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6583680" y="2788920"/>
            <a:ext cx="16160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第5页思想著作页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584442" y="3179445"/>
            <a:ext cx="4793313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第5页思想著作页，核心观点卡片使用半透明玻璃质感卡片，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著作封面成组排列，语录发行量用数据可视化突出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586538" y="3880009"/>
            <a:ext cx="479627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第5页思想著作页，核心观点卡片使用半透明玻璃质感卡片，著作封面成组排列，语录发行量用数…</a:t>
            </a:r>
          </a:p>
        </p:txBody>
      </p:sp>
      <p:sp>
        <p:nvSpPr>
          <p:cNvPr id="28" name="Line 28"/>
          <p:cNvSpPr/>
          <p:nvPr/>
        </p:nvSpPr>
        <p:spPr>
          <a:xfrm>
            <a:off x="6400800" y="4276725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7C3AED"/>
            </a:solidFill>
          </a:ln>
        </p:spPr>
      </p:sp>
      <p:sp>
        <p:nvSpPr>
          <p:cNvPr id="29" name="Line 29"/>
          <p:cNvSpPr/>
          <p:nvPr/>
        </p:nvSpPr>
        <p:spPr>
          <a:xfrm>
            <a:off x="6400800" y="5819775"/>
            <a:ext cx="5067300" cy="9525"/>
          </a:xfrm>
          <a:custGeom>
            <a:avLst/>
            <a:gdLst/>
            <a:ahLst/>
            <a:cxnLst/>
            <a:rect l="l" t="t" r="r" b="b"/>
            <a:pathLst>
              <a:path w="5067300" h="9525">
                <a:moveTo>
                  <a:pt x="0" y="0"/>
                </a:moveTo>
                <a:lnTo>
                  <a:pt x="506730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6583680" y="4493895"/>
            <a:ext cx="24641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第6页家庭与修养混合版面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584442" y="4884420"/>
            <a:ext cx="4793313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第6页家庭与修养混合版面，左侧家庭树，中间诗词卷轴式排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版，右侧姓名发散图，底部评价采用双色对比卡片（正面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586538" y="5584984"/>
            <a:ext cx="479627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第6页家庭与修养混合版面，左侧家庭树，中间诗词卷轴式排版，右侧姓名发散图，底部评价采用…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528638" y="6334125"/>
            <a:ext cx="11134725" cy="327659"/>
            <a:chOff x="528638" y="6334125"/>
            <a:chExt cx="11134725" cy="327659"/>
          </a:xfrm>
        </p:grpSpPr>
        <p:sp>
          <p:nvSpPr>
            <p:cNvPr id="33" name="Line 33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04 / 06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290364" y="648557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毛泽东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874610" y="6489859"/>
              <a:ext cx="61567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第3页的“探索与代价”可用半透明图表叠加数据，如粮食产量变化曲线与人口非正常死亡范围示意，谨慎用色体现沉重…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170668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>wikipedia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973" y="912971"/>
            <a:ext cx="10206133" cy="468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725"/>
              </a:lnSpc>
            </a:pPr>
            <a:r>
              <a:rPr lang="zh-CN" sz="128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org/wiki/%E6%AF%9B%E6%B3%BD%E4%B8%9C#cite_note-16)、1949年成为中华人民共和国最高领导人，是中国共产党、中国人民解放军和</a:t>
            </a:r>
            <a:r>
              <a:rPr lang="zh-CN" sz="128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中华人民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Polygon 7"/>
          <p:cNvSpPr/>
          <p:nvPr/>
        </p:nvSpPr>
        <p:spPr>
          <a:xfrm>
            <a:off x="533400" y="2114550"/>
            <a:ext cx="2538412" cy="3771900"/>
          </a:xfrm>
          <a:custGeom>
            <a:avLst/>
            <a:gdLst/>
            <a:ahLst/>
            <a:cxnLst/>
            <a:rect l="l" t="t" r="r" b="b"/>
            <a:pathLst>
              <a:path w="2538412" h="3771900">
                <a:moveTo>
                  <a:pt x="0" y="0"/>
                </a:moveTo>
                <a:lnTo>
                  <a:pt x="2290762" y="0"/>
                </a:lnTo>
                <a:lnTo>
                  <a:pt x="2538412" y="247650"/>
                </a:lnTo>
                <a:lnTo>
                  <a:pt x="2538412" y="3771900"/>
                </a:lnTo>
                <a:lnTo>
                  <a:pt x="0" y="3771900"/>
                </a:lnTo>
                <a:close/>
              </a:path>
            </a:pathLst>
          </a:custGeom>
          <a:solidFill>
            <a:srgbClr val="E9F0FE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704850" y="2266950"/>
            <a:ext cx="438150" cy="2857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49194" y="2351723"/>
            <a:ext cx="1494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49680" y="2350770"/>
            <a:ext cx="94815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wikipedia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50442" y="2741295"/>
            <a:ext cx="85334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>wikipedia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52538" y="5642134"/>
            <a:ext cx="49819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wikipedia</a:t>
            </a:r>
          </a:p>
        </p:txBody>
      </p:sp>
      <p:sp>
        <p:nvSpPr>
          <p:cNvPr id="13" name="Line 13"/>
          <p:cNvSpPr/>
          <p:nvPr/>
        </p:nvSpPr>
        <p:spPr>
          <a:xfrm>
            <a:off x="3148012" y="4000500"/>
            <a:ext cx="171450" cy="9525"/>
          </a:xfrm>
          <a:custGeom>
            <a:avLst/>
            <a:gdLst/>
            <a:ahLst/>
            <a:cxnLst/>
            <a:rect l="l" t="t" r="r" b="b"/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/>
          <a:ln w="28575">
            <a:solidFill>
              <a:srgbClr val="2563EB"/>
            </a:solidFill>
          </a:ln>
        </p:spPr>
      </p:sp>
      <p:sp>
        <p:nvSpPr>
          <p:cNvPr id="14" name="Polygon 14"/>
          <p:cNvSpPr/>
          <p:nvPr/>
        </p:nvSpPr>
        <p:spPr>
          <a:xfrm>
            <a:off x="3319462" y="3924300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0" y="0"/>
                </a:moveTo>
                <a:lnTo>
                  <a:pt x="95250" y="76200"/>
                </a:lnTo>
                <a:lnTo>
                  <a:pt x="0" y="1524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</p:sp>
      <p:sp>
        <p:nvSpPr>
          <p:cNvPr id="15" name="Polygon 15"/>
          <p:cNvSpPr/>
          <p:nvPr/>
        </p:nvSpPr>
        <p:spPr>
          <a:xfrm>
            <a:off x="3395662" y="2114550"/>
            <a:ext cx="2538412" cy="3771900"/>
          </a:xfrm>
          <a:custGeom>
            <a:avLst/>
            <a:gdLst/>
            <a:ahLst/>
            <a:cxnLst/>
            <a:rect l="l" t="t" r="r" b="b"/>
            <a:pathLst>
              <a:path w="2538412" h="3771900">
                <a:moveTo>
                  <a:pt x="0" y="0"/>
                </a:moveTo>
                <a:lnTo>
                  <a:pt x="2290762" y="0"/>
                </a:lnTo>
                <a:lnTo>
                  <a:pt x="2538412" y="247650"/>
                </a:lnTo>
                <a:lnTo>
                  <a:pt x="2538412" y="3771900"/>
                </a:lnTo>
                <a:lnTo>
                  <a:pt x="0" y="3771900"/>
                </a:lnTo>
                <a:close/>
              </a:path>
            </a:pathLst>
          </a:custGeom>
          <a:solidFill>
            <a:srgbClr val="E9F0FE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3567112" y="2266950"/>
            <a:ext cx="438150" cy="28575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3711456" y="2351723"/>
            <a:ext cx="1494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113086" y="2265521"/>
            <a:ext cx="1432631" cy="4493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575"/>
              </a:lnSpc>
            </a:pPr>
            <a:r>
              <a:rPr lang="en-US" sz="1280" b="1" dirty="0">
                <a:solidFill>
                  <a:srgbClr val="7C3AED"/>
                </a:solidFill>
                <a:latin typeface="Arial"/>
                <a:ea typeface="Arial"/>
                <a:cs typeface="Arial"/>
              </a:rPr>
              <a:t xml:space="preserve">org/wiki/%E6%AF </a:t>
            </a:r>
            <a:r>
              <a:rPr lang="en-US" sz="1280" b="1" dirty="0">
                <a:solidFill>
                  <a:srgbClr val="7C3AED"/>
                </a:solidFill>
                <a:latin typeface="Arial"/>
                <a:ea typeface="Arial"/>
                <a:cs typeface="Arial"/>
              </a:rPr>
              <a:t>%9B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112704" y="2741295"/>
            <a:ext cx="1462897" cy="9498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en-US" sz="135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org/wiki/%E6%A </a:t>
            </a:r>
            <a:r>
              <a:rPr lang="en-US" sz="135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F%9B%E6%B3%BD </a:t>
            </a:r>
            <a:r>
              <a:rPr lang="en-US" sz="135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%E4%B8%9C#cite 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_note-16)、1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114610" y="4780121"/>
            <a:ext cx="1619631" cy="5145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275"/>
              </a:lnSpc>
            </a:pPr>
            <a:r>
              <a:rPr lang="zh-CN" sz="98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949年成为中华人民共和国</a:t>
            </a:r>
            <a:r>
              <a:rPr lang="zh-CN" sz="98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最高领导人，是中国共产党、</a:t>
            </a:r>
            <a:r>
              <a:rPr lang="zh-CN" sz="98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中国人民解放军和中华人民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114800" y="5642134"/>
            <a:ext cx="159361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7C3AED"/>
                </a:solidFill>
                <a:latin typeface="Arial"/>
                <a:ea typeface="Arial"/>
                <a:cs typeface="Arial"/>
              </a:rPr>
              <a:t>org/wiki/%E6%AF%9B%E6%B…</a:t>
            </a:r>
          </a:p>
        </p:txBody>
      </p:sp>
      <p:sp>
        <p:nvSpPr>
          <p:cNvPr id="22" name="Line 22"/>
          <p:cNvSpPr/>
          <p:nvPr/>
        </p:nvSpPr>
        <p:spPr>
          <a:xfrm>
            <a:off x="6010275" y="4000500"/>
            <a:ext cx="171450" cy="9525"/>
          </a:xfrm>
          <a:custGeom>
            <a:avLst/>
            <a:gdLst/>
            <a:ahLst/>
            <a:cxnLst/>
            <a:rect l="l" t="t" r="r" b="b"/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/>
          <a:ln w="28575">
            <a:solidFill>
              <a:srgbClr val="2563EB"/>
            </a:solidFill>
          </a:ln>
        </p:spPr>
      </p:sp>
      <p:sp>
        <p:nvSpPr>
          <p:cNvPr id="23" name="Polygon 23"/>
          <p:cNvSpPr/>
          <p:nvPr/>
        </p:nvSpPr>
        <p:spPr>
          <a:xfrm>
            <a:off x="6181725" y="3924300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0" y="0"/>
                </a:moveTo>
                <a:lnTo>
                  <a:pt x="95250" y="76200"/>
                </a:lnTo>
                <a:lnTo>
                  <a:pt x="0" y="1524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</p:sp>
      <p:sp>
        <p:nvSpPr>
          <p:cNvPr id="24" name="Polygon 24"/>
          <p:cNvSpPr/>
          <p:nvPr/>
        </p:nvSpPr>
        <p:spPr>
          <a:xfrm>
            <a:off x="6257925" y="2114550"/>
            <a:ext cx="2538412" cy="3771900"/>
          </a:xfrm>
          <a:custGeom>
            <a:avLst/>
            <a:gdLst/>
            <a:ahLst/>
            <a:cxnLst/>
            <a:rect l="l" t="t" r="r" b="b"/>
            <a:pathLst>
              <a:path w="2538412" h="3771900">
                <a:moveTo>
                  <a:pt x="0" y="0"/>
                </a:moveTo>
                <a:lnTo>
                  <a:pt x="2290762" y="0"/>
                </a:lnTo>
                <a:lnTo>
                  <a:pt x="2538412" y="247650"/>
                </a:lnTo>
                <a:lnTo>
                  <a:pt x="2538412" y="3771900"/>
                </a:lnTo>
                <a:lnTo>
                  <a:pt x="0" y="3771900"/>
                </a:lnTo>
                <a:close/>
              </a:path>
            </a:pathLst>
          </a:custGeom>
          <a:solidFill>
            <a:srgbClr val="E9F0FE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6429375" y="2266950"/>
            <a:ext cx="438150" cy="2857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573719" y="2351723"/>
            <a:ext cx="1494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974205" y="2350770"/>
            <a:ext cx="12980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16\]](https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974967" y="2741295"/>
            <a:ext cx="1498902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en-US" sz="135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16\]](https://z </a:t>
            </a:r>
            <a:r>
              <a:rPr lang="en-US" sz="135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977062" y="5642134"/>
            <a:ext cx="98686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16\]](https://zh</a:t>
            </a:r>
          </a:p>
        </p:txBody>
      </p:sp>
      <p:sp>
        <p:nvSpPr>
          <p:cNvPr id="30" name="Line 30"/>
          <p:cNvSpPr/>
          <p:nvPr/>
        </p:nvSpPr>
        <p:spPr>
          <a:xfrm>
            <a:off x="8872538" y="4000500"/>
            <a:ext cx="171450" cy="9525"/>
          </a:xfrm>
          <a:custGeom>
            <a:avLst/>
            <a:gdLst/>
            <a:ahLst/>
            <a:cxnLst/>
            <a:rect l="l" t="t" r="r" b="b"/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/>
          <a:ln w="28575">
            <a:solidFill>
              <a:srgbClr val="2563EB"/>
            </a:solidFill>
          </a:ln>
        </p:spPr>
      </p:sp>
      <p:sp>
        <p:nvSpPr>
          <p:cNvPr id="31" name="Polygon 31"/>
          <p:cNvSpPr/>
          <p:nvPr/>
        </p:nvSpPr>
        <p:spPr>
          <a:xfrm>
            <a:off x="9043988" y="3924300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0" y="0"/>
                </a:moveTo>
                <a:lnTo>
                  <a:pt x="95250" y="76200"/>
                </a:lnTo>
                <a:lnTo>
                  <a:pt x="0" y="1524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</p:sp>
      <p:sp>
        <p:nvSpPr>
          <p:cNvPr id="32" name="Polygon 32"/>
          <p:cNvSpPr/>
          <p:nvPr/>
        </p:nvSpPr>
        <p:spPr>
          <a:xfrm>
            <a:off x="9120188" y="2114550"/>
            <a:ext cx="2538412" cy="3771900"/>
          </a:xfrm>
          <a:custGeom>
            <a:avLst/>
            <a:gdLst/>
            <a:ahLst/>
            <a:cxnLst/>
            <a:rect l="l" t="t" r="r" b="b"/>
            <a:pathLst>
              <a:path w="2538412" h="3771900">
                <a:moveTo>
                  <a:pt x="0" y="0"/>
                </a:moveTo>
                <a:lnTo>
                  <a:pt x="2290762" y="0"/>
                </a:lnTo>
                <a:lnTo>
                  <a:pt x="2538412" y="247650"/>
                </a:lnTo>
                <a:lnTo>
                  <a:pt x="2538412" y="3771900"/>
                </a:lnTo>
                <a:lnTo>
                  <a:pt x="0" y="3771900"/>
                </a:lnTo>
                <a:close/>
              </a:path>
            </a:pathLst>
          </a:custGeom>
          <a:solidFill>
            <a:srgbClr val="E9F0FE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9291638" y="2266950"/>
            <a:ext cx="438150" cy="28575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9435981" y="2351723"/>
            <a:ext cx="1494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836468" y="2350770"/>
            <a:ext cx="94815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7C3AED"/>
                </a:solidFill>
                <a:latin typeface="Arial"/>
                <a:ea typeface="Arial"/>
                <a:cs typeface="Arial"/>
              </a:rPr>
              <a:t>wikipedia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837230" y="2741295"/>
            <a:ext cx="85334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>wikipedia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839325" y="5642134"/>
            <a:ext cx="49819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7C3AED"/>
                </a:solidFill>
                <a:latin typeface="Arial"/>
                <a:ea typeface="Arial"/>
                <a:cs typeface="Arial"/>
              </a:rPr>
              <a:t>wikipedia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528638" y="6334125"/>
            <a:ext cx="11134725" cy="327659"/>
            <a:chOff x="528638" y="6334125"/>
            <a:chExt cx="11134725" cy="327659"/>
          </a:xfrm>
        </p:grpSpPr>
        <p:sp>
          <p:nvSpPr>
            <p:cNvPr id="38" name="Line 38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05 / 06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290364" y="648557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毛泽东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528980" y="6489859"/>
              <a:ext cx="8480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wikipedia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4000365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>org/wiki/%E6%AF%9B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69197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中国抗日战争结束后，他领导中共军队打赢第二次国共内战，令中华民国政府败退台湾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790700"/>
            <a:ext cx="11125200" cy="1162050"/>
          </a:xfrm>
          <a:prstGeom prst="roundRect">
            <a:avLst>
              <a:gd name="adj" fmla="val 4918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33400" y="2762250"/>
            <a:ext cx="11125200" cy="190500"/>
          </a:xfrm>
          <a:prstGeom prst="rect">
            <a:avLst/>
          </a:prstGeom>
          <a:solidFill>
            <a:srgbClr val="E9F0FE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46963" y="2126456"/>
            <a:ext cx="10897533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中国抗日战争结束后，他领导中共军队打赢第二次国共内战，令中华民国政府败退台湾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33400" y="3124200"/>
            <a:ext cx="5457825" cy="1428750"/>
          </a:xfrm>
          <a:prstGeom prst="roundRect">
            <a:avLst>
              <a:gd name="adj" fmla="val 4000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533400" y="4229100"/>
            <a:ext cx="5457825" cy="323850"/>
          </a:xfrm>
          <a:prstGeom prst="rect">
            <a:avLst/>
          </a:prstGeom>
          <a:solidFill>
            <a:srgbClr val="E9F0FE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6280" y="3360420"/>
            <a:ext cx="222242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org/wiki/%E6%AF%9B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7804" y="3750945"/>
            <a:ext cx="527807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>org/wiki/%E6%AF%9B%E6%B3%BD%E4%B8%9C#cite_note-%E6%B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9138" y="4308634"/>
            <a:ext cx="433377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org/wiki/%E6%AF%9B%E6%B3%BD%E4%B8%9C#cite_note-%E6%B5%B7-12): 3813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200775" y="3124200"/>
            <a:ext cx="5457825" cy="1428750"/>
          </a:xfrm>
          <a:prstGeom prst="roundRect">
            <a:avLst>
              <a:gd name="adj" fmla="val 4000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6" name="Line 16"/>
          <p:cNvSpPr/>
          <p:nvPr/>
        </p:nvSpPr>
        <p:spPr>
          <a:xfrm>
            <a:off x="6372225" y="4457700"/>
            <a:ext cx="5114925" cy="9525"/>
          </a:xfrm>
          <a:custGeom>
            <a:avLst/>
            <a:gdLst/>
            <a:ahLst/>
            <a:cxnLst/>
            <a:rect l="l" t="t" r="r" b="b"/>
            <a:pathLst>
              <a:path w="5114925" h="9525">
                <a:moveTo>
                  <a:pt x="0" y="0"/>
                </a:moveTo>
                <a:lnTo>
                  <a:pt x="5114925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383655" y="3360420"/>
            <a:ext cx="192347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中国抗日战争结束后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384417" y="3750945"/>
            <a:ext cx="5234369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中国抗日战争结束后，他领导中共军队打赢第二次国共内战，令中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华民国政府败退台湾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33400" y="4724400"/>
            <a:ext cx="5457825" cy="1428750"/>
          </a:xfrm>
          <a:prstGeom prst="roundRect">
            <a:avLst>
              <a:gd name="adj" fmla="val 4000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20" name="Line 20"/>
          <p:cNvSpPr/>
          <p:nvPr/>
        </p:nvSpPr>
        <p:spPr>
          <a:xfrm>
            <a:off x="704850" y="6057900"/>
            <a:ext cx="5114925" cy="9525"/>
          </a:xfrm>
          <a:custGeom>
            <a:avLst/>
            <a:gdLst/>
            <a:ahLst/>
            <a:cxnLst/>
            <a:rect l="l" t="t" r="r" b="b"/>
            <a:pathLst>
              <a:path w="5114925" h="9525">
                <a:moveTo>
                  <a:pt x="0" y="0"/>
                </a:moveTo>
                <a:lnTo>
                  <a:pt x="5114925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716280" y="4960620"/>
            <a:ext cx="158423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1949年至1959年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17042" y="5351145"/>
            <a:ext cx="5126355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1949年至1959年，毛泽东先后担任中华人民共和国中央人民政府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主席、中华人民共和国主席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200775" y="4724400"/>
            <a:ext cx="5457825" cy="1428750"/>
          </a:xfrm>
          <a:prstGeom prst="roundRect">
            <a:avLst>
              <a:gd name="adj" fmla="val 4000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24" name="Line 24"/>
          <p:cNvSpPr/>
          <p:nvPr/>
        </p:nvSpPr>
        <p:spPr>
          <a:xfrm>
            <a:off x="6372225" y="6057900"/>
            <a:ext cx="5114925" cy="9525"/>
          </a:xfrm>
          <a:custGeom>
            <a:avLst/>
            <a:gdLst/>
            <a:ahLst/>
            <a:cxnLst/>
            <a:rect l="l" t="t" r="r" b="b"/>
            <a:pathLst>
              <a:path w="5114925" h="9525">
                <a:moveTo>
                  <a:pt x="0" y="0"/>
                </a:moveTo>
                <a:lnTo>
                  <a:pt x="5114925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6383655" y="4960620"/>
            <a:ext cx="8951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第 4 部分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384417" y="5351145"/>
            <a:ext cx="5234369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此外，他还先后兼任过中央人民政府人民革命军事委员会主席、中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华人民共和国国防委员会主席、中国人民政治协商会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28638" y="6334125"/>
            <a:ext cx="11134725" cy="327659"/>
            <a:chOff x="528638" y="6334125"/>
            <a:chExt cx="11134725" cy="327659"/>
          </a:xfrm>
        </p:grpSpPr>
        <p:sp>
          <p:nvSpPr>
            <p:cNvPr id="27" name="Line 27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06 / 06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290364" y="648557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毛泽东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606410" y="6489859"/>
              <a:ext cx="46931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org/wiki/%E6%AF%9B%E6%B3%BD%E4%B8%9C#cite_note-%E6%B5%B7-12): 3813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2026-07-16T07:11:46Z</dcterms:created>
  <dcterms:modified xsi:type="dcterms:W3CDTF">2026-07-16T07:11:46Z</dcterms:modified>
  <cp:category/>
  <cp:contentStatus/>
</cp:coreProperties>
</file>