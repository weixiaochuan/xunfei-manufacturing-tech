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今天我们重识林徽因，不是从传奇和八卦开始，而是从一个更准确的身份开始：建筑师。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逝世七十年之后，她仍常常被文学光环、情感叙事和“民国才女”的想象包围。但如果把她放回中国现代建筑史，她的位置其实非常清楚：她不仅参与建筑实践，更参与理论建构，也参与学科奠基。</a:t>
            </a:r>
          </a:p>
          <a:p>
            <a:endParaRPr lang="en-US" dirty="0"/>
          </a:p>
          <a:p>
            <a:r>
              <a:rPr lang="zh-CN" dirty="0"/>
              <a:t>这一份短讲，想做的不是“补充一段故事”，而是校正一个称谓。</a:t>
            </a:r>
          </a:p>
          <a:p>
            <a:endParaRPr lang="en-US" dirty="0"/>
          </a:p>
          <a:p>
            <a:r>
              <a:rPr lang="zh-CN" dirty="0"/>
              <a:t>要点：① 主题不是传奇，而是身份校正 ② 明确三条主线：作品、理论、行动 ③ 建立整场讲述的专业基调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在进入具体作品之前，我们先回答一个问题：为什么今天还需要重新认识林徽因？</a:t>
            </a:r>
          </a:p>
          <a:p>
            <a:endParaRPr lang="en-US" dirty="0"/>
          </a:p>
          <a:p>
            <a:r>
              <a:rPr lang="zh-CN" dirty="0"/>
              <a:t>因为长期以来，被反复讲述的，并不总是她最重要的部分。公众记忆里，她往往首先是才女、诗人、爱情故事中的人物；但真正支撑她历史地位的，是建筑实践、理论工作和教育建设。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所以这不是一次“人物轶事补遗”，而是一次知识坐标的纠偏。</a:t>
            </a:r>
          </a:p>
          <a:p>
            <a:endParaRPr lang="en-US" dirty="0"/>
          </a:p>
          <a:p>
            <a:r>
              <a:rPr lang="zh-CN" dirty="0"/>
              <a:t>要点：① 区分公众形象与专业位置 ② 点明“重识”不是情绪动作，而是知识修正 ③ 为后续内容建立判断框架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许多人说，林徽因“作品不多”，进而怀疑她是否配得上建筑师这个称呼。</a:t>
            </a:r>
          </a:p>
          <a:p>
            <a:endParaRPr lang="en-US" dirty="0"/>
          </a:p>
          <a:p>
            <a:r>
              <a:rPr lang="zh-CN" dirty="0"/>
              <a:t>这个判断的问题在于，它只看成品数量，而不看实践条件。1929年梁启超墓碑，是她归国后的起点；同年石头楼与吉海铁路总站等项目，则说明她已经进入了现代公共建筑与校园建筑的实践语境。再往后，从北大到映秋院，再到战时的昆明自宅，她的建筑工作从未真正中断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所以问题不是“她是否参与实践”，而是战乱、教育、研究和现实分工，如何压缩了她留下的大量落成机会。</a:t>
            </a:r>
          </a:p>
          <a:p>
            <a:endParaRPr lang="en-US" dirty="0"/>
          </a:p>
          <a:p>
            <a:r>
              <a:rPr lang="zh-CN" dirty="0"/>
              <a:t>要点：① 回应“作品少”的质疑 ② 建立持续性的实践轨迹 ③ 把数量问题还原为历史条件问题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如果我们把目光放回具体现场，就能更直观地看到她如何工作。</a:t>
            </a:r>
          </a:p>
          <a:p>
            <a:endParaRPr lang="en-US" dirty="0"/>
          </a:p>
          <a:p>
            <a:r>
              <a:rPr lang="zh-CN" dirty="0"/>
              <a:t>吉海铁路总站，把建筑当作公共象征来设计；北大地质馆，体现现代主义与使用者尺度的意识；映秋院借地方材料和院落组织回应现实；昆明自宅则是在极端条件下坚持建造秩序的例子。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这些项目说明，林徽因不是一个抽象的“建筑史人物”，而是始终在处理真实空间问题的建筑师。</a:t>
            </a:r>
          </a:p>
          <a:p>
            <a:endParaRPr lang="en-US" dirty="0"/>
          </a:p>
          <a:p>
            <a:r>
              <a:rPr lang="zh-CN" dirty="0"/>
              <a:t>要点：① 用四个现场替代抽象评价 ② 强调她面对的是不同类型的问题 ③ 让“建筑师”身份从概念回到现场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林徽因的建筑工作，后来进入了更大的国家尺度。</a:t>
            </a:r>
          </a:p>
          <a:p>
            <a:endParaRPr lang="en-US" dirty="0"/>
          </a:p>
          <a:p>
            <a:r>
              <a:rPr lang="zh-CN" dirty="0"/>
              <a:t>八宝山革命公墓的主体格局设计，和人民英雄纪念碑的关键修改与纹样处理，都说明她并不是在国家纪念建筑中扮演边缘角色。尤其纪念碑方案中，对碑座、台阶、尺度关系的调整，体现的是明确的空间判断力。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这也意味着，林徽因的建筑工作并不止于学术研究，她直接进入了国家记忆空间的构建过程。</a:t>
            </a:r>
          </a:p>
          <a:p>
            <a:endParaRPr lang="en-US" dirty="0"/>
          </a:p>
          <a:p>
            <a:r>
              <a:rPr lang="zh-CN" dirty="0"/>
              <a:t>要点：① 点明国家纪念建筑中的实质性贡献 ② 强调尺度与秩序判断 ③ 把她从“参与者”提升为“关键判断者”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但如果只看建筑项目，仍然低估了林徽因。</a:t>
            </a:r>
          </a:p>
          <a:p>
            <a:endParaRPr lang="en-US" dirty="0"/>
          </a:p>
          <a:p>
            <a:r>
              <a:rPr lang="zh-CN" dirty="0"/>
              <a:t>1932年，她发表《论中国建筑之几个特征》。这不是一篇“介绍中国建筑”的文章，而是在中国专业学者语境中，第一次系统地定义中国建筑。她反驳西方误读，提出木构体系的关键特征，并为后来的中国建筑史叙述搭起理论骨架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所以更准确地说，她不是站在他人理论之后补充材料，而是在共同塑造理论本身。</a:t>
            </a:r>
          </a:p>
          <a:p>
            <a:endParaRPr lang="en-US" dirty="0"/>
          </a:p>
          <a:p>
            <a:r>
              <a:rPr lang="zh-CN" dirty="0"/>
              <a:t>要点：① 解释论文的历史级别 ② 突出“定义”与“反驳”两个动作 ③ 纠正“辅助者”想象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林徽因真正留下来的，也许不是某一件代表作，而是一整套方法。</a:t>
            </a:r>
          </a:p>
          <a:p>
            <a:endParaRPr lang="en-US" dirty="0"/>
          </a:p>
          <a:p>
            <a:r>
              <a:rPr lang="zh-CN" dirty="0"/>
              <a:t>她把测绘、考察、史料和类型分析结合在一起；她参与建筑系与课程建设，把建筑教育制度化；她关注民居保护、普通人的住宅问题，提出“建筑意”等概念。今天看起来理所当然的很多命题，在当时都需要极强的前瞻性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也正因为如此，她的意义不能只用“作品多少”来衡量，而要看她改变了这门学科如何被研究、被教授、被理解。</a:t>
            </a:r>
          </a:p>
          <a:p>
            <a:endParaRPr lang="en-US" dirty="0"/>
          </a:p>
          <a:p>
            <a:r>
              <a:rPr lang="zh-CN" dirty="0"/>
              <a:t>要点：① 三个层面：方法、学科、远见 ② 强调其制度性与长期性影响 ③ 提升对她历史位置的判断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如果再往人格层面看，林徽因最值得重视的并不是“传奇感”，而是行动力。</a:t>
            </a:r>
          </a:p>
          <a:p>
            <a:endParaRPr lang="en-US" dirty="0"/>
          </a:p>
          <a:p>
            <a:r>
              <a:rPr lang="zh-CN" dirty="0"/>
              <a:t>她翻山涉水做田野调查，不是陪伴者，而是共同工作者；她经历病痛和流亡，却没有停止写作、研究和教学；她那句“我还有好多事要做呢”，背后是一种很明确的事业感。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所以她的“强”，不是姿态上的，而是职业伦理上的。她把自己的生命，压进了中国建筑学奠基的历史现场。</a:t>
            </a:r>
          </a:p>
          <a:p>
            <a:endParaRPr lang="en-US" dirty="0"/>
          </a:p>
          <a:p>
            <a:r>
              <a:rPr lang="zh-CN" dirty="0"/>
              <a:t>要点：① 打破“被动女性形象” ② 突出行动与职业使命 ③ 从人格层面支撑前面所有专业判断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最后，我们回到那块墓碑前。</a:t>
            </a:r>
          </a:p>
          <a:p>
            <a:endParaRPr lang="en-US" dirty="0"/>
          </a:p>
          <a:p>
            <a:r>
              <a:rPr lang="zh-CN" dirty="0"/>
              <a:t>“建筑师林徽因墓。”这七个字，已经足够准确。它把她从过度抒情的叙事里抽离出来，放回到一个更坚实的位置：建筑师、理论提出者、学科建构者。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重新认识她，不是为了制造新的神话，而是为了用更高精度的语言，描述一位本就重要的人。</a:t>
            </a:r>
          </a:p>
          <a:p>
            <a:endParaRPr lang="en-US" dirty="0"/>
          </a:p>
          <a:p>
            <a:r>
              <a:rPr lang="zh-CN" dirty="0"/>
              <a:t>要点：① 回到墓碑称谓完成收束 ② 再次确认专业身份 ③ 以“准确命名”结束全场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420f10ebc8850b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757bdc56918b80.png"/>
  <Relationship Id="rId3" Type="http://schemas.openxmlformats.org/officeDocument/2006/relationships/image" Target="../media/image_ad978b668e356e93.png"/>
  <Relationship Id="rId4" Type="http://schemas.openxmlformats.org/officeDocument/2006/relationships/image" Target="../media/image_39363d77c230c58f.png"/>
  <Relationship Id="rId5" Type="http://schemas.openxmlformats.org/officeDocument/2006/relationships/image" Target="../media/image_484d8c9f805216a2.pn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64accdab8560f2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5f12290e3ec797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48cf086e78f6aa.png"/>
  <Relationship Id="rId3" Type="http://schemas.openxmlformats.org/officeDocument/2006/relationships/image" Target="../media/image_6057c608c4a23b00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d8abaa376e1362.png"/>
  <Relationship Id="rId3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8496300" y="457200"/>
            <a:ext cx="3238500" cy="5943600"/>
          </a:xfrm>
          <a:prstGeom prst="rect">
            <a:avLst/>
          </a:prstGeom>
          <a:solidFill>
            <a:srgbClr val="EFE7D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496300" y="457200"/>
            <a:ext cx="3238500" cy="5943600"/>
            <a:chOff x="8496300" y="457200"/>
            <a:chExt cx="3238500" cy="59436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1963" t="0" r="21963" b="0"/>
            <a:stretch>
              <a:fillRect/>
            </a:stretch>
          </p:blipFill>
          <p:spPr>
            <a:xfrm>
              <a:off x="8667750" y="723900"/>
              <a:ext cx="2781300" cy="5448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8496300" y="457200"/>
              <a:ext cx="1047750" cy="5943600"/>
            </a:xfrm>
            <a:prstGeom prst="rect">
              <a:avLst/>
            </a:prstGeom>
            <a:gradFill>
              <a:gsLst>
                <a:gs pos="0">
                  <a:srgbClr val="F6F1E8"/>
                </a:gs>
                <a:gs pos="100000">
                  <a:srgbClr val="F6F1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96300" y="457200"/>
              <a:ext cx="3238500" cy="5943600"/>
            </a:xfrm>
            <a:prstGeom prst="rect">
              <a:avLst/>
            </a:prstGeom>
            <a:noFill/>
            <a:ln w="9525">
              <a:solidFill>
                <a:srgbClr val="D8CBB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0100" y="838200"/>
            <a:ext cx="3390900" cy="3331845"/>
            <a:chOff x="800100" y="838200"/>
            <a:chExt cx="3390900" cy="3331845"/>
          </a:xfrm>
        </p:grpSpPr>
        <p:sp>
          <p:nvSpPr>
            <p:cNvPr id="9" name="Rectangle 9"/>
            <p:cNvSpPr/>
            <p:nvPr/>
          </p:nvSpPr>
          <p:spPr>
            <a:xfrm>
              <a:off x="819150" y="838200"/>
              <a:ext cx="57150" cy="1123950"/>
            </a:xfrm>
            <a:prstGeom prst="rect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14192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100" y="1815465"/>
              <a:ext cx="21887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林徽因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720" y="2652712"/>
              <a:ext cx="33832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重识建筑师，而非传说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530" y="326707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逝世 70 周年专题演示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1530" y="3571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从作品、理论与行动三个维度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3876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重新确认她在中国建筑史中的位置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" y="4686300"/>
            <a:ext cx="4610100" cy="361950"/>
            <a:chOff x="819150" y="4686300"/>
            <a:chExt cx="4610100" cy="361950"/>
          </a:xfrm>
        </p:grpSpPr>
        <p:sp>
          <p:nvSpPr>
            <p:cNvPr id="17" name="Rectangle 17"/>
            <p:cNvSpPr/>
            <p:nvPr/>
          </p:nvSpPr>
          <p:spPr>
            <a:xfrm>
              <a:off x="819150" y="4686300"/>
              <a:ext cx="13906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02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建筑师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97731" y="4783931"/>
              <a:ext cx="128588" cy="138113"/>
              <a:chOff x="897731" y="4783931"/>
              <a:chExt cx="128588" cy="1381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97731" y="4912519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40594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0594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0594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6312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6312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6312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2019" y="4783931"/>
                <a:ext cx="100012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28588">
                    <a:moveTo>
                      <a:pt x="0" y="128588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1285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2324100" y="4686300"/>
              <a:ext cx="15811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75179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理论奠基者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402681" y="4791075"/>
              <a:ext cx="128588" cy="114300"/>
              <a:chOff x="2402681" y="4791075"/>
              <a:chExt cx="128588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402681" y="4791075"/>
                <a:ext cx="1285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100012"/>
                    </a:lnTo>
                    <a:cubicBezTo>
                      <a:pt x="128588" y="107903"/>
                      <a:pt x="122191" y="114300"/>
                      <a:pt x="114300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431256" y="48196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431256" y="48482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431256" y="487680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4019550" y="4686300"/>
              <a:ext cx="140970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706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行动者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4098131" y="4783931"/>
              <a:ext cx="128588" cy="128588"/>
              <a:chOff x="4098131" y="4783931"/>
              <a:chExt cx="128588" cy="1285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133850" y="4819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14288" y="14288"/>
                    </a:lnTo>
                    <a:lnTo>
                      <a:pt x="57150" y="0"/>
                    </a:lnTo>
                    <a:lnTo>
                      <a:pt x="42862" y="42862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098131" y="478393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162425" y="47839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162425" y="48982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0981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2124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457200" y="6038850"/>
            <a:ext cx="11277600" cy="361950"/>
            <a:chOff x="457200" y="6038850"/>
            <a:chExt cx="11277600" cy="361950"/>
          </a:xfrm>
        </p:grpSpPr>
        <p:sp>
          <p:nvSpPr>
            <p:cNvPr id="45" name="Rectangle 45"/>
            <p:cNvSpPr/>
            <p:nvPr/>
          </p:nvSpPr>
          <p:spPr>
            <a:xfrm>
              <a:off x="457200" y="6038850"/>
              <a:ext cx="11277600" cy="36195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3816" y="61636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林徽因：重识建筑师，而非传说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34066" y="61636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672846" y="601028"/>
            <a:ext cx="10833354" cy="498729"/>
            <a:chOff x="672846" y="601028"/>
            <a:chExt cx="10833354" cy="498729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2152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为什么今天要重识林徽因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3950" y="1824990"/>
            <a:ext cx="7090410" cy="2040255"/>
            <a:chOff x="1123950" y="1824990"/>
            <a:chExt cx="7090410" cy="2040255"/>
          </a:xfrm>
        </p:grpSpPr>
        <p:grpSp>
          <p:nvGrpSpPr>
            <p:cNvPr id="10" name="Group 10"/>
            <p:cNvGrpSpPr/>
            <p:nvPr/>
          </p:nvGrpSpPr>
          <p:grpSpPr>
            <a:xfrm>
              <a:off x="1123950" y="1847850"/>
              <a:ext cx="228599" cy="152400"/>
              <a:chOff x="1123950" y="1847850"/>
              <a:chExt cx="228599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12850" y="1898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0" y="184785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906" y="1824990"/>
              <a:ext cx="4319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被看见的，常常不是她最重要的部分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4762" y="2183130"/>
              <a:ext cx="32625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她被反复讲述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762" y="2735580"/>
              <a:ext cx="48755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却并不总被准确理解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43050" y="333375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35430" y="35718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这次重识，不是补充一段轶事，而是把她放回建筑史与学术史的核心坐标。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7716" y="4527232"/>
            <a:ext cx="9909810" cy="610743"/>
            <a:chOff x="1537716" y="4527232"/>
            <a:chExt cx="9909810" cy="610743"/>
          </a:xfrm>
        </p:grpSpPr>
        <p:grpSp>
          <p:nvGrpSpPr>
            <p:cNvPr id="20" name="Group 20"/>
            <p:cNvGrpSpPr/>
            <p:nvPr/>
          </p:nvGrpSpPr>
          <p:grpSpPr>
            <a:xfrm>
              <a:off x="1537716" y="4527232"/>
              <a:ext cx="3442868" cy="610743"/>
              <a:chOff x="1537716" y="4527232"/>
              <a:chExt cx="3442868" cy="61074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377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394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公众记忆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40992" y="4873942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她常以“才女”“爱情叙事”进入大众语境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23866" y="4527232"/>
              <a:ext cx="4496943" cy="610743"/>
              <a:chOff x="5023866" y="4527232"/>
              <a:chExt cx="4496943" cy="61074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02386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32561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专业位置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7142" y="4873942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真正决定其地位的是建筑实践、理论建构与学科建设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586216" y="4527232"/>
              <a:ext cx="2861310" cy="610743"/>
              <a:chOff x="8586216" y="4527232"/>
              <a:chExt cx="2861310" cy="61074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5862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879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今天重看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89492" y="4873942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是纠偏认知，也是重写知识坐标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80466" y="609695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从被遮蔽的形象，回到建筑师的专业身份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建筑实践并不缺席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从墓碑、校园、车站到战时住宅，她的建筑实践有持续可见的轨迹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1100" y="1601152"/>
            <a:ext cx="9791700" cy="837629"/>
            <a:chOff x="1181100" y="1601152"/>
            <a:chExt cx="9791700" cy="837629"/>
          </a:xfrm>
        </p:grpSpPr>
        <p:sp>
          <p:nvSpPr>
            <p:cNvPr id="9" name="Line 9"/>
            <p:cNvSpPr/>
            <p:nvPr/>
          </p:nvSpPr>
          <p:spPr>
            <a:xfrm>
              <a:off x="1181100" y="20002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38100">
              <a:solidFill>
                <a:srgbClr val="D8CB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81100" y="200025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0" y="0"/>
                  </a:moveTo>
                  <a:lnTo>
                    <a:pt x="7296150" y="0"/>
                  </a:lnTo>
                </a:path>
              </a:pathLst>
            </a:custGeom>
            <a:noFill/>
            <a:ln w="38100">
              <a:solidFill>
                <a:srgbClr val="A44A3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51610" y="1601152"/>
              <a:ext cx="335280" cy="837629"/>
              <a:chOff x="1451610" y="1601152"/>
              <a:chExt cx="335280" cy="83762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50495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58430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51610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墓碑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261485" y="1601152"/>
              <a:ext cx="335280" cy="837629"/>
              <a:chOff x="4261485" y="1601152"/>
              <a:chExt cx="335280" cy="83762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314825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68305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61485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校园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83822" y="1601152"/>
              <a:ext cx="710355" cy="837629"/>
              <a:chOff x="6883822" y="1601152"/>
              <a:chExt cx="710355" cy="83762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12470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83822" y="1601152"/>
                <a:ext cx="7103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1932—1940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09816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持续实践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719691" y="1601152"/>
              <a:ext cx="658368" cy="837629"/>
              <a:chOff x="9719691" y="1601152"/>
              <a:chExt cx="658368" cy="837629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34575" y="1885950"/>
                <a:ext cx="228600" cy="228600"/>
              </a:xfrm>
              <a:prstGeom prst="ellipse">
                <a:avLst/>
              </a:prstGeom>
              <a:solidFill>
                <a:srgbClr val="6E7C8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49183" y="16011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1950s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719691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国家尺度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85800" y="2876550"/>
            <a:ext cx="13840968" cy="2952750"/>
            <a:chOff x="685800" y="2876550"/>
            <a:chExt cx="13840968" cy="2952750"/>
          </a:xfrm>
        </p:grpSpPr>
        <p:grpSp>
          <p:nvGrpSpPr>
            <p:cNvPr id="44" name="Group 44"/>
            <p:cNvGrpSpPr/>
            <p:nvPr/>
          </p:nvGrpSpPr>
          <p:grpSpPr>
            <a:xfrm>
              <a:off x="685800" y="2876550"/>
              <a:ext cx="4434840" cy="2952750"/>
              <a:chOff x="685800" y="2876550"/>
              <a:chExt cx="4434840" cy="2952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858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42975" y="3152775"/>
                <a:ext cx="171450" cy="180975"/>
                <a:chOff x="942975" y="3152775"/>
                <a:chExt cx="171450" cy="18097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42975" y="33242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00125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00125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00125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47750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47750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047750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2025" y="31527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2489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归国起点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542" y="3549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梁启超墓碑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8304" y="3842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学成归国后首个明确作品，说明她并非没有进入设计实践。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7542" y="4311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石头楼等校园项目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8304" y="4604385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在事务所协作中，她进入现代校园建筑语境。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9066" y="527780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关键词：归国、事务所、起步作品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419600" y="2876550"/>
              <a:ext cx="5258714" cy="2952750"/>
              <a:chOff x="4419600" y="2876550"/>
              <a:chExt cx="5258714" cy="2952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4196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FFFFFF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676775" y="3181350"/>
                <a:ext cx="171450" cy="133350"/>
                <a:chOff x="4676775" y="3181350"/>
                <a:chExt cx="171450" cy="13335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676775" y="3181350"/>
                  <a:ext cx="1714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66675">
                      <a:moveTo>
                        <a:pt x="171450" y="66675"/>
                      </a:moveTo>
                      <a:cubicBezTo>
                        <a:pt x="171450" y="29813"/>
                        <a:pt x="139351" y="0"/>
                        <a:pt x="762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676775" y="3248025"/>
                  <a:ext cx="1714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9050">
                      <a:moveTo>
                        <a:pt x="0" y="19050"/>
                      </a:moveTo>
                      <a:lnTo>
                        <a:pt x="152400" y="19050"/>
                      </a:lnTo>
                      <a:cubicBezTo>
                        <a:pt x="162921" y="19050"/>
                        <a:pt x="171450" y="1052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676775" y="3181350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166688" y="4762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676775" y="32289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724400" y="31813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772025" y="31861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428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676775" y="330517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82718" y="31175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公共建筑尺度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641342" y="3549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642104" y="3842385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哥特式站房与“雄狮初醒”的国家象征并置，体现公共建筑的表达意识。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641342" y="431196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不是“作品数量”，而是“实践条件”问题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642104" y="4604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教育、研究、战乱与家庭责任共同压缩了可落成作品数量。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642866" y="52778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关键词：车站、象征、公共性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53400" y="2876550"/>
              <a:ext cx="6373368" cy="2952750"/>
              <a:chOff x="8153400" y="2876550"/>
              <a:chExt cx="6373368" cy="2952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1534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410575" y="3190875"/>
                <a:ext cx="171450" cy="95250"/>
                <a:chOff x="8410575" y="3190875"/>
                <a:chExt cx="171450" cy="952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8420100" y="320040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515350" y="32480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67725" y="32004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10575" y="32670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62975" y="31908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165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持续延伸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375142" y="35499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北大、映秋院、西南联大、昆明自宅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75904" y="3842385"/>
                <a:ext cx="6150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这些项目共同说明：她从未退出建筑实践，而是在更艰难的条件下继续回应具体问题。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75142" y="43119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实践最终延伸到国家纪念建筑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5904" y="4604385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她的建筑工作，后来进入了更大的国家空间尺度。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76666" y="5277802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关键词：战时、持续性、转向国家层面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976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作品现场：建筑不是抽象名词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四个现场，对应四种不同的问题意识与建筑回应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1619250"/>
            <a:ext cx="5029200" cy="3771900"/>
            <a:chOff x="685800" y="1619250"/>
            <a:chExt cx="5029200" cy="3771900"/>
          </a:xfrm>
        </p:grpSpPr>
        <p:grpSp>
          <p:nvGrpSpPr>
            <p:cNvPr id="13" name="Group 13"/>
            <p:cNvGrpSpPr/>
            <p:nvPr/>
          </p:nvGrpSpPr>
          <p:grpSpPr>
            <a:xfrm>
              <a:off x="685800" y="1619250"/>
              <a:ext cx="2400300" cy="1733550"/>
              <a:chOff x="685800" y="1619250"/>
              <a:chExt cx="2400300" cy="1733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2"/>
              <a:srcRect l="11026" t="0" r="11026" b="0"/>
              <a:stretch>
                <a:fillRect/>
              </a:stretch>
            </p:blipFill>
            <p:spPr>
              <a:xfrm>
                <a:off x="6858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1" name="Rectangle 11"/>
              <p:cNvSpPr/>
              <p:nvPr/>
            </p:nvSpPr>
            <p:spPr>
              <a:xfrm>
                <a:off x="6858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2485" y="310753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14700" y="1619250"/>
              <a:ext cx="2400300" cy="1733550"/>
              <a:chOff x="3314700" y="1619250"/>
              <a:chExt cx="2400300" cy="1733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147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3"/>
              <a:srcRect l="11528" t="0" r="11528" b="0"/>
              <a:stretch>
                <a:fillRect/>
              </a:stretch>
            </p:blipFill>
            <p:spPr>
              <a:xfrm>
                <a:off x="33147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6" name="Rectangle 16"/>
              <p:cNvSpPr/>
              <p:nvPr/>
            </p:nvSpPr>
            <p:spPr>
              <a:xfrm>
                <a:off x="33147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61385" y="31075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北大地质馆旧址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57600"/>
              <a:ext cx="2400300" cy="1733550"/>
              <a:chOff x="685800" y="3657600"/>
              <a:chExt cx="2400300" cy="1733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4"/>
              <a:srcRect l="0" t="2805" r="0" b="2805"/>
              <a:stretch>
                <a:fillRect/>
              </a:stretch>
            </p:blipFill>
            <p:spPr>
              <a:xfrm>
                <a:off x="6858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1" name="Rectangle 21"/>
              <p:cNvSpPr/>
              <p:nvPr/>
            </p:nvSpPr>
            <p:spPr>
              <a:xfrm>
                <a:off x="6858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485" y="514588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映秋院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14700" y="3657600"/>
              <a:ext cx="2400300" cy="1733550"/>
              <a:chOff x="3314700" y="3657600"/>
              <a:chExt cx="2400300" cy="1733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147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5"/>
              <a:srcRect l="0" t="192" r="0" b="192"/>
              <a:stretch>
                <a:fillRect/>
              </a:stretch>
            </p:blipFill>
            <p:spPr>
              <a:xfrm>
                <a:off x="33147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6" name="Rectangle 26"/>
              <p:cNvSpPr/>
              <p:nvPr/>
            </p:nvSpPr>
            <p:spPr>
              <a:xfrm>
                <a:off x="33147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61385" y="514588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昆明自宅与战时现场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115050" y="1619250"/>
            <a:ext cx="6070092" cy="3771900"/>
            <a:chOff x="6115050" y="1619250"/>
            <a:chExt cx="6070092" cy="3771900"/>
          </a:xfrm>
        </p:grpSpPr>
        <p:sp>
          <p:nvSpPr>
            <p:cNvPr id="30" name="Rectangle 30"/>
            <p:cNvSpPr/>
            <p:nvPr/>
          </p:nvSpPr>
          <p:spPr>
            <a:xfrm>
              <a:off x="6115050" y="1619250"/>
              <a:ext cx="5276850" cy="3771900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1876425"/>
              <a:ext cx="4487228" cy="552831"/>
              <a:chOff x="6405562" y="1876425"/>
              <a:chExt cx="4487228" cy="552831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405562" y="1933575"/>
                <a:ext cx="142875" cy="112712"/>
                <a:chOff x="6405562" y="1933575"/>
                <a:chExt cx="142875" cy="11271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5562" y="1933575"/>
                  <a:ext cx="1428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55562">
                      <a:moveTo>
                        <a:pt x="142875" y="55562"/>
                      </a:moveTo>
                      <a:cubicBezTo>
                        <a:pt x="142875" y="24844"/>
                        <a:pt x="116126" y="0"/>
                        <a:pt x="635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405562" y="1989137"/>
                  <a:ext cx="142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875">
                      <a:moveTo>
                        <a:pt x="0" y="15875"/>
                      </a:moveTo>
                      <a:lnTo>
                        <a:pt x="127000" y="15875"/>
                      </a:lnTo>
                      <a:cubicBezTo>
                        <a:pt x="135767" y="15875"/>
                        <a:pt x="142875" y="8768"/>
                        <a:pt x="142875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405562" y="1933575"/>
                  <a:ext cx="138906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39687">
                      <a:moveTo>
                        <a:pt x="0" y="0"/>
                      </a:moveTo>
                      <a:lnTo>
                        <a:pt x="0" y="39687"/>
                      </a:lnTo>
                      <a:lnTo>
                        <a:pt x="138906" y="39687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405562" y="1973262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45250" y="1933575"/>
                  <a:ext cx="95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687">
                      <a:moveTo>
                        <a:pt x="0" y="39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484937" y="1937544"/>
                  <a:ext cx="95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5719">
                      <a:moveTo>
                        <a:pt x="0" y="3571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05562" y="2036762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6678930" y="18764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公共建筑的象征表达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80454" y="2194560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吉海铁路总站不只是站房，更是把国家想象写进建筑形体。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397625" y="2733675"/>
              <a:ext cx="4979797" cy="552831"/>
              <a:chOff x="6397625" y="2733675"/>
              <a:chExt cx="4979797" cy="55283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397625" y="2782887"/>
                <a:ext cx="158750" cy="111125"/>
                <a:chOff x="6397625" y="2782887"/>
                <a:chExt cx="158750" cy="11112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397625" y="2782887"/>
                  <a:ext cx="158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79375">
                      <a:moveTo>
                        <a:pt x="158750" y="31750"/>
                      </a:moveTo>
                      <a:lnTo>
                        <a:pt x="79375" y="0"/>
                      </a:lnTo>
                      <a:lnTo>
                        <a:pt x="0" y="31750"/>
                      </a:lnTo>
                      <a:lnTo>
                        <a:pt x="79375" y="63500"/>
                      </a:lnTo>
                      <a:lnTo>
                        <a:pt x="158750" y="31750"/>
                      </a:lnTo>
                      <a:lnTo>
                        <a:pt x="158750" y="793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429375" y="2827337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0"/>
                      </a:moveTo>
                      <a:lnTo>
                        <a:pt x="0" y="42862"/>
                      </a:lnTo>
                      <a:cubicBezTo>
                        <a:pt x="0" y="56014"/>
                        <a:pt x="21322" y="66675"/>
                        <a:pt x="47625" y="66675"/>
                      </a:cubicBezTo>
                      <a:cubicBezTo>
                        <a:pt x="73928" y="66675"/>
                        <a:pt x="95250" y="56014"/>
                        <a:pt x="95250" y="42862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6678930" y="273367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现代主义与使用者关怀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80454" y="305181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北大地质馆与女生宿舍说明，她关注形式，也关注具体使用经验。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05562" y="3590925"/>
              <a:ext cx="5311102" cy="552831"/>
              <a:chOff x="6405562" y="3590925"/>
              <a:chExt cx="5311102" cy="552831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405562" y="3624262"/>
                <a:ext cx="142875" cy="152400"/>
                <a:chOff x="6405562" y="3624262"/>
                <a:chExt cx="142875" cy="15240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405562" y="3767137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453187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53187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53187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92875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2875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492875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421437" y="3624262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0" y="142875"/>
                      </a:move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1428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678930" y="359092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地方性材料与民居经验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80454" y="3909060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映秋院借地方材料和院落组织回应现实条件，不是“简陋”，而是策略。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02814" y="4448175"/>
              <a:ext cx="5782328" cy="552831"/>
              <a:chOff x="6402814" y="4448175"/>
              <a:chExt cx="5782328" cy="55283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02814" y="4487414"/>
                <a:ext cx="148228" cy="129036"/>
              </a:xfrm>
              <a:custGeom>
                <a:avLst/>
                <a:gdLst/>
                <a:ahLst/>
                <a:cxnLst/>
                <a:rect l="l" t="t" r="r" b="b"/>
                <a:pathLst>
                  <a:path w="148228" h="129036">
                    <a:moveTo>
                      <a:pt x="133717" y="70077"/>
                    </a:moveTo>
                    <a:lnTo>
                      <a:pt x="74186" y="129036"/>
                    </a:lnTo>
                    <a:lnTo>
                      <a:pt x="14655" y="70077"/>
                    </a:lnTo>
                    <a:cubicBezTo>
                      <a:pt x="3949" y="59659"/>
                      <a:pt x="0" y="44113"/>
                      <a:pt x="4435" y="29850"/>
                    </a:cubicBezTo>
                    <a:cubicBezTo>
                      <a:pt x="8870" y="15586"/>
                      <a:pt x="20939" y="5020"/>
                      <a:pt x="35663" y="2510"/>
                    </a:cubicBezTo>
                    <a:cubicBezTo>
                      <a:pt x="50388" y="0"/>
                      <a:pt x="65276" y="5970"/>
                      <a:pt x="74186" y="17959"/>
                    </a:cubicBezTo>
                    <a:cubicBezTo>
                      <a:pt x="83134" y="6059"/>
                      <a:pt x="97989" y="168"/>
                      <a:pt x="112661" y="2702"/>
                    </a:cubicBezTo>
                    <a:cubicBezTo>
                      <a:pt x="127332" y="5235"/>
                      <a:pt x="139351" y="15767"/>
                      <a:pt x="143790" y="29979"/>
                    </a:cubicBezTo>
                    <a:cubicBezTo>
                      <a:pt x="148228" y="44191"/>
                      <a:pt x="144339" y="59691"/>
                      <a:pt x="133717" y="7012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78930" y="444817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战时自建，是职业选择的缩影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680454" y="4766310"/>
                <a:ext cx="55046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昆明自宅表面朴素，背后是两位建筑师在极端条件下仍坚持建造与生活秩序。</a:t>
                </a: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680466" y="6096952"/>
            <a:ext cx="39826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四图并置的目的，是把“建筑师”从抽象标签还原为可见工作现场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286500" y="457200"/>
            <a:ext cx="5448300" cy="5943600"/>
            <a:chOff x="6286500" y="457200"/>
            <a:chExt cx="5448300" cy="5943600"/>
          </a:xfrm>
        </p:grpSpPr>
        <p:sp>
          <p:nvSpPr>
            <p:cNvPr id="4" name="Rectangle 4"/>
            <p:cNvSpPr/>
            <p:nvPr/>
          </p:nvSpPr>
          <p:spPr>
            <a:xfrm>
              <a:off x="6286500" y="457200"/>
              <a:ext cx="54483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2692" r="0" b="2692"/>
            <a:stretch>
              <a:fillRect/>
            </a:stretch>
          </p:blipFill>
          <p:spPr>
            <a:xfrm>
              <a:off x="7067550" y="857250"/>
              <a:ext cx="3714750" cy="4686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6286500" y="5334000"/>
              <a:ext cx="5448300" cy="10668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566535" y="5631656"/>
              <a:ext cx="5160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人民英雄纪念碑与八宝山革命公墓，说明她的建筑实践进入了国家记忆空间。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6196" y="639128"/>
            <a:ext cx="6905244" cy="5529738"/>
            <a:chOff x="806196" y="639128"/>
            <a:chExt cx="6905244" cy="5529738"/>
          </a:xfrm>
        </p:grpSpPr>
        <p:sp>
          <p:nvSpPr>
            <p:cNvPr id="9" name="TextBox 9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国家尺度上的建筑参与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" y="1067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不是边缘参与，而是关键性的空间判断与风格处理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13335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45344" y="1835944"/>
              <a:ext cx="157163" cy="166687"/>
              <a:chOff x="845344" y="1835944"/>
              <a:chExt cx="157163" cy="1666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89000" y="183594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2806" y="196691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5344" y="199310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18030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八宝山革命公墓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21593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她负责主体建筑格局，将寺院、园林与纪念空间整合为新的国家纪念场所。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45344" y="2997994"/>
              <a:ext cx="157163" cy="166687"/>
              <a:chOff x="845344" y="2997994"/>
              <a:chExt cx="157163" cy="16668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89000" y="299799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2806" y="312896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5344" y="315515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53668" y="2965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人民英雄纪念碑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192" y="332136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她提出扩大碑座、调整台阶层级，让纪念碑与广场尺度更协调，并亲自设计纹样。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" y="4171950"/>
              <a:ext cx="4667250" cy="1104900"/>
            </a:xfrm>
            <a:prstGeom prst="roundRect">
              <a:avLst>
                <a:gd name="adj" fmla="val 12069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6132" y="4307205"/>
              <a:ext cx="28754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她不是“附属设计者”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4731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而是在国家纪念建筑的尺度、秩序与装饰语汇上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942" y="4997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留下了明确可辨识的判断。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她不是辅助者，而是理论提出者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346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1932 年那篇论文，已经在定义“中国建筑”的理论边界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657350"/>
            <a:ext cx="3562350" cy="4229100"/>
            <a:chOff x="685800" y="1657350"/>
            <a:chExt cx="3562350" cy="4229100"/>
          </a:xfrm>
        </p:grpSpPr>
        <p:sp>
          <p:nvSpPr>
            <p:cNvPr id="9" name="Rectangle 9"/>
            <p:cNvSpPr/>
            <p:nvPr/>
          </p:nvSpPr>
          <p:spPr>
            <a:xfrm>
              <a:off x="685800" y="1657350"/>
              <a:ext cx="3562350" cy="42291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18412" t="0" r="18412" b="0"/>
            <a:stretch>
              <a:fillRect/>
            </a:stretch>
          </p:blipFill>
          <p:spPr>
            <a:xfrm>
              <a:off x="685800" y="1657350"/>
              <a:ext cx="3562350" cy="42291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5543550"/>
              <a:ext cx="3562350" cy="3429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585" y="5641181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《论中国建筑之几个特征》相关图像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0150" y="1866900"/>
            <a:ext cx="9525" cy="3829050"/>
            <a:chOff x="5010150" y="1866900"/>
            <a:chExt cx="9525" cy="3829050"/>
          </a:xfrm>
        </p:grpSpPr>
        <p:sp>
          <p:nvSpPr>
            <p:cNvPr id="14" name="Line 14"/>
            <p:cNvSpPr/>
            <p:nvPr/>
          </p:nvSpPr>
          <p:spPr>
            <a:xfrm>
              <a:off x="5010150" y="18669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28575">
              <a:solidFill>
                <a:srgbClr val="D8CBB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838700" y="1866900"/>
            <a:ext cx="6400800" cy="552450"/>
            <a:chOff x="4838700" y="1866900"/>
            <a:chExt cx="6400800" cy="552450"/>
          </a:xfrm>
        </p:grpSpPr>
        <p:sp>
          <p:nvSpPr>
            <p:cNvPr id="16" name="Ellipse 16"/>
            <p:cNvSpPr/>
            <p:nvPr/>
          </p:nvSpPr>
          <p:spPr>
            <a:xfrm>
              <a:off x="4838700" y="196215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35419" y="2093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181600" y="2133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43550" y="18669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6242" y="194976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中国专业学者首次系统论述中国建筑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47766" y="219170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这不是“补充说明”，而是学科话语的建立。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38700" y="2724150"/>
            <a:ext cx="6400800" cy="552450"/>
            <a:chOff x="4838700" y="2724150"/>
            <a:chExt cx="6400800" cy="552450"/>
          </a:xfrm>
        </p:grpSpPr>
        <p:sp>
          <p:nvSpPr>
            <p:cNvPr id="23" name="Ellipse 23"/>
            <p:cNvSpPr/>
            <p:nvPr/>
          </p:nvSpPr>
          <p:spPr>
            <a:xfrm>
              <a:off x="4838700" y="2819400"/>
              <a:ext cx="342900" cy="342900"/>
            </a:xfrm>
            <a:prstGeom prst="ellipse">
              <a:avLst/>
            </a:prstGeom>
            <a:solidFill>
              <a:srgbClr val="6E7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35419" y="29508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181600" y="29908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6E7C8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43550" y="27241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46242" y="28070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反驳西方知识框架中的误读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7766" y="3048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她在为中国建筑争取解释权，而不只是做材料整理。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38700" y="3581400"/>
            <a:ext cx="6400800" cy="552450"/>
            <a:chOff x="4838700" y="3581400"/>
            <a:chExt cx="6400800" cy="552450"/>
          </a:xfrm>
        </p:grpSpPr>
        <p:sp>
          <p:nvSpPr>
            <p:cNvPr id="30" name="Ellipse 30"/>
            <p:cNvSpPr/>
            <p:nvPr/>
          </p:nvSpPr>
          <p:spPr>
            <a:xfrm>
              <a:off x="4838700" y="3676650"/>
              <a:ext cx="342900" cy="342900"/>
            </a:xfrm>
            <a:prstGeom prst="ellipse">
              <a:avLst/>
            </a:prstGeom>
            <a:solidFill>
              <a:srgbClr val="B691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5419" y="3808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81600" y="38481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43550" y="35814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46242" y="36642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定义木构架体系的关键特征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7766" y="3906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她从描述走向结构性概括，这正是理论工作的核心。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38700" y="4438650"/>
            <a:ext cx="6400800" cy="552450"/>
            <a:chOff x="4838700" y="4438650"/>
            <a:chExt cx="6400800" cy="552450"/>
          </a:xfrm>
        </p:grpSpPr>
        <p:sp>
          <p:nvSpPr>
            <p:cNvPr id="37" name="Ellipse 37"/>
            <p:cNvSpPr/>
            <p:nvPr/>
          </p:nvSpPr>
          <p:spPr>
            <a:xfrm>
              <a:off x="4838700" y="453390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35419" y="4665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181600" y="4705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43550" y="44386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46242" y="45215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为后续中国建筑史叙述提供理论骨架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47766" y="476345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她的工作影响了后来学术写作、教学与保护实践的语言方式。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43550" y="5276850"/>
            <a:ext cx="5695950" cy="609600"/>
            <a:chOff x="5543550" y="5276850"/>
            <a:chExt cx="56959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276850"/>
              <a:ext cx="5695950" cy="609600"/>
            </a:xfrm>
            <a:prstGeom prst="roundRect">
              <a:avLst>
                <a:gd name="adj" fmla="val 18750"/>
              </a:avLst>
            </a:prstGeom>
            <a:solidFill>
              <a:srgbClr val="EFE7DA"/>
            </a:solidFill>
            <a:ln w="11430">
              <a:solidFill>
                <a:srgbClr val="D8CBB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817791" y="5492750"/>
              <a:ext cx="106727" cy="160337"/>
              <a:chOff x="5817791" y="5492750"/>
              <a:chExt cx="106727" cy="1603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827712" y="55165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17791" y="5492750"/>
                <a:ext cx="106727" cy="123187"/>
              </a:xfrm>
              <a:custGeom>
                <a:avLst/>
                <a:gdLst/>
                <a:ahLst/>
                <a:cxnLst/>
                <a:rect l="l" t="t" r="r" b="b"/>
                <a:pathLst>
                  <a:path w="106727" h="123187">
                    <a:moveTo>
                      <a:pt x="0" y="103187"/>
                    </a:moveTo>
                    <a:cubicBezTo>
                      <a:pt x="18271" y="119058"/>
                      <a:pt x="43965" y="123187"/>
                      <a:pt x="66289" y="113840"/>
                    </a:cubicBezTo>
                    <a:cubicBezTo>
                      <a:pt x="88613" y="104493"/>
                      <a:pt x="103700" y="83290"/>
                      <a:pt x="105213" y="59135"/>
                    </a:cubicBezTo>
                    <a:cubicBezTo>
                      <a:pt x="106727" y="34981"/>
                      <a:pt x="94404" y="12060"/>
                      <a:pt x="73422" y="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859462" y="561181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827712" y="5643562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068568" y="5327332"/>
              <a:ext cx="2259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她不是在“陪同研究”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70854" y="561403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而是在参与塑造中国建筑被理解的方式。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学科、方法与远见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她真正留下的，不只是个别作品，而是一整套研究与教学方法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1733550"/>
            <a:ext cx="5584698" cy="2952750"/>
            <a:chOff x="685800" y="1733550"/>
            <a:chExt cx="5584698" cy="2952750"/>
          </a:xfrm>
        </p:grpSpPr>
        <p:sp>
          <p:nvSpPr>
            <p:cNvPr id="9" name="Rectangle 9"/>
            <p:cNvSpPr/>
            <p:nvPr/>
          </p:nvSpPr>
          <p:spPr>
            <a:xfrm>
              <a:off x="6858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62025" y="2028825"/>
              <a:ext cx="171450" cy="171450"/>
              <a:chOff x="962025" y="2028825"/>
              <a:chExt cx="171450" cy="1714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09650" y="2076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19050" y="19050"/>
                    </a:lnTo>
                    <a:lnTo>
                      <a:pt x="76200" y="0"/>
                    </a:lnTo>
                    <a:lnTo>
                      <a:pt x="57150" y="5715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2025" y="2028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0" y="20288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7750" y="2181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20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144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679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研究方法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592" y="2426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测绘、考察、史料与类型分析并重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3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她把中国建筑研究从零散见闻推进为可验证、可比对、可教学的方法体系。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1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36709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实测 · 图像记录 · 历史分析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733550"/>
            <a:ext cx="5277764" cy="2952750"/>
            <a:chOff x="4476750" y="1733550"/>
            <a:chExt cx="5277764" cy="2952750"/>
          </a:xfrm>
        </p:grpSpPr>
        <p:sp>
          <p:nvSpPr>
            <p:cNvPr id="23" name="Rectangle 23"/>
            <p:cNvSpPr/>
            <p:nvPr/>
          </p:nvSpPr>
          <p:spPr>
            <a:xfrm>
              <a:off x="447675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743450" y="2047875"/>
              <a:ext cx="190500" cy="133350"/>
              <a:chOff x="4743450" y="2047875"/>
              <a:chExt cx="19050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3450" y="20478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38100"/>
                    </a:moveTo>
                    <a:lnTo>
                      <a:pt x="95250" y="0"/>
                    </a:lnTo>
                    <a:lnTo>
                      <a:pt x="0" y="38100"/>
                    </a:lnTo>
                    <a:lnTo>
                      <a:pt x="95250" y="76200"/>
                    </a:lnTo>
                    <a:lnTo>
                      <a:pt x="190500" y="3810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81550" y="2101215"/>
                <a:ext cx="1143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0010">
                    <a:moveTo>
                      <a:pt x="0" y="0"/>
                    </a:moveTo>
                    <a:lnTo>
                      <a:pt x="0" y="51435"/>
                    </a:lnTo>
                    <a:cubicBezTo>
                      <a:pt x="0" y="67217"/>
                      <a:pt x="25587" y="80010"/>
                      <a:pt x="57150" y="80010"/>
                    </a:cubicBezTo>
                    <a:cubicBezTo>
                      <a:pt x="88713" y="80010"/>
                      <a:pt x="114300" y="67217"/>
                      <a:pt x="114300" y="5143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5891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学科建设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7542" y="2426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参与东北大学、清华大学建筑教育体系建设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8304" y="2766060"/>
              <a:ext cx="503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她不是“参与者之一”，而是把中国现代建筑教育推向制度化的人之一。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906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8304" y="3670935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建筑系 · 课程 · 住宅概论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67700" y="1733550"/>
            <a:ext cx="5584698" cy="2952750"/>
            <a:chOff x="8267700" y="1733550"/>
            <a:chExt cx="5584698" cy="29527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62975" y="2029723"/>
              <a:ext cx="133350" cy="170552"/>
              <a:chOff x="8562975" y="2029723"/>
              <a:chExt cx="133350" cy="1705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62975" y="2029723"/>
                <a:ext cx="133350" cy="12202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2029">
                    <a:moveTo>
                      <a:pt x="0" y="18152"/>
                    </a:moveTo>
                    <a:cubicBezTo>
                      <a:pt x="18519" y="0"/>
                      <a:pt x="48156" y="0"/>
                      <a:pt x="66675" y="18152"/>
                    </a:cubicBezTo>
                    <a:cubicBezTo>
                      <a:pt x="85194" y="36304"/>
                      <a:pt x="114831" y="36304"/>
                      <a:pt x="133350" y="18152"/>
                    </a:cubicBezTo>
                    <a:lnTo>
                      <a:pt x="133350" y="103877"/>
                    </a:lnTo>
                    <a:cubicBezTo>
                      <a:pt x="114831" y="122029"/>
                      <a:pt x="85194" y="122029"/>
                      <a:pt x="66675" y="103877"/>
                    </a:cubicBezTo>
                    <a:cubicBezTo>
                      <a:pt x="48156" y="85725"/>
                      <a:pt x="18519" y="85725"/>
                      <a:pt x="0" y="103877"/>
                    </a:cubicBezTo>
                    <a:lnTo>
                      <a:pt x="0" y="18152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62975" y="213360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8498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理论前瞻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8492" y="24260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民居保护、普通人住宅与“建筑意”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2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她的远见在于：建筑不只属于宏大纪念物，也属于普通人的日常生活世界。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00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9254" y="3670935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 · 住宅 · 建筑意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5800" y="5029200"/>
            <a:ext cx="10820400" cy="933450"/>
            <a:chOff x="685800" y="5029200"/>
            <a:chExt cx="10820400" cy="933450"/>
          </a:xfrm>
        </p:grpSpPr>
        <p:sp>
          <p:nvSpPr>
            <p:cNvPr id="43" name="Rectangle 43"/>
            <p:cNvSpPr/>
            <p:nvPr/>
          </p:nvSpPr>
          <p:spPr>
            <a:xfrm>
              <a:off x="685800" y="5029200"/>
              <a:ext cx="10820400" cy="933450"/>
            </a:xfrm>
            <a:prstGeom prst="roundRect">
              <a:avLst>
                <a:gd name="adj" fmla="val 1428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81075" y="5353050"/>
              <a:ext cx="133350" cy="152400"/>
              <a:chOff x="981075" y="5353050"/>
              <a:chExt cx="133350" cy="152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1075" y="53530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33350" y="0"/>
                    </a:moveTo>
                    <a:lnTo>
                      <a:pt x="133350" y="152400"/>
                    </a:ln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1075" y="5467350"/>
                <a:ext cx="1333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">
                    <a:moveTo>
                      <a:pt x="1333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19175" y="5391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86256" y="5311140"/>
              <a:ext cx="7814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她留下的，是中国建筑如何被研究、被教授、被理解的一套方法。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9304" y="5661660"/>
              <a:ext cx="4890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这也是为什么她的意义，远不止于“某几件作品”或“某段传奇人生”。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7353300" y="457200"/>
            <a:ext cx="4991313" cy="5943600"/>
            <a:chOff x="7353300" y="457200"/>
            <a:chExt cx="4991313" cy="5943600"/>
          </a:xfrm>
        </p:grpSpPr>
        <p:sp>
          <p:nvSpPr>
            <p:cNvPr id="4" name="Rectangle 4"/>
            <p:cNvSpPr/>
            <p:nvPr/>
          </p:nvSpPr>
          <p:spPr>
            <a:xfrm>
              <a:off x="7353300" y="457200"/>
              <a:ext cx="43815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5826" t="0" r="5826" b="0"/>
            <a:stretch>
              <a:fillRect/>
            </a:stretch>
          </p:blipFill>
          <p:spPr>
            <a:xfrm>
              <a:off x="7810500" y="876300"/>
              <a:ext cx="3429000" cy="41148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7810500" y="876300"/>
              <a:ext cx="3429000" cy="4114800"/>
            </a:xfrm>
            <a:prstGeom prst="rect">
              <a:avLst/>
            </a:prstGeom>
            <a:solidFill>
              <a:srgbClr val="F6F1E8">
                <a:alpha val="8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4476750"/>
              <a:ext cx="1123950" cy="11239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9429750" y="4476750"/>
              <a:ext cx="1524000" cy="112395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11106" y="466344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“我还有好多事要做呢”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4154" y="5033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这不是修辞，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14154" y="5280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而是她对职业使命的真实表述。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6196" y="639128"/>
            <a:ext cx="5975604" cy="5529738"/>
            <a:chOff x="806196" y="639128"/>
            <a:chExt cx="5975604" cy="5529738"/>
          </a:xfrm>
        </p:grpSpPr>
        <p:sp>
          <p:nvSpPr>
            <p:cNvPr id="13" name="TextBox 13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她如何穿过战火与病痛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816" y="10677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她不是被动承受者，而是持续行动的专业实践者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19150" y="13335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0006" y="1977390"/>
              <a:ext cx="3860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实地考察，不是陪伴性质的“同行”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292" y="237839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她翻山涉水、测绘记录，和梁思成一起进入最艰难的调查现场。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006" y="30441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病痛与流亡，没有中断她的学术工作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292" y="34451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肺病、战乱、迁徙与家庭压力并行，但她仍继续写作、研究、教学。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0006" y="41109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她的“强”，来自明确的事业感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2292" y="45119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她把个人生命压进中国建筑学术奠基的历史时刻，这才是其精神内核。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42320" y="5366685"/>
              <a:ext cx="163051" cy="141940"/>
            </a:xfrm>
            <a:custGeom>
              <a:avLst/>
              <a:gdLst/>
              <a:ahLst/>
              <a:cxnLst/>
              <a:rect l="l" t="t" r="r" b="b"/>
              <a:pathLst>
                <a:path w="163051" h="141940">
                  <a:moveTo>
                    <a:pt x="147089" y="77084"/>
                  </a:moveTo>
                  <a:lnTo>
                    <a:pt x="81605" y="141940"/>
                  </a:lnTo>
                  <a:lnTo>
                    <a:pt x="16120" y="77084"/>
                  </a:lnTo>
                  <a:cubicBezTo>
                    <a:pt x="4344" y="65625"/>
                    <a:pt x="0" y="48525"/>
                    <a:pt x="4879" y="32835"/>
                  </a:cubicBezTo>
                  <a:cubicBezTo>
                    <a:pt x="9757" y="17144"/>
                    <a:pt x="23032" y="5522"/>
                    <a:pt x="39230" y="2761"/>
                  </a:cubicBezTo>
                  <a:cubicBezTo>
                    <a:pt x="55427" y="0"/>
                    <a:pt x="71803" y="6567"/>
                    <a:pt x="81605" y="19755"/>
                  </a:cubicBezTo>
                  <a:cubicBezTo>
                    <a:pt x="91447" y="6665"/>
                    <a:pt x="107788" y="185"/>
                    <a:pt x="123927" y="2972"/>
                  </a:cubicBezTo>
                  <a:cubicBezTo>
                    <a:pt x="140065" y="5759"/>
                    <a:pt x="153287" y="17344"/>
                    <a:pt x="158169" y="32977"/>
                  </a:cubicBezTo>
                  <a:cubicBezTo>
                    <a:pt x="163051" y="48610"/>
                    <a:pt x="158773" y="65660"/>
                    <a:pt x="147089" y="77137"/>
                  </a:cubicBez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535971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她不是“传奇故事中的女性”，而是主动塑造历史进程的人。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1181100" y="1009650"/>
            <a:ext cx="3619500" cy="4838700"/>
            <a:chOff x="1181100" y="1009650"/>
            <a:chExt cx="3619500" cy="4838700"/>
          </a:xfrm>
        </p:grpSpPr>
        <p:sp>
          <p:nvSpPr>
            <p:cNvPr id="4" name="Rectangle 4"/>
            <p:cNvSpPr/>
            <p:nvPr/>
          </p:nvSpPr>
          <p:spPr>
            <a:xfrm>
              <a:off x="1181100" y="1009650"/>
              <a:ext cx="3619500" cy="48387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2434" t="0" r="22434" b="0"/>
            <a:stretch>
              <a:fillRect/>
            </a:stretch>
          </p:blipFill>
          <p:spPr>
            <a:xfrm>
              <a:off x="1181100" y="1009650"/>
              <a:ext cx="3619500" cy="48387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5563362" y="1286828"/>
            <a:ext cx="5363108" cy="4882038"/>
            <a:chOff x="5563362" y="1286828"/>
            <a:chExt cx="5363108" cy="4882038"/>
          </a:xfrm>
        </p:grpSpPr>
        <p:sp>
          <p:nvSpPr>
            <p:cNvPr id="7" name="TextBox 7"/>
            <p:cNvSpPr txBox="1"/>
            <p:nvPr/>
          </p:nvSpPr>
          <p:spPr>
            <a:xfrm>
              <a:off x="5568696" y="12868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墓碑上的七个字，已经足够准确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3362" y="1687830"/>
              <a:ext cx="38002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建筑师林徽因墓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58165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4030" y="2847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重新认识她，不是从传奇回到八卦，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4030" y="3152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而是从八卦回到专业。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4030" y="3762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她是中国第一代建筑学人中的关键建构者，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4030" y="40671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留下的不只是作品，更是理解中国建筑的一套语言。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610225" y="4943475"/>
              <a:ext cx="171450" cy="180975"/>
              <a:chOff x="5610225" y="4943475"/>
              <a:chExt cx="171450" cy="180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657850" y="4943475"/>
                <a:ext cx="762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42875">
                    <a:moveTo>
                      <a:pt x="0" y="142875"/>
                    </a:moveTo>
                    <a:lnTo>
                      <a:pt x="19050" y="19050"/>
                    </a:lnTo>
                    <a:lnTo>
                      <a:pt x="38100" y="0"/>
                    </a:lnTo>
                    <a:lnTo>
                      <a:pt x="57150" y="19050"/>
                    </a:lnTo>
                    <a:lnTo>
                      <a:pt x="76200" y="1428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29275" y="5086350"/>
                <a:ext cx="1333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8575">
                    <a:moveTo>
                      <a:pt x="0" y="28575"/>
                    </a:moveTo>
                    <a:lnTo>
                      <a:pt x="0" y="0"/>
                    </a:lnTo>
                    <a:lnTo>
                      <a:pt x="133350" y="0"/>
                    </a:lnTo>
                    <a:lnTo>
                      <a:pt x="133350" y="285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10225" y="51149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17692" y="49501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当称谓被校正，历史位置也随之被校正。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68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2026-06-29T17:15:48Z</dcterms:created>
  <dcterms:modified xsi:type="dcterms:W3CDTF">2026-06-29T17:15:48Z</dcterms:modified>
  <cp:category/>
  <cp:contentStatus/>
</cp:coreProperties>
</file>