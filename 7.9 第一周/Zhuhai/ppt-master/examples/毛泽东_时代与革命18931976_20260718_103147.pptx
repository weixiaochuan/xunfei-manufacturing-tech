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  <Relationship Id="rId13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张封面旨在确立全篇基调，聚焦毛泽东作为思想家、革命家与国家领袖的多重身份。标题《毛泽东：时代与革命（1893—1976）》直接点明时间跨度与核心命题。引用证据强调其全球影响力与著作等身，同时指出评价的分化，为后续章节展开埋下伏笔。科技蓝风格传递理性与严谨，适合面向老师或评委的学术展示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聚焦毛泽东从1893年出生到1949年新中国成立前的革命历程，以时间轴形式梳理关键事件。早年求学奠定其思想基础，1921年参加中共一大标志着革命生涯的开启。1927年秋收起义后，毛泽东开辟井冈山道路，提出农村包围城市的战略。尽管在党内曾遭排挤（如宁都会议），但长征途中遵义会议重新确立他的领导地位。延安时期，通过整风运动和《论持久战》等著作，毛泽东思想逐渐成熟，领导抗日战争取得胜利。解放战争三大战役后，毛泽东在天安门宣告新中国成立。讲演时可结合事实：毛泽东一生著作逾千万字，其思想是新民主主义革命胜利的指导思想。诗词如《沁园春·雪》展现其豪情与抱负。请引导评委关注时间轴上中国革命从挫折走向胜利的曲折与必然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聚焦建国初期1949—1962年的建设探索。开国大典标志着执政地位确立。土地改革和社会主义改造重构了社会与经济基础。抗美援朝是新中国的立国之战。《论十大关系》体现了毛泽东对中国社会主义建设道路的理性思考。大跃进和人民公社化运动反映了赶超战略与理想主义，但也带来严重挫折。郑州会议显示了自我纠偏的努力。这一时期成就与代价交织，为后续发展奠定了复杂基础。请引导观众关注图片和关键数据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以时间轴形式梳理毛泽东晚年关键节点。1962年七千人大会是对大跃进的反思调整，但随后阶级斗争扩大化。1966年发动文化大革命，1967年指示军队介入，造成社会动荡。1971年林彪集团阴谋败露，林彪出逃坠亡。1972年尼克松访华标志外交突破。1973年邓小平复出主持整顿，但因批判文革做法，1975年底再遭批邓运动。1976年毛泽东逝世，结束了一个复杂而影响深远的时代。这些事件展现其晚年决策的矛盾性与历史转折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聚焦毛泽东的思想体系、著作成就、诗词风格及家庭生活。毛泽东思想以新民主主义、群众路线、统一战线等为核心，是集体智慧的结晶，指导中国革命和建设取得胜利。其著作逾千万字，涵盖政治、军事、外交、文艺等多领域。诗词如《沁园春·雪》气势磅礴，展现文人领袖的另一面。家庭方面，毛泽东有四段婚姻，子女命运多舛，毛岸英牺牲于朝鲜战场。通过本页展示，希望呈现一个理论家、诗人与父亲的立体形象，为下页历史遗产总结做铺垫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作为总结，需简明扼要地概括毛泽东的历史遗产。三个世界理论是其外交思想的重要体现，强调第三世界团结。全球影响方面，毛泽东著作被多国翻译，毛主义运动在亚非拉兴起。历史评价存在分歧：官方决议肯定其革命贡献，但区分了晚年错误。诗词成就和姓名文化则从软实力角度补充其影响力。演讲时应保持学术客观，承认复杂性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0F1E"/>
              </a:gs>
              <a:gs pos="100000">
                <a:srgbClr val="0D1525"/>
              </a:gs>
            </a:gsLst>
            <a:lin ang="2700000" scaled="1"/>
          </a:gradFill>
          <a:ln>
            <a:noFill/>
          </a:ln>
        </p:spPr>
      </p:sp>
      <p:grpSp>
        <p:nvGrpSpPr>
          <p:cNvPr id="20" name="Group 20"/>
          <p:cNvGrpSpPr/>
          <p:nvPr/>
        </p:nvGrpSpPr>
        <p:grpSpPr>
          <a:xfrm>
            <a:off x="0" y="0"/>
            <a:ext cx="12201525" cy="6867525"/>
            <a:chOff x="0" y="0"/>
            <a:chExt cx="12201525" cy="6867525"/>
          </a:xfrm>
        </p:grpSpPr>
        <p:sp>
          <p:nvSpPr>
            <p:cNvPr id="3" name="Line 3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8572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25717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0" y="42862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0" y="60007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0" y="685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762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1219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</p:grpSp>
      <p:sp>
        <p:nvSpPr>
          <p:cNvPr id="21" name="Ellipse 21"/>
          <p:cNvSpPr/>
          <p:nvPr/>
        </p:nvSpPr>
        <p:spPr>
          <a:xfrm>
            <a:off x="1333500" y="762000"/>
            <a:ext cx="9525000" cy="4953000"/>
          </a:xfrm>
          <a:prstGeom prst="ellipse">
            <a:avLst/>
          </a:prstGeom>
          <a:gradFill>
            <a:gsLst>
              <a:gs pos="0">
                <a:srgbClr val="2563EB">
                  <a:alpha val="8000"/>
                </a:srgbClr>
              </a:gs>
              <a:gs pos="100000">
                <a:srgbClr val="2563E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22" name="Line 22"/>
          <p:cNvSpPr/>
          <p:nvPr/>
        </p:nvSpPr>
        <p:spPr>
          <a:xfrm>
            <a:off x="1905000" y="1238250"/>
            <a:ext cx="8382000" cy="9525"/>
          </a:xfrm>
          <a:custGeom>
            <a:avLst/>
            <a:gdLst/>
            <a:ahLst/>
            <a:cxnLst/>
            <a:rect l="l" t="t" r="r" b="b"/>
            <a:pathLst>
              <a:path w="8382000" h="9525">
                <a:moveTo>
                  <a:pt x="0" y="0"/>
                </a:moveTo>
                <a:lnTo>
                  <a:pt x="8382000" y="0"/>
                </a:lnTo>
              </a:path>
            </a:pathLst>
          </a:custGeom>
          <a:noFill/>
          <a:ln w="9525">
            <a:gradFill>
              <a:gsLst>
                <a:gs pos="0">
                  <a:srgbClr val="2563EB">
                    <a:alpha val="0"/>
                  </a:srgbClr>
                </a:gs>
                <a:gs pos="50000">
                  <a:srgbClr val="38BDF8">
                    <a:alpha val="70000"/>
                  </a:srgbClr>
                </a:gs>
                <a:gs pos="100000">
                  <a:srgbClr val="2563EB">
                    <a:alpha val="0"/>
                  </a:srgbClr>
                </a:gs>
              </a:gsLst>
              <a:lin ang="0" scaled="1"/>
            </a:gradFill>
          </a:ln>
        </p:spPr>
      </p:sp>
      <p:sp>
        <p:nvSpPr>
          <p:cNvPr id="23" name="Polygon 23"/>
          <p:cNvSpPr/>
          <p:nvPr/>
        </p:nvSpPr>
        <p:spPr>
          <a:xfrm>
            <a:off x="1168718" y="1143000"/>
            <a:ext cx="329565" cy="381000"/>
          </a:xfrm>
          <a:custGeom>
            <a:avLst/>
            <a:gdLst/>
            <a:ahLst/>
            <a:cxnLst/>
            <a:rect l="l" t="t" r="r" b="b"/>
            <a:pathLst>
              <a:path w="329565" h="381000">
                <a:moveTo>
                  <a:pt x="164782" y="0"/>
                </a:moveTo>
                <a:lnTo>
                  <a:pt x="329565" y="95250"/>
                </a:lnTo>
                <a:lnTo>
                  <a:pt x="329565" y="285750"/>
                </a:lnTo>
                <a:lnTo>
                  <a:pt x="164782" y="381000"/>
                </a:lnTo>
                <a:lnTo>
                  <a:pt x="0" y="285750"/>
                </a:lnTo>
                <a:lnTo>
                  <a:pt x="0" y="95250"/>
                </a:lnTo>
                <a:close/>
              </a:path>
            </a:pathLst>
          </a:custGeom>
          <a:noFill/>
          <a:ln w="9525">
            <a:solidFill>
              <a:srgbClr val="38BDF8">
                <a:alpha val="25000"/>
              </a:srgbClr>
            </a:solidFill>
          </a:ln>
        </p:spPr>
      </p:sp>
      <p:sp>
        <p:nvSpPr>
          <p:cNvPr id="24" name="Polygon 24"/>
          <p:cNvSpPr/>
          <p:nvPr/>
        </p:nvSpPr>
        <p:spPr>
          <a:xfrm>
            <a:off x="10693718" y="5334000"/>
            <a:ext cx="329565" cy="381000"/>
          </a:xfrm>
          <a:custGeom>
            <a:avLst/>
            <a:gdLst/>
            <a:ahLst/>
            <a:cxnLst/>
            <a:rect l="l" t="t" r="r" b="b"/>
            <a:pathLst>
              <a:path w="329565" h="381000">
                <a:moveTo>
                  <a:pt x="164782" y="0"/>
                </a:moveTo>
                <a:lnTo>
                  <a:pt x="329565" y="95250"/>
                </a:lnTo>
                <a:lnTo>
                  <a:pt x="329565" y="285750"/>
                </a:lnTo>
                <a:lnTo>
                  <a:pt x="164782" y="381000"/>
                </a:lnTo>
                <a:lnTo>
                  <a:pt x="0" y="285750"/>
                </a:lnTo>
                <a:lnTo>
                  <a:pt x="0" y="95250"/>
                </a:lnTo>
                <a:close/>
              </a:path>
            </a:pathLst>
          </a:custGeom>
          <a:noFill/>
          <a:ln w="9525">
            <a:solidFill>
              <a:srgbClr val="38BDF8">
                <a:alpha val="25000"/>
              </a:srgbClr>
            </a:solidFill>
          </a:ln>
        </p:spPr>
      </p:sp>
      <p:sp>
        <p:nvSpPr>
          <p:cNvPr id="25" name="Polygon 25"/>
          <p:cNvSpPr/>
          <p:nvPr/>
        </p:nvSpPr>
        <p:spPr>
          <a:xfrm>
            <a:off x="8267700" y="1333500"/>
            <a:ext cx="990600" cy="1143000"/>
          </a:xfrm>
          <a:custGeom>
            <a:avLst/>
            <a:gdLst/>
            <a:ahLst/>
            <a:cxnLst/>
            <a:rect l="l" t="t" r="r" b="b"/>
            <a:pathLst>
              <a:path w="990600" h="1143000">
                <a:moveTo>
                  <a:pt x="495300" y="0"/>
                </a:moveTo>
                <a:lnTo>
                  <a:pt x="990600" y="285750"/>
                </a:lnTo>
                <a:lnTo>
                  <a:pt x="990600" y="857250"/>
                </a:lnTo>
                <a:lnTo>
                  <a:pt x="495300" y="1143000"/>
                </a:lnTo>
                <a:lnTo>
                  <a:pt x="0" y="857250"/>
                </a:lnTo>
                <a:lnTo>
                  <a:pt x="0" y="285750"/>
                </a:lnTo>
                <a:close/>
              </a:path>
            </a:pathLst>
          </a:custGeom>
          <a:noFill/>
          <a:ln w="7620">
            <a:solidFill>
              <a:srgbClr val="2563EB">
                <a:alpha val="12000"/>
              </a:srgbClr>
            </a:solidFill>
          </a:ln>
        </p:spPr>
      </p:sp>
      <p:sp>
        <p:nvSpPr>
          <p:cNvPr id="26" name="Line 26"/>
          <p:cNvSpPr/>
          <p:nvPr/>
        </p:nvSpPr>
        <p:spPr>
          <a:xfrm>
            <a:off x="3333750" y="2619375"/>
            <a:ext cx="5524500" cy="9525"/>
          </a:xfrm>
          <a:custGeom>
            <a:avLst/>
            <a:gdLst/>
            <a:ahLst/>
            <a:cxnLst/>
            <a:rect l="l" t="t" r="r" b="b"/>
            <a:pathLst>
              <a:path w="5524500" h="9525">
                <a:moveTo>
                  <a:pt x="0" y="0"/>
                </a:moveTo>
                <a:lnTo>
                  <a:pt x="5524500" y="0"/>
                </a:lnTo>
              </a:path>
            </a:pathLst>
          </a:custGeom>
          <a:noFill/>
          <a:ln w="9525">
            <a:solidFill>
              <a:srgbClr val="2563EB">
                <a:alpha val="50000"/>
              </a:srgbClr>
            </a:solidFill>
            <a:custDash>
              <a:ds d="600000" sp="800000"/>
            </a:custDash>
          </a:ln>
        </p:spPr>
      </p:sp>
      <p:sp>
        <p:nvSpPr>
          <p:cNvPr id="27" name="TextBox 27"/>
          <p:cNvSpPr txBox="1"/>
          <p:nvPr/>
        </p:nvSpPr>
        <p:spPr>
          <a:xfrm>
            <a:off x="3271533" y="2488882"/>
            <a:ext cx="50543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dirty="0">
                <a:solidFill>
                  <a:srgbClr val="38BDF8">
                    <a:alphaMod val="80000"/>
                  </a:srgbClr>
                </a:solidFill>
                <a:latin typeface="Consolas"/>
                <a:ea typeface="Consolas"/>
                <a:cs typeface="Consolas"/>
              </a:rPr>
              <a:t>1893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605533" y="2488882"/>
            <a:ext cx="50543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dirty="0">
                <a:solidFill>
                  <a:srgbClr val="38BDF8">
                    <a:alphaMod val="80000"/>
                  </a:srgbClr>
                </a:solidFill>
                <a:latin typeface="Consolas"/>
                <a:ea typeface="Consolas"/>
                <a:cs typeface="Consolas"/>
              </a:rPr>
              <a:t>1976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590629" y="1544955"/>
            <a:ext cx="7010743" cy="990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100" b="1" spc="4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毛泽东：时代与革命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239643" y="3044190"/>
            <a:ext cx="571271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spc="225" dirty="0">
                <a:solidFill>
                  <a:srgbClr val="BDD7FF"/>
                </a:solidFill>
                <a:latin typeface="Arial"/>
                <a:ea typeface="Microsoft YaHei"/>
                <a:cs typeface="Arial"/>
              </a:rPr>
              <a:t>回顾毛泽东从思想家、革命家到国家领袖的历程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193762" y="3348990"/>
            <a:ext cx="380447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spc="225" dirty="0">
                <a:solidFill>
                  <a:srgbClr val="BDD7FF"/>
                </a:solidFill>
                <a:latin typeface="Arial"/>
                <a:ea typeface="Microsoft YaHei"/>
                <a:cs typeface="Arial"/>
              </a:rPr>
              <a:t>及其与二十世纪中国的深刻交织</a:t>
            </a:r>
          </a:p>
        </p:txBody>
      </p:sp>
      <p:sp>
        <p:nvSpPr>
          <p:cNvPr id="32" name="Line 32"/>
          <p:cNvSpPr/>
          <p:nvPr/>
        </p:nvSpPr>
        <p:spPr>
          <a:xfrm>
            <a:off x="1143000" y="3619500"/>
            <a:ext cx="9525" cy="2476500"/>
          </a:xfrm>
          <a:custGeom>
            <a:avLst/>
            <a:gdLst/>
            <a:ahLst/>
            <a:cxnLst/>
            <a:rect l="l" t="t" r="r" b="b"/>
            <a:pathLst>
              <a:path w="9525" h="2476500">
                <a:moveTo>
                  <a:pt x="0" y="0"/>
                </a:moveTo>
                <a:lnTo>
                  <a:pt x="0" y="2476500"/>
                </a:lnTo>
              </a:path>
            </a:pathLst>
          </a:custGeom>
          <a:noFill/>
          <a:ln w="19050">
            <a:solidFill>
              <a:srgbClr val="2563EB">
                <a:alpha val="25000"/>
              </a:srgbClr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517904" y="3985260"/>
            <a:ext cx="32991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38BDF8"/>
                </a:solidFill>
                <a:latin typeface="Arial"/>
                <a:ea typeface="Arial"/>
                <a:cs typeface="Arial"/>
              </a:rPr>
              <a:t>▸</a:t>
            </a:r>
            <a:r>
              <a:rPr lang="zh-CN" sz="128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 xml:space="preserve"> 二十世纪最重要与最具影响力的人物之一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517904" y="4232910"/>
            <a:ext cx="171143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noFill/>
                <a:latin typeface="Arial"/>
                <a:ea typeface="Arial"/>
                <a:cs typeface="Arial"/>
              </a:rPr>
              <a:t xml:space="preserve"> </a:t>
            </a:r>
            <a:r>
              <a:rPr lang="zh-CN" sz="128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 xml:space="preserve"> 影响遍及中国与全球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517904" y="4604385"/>
            <a:ext cx="4672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38BDF8"/>
                </a:solidFill>
                <a:latin typeface="Arial"/>
                <a:ea typeface="Arial"/>
                <a:cs typeface="Arial"/>
              </a:rPr>
              <a:t>▸</a:t>
            </a:r>
            <a:r>
              <a:rPr lang="zh-CN" sz="128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 xml:space="preserve"> 著作逾千万字，涵盖选集、文集、军事、外交、诗词等领域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517904" y="5223510"/>
            <a:ext cx="398567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38BDF8"/>
                </a:solidFill>
                <a:latin typeface="Arial"/>
                <a:ea typeface="Arial"/>
                <a:cs typeface="Arial"/>
              </a:rPr>
              <a:t>▸</a:t>
            </a:r>
            <a:r>
              <a:rPr lang="zh-CN" sz="128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 xml:space="preserve"> 毛泽东思想是马克思列宁主义在中国的运用与发展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517904" y="5842635"/>
            <a:ext cx="364238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38BDF8"/>
                </a:solidFill>
                <a:latin typeface="Arial"/>
                <a:ea typeface="Arial"/>
                <a:cs typeface="Arial"/>
              </a:rPr>
              <a:t>▸</a:t>
            </a:r>
            <a:r>
              <a:rPr lang="zh-CN" sz="128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 xml:space="preserve"> 一生评价两极分化，晚年经济思想基本被弃用 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517904" y="6090285"/>
            <a:ext cx="291291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noFill/>
                <a:latin typeface="Arial"/>
                <a:ea typeface="Arial"/>
                <a:cs typeface="Arial"/>
              </a:rPr>
              <a:t xml:space="preserve"> </a:t>
            </a:r>
            <a:r>
              <a:rPr lang="zh-CN" sz="128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 xml:space="preserve"> 但政治、军事等思想仍深刻影响中国 </a:t>
            </a:r>
          </a:p>
        </p:txBody>
      </p:sp>
      <p:sp>
        <p:nvSpPr>
          <p:cNvPr id="39" name="Polygon 39"/>
          <p:cNvSpPr/>
          <p:nvPr/>
        </p:nvSpPr>
        <p:spPr>
          <a:xfrm>
            <a:off x="8509635" y="3238500"/>
            <a:ext cx="1649730" cy="1905000"/>
          </a:xfrm>
          <a:custGeom>
            <a:avLst/>
            <a:gdLst/>
            <a:ahLst/>
            <a:cxnLst/>
            <a:rect l="l" t="t" r="r" b="b"/>
            <a:pathLst>
              <a:path w="1649730" h="1905000">
                <a:moveTo>
                  <a:pt x="824865" y="0"/>
                </a:moveTo>
                <a:lnTo>
                  <a:pt x="1649730" y="476250"/>
                </a:lnTo>
                <a:lnTo>
                  <a:pt x="1649730" y="1428750"/>
                </a:lnTo>
                <a:lnTo>
                  <a:pt x="824865" y="1905000"/>
                </a:lnTo>
                <a:lnTo>
                  <a:pt x="0" y="1428750"/>
                </a:lnTo>
                <a:lnTo>
                  <a:pt x="0" y="476250"/>
                </a:lnTo>
                <a:close/>
              </a:path>
            </a:pathLst>
          </a:custGeom>
          <a:noFill/>
          <a:ln w="11430">
            <a:solidFill>
              <a:srgbClr val="2563EB">
                <a:alpha val="20000"/>
              </a:srgbClr>
            </a:solidFill>
          </a:ln>
        </p:spPr>
      </p:sp>
      <p:grpSp>
        <p:nvGrpSpPr>
          <p:cNvPr id="42" name="Group 42"/>
          <p:cNvGrpSpPr/>
          <p:nvPr/>
        </p:nvGrpSpPr>
        <p:grpSpPr>
          <a:xfrm>
            <a:off x="10287000" y="5905500"/>
            <a:ext cx="571500" cy="285750"/>
            <a:chOff x="10287000" y="5905500"/>
            <a:chExt cx="571500" cy="285750"/>
          </a:xfrm>
        </p:grpSpPr>
        <p:sp>
          <p:nvSpPr>
            <p:cNvPr id="40" name="Polyline 40"/>
            <p:cNvSpPr/>
            <p:nvPr/>
          </p:nvSpPr>
          <p:spPr>
            <a:xfrm>
              <a:off x="10287000" y="5905500"/>
              <a:ext cx="381000" cy="190500"/>
            </a:xfrm>
            <a:custGeom>
              <a:avLst/>
              <a:gdLst/>
              <a:ahLst/>
              <a:cxnLst/>
              <a:rect l="l" t="t" r="r" b="b"/>
              <a:pathLst>
                <a:path w="381000" h="190500">
                  <a:moveTo>
                    <a:pt x="0" y="0"/>
                  </a:moveTo>
                  <a:lnTo>
                    <a:pt x="0" y="190500"/>
                  </a:lnTo>
                  <a:lnTo>
                    <a:pt x="381000" y="190500"/>
                  </a:lnTo>
                </a:path>
              </a:pathLst>
            </a:custGeom>
            <a:noFill/>
            <a:ln w="9525">
              <a:solidFill>
                <a:srgbClr val="38BDF8">
                  <a:alpha val="15000"/>
                </a:srgbClr>
              </a:solidFill>
            </a:ln>
          </p:spPr>
        </p:sp>
        <p:sp>
          <p:nvSpPr>
            <p:cNvPr id="41" name="Polyline 41"/>
            <p:cNvSpPr/>
            <p:nvPr/>
          </p:nvSpPr>
          <p:spPr>
            <a:xfrm>
              <a:off x="10477500" y="5905500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0" y="0"/>
                  </a:moveTo>
                  <a:lnTo>
                    <a:pt x="0" y="95250"/>
                  </a:lnTo>
                  <a:lnTo>
                    <a:pt x="381000" y="95250"/>
                  </a:lnTo>
                  <a:lnTo>
                    <a:pt x="381000" y="285750"/>
                  </a:lnTo>
                </a:path>
              </a:pathLst>
            </a:custGeom>
            <a:noFill/>
            <a:ln w="9525">
              <a:solidFill>
                <a:srgbClr val="38BDF8">
                  <a:alpha val="15000"/>
                </a:srgbClr>
              </a:solidFill>
            </a:ln>
          </p:spPr>
        </p:sp>
      </p:grpSp>
      <p:sp>
        <p:nvSpPr>
          <p:cNvPr id="43" name="TextBox 43"/>
          <p:cNvSpPr txBox="1"/>
          <p:nvPr/>
        </p:nvSpPr>
        <p:spPr>
          <a:xfrm>
            <a:off x="5468088" y="6374606"/>
            <a:ext cx="125582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spc="300" dirty="0">
                <a:solidFill>
                  <a:srgbClr val="52637A"/>
                </a:solidFill>
                <a:latin typeface="Consolas"/>
                <a:ea typeface="Consolas"/>
                <a:cs typeface="Consolas"/>
              </a:rPr>
              <a:t>1893 — 1976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175844" y="6619399"/>
            <a:ext cx="44960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dirty="0">
                <a:solidFill>
                  <a:srgbClr val="52637A"/>
                </a:solidFill>
                <a:latin typeface="Consolas"/>
                <a:ea typeface="Consolas"/>
                <a:cs typeface="Consolas"/>
              </a:rPr>
              <a:t>01 / 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628"/>
              </a:gs>
              <a:gs pos="50000">
                <a:srgbClr val="0F1F3A"/>
              </a:gs>
              <a:gs pos="100000">
                <a:srgbClr val="0A1628"/>
              </a:gs>
            </a:gsLst>
            <a:lin ang="2700000" scaled="1"/>
          </a:gradFill>
          <a:ln>
            <a:noFill/>
          </a:ln>
        </p:spPr>
      </p:sp>
      <p:grpSp>
        <p:nvGrpSpPr>
          <p:cNvPr id="24" name="Group 24"/>
          <p:cNvGrpSpPr/>
          <p:nvPr/>
        </p:nvGrpSpPr>
        <p:grpSpPr>
          <a:xfrm>
            <a:off x="0" y="0"/>
            <a:ext cx="12201525" cy="6867525"/>
            <a:chOff x="0" y="0"/>
            <a:chExt cx="12201525" cy="6867525"/>
          </a:xfrm>
        </p:grpSpPr>
        <p:sp>
          <p:nvSpPr>
            <p:cNvPr id="3" name="Line 3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571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0" y="2857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0" y="4000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0" y="571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0" y="6286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0" y="685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762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1219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</p:grpSp>
      <p:sp>
        <p:nvSpPr>
          <p:cNvPr id="25" name="Freeform 25"/>
          <p:cNvSpPr/>
          <p:nvPr/>
        </p:nvSpPr>
        <p:spPr>
          <a:xfrm>
            <a:off x="381000" y="381000"/>
            <a:ext cx="762000" cy="9525"/>
          </a:xfrm>
          <a:custGeom>
            <a:avLst/>
            <a:gdLst/>
            <a:ahLst/>
            <a:cxnLst/>
            <a:rect l="l" t="t" r="r" b="b"/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solidFill>
            <a:srgbClr val="000000">
              <a:alpha val="30000"/>
            </a:srgbClr>
          </a:solidFill>
          <a:ln w="9525">
            <a:solidFill>
              <a:srgbClr val="38BDF8">
                <a:alpha val="30000"/>
              </a:srgbClr>
            </a:solidFill>
          </a:ln>
        </p:spPr>
      </p:sp>
      <p:sp>
        <p:nvSpPr>
          <p:cNvPr id="26" name="Freeform 26"/>
          <p:cNvSpPr/>
          <p:nvPr/>
        </p:nvSpPr>
        <p:spPr>
          <a:xfrm>
            <a:off x="381000" y="38100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solidFill>
            <a:srgbClr val="000000">
              <a:alpha val="30000"/>
            </a:srgbClr>
          </a:solidFill>
          <a:ln w="9525">
            <a:solidFill>
              <a:srgbClr val="38BDF8">
                <a:alpha val="30000"/>
              </a:srgbClr>
            </a:solidFill>
          </a:ln>
        </p:spPr>
      </p:sp>
      <p:sp>
        <p:nvSpPr>
          <p:cNvPr id="27" name="Freeform 27"/>
          <p:cNvSpPr/>
          <p:nvPr/>
        </p:nvSpPr>
        <p:spPr>
          <a:xfrm>
            <a:off x="1181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</a:path>
            </a:pathLst>
          </a:custGeom>
          <a:noFill/>
          <a:ln w="9525">
            <a:solidFill>
              <a:srgbClr val="38BDF8">
                <a:alpha val="30000"/>
              </a:srgbClr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11195323" y="6483668"/>
            <a:ext cx="6225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350" dirty="0">
                <a:solidFill>
                  <a:srgbClr val="38BDF8">
                    <a:alphaMod val="60000"/>
                  </a:srgbClr>
                </a:solidFill>
                <a:latin typeface="Consolas"/>
                <a:ea typeface="Consolas"/>
                <a:cs typeface="Consolas"/>
              </a:rPr>
              <a:t>02 / 06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45998" y="460058"/>
            <a:ext cx="5472957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spc="3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革命之路（1893—1949）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53618" y="1117282"/>
            <a:ext cx="799299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spc="15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从韶山农家到天安门城楼：毛泽东与中国共产党领导的新民主主义革命胜利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62000" y="1428750"/>
            <a:ext cx="1905000" cy="190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8BDF8">
                  <a:alpha val="0"/>
                </a:srgbClr>
              </a:gs>
              <a:gs pos="20000">
                <a:srgbClr val="38BDF8">
                  <a:alpha val="80000"/>
                </a:srgbClr>
              </a:gs>
              <a:gs pos="80000">
                <a:srgbClr val="38BDF8">
                  <a:alpha val="80000"/>
                </a:srgbClr>
              </a:gs>
              <a:gs pos="100000">
                <a:srgbClr val="38BDF8">
                  <a:alpha val="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32" name="Line 32"/>
          <p:cNvSpPr/>
          <p:nvPr/>
        </p:nvSpPr>
        <p:spPr>
          <a:xfrm>
            <a:off x="762000" y="40005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14288">
            <a:solidFill>
              <a:srgbClr val="38BDF8">
                <a:alpha val="40000"/>
              </a:srgbClr>
            </a:solidFill>
          </a:ln>
        </p:spPr>
      </p:sp>
      <p:sp>
        <p:nvSpPr>
          <p:cNvPr id="33" name="Polygon 33"/>
          <p:cNvSpPr/>
          <p:nvPr/>
        </p:nvSpPr>
        <p:spPr>
          <a:xfrm>
            <a:off x="11410950" y="394335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76200" h="114300">
                <a:moveTo>
                  <a:pt x="0" y="0"/>
                </a:moveTo>
                <a:lnTo>
                  <a:pt x="7620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38BDF8">
              <a:alpha val="50000"/>
            </a:srgbClr>
          </a:solidFill>
          <a:ln>
            <a:noFill/>
          </a:ln>
        </p:spPr>
      </p:sp>
      <p:grpSp>
        <p:nvGrpSpPr>
          <p:cNvPr id="38" name="Group 38"/>
          <p:cNvGrpSpPr/>
          <p:nvPr/>
        </p:nvGrpSpPr>
        <p:grpSpPr>
          <a:xfrm>
            <a:off x="1295400" y="3731895"/>
            <a:ext cx="457200" cy="497205"/>
            <a:chOff x="1295400" y="3731895"/>
            <a:chExt cx="457200" cy="497205"/>
          </a:xfrm>
        </p:grpSpPr>
        <p:sp>
          <p:nvSpPr>
            <p:cNvPr id="34" name="Ellipse 34"/>
            <p:cNvSpPr/>
            <p:nvPr/>
          </p:nvSpPr>
          <p:spPr>
            <a:xfrm>
              <a:off x="1295400" y="3771900"/>
              <a:ext cx="457200" cy="457200"/>
            </a:xfrm>
            <a:prstGeom prst="ellipse">
              <a:avLst/>
            </a:prstGeom>
            <a:noFill/>
            <a:ln w="19050">
              <a:solidFill>
                <a:srgbClr val="2563EB">
                  <a:alpha val="30000"/>
                </a:srgbClr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1371600" y="3848100"/>
              <a:ext cx="304800" cy="304800"/>
            </a:xfrm>
            <a:prstGeom prst="ellipse">
              <a:avLst/>
            </a:prstGeom>
            <a:gradFill>
              <a:gsLst>
                <a:gs pos="0">
                  <a:srgbClr val="2563EB"/>
                </a:gs>
                <a:gs pos="100000">
                  <a:srgbClr val="1D4ED8"/>
                </a:gs>
              </a:gsLst>
              <a:lin ang="2700000" scaled="1"/>
            </a:gradFill>
            <a:ln w="19050">
              <a:solidFill>
                <a:srgbClr val="38BDF8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1447800" y="3952875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38100" y="28575"/>
                  </a:lnTo>
                  <a:lnTo>
                    <a:pt x="76200" y="0"/>
                  </a:lnTo>
                  <a:lnTo>
                    <a:pt x="76200" y="114300"/>
                  </a:lnTo>
                  <a:lnTo>
                    <a:pt x="38100" y="85725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FFFFFF">
                <a:alpha val="90000"/>
              </a:srgbClr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328738" y="3731895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38BDF8">
                      <a:alphaMod val="70000"/>
                    </a:srgbClr>
                  </a:solidFill>
                  <a:latin typeface="Consolas"/>
                  <a:ea typeface="Consolas"/>
                  <a:cs typeface="Consolas"/>
                </a:rPr>
                <a:t>1893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2500" y="2476500"/>
            <a:ext cx="1714500" cy="866489"/>
            <a:chOff x="952500" y="2476500"/>
            <a:chExt cx="1714500" cy="866489"/>
          </a:xfrm>
        </p:grpSpPr>
        <p:sp>
          <p:nvSpPr>
            <p:cNvPr id="39" name="Rectangle 39"/>
            <p:cNvSpPr/>
            <p:nvPr/>
          </p:nvSpPr>
          <p:spPr>
            <a:xfrm>
              <a:off x="952500" y="2476500"/>
              <a:ext cx="1714500" cy="857250"/>
            </a:xfrm>
            <a:prstGeom prst="roundRect">
              <a:avLst>
                <a:gd name="adj" fmla="val 6667"/>
              </a:avLst>
            </a:prstGeom>
            <a:solidFill>
              <a:srgbClr val="0F1F3A">
                <a:alpha val="90000"/>
              </a:srgbClr>
            </a:solidFill>
            <a:ln w="9525">
              <a:solidFill>
                <a:srgbClr val="1D4ED8">
                  <a:alpha val="90000"/>
                </a:srgbClr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284951" y="2572702"/>
              <a:ext cx="10495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8BDF8"/>
                  </a:solidFill>
                  <a:latin typeface="Arial"/>
                  <a:ea typeface="Microsoft YaHei"/>
                  <a:cs typeface="Arial"/>
                </a:rPr>
                <a:t>早年求学与启蒙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243684" y="2809399"/>
              <a:ext cx="11321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BDD7FF"/>
                  </a:solidFill>
                  <a:latin typeface="Arial"/>
                  <a:ea typeface="Microsoft YaHei"/>
                  <a:cs typeface="Arial"/>
                </a:rPr>
                <a:t>私塾教育·第一师范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279779" y="2980849"/>
              <a:ext cx="10599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BDD7FF"/>
                  </a:solidFill>
                  <a:latin typeface="Arial"/>
                  <a:ea typeface="Microsoft YaHei"/>
                  <a:cs typeface="Arial"/>
                </a:rPr>
                <a:t>主编《湘江评论》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279779" y="3152299"/>
              <a:ext cx="10599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BDD7FF"/>
                  </a:solidFill>
                  <a:latin typeface="Arial"/>
                  <a:ea typeface="Microsoft YaHei"/>
                  <a:cs typeface="Arial"/>
                </a:rPr>
                <a:t>创建湖南中共组织</a:t>
              </a:r>
            </a:p>
          </p:txBody>
        </p:sp>
      </p:grpSp>
      <p:sp>
        <p:nvSpPr>
          <p:cNvPr id="45" name="Line 45"/>
          <p:cNvSpPr/>
          <p:nvPr/>
        </p:nvSpPr>
        <p:spPr>
          <a:xfrm>
            <a:off x="1524000" y="3333750"/>
            <a:ext cx="9525" cy="514350"/>
          </a:xfrm>
          <a:custGeom>
            <a:avLst/>
            <a:gdLst/>
            <a:ahLst/>
            <a:cxnLst/>
            <a:rect l="l" t="t" r="r" b="b"/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/>
          <a:ln w="9525">
            <a:solidFill>
              <a:srgbClr val="2563EB">
                <a:alpha val="40000"/>
              </a:srgbClr>
            </a:solidFill>
            <a:custDash>
              <a:ds d="300000" sp="300000"/>
            </a:custDash>
          </a:ln>
        </p:spPr>
      </p:sp>
      <p:grpSp>
        <p:nvGrpSpPr>
          <p:cNvPr id="50" name="Group 50"/>
          <p:cNvGrpSpPr/>
          <p:nvPr/>
        </p:nvGrpSpPr>
        <p:grpSpPr>
          <a:xfrm>
            <a:off x="2724150" y="3771900"/>
            <a:ext cx="457200" cy="688657"/>
            <a:chOff x="2724150" y="3771900"/>
            <a:chExt cx="457200" cy="688657"/>
          </a:xfrm>
        </p:grpSpPr>
        <p:sp>
          <p:nvSpPr>
            <p:cNvPr id="46" name="Ellipse 46"/>
            <p:cNvSpPr/>
            <p:nvPr/>
          </p:nvSpPr>
          <p:spPr>
            <a:xfrm>
              <a:off x="2724150" y="3771900"/>
              <a:ext cx="457200" cy="457200"/>
            </a:xfrm>
            <a:prstGeom prst="ellipse">
              <a:avLst/>
            </a:prstGeom>
            <a:noFill/>
            <a:ln w="19050">
              <a:solidFill>
                <a:srgbClr val="2563EB">
                  <a:alpha val="30000"/>
                </a:srgbClr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2800350" y="3848100"/>
              <a:ext cx="304800" cy="304800"/>
            </a:xfrm>
            <a:prstGeom prst="ellipse">
              <a:avLst/>
            </a:prstGeom>
            <a:gradFill>
              <a:gsLst>
                <a:gs pos="0">
                  <a:srgbClr val="2563EB"/>
                </a:gs>
                <a:gs pos="100000">
                  <a:srgbClr val="1D4ED8"/>
                </a:gs>
              </a:gsLst>
              <a:lin ang="2700000" scaled="1"/>
            </a:gradFill>
            <a:ln w="19050">
              <a:solidFill>
                <a:srgbClr val="38BDF8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2876550" y="3943350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38100"/>
                  </a:moveTo>
                  <a:lnTo>
                    <a:pt x="38100" y="0"/>
                  </a:lnTo>
                  <a:lnTo>
                    <a:pt x="76200" y="38100"/>
                  </a:lnTo>
                  <a:lnTo>
                    <a:pt x="76200" y="114300"/>
                  </a:lnTo>
                  <a:lnTo>
                    <a:pt x="38100" y="762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FFFFFF">
                <a:alpha val="90000"/>
              </a:srgbClr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2776538" y="4284345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38BDF8">
                      <a:alphaMod val="70000"/>
                    </a:srgbClr>
                  </a:solidFill>
                  <a:latin typeface="Consolas"/>
                  <a:ea typeface="Consolas"/>
                  <a:cs typeface="Consolas"/>
                </a:rPr>
                <a:t>1921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2381250" y="4438650"/>
            <a:ext cx="1714500" cy="866489"/>
            <a:chOff x="2381250" y="4438650"/>
            <a:chExt cx="1714500" cy="866489"/>
          </a:xfrm>
        </p:grpSpPr>
        <p:sp>
          <p:nvSpPr>
            <p:cNvPr id="51" name="Rectangle 51"/>
            <p:cNvSpPr/>
            <p:nvPr/>
          </p:nvSpPr>
          <p:spPr>
            <a:xfrm>
              <a:off x="2381250" y="4438650"/>
              <a:ext cx="1714500" cy="857250"/>
            </a:xfrm>
            <a:prstGeom prst="roundRect">
              <a:avLst>
                <a:gd name="adj" fmla="val 6667"/>
              </a:avLst>
            </a:prstGeom>
            <a:solidFill>
              <a:srgbClr val="0F1F3A">
                <a:alpha val="90000"/>
              </a:srgbClr>
            </a:solidFill>
            <a:ln w="9525">
              <a:solidFill>
                <a:srgbClr val="1D4ED8">
                  <a:alpha val="90000"/>
                </a:srgbClr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2713701" y="4534852"/>
              <a:ext cx="10495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8BDF8"/>
                  </a:solidFill>
                  <a:latin typeface="Arial"/>
                  <a:ea typeface="Microsoft YaHei"/>
                  <a:cs typeface="Arial"/>
                </a:rPr>
                <a:t>建党与早期斗争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839784" y="4771549"/>
              <a:ext cx="7974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BDD7FF"/>
                  </a:solidFill>
                  <a:latin typeface="Arial"/>
                  <a:ea typeface="Microsoft YaHei"/>
                  <a:cs typeface="Arial"/>
                </a:rPr>
                <a:t>出席中共一大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708529" y="4942999"/>
              <a:ext cx="10599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BDD7FF"/>
                  </a:solidFill>
                  <a:latin typeface="Arial"/>
                  <a:ea typeface="Microsoft YaHei"/>
                  <a:cs typeface="Arial"/>
                </a:rPr>
                <a:t>领导安源路矿罢工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708529" y="5114449"/>
              <a:ext cx="10599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BDD7FF"/>
                  </a:solidFill>
                  <a:latin typeface="Arial"/>
                  <a:ea typeface="Microsoft YaHei"/>
                  <a:cs typeface="Arial"/>
                </a:rPr>
                <a:t>考察湖南农民运动</a:t>
              </a:r>
            </a:p>
          </p:txBody>
        </p:sp>
      </p:grpSp>
      <p:sp>
        <p:nvSpPr>
          <p:cNvPr id="57" name="Line 57"/>
          <p:cNvSpPr/>
          <p:nvPr/>
        </p:nvSpPr>
        <p:spPr>
          <a:xfrm>
            <a:off x="2952750" y="415290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9525">
            <a:solidFill>
              <a:srgbClr val="2563EB">
                <a:alpha val="40000"/>
              </a:srgbClr>
            </a:solidFill>
            <a:custDash>
              <a:ds d="300000" sp="300000"/>
            </a:custDash>
          </a:ln>
        </p:spPr>
      </p:sp>
      <p:grpSp>
        <p:nvGrpSpPr>
          <p:cNvPr id="63" name="Group 63"/>
          <p:cNvGrpSpPr/>
          <p:nvPr/>
        </p:nvGrpSpPr>
        <p:grpSpPr>
          <a:xfrm>
            <a:off x="4438650" y="3731895"/>
            <a:ext cx="457200" cy="497205"/>
            <a:chOff x="4438650" y="3731895"/>
            <a:chExt cx="457200" cy="497205"/>
          </a:xfrm>
        </p:grpSpPr>
        <p:sp>
          <p:nvSpPr>
            <p:cNvPr id="58" name="Ellipse 58"/>
            <p:cNvSpPr/>
            <p:nvPr/>
          </p:nvSpPr>
          <p:spPr>
            <a:xfrm>
              <a:off x="4438650" y="3771900"/>
              <a:ext cx="457200" cy="457200"/>
            </a:xfrm>
            <a:prstGeom prst="ellipse">
              <a:avLst/>
            </a:prstGeom>
            <a:noFill/>
            <a:ln w="19050">
              <a:solidFill>
                <a:srgbClr val="2563EB">
                  <a:alpha val="30000"/>
                </a:srgbClr>
              </a:solidFill>
            </a:ln>
          </p:spPr>
        </p:sp>
        <p:sp>
          <p:nvSpPr>
            <p:cNvPr id="59" name="Ellipse 59"/>
            <p:cNvSpPr/>
            <p:nvPr/>
          </p:nvSpPr>
          <p:spPr>
            <a:xfrm>
              <a:off x="4514850" y="3848100"/>
              <a:ext cx="304800" cy="304800"/>
            </a:xfrm>
            <a:prstGeom prst="ellipse">
              <a:avLst/>
            </a:prstGeom>
            <a:gradFill>
              <a:gsLst>
                <a:gs pos="0">
                  <a:srgbClr val="2563EB"/>
                </a:gs>
                <a:gs pos="100000">
                  <a:srgbClr val="1D4ED8"/>
                </a:gs>
              </a:gsLst>
              <a:lin ang="2700000" scaled="1"/>
            </a:gradFill>
            <a:ln w="19050">
              <a:solidFill>
                <a:srgbClr val="38BDF8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4629150" y="3905250"/>
              <a:ext cx="76200" cy="142875"/>
            </a:xfrm>
            <a:custGeom>
              <a:avLst/>
              <a:gdLst/>
              <a:ahLst/>
              <a:cxnLst/>
              <a:rect l="l" t="t" r="r" b="b"/>
              <a:pathLst>
                <a:path w="76200" h="142875">
                  <a:moveTo>
                    <a:pt x="0" y="76200"/>
                  </a:moveTo>
                  <a:lnTo>
                    <a:pt x="38100" y="0"/>
                  </a:lnTo>
                  <a:lnTo>
                    <a:pt x="76200" y="76200"/>
                  </a:lnTo>
                  <a:lnTo>
                    <a:pt x="57150" y="142875"/>
                  </a:lnTo>
                  <a:lnTo>
                    <a:pt x="19050" y="142875"/>
                  </a:lnTo>
                  <a:close/>
                </a:path>
              </a:pathLst>
            </a:custGeom>
            <a:solidFill>
              <a:srgbClr val="FFFFFF">
                <a:alpha val="90000"/>
              </a:srgbClr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4638675" y="4048125"/>
              <a:ext cx="57150" cy="28575"/>
            </a:xfrm>
            <a:prstGeom prst="rect">
              <a:avLst/>
            </a:prstGeom>
            <a:solidFill>
              <a:srgbClr val="FFFFFF">
                <a:alpha val="50000"/>
              </a:srgbClr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4471988" y="3731895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38BDF8">
                      <a:alphaMod val="70000"/>
                    </a:srgbClr>
                  </a:solidFill>
                  <a:latin typeface="Consolas"/>
                  <a:ea typeface="Consolas"/>
                  <a:cs typeface="Consolas"/>
                </a:rPr>
                <a:t>1927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4000500" y="2381250"/>
            <a:ext cx="1905000" cy="952500"/>
            <a:chOff x="4000500" y="2381250"/>
            <a:chExt cx="1905000" cy="952500"/>
          </a:xfrm>
        </p:grpSpPr>
        <p:sp>
          <p:nvSpPr>
            <p:cNvPr id="64" name="Rectangle 64"/>
            <p:cNvSpPr/>
            <p:nvPr/>
          </p:nvSpPr>
          <p:spPr>
            <a:xfrm>
              <a:off x="4000500" y="2381250"/>
              <a:ext cx="1905000" cy="952500"/>
            </a:xfrm>
            <a:prstGeom prst="roundRect">
              <a:avLst>
                <a:gd name="adj" fmla="val 6000"/>
              </a:avLst>
            </a:prstGeom>
            <a:solidFill>
              <a:srgbClr val="0F1F3A">
                <a:alpha val="90000"/>
              </a:srgbClr>
            </a:solidFill>
            <a:ln w="9525">
              <a:solidFill>
                <a:srgbClr val="1D4ED8">
                  <a:alpha val="90000"/>
                </a:srgbClr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4353992" y="2477452"/>
              <a:ext cx="11980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8BDF8"/>
                  </a:solidFill>
                  <a:latin typeface="Arial"/>
                  <a:ea typeface="Microsoft YaHei"/>
                  <a:cs typeface="Arial"/>
                </a:rPr>
                <a:t>秋收起义与井冈山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4554284" y="2714149"/>
              <a:ext cx="7974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BDD7FF"/>
                  </a:solidFill>
                  <a:latin typeface="Arial"/>
                  <a:ea typeface="Microsoft YaHei"/>
                  <a:cs typeface="Arial"/>
                </a:rPr>
                <a:t>发动秋收起义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357402" y="2876074"/>
              <a:ext cx="11911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BDD7FF"/>
                  </a:solidFill>
                  <a:latin typeface="Arial"/>
                  <a:ea typeface="Microsoft YaHei"/>
                  <a:cs typeface="Arial"/>
                </a:rPr>
                <a:t>创建首个农村根据地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4350839" y="3037999"/>
              <a:ext cx="12043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BDD7FF"/>
                  </a:solidFill>
                  <a:latin typeface="Arial"/>
                  <a:ea typeface="Microsoft YaHei"/>
                  <a:cs typeface="Arial"/>
                </a:rPr>
                <a:t>“工农武装割据”思想</a:t>
              </a:r>
            </a:p>
          </p:txBody>
        </p:sp>
      </p:grpSp>
      <p:sp>
        <p:nvSpPr>
          <p:cNvPr id="70" name="Line 70"/>
          <p:cNvSpPr/>
          <p:nvPr/>
        </p:nvSpPr>
        <p:spPr>
          <a:xfrm>
            <a:off x="4667250" y="3333750"/>
            <a:ext cx="9525" cy="514350"/>
          </a:xfrm>
          <a:custGeom>
            <a:avLst/>
            <a:gdLst/>
            <a:ahLst/>
            <a:cxnLst/>
            <a:rect l="l" t="t" r="r" b="b"/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/>
          <a:ln w="9525">
            <a:solidFill>
              <a:srgbClr val="2563EB">
                <a:alpha val="40000"/>
              </a:srgbClr>
            </a:solidFill>
            <a:custDash>
              <a:ds d="300000" sp="300000"/>
            </a:custDash>
          </a:ln>
        </p:spPr>
      </p:sp>
      <p:grpSp>
        <p:nvGrpSpPr>
          <p:cNvPr id="75" name="Group 75"/>
          <p:cNvGrpSpPr/>
          <p:nvPr/>
        </p:nvGrpSpPr>
        <p:grpSpPr>
          <a:xfrm>
            <a:off x="6153150" y="3771900"/>
            <a:ext cx="457200" cy="688657"/>
            <a:chOff x="6153150" y="3771900"/>
            <a:chExt cx="457200" cy="688657"/>
          </a:xfrm>
        </p:grpSpPr>
        <p:sp>
          <p:nvSpPr>
            <p:cNvPr id="71" name="Ellipse 71"/>
            <p:cNvSpPr/>
            <p:nvPr/>
          </p:nvSpPr>
          <p:spPr>
            <a:xfrm>
              <a:off x="6153150" y="3771900"/>
              <a:ext cx="457200" cy="457200"/>
            </a:xfrm>
            <a:prstGeom prst="ellipse">
              <a:avLst/>
            </a:prstGeom>
            <a:noFill/>
            <a:ln w="19050">
              <a:solidFill>
                <a:srgbClr val="2563EB">
                  <a:alpha val="30000"/>
                </a:srgbClr>
              </a:solidFill>
            </a:ln>
          </p:spPr>
        </p:sp>
        <p:sp>
          <p:nvSpPr>
            <p:cNvPr id="72" name="Ellipse 72"/>
            <p:cNvSpPr/>
            <p:nvPr/>
          </p:nvSpPr>
          <p:spPr>
            <a:xfrm>
              <a:off x="6229350" y="3848100"/>
              <a:ext cx="304800" cy="304800"/>
            </a:xfrm>
            <a:prstGeom prst="ellipse">
              <a:avLst/>
            </a:prstGeom>
            <a:gradFill>
              <a:gsLst>
                <a:gs pos="0">
                  <a:srgbClr val="2563EB"/>
                </a:gs>
                <a:gs pos="100000">
                  <a:srgbClr val="1D4ED8"/>
                </a:gs>
              </a:gsLst>
              <a:lin ang="2700000" scaled="1"/>
            </a:gradFill>
            <a:ln w="19050">
              <a:solidFill>
                <a:srgbClr val="38BDF8"/>
              </a:solidFill>
            </a:ln>
          </p:spPr>
        </p:sp>
        <p:sp>
          <p:nvSpPr>
            <p:cNvPr id="73" name="Freeform 73"/>
            <p:cNvSpPr/>
            <p:nvPr/>
          </p:nvSpPr>
          <p:spPr>
            <a:xfrm>
              <a:off x="6305550" y="3943350"/>
              <a:ext cx="114300" cy="104775"/>
            </a:xfrm>
            <a:custGeom>
              <a:avLst/>
              <a:gdLst/>
              <a:ahLst/>
              <a:cxnLst/>
              <a:rect l="l" t="t" r="r" b="b"/>
              <a:pathLst>
                <a:path w="114300" h="104775">
                  <a:moveTo>
                    <a:pt x="0" y="104775"/>
                  </a:moveTo>
                  <a:lnTo>
                    <a:pt x="57150" y="0"/>
                  </a:lnTo>
                  <a:lnTo>
                    <a:pt x="114300" y="104775"/>
                  </a:lnTo>
                  <a:close/>
                </a:path>
              </a:pathLst>
            </a:custGeom>
            <a:solidFill>
              <a:srgbClr val="FFFFFF">
                <a:alpha val="90000"/>
              </a:srgbClr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205538" y="4284345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38BDF8">
                      <a:alphaMod val="70000"/>
                    </a:srgbClr>
                  </a:solidFill>
                  <a:latin typeface="Consolas"/>
                  <a:ea typeface="Consolas"/>
                  <a:cs typeface="Consolas"/>
                </a:rPr>
                <a:t>1934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5715000" y="4438650"/>
            <a:ext cx="1905000" cy="952500"/>
            <a:chOff x="5715000" y="4438650"/>
            <a:chExt cx="1905000" cy="952500"/>
          </a:xfrm>
        </p:grpSpPr>
        <p:sp>
          <p:nvSpPr>
            <p:cNvPr id="76" name="Rectangle 76"/>
            <p:cNvSpPr/>
            <p:nvPr/>
          </p:nvSpPr>
          <p:spPr>
            <a:xfrm>
              <a:off x="5715000" y="4438650"/>
              <a:ext cx="1905000" cy="952500"/>
            </a:xfrm>
            <a:prstGeom prst="roundRect">
              <a:avLst>
                <a:gd name="adj" fmla="val 6000"/>
              </a:avLst>
            </a:prstGeom>
            <a:solidFill>
              <a:srgbClr val="0F1F3A">
                <a:alpha val="90000"/>
              </a:srgbClr>
            </a:solidFill>
            <a:ln w="9525">
              <a:solidFill>
                <a:srgbClr val="1D4ED8">
                  <a:alpha val="90000"/>
                </a:srgbClr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142701" y="4534852"/>
              <a:ext cx="10495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8BDF8"/>
                  </a:solidFill>
                  <a:latin typeface="Arial"/>
                  <a:ea typeface="Microsoft YaHei"/>
                  <a:cs typeface="Arial"/>
                </a:rPr>
                <a:t>长征与遵义会议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101434" y="4771549"/>
              <a:ext cx="11321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BDD7FF"/>
                  </a:solidFill>
                  <a:latin typeface="Arial"/>
                  <a:ea typeface="Microsoft YaHei"/>
                  <a:cs typeface="Arial"/>
                </a:rPr>
                <a:t>突破围剿·四渡赤水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006274" y="4933474"/>
              <a:ext cx="13224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BDD7FF"/>
                  </a:solidFill>
                  <a:latin typeface="Arial"/>
                  <a:ea typeface="Microsoft YaHei"/>
                  <a:cs typeface="Arial"/>
                </a:rPr>
                <a:t>遵义会议确立领导地位</a:t>
              </a:r>
            </a:p>
          </p:txBody>
        </p:sp>
      </p:grpSp>
      <p:sp>
        <p:nvSpPr>
          <p:cNvPr id="81" name="Line 81"/>
          <p:cNvSpPr/>
          <p:nvPr/>
        </p:nvSpPr>
        <p:spPr>
          <a:xfrm>
            <a:off x="6381750" y="415290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9525">
            <a:solidFill>
              <a:srgbClr val="2563EB">
                <a:alpha val="40000"/>
              </a:srgbClr>
            </a:solidFill>
            <a:custDash>
              <a:ds d="300000" sp="300000"/>
            </a:custDash>
          </a:ln>
        </p:spPr>
      </p:sp>
      <p:grpSp>
        <p:nvGrpSpPr>
          <p:cNvPr id="87" name="Group 87"/>
          <p:cNvGrpSpPr/>
          <p:nvPr/>
        </p:nvGrpSpPr>
        <p:grpSpPr>
          <a:xfrm>
            <a:off x="7962900" y="3731895"/>
            <a:ext cx="457200" cy="497205"/>
            <a:chOff x="7962900" y="3731895"/>
            <a:chExt cx="457200" cy="497205"/>
          </a:xfrm>
        </p:grpSpPr>
        <p:sp>
          <p:nvSpPr>
            <p:cNvPr id="82" name="Ellipse 82"/>
            <p:cNvSpPr/>
            <p:nvPr/>
          </p:nvSpPr>
          <p:spPr>
            <a:xfrm>
              <a:off x="7962900" y="3771900"/>
              <a:ext cx="457200" cy="457200"/>
            </a:xfrm>
            <a:prstGeom prst="ellipse">
              <a:avLst/>
            </a:prstGeom>
            <a:noFill/>
            <a:ln w="19050">
              <a:solidFill>
                <a:srgbClr val="2563EB">
                  <a:alpha val="30000"/>
                </a:srgbClr>
              </a:solidFill>
            </a:ln>
          </p:spPr>
        </p:sp>
        <p:sp>
          <p:nvSpPr>
            <p:cNvPr id="83" name="Ellipse 83"/>
            <p:cNvSpPr/>
            <p:nvPr/>
          </p:nvSpPr>
          <p:spPr>
            <a:xfrm>
              <a:off x="8039100" y="3848100"/>
              <a:ext cx="304800" cy="304800"/>
            </a:xfrm>
            <a:prstGeom prst="ellipse">
              <a:avLst/>
            </a:prstGeom>
            <a:gradFill>
              <a:gsLst>
                <a:gs pos="0">
                  <a:srgbClr val="2563EB"/>
                </a:gs>
                <a:gs pos="100000">
                  <a:srgbClr val="1D4ED8"/>
                </a:gs>
              </a:gsLst>
              <a:lin ang="2700000" scaled="1"/>
            </a:gradFill>
            <a:ln w="19050">
              <a:solidFill>
                <a:srgbClr val="38BDF8"/>
              </a:solidFill>
            </a:ln>
          </p:spPr>
        </p:sp>
        <p:sp>
          <p:nvSpPr>
            <p:cNvPr id="84" name="Freeform 84"/>
            <p:cNvSpPr/>
            <p:nvPr/>
          </p:nvSpPr>
          <p:spPr>
            <a:xfrm>
              <a:off x="8115300" y="3943350"/>
              <a:ext cx="152400" cy="85725"/>
            </a:xfrm>
            <a:custGeom>
              <a:avLst/>
              <a:gdLst/>
              <a:ahLst/>
              <a:cxnLst/>
              <a:rect l="l" t="t" r="r" b="b"/>
              <a:pathLst>
                <a:path w="152400" h="85725">
                  <a:moveTo>
                    <a:pt x="0" y="85725"/>
                  </a:moveTo>
                  <a:lnTo>
                    <a:pt x="76200" y="0"/>
                  </a:lnTo>
                  <a:lnTo>
                    <a:pt x="152400" y="85725"/>
                  </a:lnTo>
                  <a:close/>
                </a:path>
              </a:pathLst>
            </a:custGeom>
            <a:solidFill>
              <a:srgbClr val="FFFFFF">
                <a:alpha val="90000"/>
              </a:srgbClr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8153400" y="4029075"/>
              <a:ext cx="76200" cy="47625"/>
            </a:xfrm>
            <a:prstGeom prst="roundRect">
              <a:avLst>
                <a:gd name="adj" fmla="val 20000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8015288" y="3731895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38BDF8">
                      <a:alphaMod val="70000"/>
                    </a:srgbClr>
                  </a:solidFill>
                  <a:latin typeface="Consolas"/>
                  <a:ea typeface="Consolas"/>
                  <a:cs typeface="Consolas"/>
                </a:rPr>
                <a:t>1935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7524750" y="2381250"/>
            <a:ext cx="1905000" cy="1047750"/>
            <a:chOff x="7524750" y="2381250"/>
            <a:chExt cx="1905000" cy="1047750"/>
          </a:xfrm>
        </p:grpSpPr>
        <p:sp>
          <p:nvSpPr>
            <p:cNvPr id="88" name="Rectangle 88"/>
            <p:cNvSpPr/>
            <p:nvPr/>
          </p:nvSpPr>
          <p:spPr>
            <a:xfrm>
              <a:off x="7524750" y="2381250"/>
              <a:ext cx="1905000" cy="1047750"/>
            </a:xfrm>
            <a:prstGeom prst="roundRect">
              <a:avLst>
                <a:gd name="adj" fmla="val 5455"/>
              </a:avLst>
            </a:prstGeom>
            <a:solidFill>
              <a:srgbClr val="0F1F3A">
                <a:alpha val="90000"/>
              </a:srgbClr>
            </a:solidFill>
            <a:ln w="9525">
              <a:solidFill>
                <a:srgbClr val="1D4ED8">
                  <a:alpha val="90000"/>
                </a:srgbClr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7985845" y="2477452"/>
              <a:ext cx="9828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8BDF8"/>
                  </a:solidFill>
                  <a:latin typeface="Arial"/>
                  <a:ea typeface="Microsoft YaHei"/>
                  <a:cs typeface="Arial"/>
                </a:rPr>
                <a:t>延安·抗日战争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078534" y="2714149"/>
              <a:ext cx="7974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BDD7FF"/>
                  </a:solidFill>
                  <a:latin typeface="Arial"/>
                  <a:ea typeface="Microsoft YaHei"/>
                  <a:cs typeface="Arial"/>
                </a:rPr>
                <a:t>延安整风运动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7947279" y="2876074"/>
              <a:ext cx="10599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BDD7FF"/>
                  </a:solidFill>
                  <a:latin typeface="Arial"/>
                  <a:ea typeface="Microsoft YaHei"/>
                  <a:cs typeface="Arial"/>
                </a:rPr>
                <a:t>《论持久战》发表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8078534" y="3037999"/>
              <a:ext cx="7974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BDD7FF"/>
                  </a:solidFill>
                  <a:latin typeface="Arial"/>
                  <a:ea typeface="Microsoft YaHei"/>
                  <a:cs typeface="Arial"/>
                </a:rPr>
                <a:t>领导敌后战场</a:t>
              </a:r>
            </a:p>
          </p:txBody>
        </p:sp>
      </p:grpSp>
      <p:sp>
        <p:nvSpPr>
          <p:cNvPr id="94" name="Line 94"/>
          <p:cNvSpPr/>
          <p:nvPr/>
        </p:nvSpPr>
        <p:spPr>
          <a:xfrm>
            <a:off x="8191500" y="3429000"/>
            <a:ext cx="9525" cy="419100"/>
          </a:xfrm>
          <a:custGeom>
            <a:avLst/>
            <a:gdLst/>
            <a:ahLst/>
            <a:cxnLst/>
            <a:rect l="l" t="t" r="r" b="b"/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/>
          <a:ln w="9525">
            <a:solidFill>
              <a:srgbClr val="2563EB">
                <a:alpha val="40000"/>
              </a:srgbClr>
            </a:solidFill>
            <a:custDash>
              <a:ds d="300000" sp="300000"/>
            </a:custDash>
          </a:ln>
        </p:spPr>
      </p:sp>
      <p:grpSp>
        <p:nvGrpSpPr>
          <p:cNvPr id="99" name="Group 99"/>
          <p:cNvGrpSpPr/>
          <p:nvPr/>
        </p:nvGrpSpPr>
        <p:grpSpPr>
          <a:xfrm>
            <a:off x="9867900" y="3771900"/>
            <a:ext cx="457200" cy="688657"/>
            <a:chOff x="9867900" y="3771900"/>
            <a:chExt cx="457200" cy="688657"/>
          </a:xfrm>
        </p:grpSpPr>
        <p:sp>
          <p:nvSpPr>
            <p:cNvPr id="95" name="Ellipse 95"/>
            <p:cNvSpPr/>
            <p:nvPr/>
          </p:nvSpPr>
          <p:spPr>
            <a:xfrm>
              <a:off x="9867900" y="3771900"/>
              <a:ext cx="457200" cy="457200"/>
            </a:xfrm>
            <a:prstGeom prst="ellipse">
              <a:avLst/>
            </a:prstGeom>
            <a:noFill/>
            <a:ln w="19050">
              <a:solidFill>
                <a:srgbClr val="2563EB">
                  <a:alpha val="30000"/>
                </a:srgbClr>
              </a:solidFill>
            </a:ln>
          </p:spPr>
        </p:sp>
        <p:sp>
          <p:nvSpPr>
            <p:cNvPr id="96" name="Ellipse 96"/>
            <p:cNvSpPr/>
            <p:nvPr/>
          </p:nvSpPr>
          <p:spPr>
            <a:xfrm>
              <a:off x="9944100" y="3848100"/>
              <a:ext cx="304800" cy="304800"/>
            </a:xfrm>
            <a:prstGeom prst="ellipse">
              <a:avLst/>
            </a:prstGeom>
            <a:gradFill>
              <a:gsLst>
                <a:gs pos="0">
                  <a:srgbClr val="38BDF8"/>
                </a:gs>
                <a:gs pos="100000">
                  <a:srgbClr val="2563EB"/>
                </a:gs>
              </a:gsLst>
              <a:lin ang="2700000" scaled="1"/>
            </a:gradFill>
            <a:ln w="23812">
              <a:solidFill>
                <a:srgbClr val="38BDF8"/>
              </a:solidFill>
            </a:ln>
          </p:spPr>
        </p:sp>
        <p:sp>
          <p:nvSpPr>
            <p:cNvPr id="97" name="Freeform 97"/>
            <p:cNvSpPr/>
            <p:nvPr/>
          </p:nvSpPr>
          <p:spPr>
            <a:xfrm>
              <a:off x="10020300" y="3962400"/>
              <a:ext cx="152400" cy="114300"/>
            </a:xfrm>
            <a:custGeom>
              <a:avLst/>
              <a:gdLst/>
              <a:ahLst/>
              <a:cxnLst/>
              <a:rect l="l" t="t" r="r" b="b"/>
              <a:pathLst>
                <a:path w="152400" h="114300">
                  <a:moveTo>
                    <a:pt x="0" y="0"/>
                  </a:moveTo>
                  <a:lnTo>
                    <a:pt x="0" y="114300"/>
                  </a:lnTo>
                  <a:lnTo>
                    <a:pt x="152400" y="38100"/>
                  </a:lnTo>
                  <a:close/>
                </a:path>
              </a:pathLst>
            </a:custGeom>
            <a:solidFill>
              <a:srgbClr val="FF4444">
                <a:alpha val="90000"/>
              </a:srgbClr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9901238" y="4284345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38BDF8">
                      <a:alphaMod val="70000"/>
                    </a:srgbClr>
                  </a:solidFill>
                  <a:latin typeface="Consolas"/>
                  <a:ea typeface="Consolas"/>
                  <a:cs typeface="Consolas"/>
                </a:rPr>
                <a:t>1945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9429750" y="4438650"/>
            <a:ext cx="1905000" cy="1047750"/>
            <a:chOff x="9429750" y="4438650"/>
            <a:chExt cx="1905000" cy="1047750"/>
          </a:xfrm>
        </p:grpSpPr>
        <p:sp>
          <p:nvSpPr>
            <p:cNvPr id="100" name="Rectangle 100"/>
            <p:cNvSpPr/>
            <p:nvPr/>
          </p:nvSpPr>
          <p:spPr>
            <a:xfrm>
              <a:off x="9429750" y="4438650"/>
              <a:ext cx="1905000" cy="1047750"/>
            </a:xfrm>
            <a:prstGeom prst="roundRect">
              <a:avLst>
                <a:gd name="adj" fmla="val 5455"/>
              </a:avLst>
            </a:prstGeom>
            <a:solidFill>
              <a:srgbClr val="0F1F3A">
                <a:alpha val="90000"/>
              </a:srgbClr>
            </a:solidFill>
            <a:ln w="9525">
              <a:solidFill>
                <a:srgbClr val="1D4ED8">
                  <a:alpha val="90000"/>
                </a:srgbClr>
              </a:solidFill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9857451" y="4534852"/>
              <a:ext cx="10495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8BDF8"/>
                  </a:solidFill>
                  <a:latin typeface="Arial"/>
                  <a:ea typeface="Microsoft YaHei"/>
                  <a:cs typeface="Arial"/>
                </a:rPr>
                <a:t>解放战争与建国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9816184" y="4771549"/>
              <a:ext cx="11321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BDD7FF"/>
                  </a:solidFill>
                  <a:latin typeface="Arial"/>
                  <a:ea typeface="Microsoft YaHei"/>
                  <a:cs typeface="Arial"/>
                </a:rPr>
                <a:t>三大战役·渡江战役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10114788" y="4933474"/>
              <a:ext cx="5349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BDD7FF"/>
                  </a:solidFill>
                  <a:latin typeface="Arial"/>
                  <a:ea typeface="Microsoft YaHei"/>
                  <a:cs typeface="Arial"/>
                </a:rPr>
                <a:t>政协会议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9917906" y="5095399"/>
              <a:ext cx="9286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BDD7FF"/>
                  </a:solidFill>
                  <a:latin typeface="Arial"/>
                  <a:ea typeface="Microsoft YaHei"/>
                  <a:cs typeface="Arial"/>
                </a:rPr>
                <a:t>宣告新中国成立</a:t>
              </a:r>
            </a:p>
          </p:txBody>
        </p:sp>
      </p:grpSp>
      <p:sp>
        <p:nvSpPr>
          <p:cNvPr id="106" name="Line 106"/>
          <p:cNvSpPr/>
          <p:nvPr/>
        </p:nvSpPr>
        <p:spPr>
          <a:xfrm>
            <a:off x="10096500" y="415290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9525">
            <a:solidFill>
              <a:srgbClr val="38BDF8">
                <a:alpha val="50000"/>
              </a:srgbClr>
            </a:solidFill>
            <a:custDash>
              <a:ds d="300000" sp="300000"/>
            </a:custDash>
          </a:ln>
        </p:spPr>
      </p:sp>
      <p:sp>
        <p:nvSpPr>
          <p:cNvPr id="107" name="Polygon 107"/>
          <p:cNvSpPr/>
          <p:nvPr/>
        </p:nvSpPr>
        <p:spPr>
          <a:xfrm>
            <a:off x="2076450" y="39624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38BDF8">
              <a:alpha val="60000"/>
            </a:srgbClr>
          </a:solidFill>
          <a:ln>
            <a:noFill/>
          </a:ln>
        </p:spPr>
      </p:sp>
      <p:sp>
        <p:nvSpPr>
          <p:cNvPr id="108" name="Polygon 108"/>
          <p:cNvSpPr/>
          <p:nvPr/>
        </p:nvSpPr>
        <p:spPr>
          <a:xfrm>
            <a:off x="3810000" y="39624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38BDF8">
              <a:alpha val="60000"/>
            </a:srgbClr>
          </a:solidFill>
          <a:ln>
            <a:noFill/>
          </a:ln>
        </p:spPr>
      </p:sp>
      <p:sp>
        <p:nvSpPr>
          <p:cNvPr id="109" name="Polygon 109"/>
          <p:cNvSpPr/>
          <p:nvPr/>
        </p:nvSpPr>
        <p:spPr>
          <a:xfrm>
            <a:off x="5524500" y="39624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38BDF8">
              <a:alpha val="60000"/>
            </a:srgbClr>
          </a:solidFill>
          <a:ln>
            <a:noFill/>
          </a:ln>
        </p:spPr>
      </p:sp>
      <p:sp>
        <p:nvSpPr>
          <p:cNvPr id="110" name="Polygon 110"/>
          <p:cNvSpPr/>
          <p:nvPr/>
        </p:nvSpPr>
        <p:spPr>
          <a:xfrm>
            <a:off x="7239000" y="39624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38BDF8">
              <a:alpha val="60000"/>
            </a:srgbClr>
          </a:solidFill>
          <a:ln>
            <a:noFill/>
          </a:ln>
        </p:spPr>
      </p:sp>
      <p:sp>
        <p:nvSpPr>
          <p:cNvPr id="111" name="Polygon 111"/>
          <p:cNvSpPr/>
          <p:nvPr/>
        </p:nvSpPr>
        <p:spPr>
          <a:xfrm>
            <a:off x="9048750" y="39624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38BDF8">
              <a:alpha val="60000"/>
            </a:srgbClr>
          </a:solidFill>
          <a:ln>
            <a:noFill/>
          </a:ln>
        </p:spPr>
      </p:sp>
      <p:sp>
        <p:nvSpPr>
          <p:cNvPr id="112" name="Rectangle 112"/>
          <p:cNvSpPr/>
          <p:nvPr/>
        </p:nvSpPr>
        <p:spPr>
          <a:xfrm>
            <a:off x="762000" y="6191250"/>
            <a:ext cx="10668000" cy="9525"/>
          </a:xfrm>
          <a:prstGeom prst="rect">
            <a:avLst/>
          </a:prstGeom>
          <a:solidFill>
            <a:srgbClr val="38BDF8">
              <a:alpha val="15000"/>
            </a:srgbClr>
          </a:solidFill>
          <a:ln>
            <a:noFill/>
          </a:ln>
        </p:spPr>
      </p:sp>
      <p:sp>
        <p:nvSpPr>
          <p:cNvPr id="113" name="TextBox 113"/>
          <p:cNvSpPr txBox="1"/>
          <p:nvPr/>
        </p:nvSpPr>
        <p:spPr>
          <a:xfrm>
            <a:off x="757047" y="6295549"/>
            <a:ext cx="261023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52637A"/>
                </a:solidFill>
                <a:latin typeface="Consolas"/>
                <a:ea typeface="Microsoft YaHei"/>
                <a:cs typeface="Consolas"/>
              </a:rPr>
              <a:t>毛泽东：时代与革命（1893—1976） · P02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120"/>
              </a:gs>
              <a:gs pos="45000">
                <a:srgbClr val="0F172A"/>
              </a:gs>
              <a:gs pos="100000">
                <a:srgbClr val="0A0F1C"/>
              </a:gs>
            </a:gsLst>
            <a:lin ang="1761465" scaled="1"/>
          </a:gradFill>
          <a:ln>
            <a:noFill/>
          </a:ln>
        </p:spPr>
      </p:sp>
      <p:grpSp>
        <p:nvGrpSpPr>
          <p:cNvPr id="17" name="Group 1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E293B">
                  <a:alpha val="35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E293B">
                  <a:alpha val="35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E293B">
                  <a:alpha val="35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1E293B">
                  <a:alpha val="35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1E293B">
                  <a:alpha val="35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1E293B">
                  <a:alpha val="35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0" y="8572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E293B">
                  <a:alpha val="15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0" y="25717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E293B">
                  <a:alpha val="15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0" y="42862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E293B">
                  <a:alpha val="15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0" y="60007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E293B">
                  <a:alpha val="15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1E293B">
                  <a:alpha val="15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1E293B">
                  <a:alpha val="15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62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1E293B">
                  <a:alpha val="15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1E293B">
                  <a:alpha val="15000"/>
                </a:srgbClr>
              </a:solidFill>
            </a:ln>
          </p:spPr>
        </p:sp>
      </p:grpSp>
      <p:sp>
        <p:nvSpPr>
          <p:cNvPr id="18" name="Rectangle 18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gradFill>
            <a:gsLst>
              <a:gs pos="0">
                <a:srgbClr val="38BDF8">
                  <a:alpha val="60000"/>
                </a:srgbClr>
              </a:gs>
              <a:gs pos="100000">
                <a:srgbClr val="2563EB">
                  <a:alpha val="6000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1084976" y="6590824"/>
            <a:ext cx="54047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spc="112" dirty="0">
                <a:solidFill>
                  <a:srgbClr val="52637A"/>
                </a:solidFill>
                <a:latin typeface="Consolas"/>
                <a:ea typeface="Consolas"/>
                <a:cs typeface="Consolas"/>
              </a:rPr>
              <a:t>03 / 06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19684" y="451485"/>
            <a:ext cx="4891017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spc="150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立国与探索（1949—1962）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27304" y="1013460"/>
            <a:ext cx="36469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spc="9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开国奠基、制度重塑与社会主义道路的早期实践</a:t>
            </a:r>
          </a:p>
        </p:txBody>
      </p:sp>
      <p:sp>
        <p:nvSpPr>
          <p:cNvPr id="22" name="Line 22"/>
          <p:cNvSpPr/>
          <p:nvPr/>
        </p:nvSpPr>
        <p:spPr>
          <a:xfrm>
            <a:off x="533400" y="1485900"/>
            <a:ext cx="3086100" cy="9525"/>
          </a:xfrm>
          <a:custGeom>
            <a:avLst/>
            <a:gdLst/>
            <a:ahLst/>
            <a:cxnLst/>
            <a:rect l="l" t="t" r="r" b="b"/>
            <a:pathLst>
              <a:path w="3086100" h="9525">
                <a:moveTo>
                  <a:pt x="0" y="0"/>
                </a:moveTo>
                <a:lnTo>
                  <a:pt x="3086100" y="0"/>
                </a:lnTo>
              </a:path>
            </a:pathLst>
          </a:custGeom>
          <a:noFill/>
          <a:ln w="19050">
            <a:gradFill>
              <a:gsLst>
                <a:gs pos="0">
                  <a:srgbClr val="38BDF8">
                    <a:alpha val="70000"/>
                  </a:srgbClr>
                </a:gs>
                <a:gs pos="100000">
                  <a:srgbClr val="2563EB">
                    <a:alpha val="70000"/>
                  </a:srgbClr>
                </a:gs>
              </a:gsLst>
              <a:lin ang="5400000" scaled="1"/>
            </a:gradFill>
          </a:ln>
        </p:spPr>
      </p:sp>
      <p:grpSp>
        <p:nvGrpSpPr>
          <p:cNvPr id="30" name="Group 30"/>
          <p:cNvGrpSpPr/>
          <p:nvPr/>
        </p:nvGrpSpPr>
        <p:grpSpPr>
          <a:xfrm>
            <a:off x="609600" y="1905000"/>
            <a:ext cx="3467100" cy="2190750"/>
            <a:chOff x="609600" y="1905000"/>
            <a:chExt cx="3467100" cy="2190750"/>
          </a:xfrm>
        </p:grpSpPr>
        <p:sp>
          <p:nvSpPr>
            <p:cNvPr id="23" name="Rectangle 23"/>
            <p:cNvSpPr/>
            <p:nvPr/>
          </p:nvSpPr>
          <p:spPr>
            <a:xfrm>
              <a:off x="609600" y="1905000"/>
              <a:ext cx="3467100" cy="2190750"/>
            </a:xfrm>
            <a:prstGeom prst="roundRect">
              <a:avLst>
                <a:gd name="adj" fmla="val 2609"/>
              </a:avLst>
            </a:prstGeom>
            <a:gradFill>
              <a:gsLst>
                <a:gs pos="0">
                  <a:srgbClr val="1A2540"/>
                </a:gs>
                <a:gs pos="100000">
                  <a:srgbClr val="152036"/>
                </a:gs>
              </a:gsLst>
              <a:lin ang="5400000" scaled="1"/>
            </a:gradFill>
            <a:ln w="9525">
              <a:solidFill>
                <a:srgbClr val="2563EB">
                  <a:alpha val="30000"/>
                </a:srgbClr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09600" y="1905000"/>
              <a:ext cx="34671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8BDF8">
                    <a:alpha val="80000"/>
                  </a:srgbClr>
                </a:gs>
                <a:gs pos="100000">
                  <a:srgbClr val="2563EB">
                    <a:alpha val="80000"/>
                  </a:srgbClr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26008" y="219837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38BDF8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15618" y="2241232"/>
              <a:ext cx="9799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spc="75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开国大典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2866" y="2801302"/>
              <a:ext cx="1469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38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宣布中央人民政府成立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2866" y="3010852"/>
              <a:ext cx="13232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38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开启民族复兴新纪元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2866" y="3220402"/>
              <a:ext cx="10061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22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1949年10月1日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362450" y="1905000"/>
            <a:ext cx="3467100" cy="2190750"/>
            <a:chOff x="4362450" y="1905000"/>
            <a:chExt cx="3467100" cy="2190750"/>
          </a:xfrm>
        </p:grpSpPr>
        <p:sp>
          <p:nvSpPr>
            <p:cNvPr id="31" name="Rectangle 31"/>
            <p:cNvSpPr/>
            <p:nvPr/>
          </p:nvSpPr>
          <p:spPr>
            <a:xfrm>
              <a:off x="4362450" y="1905000"/>
              <a:ext cx="3467100" cy="2190750"/>
            </a:xfrm>
            <a:prstGeom prst="roundRect">
              <a:avLst>
                <a:gd name="adj" fmla="val 2609"/>
              </a:avLst>
            </a:prstGeom>
            <a:gradFill>
              <a:gsLst>
                <a:gs pos="0">
                  <a:srgbClr val="1A2540"/>
                </a:gs>
                <a:gs pos="100000">
                  <a:srgbClr val="152036"/>
                </a:gs>
              </a:gsLst>
              <a:lin ang="5400000" scaled="1"/>
            </a:gradFill>
            <a:ln w="9525">
              <a:solidFill>
                <a:srgbClr val="2563EB">
                  <a:alpha val="30000"/>
                </a:srgbClr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4362450" y="1905000"/>
              <a:ext cx="34671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78BFA">
                    <a:alpha val="80000"/>
                  </a:srgbClr>
                </a:gs>
                <a:gs pos="100000">
                  <a:srgbClr val="7C3AED">
                    <a:alpha val="80000"/>
                  </a:srgbClr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578858" y="219837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A78BFA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135118" y="2241232"/>
              <a:ext cx="17099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spc="75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土地改革与改造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85716" y="2801302"/>
              <a:ext cx="11768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38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摧毁封建土地制度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585716" y="3010852"/>
              <a:ext cx="13232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38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确立公有制经济基础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585716" y="3220402"/>
              <a:ext cx="8789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22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1950—1956年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8115300" y="1905000"/>
            <a:ext cx="3467100" cy="2190750"/>
            <a:chOff x="8115300" y="1905000"/>
            <a:chExt cx="3467100" cy="2190750"/>
          </a:xfrm>
        </p:grpSpPr>
        <p:sp>
          <p:nvSpPr>
            <p:cNvPr id="39" name="Rectangle 39"/>
            <p:cNvSpPr/>
            <p:nvPr/>
          </p:nvSpPr>
          <p:spPr>
            <a:xfrm>
              <a:off x="8115300" y="1905000"/>
              <a:ext cx="3467100" cy="2190750"/>
            </a:xfrm>
            <a:prstGeom prst="roundRect">
              <a:avLst>
                <a:gd name="adj" fmla="val 2609"/>
              </a:avLst>
            </a:prstGeom>
            <a:gradFill>
              <a:gsLst>
                <a:gs pos="0">
                  <a:srgbClr val="1A2540"/>
                </a:gs>
                <a:gs pos="100000">
                  <a:srgbClr val="152036"/>
                </a:gs>
              </a:gsLst>
              <a:lin ang="5400000" scaled="1"/>
            </a:gradFill>
            <a:ln w="9525">
              <a:solidFill>
                <a:srgbClr val="2563EB">
                  <a:alpha val="30000"/>
                </a:srgbClr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8115300" y="1905000"/>
              <a:ext cx="34671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8BDF8">
                    <a:alpha val="80000"/>
                  </a:srgbClr>
                </a:gs>
                <a:gs pos="100000">
                  <a:srgbClr val="2563EB">
                    <a:alpha val="80000"/>
                  </a:srgbClr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331708" y="219837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38BDF8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887968" y="2241232"/>
              <a:ext cx="9799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spc="75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抗美援朝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38566" y="2801302"/>
              <a:ext cx="13232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38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保家卫国的立国之战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38566" y="3010852"/>
              <a:ext cx="1469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38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奠定国际战略安全基石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38566" y="3220402"/>
              <a:ext cx="8789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22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1950—1953年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09600" y="4343400"/>
            <a:ext cx="3467100" cy="2000250"/>
            <a:chOff x="609600" y="4343400"/>
            <a:chExt cx="3467100" cy="2000250"/>
          </a:xfrm>
        </p:grpSpPr>
        <p:sp>
          <p:nvSpPr>
            <p:cNvPr id="47" name="Rectangle 47"/>
            <p:cNvSpPr/>
            <p:nvPr/>
          </p:nvSpPr>
          <p:spPr>
            <a:xfrm>
              <a:off x="609600" y="4343400"/>
              <a:ext cx="3467100" cy="2000250"/>
            </a:xfrm>
            <a:prstGeom prst="roundRect">
              <a:avLst>
                <a:gd name="adj" fmla="val 2857"/>
              </a:avLst>
            </a:prstGeom>
            <a:gradFill>
              <a:gsLst>
                <a:gs pos="0">
                  <a:srgbClr val="1A2540"/>
                </a:gs>
                <a:gs pos="100000">
                  <a:srgbClr val="152036"/>
                </a:gs>
              </a:gsLst>
              <a:lin ang="5400000" scaled="1"/>
            </a:gradFill>
            <a:ln w="9525">
              <a:solidFill>
                <a:srgbClr val="2563EB">
                  <a:alpha val="30000"/>
                </a:srgbClr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09600" y="4343400"/>
              <a:ext cx="34671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78BFA">
                    <a:alpha val="80000"/>
                  </a:srgbClr>
                </a:gs>
                <a:gs pos="100000">
                  <a:srgbClr val="7C3AED">
                    <a:alpha val="80000"/>
                  </a:srgbClr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26008" y="463677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A78BFA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515618" y="4679632"/>
              <a:ext cx="17099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spc="75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《论十大关系》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32866" y="5239702"/>
              <a:ext cx="1469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38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探索社会主义建设道路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32866" y="5449252"/>
              <a:ext cx="14443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38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开山之作，1956年4月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4362450" y="4343400"/>
            <a:ext cx="3467100" cy="2000250"/>
            <a:chOff x="4362450" y="4343400"/>
            <a:chExt cx="3467100" cy="2000250"/>
          </a:xfrm>
        </p:grpSpPr>
        <p:sp>
          <p:nvSpPr>
            <p:cNvPr id="54" name="Rectangle 54"/>
            <p:cNvSpPr/>
            <p:nvPr/>
          </p:nvSpPr>
          <p:spPr>
            <a:xfrm>
              <a:off x="4362450" y="4343400"/>
              <a:ext cx="3467100" cy="2000250"/>
            </a:xfrm>
            <a:prstGeom prst="roundRect">
              <a:avLst>
                <a:gd name="adj" fmla="val 2857"/>
              </a:avLst>
            </a:prstGeom>
            <a:gradFill>
              <a:gsLst>
                <a:gs pos="0">
                  <a:srgbClr val="1A2540"/>
                </a:gs>
                <a:gs pos="100000">
                  <a:srgbClr val="152036"/>
                </a:gs>
              </a:gsLst>
              <a:lin ang="5400000" scaled="1"/>
            </a:gradFill>
            <a:ln w="9525">
              <a:solidFill>
                <a:srgbClr val="2563EB">
                  <a:alpha val="30000"/>
                </a:srgbClr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4362450" y="4343400"/>
              <a:ext cx="34671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8BDF8">
                    <a:alpha val="80000"/>
                  </a:srgbClr>
                </a:gs>
                <a:gs pos="100000">
                  <a:srgbClr val="2563EB">
                    <a:alpha val="80000"/>
                  </a:srgbClr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578858" y="463677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38BDF8"/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135118" y="4679632"/>
              <a:ext cx="19532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spc="75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大跃进与人民公社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585716" y="5239702"/>
              <a:ext cx="1762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38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工业化加速与理想主义实践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585716" y="5449252"/>
              <a:ext cx="10687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38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1958年掀起高潮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8115300" y="4343400"/>
            <a:ext cx="3467100" cy="2000250"/>
            <a:chOff x="8115300" y="4343400"/>
            <a:chExt cx="3467100" cy="2000250"/>
          </a:xfrm>
        </p:grpSpPr>
        <p:sp>
          <p:nvSpPr>
            <p:cNvPr id="61" name="Rectangle 61"/>
            <p:cNvSpPr/>
            <p:nvPr/>
          </p:nvSpPr>
          <p:spPr>
            <a:xfrm>
              <a:off x="8115300" y="4343400"/>
              <a:ext cx="3467100" cy="2000250"/>
            </a:xfrm>
            <a:prstGeom prst="roundRect">
              <a:avLst>
                <a:gd name="adj" fmla="val 2857"/>
              </a:avLst>
            </a:prstGeom>
            <a:gradFill>
              <a:gsLst>
                <a:gs pos="0">
                  <a:srgbClr val="1A2540"/>
                </a:gs>
                <a:gs pos="100000">
                  <a:srgbClr val="152036"/>
                </a:gs>
              </a:gsLst>
              <a:lin ang="5400000" scaled="1"/>
            </a:gradFill>
            <a:ln w="9525">
              <a:solidFill>
                <a:srgbClr val="2563EB">
                  <a:alpha val="30000"/>
                </a:srgbClr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8115300" y="4343400"/>
              <a:ext cx="34671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78BFA">
                    <a:alpha val="80000"/>
                  </a:srgbClr>
                </a:gs>
                <a:gs pos="100000">
                  <a:srgbClr val="7C3AED">
                    <a:alpha val="80000"/>
                  </a:srgbClr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331708" y="463677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A78BFA"/>
                  </a:solidFill>
                  <a:latin typeface="Consolas"/>
                  <a:ea typeface="Consolas"/>
                  <a:cs typeface="Consolas"/>
                </a:rPr>
                <a:t>06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887968" y="4679632"/>
              <a:ext cx="17099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spc="75" dirty="0">
                  <a:solidFill>
                    <a:srgbClr val="F1F5F9"/>
                  </a:solidFill>
                  <a:latin typeface="Arial"/>
                  <a:ea typeface="Microsoft YaHei"/>
                  <a:cs typeface="Arial"/>
                </a:rPr>
                <a:t>第一次郑州会议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338566" y="5239702"/>
              <a:ext cx="13423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38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着手纠正“左”倾错误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338566" y="5449252"/>
              <a:ext cx="7951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38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1958年11月</a:t>
              </a:r>
            </a:p>
          </p:txBody>
        </p:sp>
      </p:grpSp>
      <p:sp>
        <p:nvSpPr>
          <p:cNvPr id="68" name="Ellipse 68"/>
          <p:cNvSpPr/>
          <p:nvPr/>
        </p:nvSpPr>
        <p:spPr>
          <a:xfrm>
            <a:off x="11601450" y="742950"/>
            <a:ext cx="38100" cy="38100"/>
          </a:xfrm>
          <a:prstGeom prst="ellipse">
            <a:avLst/>
          </a:prstGeom>
          <a:solidFill>
            <a:srgbClr val="38BDF8">
              <a:alpha val="50000"/>
            </a:srgbClr>
          </a:solidFill>
          <a:ln>
            <a:noFill/>
          </a:ln>
        </p:spPr>
      </p:sp>
      <p:sp>
        <p:nvSpPr>
          <p:cNvPr id="69" name="Ellipse 69"/>
          <p:cNvSpPr/>
          <p:nvPr/>
        </p:nvSpPr>
        <p:spPr>
          <a:xfrm>
            <a:off x="11749088" y="890588"/>
            <a:ext cx="28575" cy="28575"/>
          </a:xfrm>
          <a:prstGeom prst="ellipse">
            <a:avLst/>
          </a:prstGeom>
          <a:solidFill>
            <a:srgbClr val="38BDF8">
              <a:alpha val="30000"/>
            </a:srgbClr>
          </a:solidFill>
          <a:ln>
            <a:noFill/>
          </a:ln>
        </p:spPr>
      </p:sp>
      <p:sp>
        <p:nvSpPr>
          <p:cNvPr id="70" name="Ellipse 70"/>
          <p:cNvSpPr/>
          <p:nvPr/>
        </p:nvSpPr>
        <p:spPr>
          <a:xfrm>
            <a:off x="11463338" y="890588"/>
            <a:ext cx="28575" cy="28575"/>
          </a:xfrm>
          <a:prstGeom prst="ellipse">
            <a:avLst/>
          </a:prstGeom>
          <a:solidFill>
            <a:srgbClr val="38BDF8">
              <a:alpha val="30000"/>
            </a:srgbClr>
          </a:solidFill>
          <a:ln>
            <a:noFill/>
          </a:ln>
        </p:spPr>
      </p:sp>
      <p:sp>
        <p:nvSpPr>
          <p:cNvPr id="71" name="Ellipse 71"/>
          <p:cNvSpPr/>
          <p:nvPr/>
        </p:nvSpPr>
        <p:spPr>
          <a:xfrm>
            <a:off x="11601450" y="1028700"/>
            <a:ext cx="38100" cy="38100"/>
          </a:xfrm>
          <a:prstGeom prst="ellipse">
            <a:avLst/>
          </a:prstGeom>
          <a:solidFill>
            <a:srgbClr val="7C3AED">
              <a:alpha val="40000"/>
            </a:srgbClr>
          </a:solidFill>
          <a:ln>
            <a:noFill/>
          </a:ln>
        </p:spPr>
      </p:sp>
      <p:sp>
        <p:nvSpPr>
          <p:cNvPr id="72" name="Line 72"/>
          <p:cNvSpPr/>
          <p:nvPr/>
        </p:nvSpPr>
        <p:spPr>
          <a:xfrm>
            <a:off x="533400" y="65722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1E293B"/>
            </a:solidFill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01530"/>
              </a:gs>
            </a:gsLst>
            <a:lin ang="2700000" scaled="1"/>
          </a:gradFill>
          <a:ln>
            <a:noFill/>
          </a:ln>
        </p:spPr>
      </p:sp>
      <p:grpSp>
        <p:nvGrpSpPr>
          <p:cNvPr id="15" name="Group 1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1E293B">
                  <a:alpha val="40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1E293B">
                  <a:alpha val="40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1E293B">
                  <a:alpha val="40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1E293B">
                  <a:alpha val="40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0" y="571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1E293B">
                  <a:alpha val="40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1E293B">
                  <a:alpha val="40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1E293B">
                  <a:alpha val="40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1E293B">
                  <a:alpha val="40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1E293B">
                  <a:alpha val="40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762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1E293B">
                  <a:alpha val="40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1E293B">
                  <a:alpha val="40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1E293B">
                  <a:alpha val="40000"/>
                </a:srgbClr>
              </a:solidFill>
            </a:ln>
          </p:spPr>
        </p:sp>
      </p:grpSp>
      <p:sp>
        <p:nvSpPr>
          <p:cNvPr id="16" name="Line 16"/>
          <p:cNvSpPr/>
          <p:nvPr/>
        </p:nvSpPr>
        <p:spPr>
          <a:xfrm>
            <a:off x="533400" y="7239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2563EB">
                <a:alpha val="30000"/>
              </a:srgbClr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11179740" y="65922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52637A"/>
                </a:solidFill>
                <a:latin typeface="Consolas"/>
                <a:ea typeface="Consolas"/>
                <a:cs typeface="Consolas"/>
              </a:rPr>
              <a:t>04 / 06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5142" y="597218"/>
            <a:ext cx="220065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spc="300" dirty="0">
                <a:solidFill>
                  <a:srgbClr val="38BDF8"/>
                </a:solidFill>
                <a:latin typeface="Consolas"/>
                <a:ea typeface="Microsoft YaHei"/>
                <a:cs typeface="Consolas"/>
              </a:rPr>
              <a:t>PART IV &gt; 晚年风云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45998" y="898208"/>
            <a:ext cx="4907553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晚年风云（1962—1976）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2856" y="1405890"/>
            <a:ext cx="63185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七千人大会、文化大革命、林彪事件、中美缓和与时代终章</a:t>
            </a:r>
          </a:p>
        </p:txBody>
      </p:sp>
      <p:sp>
        <p:nvSpPr>
          <p:cNvPr id="21" name="Line 21"/>
          <p:cNvSpPr/>
          <p:nvPr/>
        </p:nvSpPr>
        <p:spPr>
          <a:xfrm>
            <a:off x="1143000" y="323850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19050">
            <a:gradFill>
              <a:gsLst>
                <a:gs pos="0">
                  <a:srgbClr val="2563EB">
                    <a:alpha val="50000"/>
                  </a:srgbClr>
                </a:gs>
                <a:gs pos="50000">
                  <a:srgbClr val="38BDF8">
                    <a:alpha val="50000"/>
                  </a:srgbClr>
                </a:gs>
                <a:gs pos="100000">
                  <a:srgbClr val="7C3AED">
                    <a:alpha val="50000"/>
                  </a:srgbClr>
                </a:gs>
              </a:gsLst>
              <a:lin ang="0" scaled="1"/>
            </a:gradFill>
          </a:ln>
        </p:spPr>
      </p:sp>
      <p:sp>
        <p:nvSpPr>
          <p:cNvPr id="22" name="Ellipse 22"/>
          <p:cNvSpPr/>
          <p:nvPr/>
        </p:nvSpPr>
        <p:spPr>
          <a:xfrm>
            <a:off x="2038350" y="3181350"/>
            <a:ext cx="114300" cy="1143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3" name="Ellipse 23"/>
          <p:cNvSpPr/>
          <p:nvPr/>
        </p:nvSpPr>
        <p:spPr>
          <a:xfrm>
            <a:off x="1962150" y="3105150"/>
            <a:ext cx="266700" cy="266700"/>
          </a:xfrm>
          <a:prstGeom prst="ellipse">
            <a:avLst/>
          </a:prstGeom>
          <a:noFill/>
          <a:ln w="9525">
            <a:solidFill>
              <a:srgbClr val="2563EB">
                <a:alpha val="40000"/>
              </a:srgbClr>
            </a:solidFill>
          </a:ln>
        </p:spPr>
      </p:sp>
      <p:sp>
        <p:nvSpPr>
          <p:cNvPr id="24" name="Line 24"/>
          <p:cNvSpPr/>
          <p:nvPr/>
        </p:nvSpPr>
        <p:spPr>
          <a:xfrm>
            <a:off x="2095500" y="2667000"/>
            <a:ext cx="9525" cy="514350"/>
          </a:xfrm>
          <a:custGeom>
            <a:avLst/>
            <a:gdLst/>
            <a:ahLst/>
            <a:cxnLst/>
            <a:rect l="l" t="t" r="r" b="b"/>
            <a:pathLst>
              <a:path w="9525" h="514350">
                <a:moveTo>
                  <a:pt x="0" y="51435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2563EB">
                <a:alpha val="50000"/>
              </a:srgbClr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1934680" y="2458402"/>
            <a:ext cx="32164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1962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692235" y="1783556"/>
            <a:ext cx="80652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七千人大会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666684" y="3712845"/>
            <a:ext cx="85763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总结大跃进教训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727264" y="3884295"/>
            <a:ext cx="7364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调整经济方针</a:t>
            </a:r>
          </a:p>
        </p:txBody>
      </p:sp>
      <p:sp>
        <p:nvSpPr>
          <p:cNvPr id="29" name="Ellipse 29"/>
          <p:cNvSpPr/>
          <p:nvPr/>
        </p:nvSpPr>
        <p:spPr>
          <a:xfrm>
            <a:off x="3562350" y="3181350"/>
            <a:ext cx="114300" cy="1143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30" name="Ellipse 30"/>
          <p:cNvSpPr/>
          <p:nvPr/>
        </p:nvSpPr>
        <p:spPr>
          <a:xfrm>
            <a:off x="3486150" y="3105150"/>
            <a:ext cx="266700" cy="266700"/>
          </a:xfrm>
          <a:prstGeom prst="ellipse">
            <a:avLst/>
          </a:prstGeom>
          <a:noFill/>
          <a:ln w="9525">
            <a:solidFill>
              <a:srgbClr val="7C3AED">
                <a:alpha val="40000"/>
              </a:srgbClr>
            </a:solidFill>
          </a:ln>
        </p:spPr>
      </p:sp>
      <p:sp>
        <p:nvSpPr>
          <p:cNvPr id="31" name="Line 31"/>
          <p:cNvSpPr/>
          <p:nvPr/>
        </p:nvSpPr>
        <p:spPr>
          <a:xfrm>
            <a:off x="3619500" y="3295650"/>
            <a:ext cx="9525" cy="514350"/>
          </a:xfrm>
          <a:custGeom>
            <a:avLst/>
            <a:gdLst/>
            <a:ahLst/>
            <a:cxnLst/>
            <a:rect l="l" t="t" r="r" b="b"/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/>
          <a:ln w="9525">
            <a:solidFill>
              <a:srgbClr val="7C3AED">
                <a:alpha val="50000"/>
              </a:srgbClr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3458680" y="3963352"/>
            <a:ext cx="32164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7C3AED"/>
                </a:solidFill>
                <a:latin typeface="Consolas"/>
                <a:ea typeface="Consolas"/>
                <a:cs typeface="Consolas"/>
              </a:rPr>
              <a:t>1966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057215" y="4336256"/>
            <a:ext cx="112456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文化大革命发动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190684" y="4855845"/>
            <a:ext cx="85763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解放军介入支持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311842" y="5027295"/>
            <a:ext cx="61531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造反派夺权</a:t>
            </a:r>
          </a:p>
        </p:txBody>
      </p:sp>
      <p:sp>
        <p:nvSpPr>
          <p:cNvPr id="36" name="Ellipse 36"/>
          <p:cNvSpPr/>
          <p:nvPr/>
        </p:nvSpPr>
        <p:spPr>
          <a:xfrm>
            <a:off x="5257800" y="3162300"/>
            <a:ext cx="152400" cy="1524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37" name="Ellipse 37"/>
          <p:cNvSpPr/>
          <p:nvPr/>
        </p:nvSpPr>
        <p:spPr>
          <a:xfrm>
            <a:off x="5162550" y="3067050"/>
            <a:ext cx="342900" cy="342900"/>
          </a:xfrm>
          <a:prstGeom prst="ellipse">
            <a:avLst/>
          </a:prstGeom>
          <a:noFill/>
          <a:ln w="14288">
            <a:solidFill>
              <a:srgbClr val="EF4444">
                <a:alpha val="50000"/>
              </a:srgbClr>
            </a:solidFill>
          </a:ln>
        </p:spPr>
      </p:sp>
      <p:sp>
        <p:nvSpPr>
          <p:cNvPr id="38" name="Line 38"/>
          <p:cNvSpPr/>
          <p:nvPr/>
        </p:nvSpPr>
        <p:spPr>
          <a:xfrm>
            <a:off x="5334000" y="2667000"/>
            <a:ext cx="9525" cy="514350"/>
          </a:xfrm>
          <a:custGeom>
            <a:avLst/>
            <a:gdLst/>
            <a:ahLst/>
            <a:cxnLst/>
            <a:rect l="l" t="t" r="r" b="b"/>
            <a:pathLst>
              <a:path w="9525" h="514350">
                <a:moveTo>
                  <a:pt x="0" y="51435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EF4444">
                <a:alpha val="50000"/>
              </a:srgbClr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5173180" y="2458402"/>
            <a:ext cx="32164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1971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010245" y="1783556"/>
            <a:ext cx="64751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林彪事件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784026" y="3712845"/>
            <a:ext cx="109994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密谋未遂，坠机身亡</a:t>
            </a:r>
          </a:p>
        </p:txBody>
      </p:sp>
      <p:sp>
        <p:nvSpPr>
          <p:cNvPr id="42" name="Ellipse 42"/>
          <p:cNvSpPr/>
          <p:nvPr/>
        </p:nvSpPr>
        <p:spPr>
          <a:xfrm>
            <a:off x="6991350" y="3181350"/>
            <a:ext cx="114300" cy="1143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43" name="Ellipse 43"/>
          <p:cNvSpPr/>
          <p:nvPr/>
        </p:nvSpPr>
        <p:spPr>
          <a:xfrm>
            <a:off x="6915150" y="3105150"/>
            <a:ext cx="266700" cy="266700"/>
          </a:xfrm>
          <a:prstGeom prst="ellipse">
            <a:avLst/>
          </a:prstGeom>
          <a:noFill/>
          <a:ln w="9525">
            <a:solidFill>
              <a:srgbClr val="38BDF8">
                <a:alpha val="40000"/>
              </a:srgbClr>
            </a:solidFill>
          </a:ln>
        </p:spPr>
      </p:sp>
      <p:sp>
        <p:nvSpPr>
          <p:cNvPr id="44" name="Line 44"/>
          <p:cNvSpPr/>
          <p:nvPr/>
        </p:nvSpPr>
        <p:spPr>
          <a:xfrm>
            <a:off x="7048500" y="3295650"/>
            <a:ext cx="9525" cy="514350"/>
          </a:xfrm>
          <a:custGeom>
            <a:avLst/>
            <a:gdLst/>
            <a:ahLst/>
            <a:cxnLst/>
            <a:rect l="l" t="t" r="r" b="b"/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/>
          <a:ln w="9525">
            <a:solidFill>
              <a:srgbClr val="38BDF8">
                <a:alpha val="50000"/>
              </a:srgbClr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6887680" y="3963352"/>
            <a:ext cx="32164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1972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645235" y="4336256"/>
            <a:ext cx="80652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尼克松访华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680264" y="4855845"/>
            <a:ext cx="7364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中美关系破冰</a:t>
            </a:r>
          </a:p>
        </p:txBody>
      </p:sp>
      <p:sp>
        <p:nvSpPr>
          <p:cNvPr id="48" name="Ellipse 48"/>
          <p:cNvSpPr/>
          <p:nvPr/>
        </p:nvSpPr>
        <p:spPr>
          <a:xfrm>
            <a:off x="8705850" y="3181350"/>
            <a:ext cx="114300" cy="1143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9" name="Ellipse 49"/>
          <p:cNvSpPr/>
          <p:nvPr/>
        </p:nvSpPr>
        <p:spPr>
          <a:xfrm>
            <a:off x="8629650" y="3105150"/>
            <a:ext cx="266700" cy="266700"/>
          </a:xfrm>
          <a:prstGeom prst="ellipse">
            <a:avLst/>
          </a:prstGeom>
          <a:noFill/>
          <a:ln w="9525">
            <a:solidFill>
              <a:srgbClr val="2563EB">
                <a:alpha val="40000"/>
              </a:srgbClr>
            </a:solidFill>
          </a:ln>
        </p:spPr>
      </p:sp>
      <p:sp>
        <p:nvSpPr>
          <p:cNvPr id="50" name="Line 50"/>
          <p:cNvSpPr/>
          <p:nvPr/>
        </p:nvSpPr>
        <p:spPr>
          <a:xfrm>
            <a:off x="8763000" y="2667000"/>
            <a:ext cx="9525" cy="514350"/>
          </a:xfrm>
          <a:custGeom>
            <a:avLst/>
            <a:gdLst/>
            <a:ahLst/>
            <a:cxnLst/>
            <a:rect l="l" t="t" r="r" b="b"/>
            <a:pathLst>
              <a:path w="9525" h="514350">
                <a:moveTo>
                  <a:pt x="0" y="51435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2563EB">
                <a:alpha val="50000"/>
              </a:srgbClr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8602180" y="2458402"/>
            <a:ext cx="32164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1973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359735" y="1783556"/>
            <a:ext cx="80652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邓小平复出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213026" y="3712845"/>
            <a:ext cx="109994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因路线分歧再遭批判</a:t>
            </a:r>
          </a:p>
        </p:txBody>
      </p:sp>
      <p:sp>
        <p:nvSpPr>
          <p:cNvPr id="54" name="Ellipse 54"/>
          <p:cNvSpPr/>
          <p:nvPr/>
        </p:nvSpPr>
        <p:spPr>
          <a:xfrm>
            <a:off x="10220325" y="3171825"/>
            <a:ext cx="133350" cy="1333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5" name="Ellipse 55"/>
          <p:cNvSpPr/>
          <p:nvPr/>
        </p:nvSpPr>
        <p:spPr>
          <a:xfrm>
            <a:off x="10134600" y="3086100"/>
            <a:ext cx="304800" cy="304800"/>
          </a:xfrm>
          <a:prstGeom prst="ellipse">
            <a:avLst/>
          </a:prstGeom>
          <a:noFill/>
          <a:ln w="14288">
            <a:solidFill>
              <a:srgbClr val="FFFFFF">
                <a:alpha val="60000"/>
              </a:srgbClr>
            </a:solidFill>
          </a:ln>
        </p:spPr>
      </p:sp>
      <p:sp>
        <p:nvSpPr>
          <p:cNvPr id="56" name="Ellipse 56"/>
          <p:cNvSpPr/>
          <p:nvPr/>
        </p:nvSpPr>
        <p:spPr>
          <a:xfrm>
            <a:off x="10058400" y="3009900"/>
            <a:ext cx="457200" cy="457200"/>
          </a:xfrm>
          <a:prstGeom prst="ellipse">
            <a:avLst/>
          </a:prstGeom>
          <a:noFill/>
          <a:ln w="4762">
            <a:solidFill>
              <a:srgbClr val="FFFFFF">
                <a:alpha val="20000"/>
              </a:srgbClr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10126180" y="3601402"/>
            <a:ext cx="32164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1976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898494" y="39500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时代终章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9953911" y="4466749"/>
            <a:ext cx="66617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毛泽东逝世</a:t>
            </a:r>
          </a:p>
        </p:txBody>
      </p:sp>
      <p:sp>
        <p:nvSpPr>
          <p:cNvPr id="60" name="Polygon 60"/>
          <p:cNvSpPr/>
          <p:nvPr/>
        </p:nvSpPr>
        <p:spPr>
          <a:xfrm>
            <a:off x="762000" y="5524500"/>
            <a:ext cx="381000" cy="457200"/>
          </a:xfrm>
          <a:custGeom>
            <a:avLst/>
            <a:gdLst/>
            <a:ahLst/>
            <a:cxnLst/>
            <a:rect l="l" t="t" r="r" b="b"/>
            <a:pathLst>
              <a:path w="381000" h="457200">
                <a:moveTo>
                  <a:pt x="190500" y="0"/>
                </a:moveTo>
                <a:lnTo>
                  <a:pt x="381000" y="114300"/>
                </a:lnTo>
                <a:lnTo>
                  <a:pt x="381000" y="342900"/>
                </a:lnTo>
                <a:lnTo>
                  <a:pt x="190500" y="457200"/>
                </a:lnTo>
                <a:lnTo>
                  <a:pt x="0" y="342900"/>
                </a:lnTo>
                <a:lnTo>
                  <a:pt x="0" y="114300"/>
                </a:lnTo>
                <a:close/>
              </a:path>
            </a:pathLst>
          </a:custGeom>
          <a:noFill/>
          <a:ln w="9525">
            <a:solidFill>
              <a:srgbClr val="38BDF8">
                <a:alpha val="15000"/>
              </a:srgbClr>
            </a:solidFill>
          </a:ln>
        </p:spPr>
      </p:sp>
      <p:sp>
        <p:nvSpPr>
          <p:cNvPr id="61" name="Polygon 61"/>
          <p:cNvSpPr/>
          <p:nvPr/>
        </p:nvSpPr>
        <p:spPr>
          <a:xfrm>
            <a:off x="1238250" y="5810250"/>
            <a:ext cx="228600" cy="266700"/>
          </a:xfrm>
          <a:custGeom>
            <a:avLst/>
            <a:gdLst/>
            <a:ahLst/>
            <a:cxnLst/>
            <a:rect l="l" t="t" r="r" b="b"/>
            <a:pathLst>
              <a:path w="228600" h="266700">
                <a:moveTo>
                  <a:pt x="114300" y="0"/>
                </a:moveTo>
                <a:lnTo>
                  <a:pt x="228600" y="66675"/>
                </a:lnTo>
                <a:lnTo>
                  <a:pt x="228600" y="200025"/>
                </a:lnTo>
                <a:lnTo>
                  <a:pt x="114300" y="266700"/>
                </a:lnTo>
                <a:lnTo>
                  <a:pt x="0" y="200025"/>
                </a:lnTo>
                <a:lnTo>
                  <a:pt x="0" y="66675"/>
                </a:lnTo>
                <a:close/>
              </a:path>
            </a:pathLst>
          </a:custGeom>
          <a:noFill/>
          <a:ln w="9525">
            <a:solidFill>
              <a:srgbClr val="38BDF8">
                <a:alpha val="10000"/>
              </a:srgbClr>
            </a:solidFill>
          </a:ln>
        </p:spPr>
      </p:sp>
      <p:sp>
        <p:nvSpPr>
          <p:cNvPr id="62" name="TextBox 62"/>
          <p:cNvSpPr txBox="1"/>
          <p:nvPr/>
        </p:nvSpPr>
        <p:spPr>
          <a:xfrm>
            <a:off x="757238" y="6254591"/>
            <a:ext cx="113179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spc="150" dirty="0">
                <a:solidFill>
                  <a:srgbClr val="52637A"/>
                </a:solidFill>
                <a:latin typeface="Consolas"/>
                <a:ea typeface="Consolas"/>
                <a:cs typeface="Consolas"/>
              </a:rPr>
              <a:t>EVIDENCE TRACE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2662238" y="6246495"/>
            <a:ext cx="775757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1962年七千人大会总结教训 → 1967年军队介入文革 → 1971年林彪坠机温都尔汗 → 1972年尼克松与毛泽东握手 → 1973年邓小平复出 → 1976年逝世</a:t>
            </a:r>
          </a:p>
        </p:txBody>
      </p:sp>
      <p:sp>
        <p:nvSpPr>
          <p:cNvPr id="64" name="Rectangle 64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gradFill>
            <a:gsLst>
              <a:gs pos="0">
                <a:srgbClr val="38BDF8">
                  <a:alpha val="2400"/>
                </a:srgbClr>
              </a:gs>
              <a:gs pos="100000">
                <a:srgbClr val="38BDF8">
                  <a:alpha val="0"/>
                </a:srgbClr>
              </a:gs>
            </a:gsLst>
            <a:lin ang="540000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0F1E"/>
              </a:gs>
              <a:gs pos="100000">
                <a:srgbClr val="121926"/>
              </a:gs>
            </a:gsLst>
            <a:lin ang="5400000" scaled="1"/>
          </a:gradFill>
          <a:ln>
            <a:noFill/>
          </a:ln>
        </p:spPr>
      </p:sp>
      <p:grpSp>
        <p:nvGrpSpPr>
          <p:cNvPr id="35" name="Group 3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0" y="381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76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152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0" y="190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0" y="2667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0" y="3810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0" y="4191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0" y="495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0" y="533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0" y="571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0" y="6477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76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228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381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533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685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762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838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990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1143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6000"/>
                </a:srgbClr>
              </a:solidFill>
            </a:ln>
          </p:spPr>
        </p:sp>
      </p:grpSp>
      <p:sp>
        <p:nvSpPr>
          <p:cNvPr id="36" name="Rectangle 36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gradFill>
            <a:gsLst>
              <a:gs pos="0">
                <a:srgbClr val="38BDF8">
                  <a:alpha val="0"/>
                </a:srgbClr>
              </a:gs>
              <a:gs pos="40000">
                <a:srgbClr val="38BDF8">
                  <a:alpha val="35000"/>
                </a:srgbClr>
              </a:gs>
              <a:gs pos="100000">
                <a:srgbClr val="38BDF8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39" name="Group 39"/>
          <p:cNvGrpSpPr/>
          <p:nvPr/>
        </p:nvGrpSpPr>
        <p:grpSpPr>
          <a:xfrm>
            <a:off x="723900" y="457200"/>
            <a:ext cx="266700" cy="304800"/>
            <a:chOff x="723900" y="457200"/>
            <a:chExt cx="266700" cy="304800"/>
          </a:xfrm>
        </p:grpSpPr>
        <p:sp>
          <p:nvSpPr>
            <p:cNvPr id="37" name="Polygon 37"/>
            <p:cNvSpPr/>
            <p:nvPr/>
          </p:nvSpPr>
          <p:spPr>
            <a:xfrm>
              <a:off x="838200" y="4572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38100"/>
                  </a:moveTo>
                  <a:lnTo>
                    <a:pt x="76200" y="0"/>
                  </a:lnTo>
                  <a:lnTo>
                    <a:pt x="152400" y="38100"/>
                  </a:lnTo>
                  <a:lnTo>
                    <a:pt x="152400" y="114300"/>
                  </a:lnTo>
                  <a:lnTo>
                    <a:pt x="76200" y="152400"/>
                  </a:lnTo>
                  <a:lnTo>
                    <a:pt x="0" y="114300"/>
                  </a:lnTo>
                  <a:close/>
                </a:path>
              </a:pathLst>
            </a:custGeom>
            <a:noFill/>
            <a:ln w="14288">
              <a:solidFill>
                <a:srgbClr val="38BDF8">
                  <a:alpha val="15000"/>
                </a:srgbClr>
              </a:solidFill>
            </a:ln>
          </p:spPr>
        </p:sp>
        <p:sp>
          <p:nvSpPr>
            <p:cNvPr id="38" name="Polygon 38"/>
            <p:cNvSpPr/>
            <p:nvPr/>
          </p:nvSpPr>
          <p:spPr>
            <a:xfrm>
              <a:off x="723900" y="6096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38100"/>
                  </a:moveTo>
                  <a:lnTo>
                    <a:pt x="76200" y="0"/>
                  </a:lnTo>
                  <a:lnTo>
                    <a:pt x="152400" y="38100"/>
                  </a:lnTo>
                  <a:lnTo>
                    <a:pt x="152400" y="114300"/>
                  </a:lnTo>
                  <a:lnTo>
                    <a:pt x="76200" y="152400"/>
                  </a:lnTo>
                  <a:lnTo>
                    <a:pt x="0" y="114300"/>
                  </a:lnTo>
                  <a:close/>
                </a:path>
              </a:pathLst>
            </a:custGeom>
            <a:noFill/>
            <a:ln w="9525">
              <a:solidFill>
                <a:srgbClr val="38BDF8">
                  <a:alpha val="15000"/>
                </a:srgbClr>
              </a:solidFill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11239500" y="457200"/>
            <a:ext cx="266700" cy="304800"/>
            <a:chOff x="11239500" y="457200"/>
            <a:chExt cx="266700" cy="304800"/>
          </a:xfrm>
        </p:grpSpPr>
        <p:sp>
          <p:nvSpPr>
            <p:cNvPr id="40" name="Polygon 40"/>
            <p:cNvSpPr/>
            <p:nvPr/>
          </p:nvSpPr>
          <p:spPr>
            <a:xfrm>
              <a:off x="11353800" y="4572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38100"/>
                  </a:moveTo>
                  <a:lnTo>
                    <a:pt x="76200" y="0"/>
                  </a:lnTo>
                  <a:lnTo>
                    <a:pt x="152400" y="38100"/>
                  </a:lnTo>
                  <a:lnTo>
                    <a:pt x="152400" y="114300"/>
                  </a:lnTo>
                  <a:lnTo>
                    <a:pt x="76200" y="152400"/>
                  </a:lnTo>
                  <a:lnTo>
                    <a:pt x="0" y="114300"/>
                  </a:lnTo>
                  <a:close/>
                </a:path>
              </a:pathLst>
            </a:custGeom>
            <a:noFill/>
            <a:ln w="14288">
              <a:solidFill>
                <a:srgbClr val="38BDF8">
                  <a:alpha val="15000"/>
                </a:srgbClr>
              </a:solidFill>
            </a:ln>
          </p:spPr>
        </p:sp>
        <p:sp>
          <p:nvSpPr>
            <p:cNvPr id="41" name="Polygon 41"/>
            <p:cNvSpPr/>
            <p:nvPr/>
          </p:nvSpPr>
          <p:spPr>
            <a:xfrm>
              <a:off x="11239500" y="6096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38100"/>
                  </a:moveTo>
                  <a:lnTo>
                    <a:pt x="76200" y="0"/>
                  </a:lnTo>
                  <a:lnTo>
                    <a:pt x="152400" y="38100"/>
                  </a:lnTo>
                  <a:lnTo>
                    <a:pt x="152400" y="114300"/>
                  </a:lnTo>
                  <a:lnTo>
                    <a:pt x="76200" y="152400"/>
                  </a:lnTo>
                  <a:lnTo>
                    <a:pt x="0" y="114300"/>
                  </a:lnTo>
                  <a:close/>
                </a:path>
              </a:pathLst>
            </a:custGeom>
            <a:noFill/>
            <a:ln w="9525">
              <a:solidFill>
                <a:srgbClr val="38BDF8">
                  <a:alpha val="15000"/>
                </a:srgbClr>
              </a:solidFill>
            </a:ln>
          </p:spPr>
        </p:sp>
      </p:grpSp>
      <p:sp>
        <p:nvSpPr>
          <p:cNvPr id="43" name="TextBox 43"/>
          <p:cNvSpPr txBox="1"/>
          <p:nvPr/>
        </p:nvSpPr>
        <p:spPr>
          <a:xfrm>
            <a:off x="896112" y="392430"/>
            <a:ext cx="4337685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spc="4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思想、笔触与家人</a:t>
            </a:r>
          </a:p>
        </p:txBody>
      </p:sp>
      <p:sp>
        <p:nvSpPr>
          <p:cNvPr id="44" name="Rectangle 44"/>
          <p:cNvSpPr/>
          <p:nvPr/>
        </p:nvSpPr>
        <p:spPr>
          <a:xfrm>
            <a:off x="914400" y="971550"/>
            <a:ext cx="1524000" cy="190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8BDF8">
                  <a:alpha val="0"/>
                </a:srgbClr>
              </a:gs>
              <a:gs pos="40000">
                <a:srgbClr val="38BDF8">
                  <a:alpha val="55999"/>
                </a:srgbClr>
              </a:gs>
              <a:gs pos="100000">
                <a:srgbClr val="38BDF8">
                  <a:alpha val="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726567" y="942975"/>
            <a:ext cx="48600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spc="225" dirty="0">
                <a:solidFill>
                  <a:srgbClr val="B0C8E0"/>
                </a:solidFill>
                <a:latin typeface="Arial"/>
                <a:ea typeface="Microsoft YaHei"/>
                <a:cs typeface="Arial"/>
              </a:rPr>
              <a:t>从理论体系到诗词情怀，走近毛泽东的思想世界与家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26567" y="1140143"/>
            <a:ext cx="61950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spc="225" dirty="0">
                <a:solidFill>
                  <a:srgbClr val="B0C8E0"/>
                </a:solidFill>
                <a:latin typeface="Arial"/>
                <a:ea typeface="Microsoft YaHei"/>
                <a:cs typeface="Arial"/>
              </a:rPr>
              <a:t>庭侧面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266700" y="266700"/>
            <a:ext cx="533400" cy="533400"/>
            <a:chOff x="266700" y="266700"/>
            <a:chExt cx="533400" cy="533400"/>
          </a:xfrm>
        </p:grpSpPr>
        <p:sp>
          <p:nvSpPr>
            <p:cNvPr id="47" name="Ellipse 47"/>
            <p:cNvSpPr/>
            <p:nvPr/>
          </p:nvSpPr>
          <p:spPr>
            <a:xfrm>
              <a:off x="342900" y="342900"/>
              <a:ext cx="381000" cy="381000"/>
            </a:xfrm>
            <a:prstGeom prst="ellipse">
              <a:avLst/>
            </a:prstGeom>
            <a:noFill/>
            <a:ln w="7620">
              <a:solidFill>
                <a:srgbClr val="38BDF8">
                  <a:alpha val="12000"/>
                </a:srgbClr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266700" y="266700"/>
              <a:ext cx="533400" cy="533400"/>
            </a:xfrm>
            <a:prstGeom prst="ellipse">
              <a:avLst/>
            </a:prstGeom>
            <a:noFill/>
            <a:ln w="3810">
              <a:solidFill>
                <a:srgbClr val="38BDF8">
                  <a:alpha val="12000"/>
                </a:srgbClr>
              </a:solidFill>
            </a:ln>
          </p:spPr>
        </p:sp>
      </p:grpSp>
      <p:grpSp>
        <p:nvGrpSpPr>
          <p:cNvPr id="62" name="Group 62"/>
          <p:cNvGrpSpPr/>
          <p:nvPr/>
        </p:nvGrpSpPr>
        <p:grpSpPr>
          <a:xfrm>
            <a:off x="533400" y="1600200"/>
            <a:ext cx="3524250" cy="2286000"/>
            <a:chOff x="533400" y="1600200"/>
            <a:chExt cx="3524250" cy="2286000"/>
          </a:xfrm>
        </p:grpSpPr>
        <p:sp>
          <p:nvSpPr>
            <p:cNvPr id="50" name="Rectangle 50"/>
            <p:cNvSpPr/>
            <p:nvPr/>
          </p:nvSpPr>
          <p:spPr>
            <a:xfrm>
              <a:off x="533400" y="1600200"/>
              <a:ext cx="3524250" cy="2286000"/>
            </a:xfrm>
            <a:prstGeom prst="roundRect">
              <a:avLst>
                <a:gd name="adj" fmla="val 2500"/>
              </a:avLst>
            </a:prstGeom>
            <a:gradFill>
              <a:gsLst>
                <a:gs pos="0">
                  <a:srgbClr val="1A2740"/>
                </a:gs>
                <a:gs pos="100000">
                  <a:srgbClr val="152035"/>
                </a:gs>
              </a:gsLst>
              <a:lin ang="2700000" scaled="1"/>
            </a:gradFill>
            <a:ln w="9525">
              <a:solidFill>
                <a:srgbClr val="263A55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533400" y="1600200"/>
              <a:ext cx="352425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8BDF8">
                    <a:alpha val="18000"/>
                  </a:srgbClr>
                </a:gs>
                <a:gs pos="100000">
                  <a:srgbClr val="38BDF8">
                    <a:alpha val="3000"/>
                  </a:srgbClr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762000" y="1771650"/>
              <a:ext cx="38100" cy="152400"/>
            </a:xfrm>
            <a:prstGeom prst="roundRect">
              <a:avLst>
                <a:gd name="adj" fmla="val 50000"/>
              </a:avLst>
            </a:prstGeom>
            <a:solidFill>
              <a:srgbClr val="38BDF8">
                <a:alpha val="90000"/>
              </a:srgbClr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70585" y="1802606"/>
              <a:ext cx="18223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spc="300" dirty="0">
                  <a:solidFill>
                    <a:srgbClr val="38BDF8"/>
                  </a:solidFill>
                  <a:latin typeface="Consolas"/>
                  <a:ea typeface="Consolas"/>
                  <a:cs typeface="Consolas"/>
                </a:rPr>
                <a:t>THOUGHT SYSTEM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52856" y="205359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毛泽东思想的体系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762000" y="2381250"/>
              <a:ext cx="2762250" cy="9525"/>
            </a:xfrm>
            <a:custGeom>
              <a:avLst/>
              <a:gdLst/>
              <a:ahLst/>
              <a:cxnLst/>
              <a:rect l="l" t="t" r="r" b="b"/>
              <a:pathLst>
                <a:path w="2762250" h="9525">
                  <a:moveTo>
                    <a:pt x="0" y="0"/>
                  </a:moveTo>
                  <a:lnTo>
                    <a:pt x="2762250" y="0"/>
                  </a:lnTo>
                </a:path>
              </a:pathLst>
            </a:custGeom>
            <a:noFill/>
            <a:ln w="7620">
              <a:solidFill>
                <a:srgbClr val="263A55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56285" y="2488406"/>
              <a:ext cx="15486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C8D6E5"/>
                  </a:solidFill>
                  <a:latin typeface="Arial"/>
                  <a:ea typeface="Microsoft YaHei"/>
                  <a:cs typeface="Arial"/>
                </a:rPr>
                <a:t>新民主主义 · 群众路线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56285" y="2697956"/>
              <a:ext cx="13971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C8D6E5"/>
                  </a:solidFill>
                  <a:latin typeface="Arial"/>
                  <a:ea typeface="Microsoft YaHei"/>
                  <a:cs typeface="Arial"/>
                </a:rPr>
                <a:t>统一战线 · 人民战争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56285" y="2907506"/>
              <a:ext cx="13971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C8D6E5"/>
                  </a:solidFill>
                  <a:latin typeface="Arial"/>
                  <a:ea typeface="Microsoft YaHei"/>
                  <a:cs typeface="Arial"/>
                </a:rPr>
                <a:t>实事求是 · 独立自主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57047" y="3171349"/>
              <a:ext cx="11911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A8FA6"/>
                  </a:solidFill>
                  <a:latin typeface="Arial"/>
                  <a:ea typeface="Microsoft YaHei"/>
                  <a:cs typeface="Arial"/>
                </a:rPr>
                <a:t>中共七大正式确立为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57047" y="3361849"/>
              <a:ext cx="7974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A8FA6"/>
                  </a:solidFill>
                  <a:latin typeface="Arial"/>
                  <a:ea typeface="Microsoft YaHei"/>
                  <a:cs typeface="Arial"/>
                </a:rPr>
                <a:t>党的指导思想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76275" y="3705225"/>
              <a:ext cx="57150" cy="57150"/>
            </a:xfrm>
            <a:prstGeom prst="ellipse">
              <a:avLst/>
            </a:prstGeom>
            <a:solidFill>
              <a:srgbClr val="38BDF8">
                <a:alpha val="30000"/>
              </a:srgbClr>
            </a:solidFill>
            <a:ln>
              <a:noFill/>
            </a:ln>
          </p:spPr>
        </p:sp>
      </p:grpSp>
      <p:grpSp>
        <p:nvGrpSpPr>
          <p:cNvPr id="75" name="Group 75"/>
          <p:cNvGrpSpPr/>
          <p:nvPr/>
        </p:nvGrpSpPr>
        <p:grpSpPr>
          <a:xfrm>
            <a:off x="4333875" y="1600200"/>
            <a:ext cx="3524250" cy="2286000"/>
            <a:chOff x="4333875" y="1600200"/>
            <a:chExt cx="3524250" cy="2286000"/>
          </a:xfrm>
        </p:grpSpPr>
        <p:sp>
          <p:nvSpPr>
            <p:cNvPr id="63" name="Rectangle 63"/>
            <p:cNvSpPr/>
            <p:nvPr/>
          </p:nvSpPr>
          <p:spPr>
            <a:xfrm>
              <a:off x="4333875" y="1600200"/>
              <a:ext cx="3524250" cy="2286000"/>
            </a:xfrm>
            <a:prstGeom prst="roundRect">
              <a:avLst>
                <a:gd name="adj" fmla="val 2500"/>
              </a:avLst>
            </a:prstGeom>
            <a:gradFill>
              <a:gsLst>
                <a:gs pos="0">
                  <a:srgbClr val="1A2A40"/>
                </a:gs>
                <a:gs pos="100000">
                  <a:srgbClr val="152838"/>
                </a:gs>
              </a:gsLst>
              <a:lin ang="2700000" scaled="1"/>
            </a:gradFill>
            <a:ln w="9525">
              <a:solidFill>
                <a:srgbClr val="2A3F55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4333875" y="1600200"/>
              <a:ext cx="352425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7C3AED">
                    <a:alpha val="15000"/>
                  </a:srgbClr>
                </a:gs>
                <a:gs pos="100000">
                  <a:srgbClr val="7C3AED">
                    <a:alpha val="3000"/>
                  </a:srgbClr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4562475" y="1771650"/>
              <a:ext cx="38100" cy="152400"/>
            </a:xfrm>
            <a:prstGeom prst="roundRect">
              <a:avLst>
                <a:gd name="adj" fmla="val 50000"/>
              </a:avLst>
            </a:prstGeom>
            <a:solidFill>
              <a:srgbClr val="7C3AED">
                <a:alpha val="90000"/>
              </a:srgbClr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4671060" y="1802606"/>
              <a:ext cx="16516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spc="300" dirty="0">
                  <a:solidFill>
                    <a:srgbClr val="7C3AED"/>
                  </a:solidFill>
                  <a:latin typeface="Consolas"/>
                  <a:ea typeface="Consolas"/>
                  <a:cs typeface="Consolas"/>
                </a:rPr>
                <a:t>CLASSIC WORKS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553331" y="205359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经典著作与语录</a:t>
              </a:r>
            </a:p>
          </p:txBody>
        </p:sp>
        <p:sp>
          <p:nvSpPr>
            <p:cNvPr id="68" name="Line 68"/>
            <p:cNvSpPr/>
            <p:nvPr/>
          </p:nvSpPr>
          <p:spPr>
            <a:xfrm>
              <a:off x="4562475" y="2381250"/>
              <a:ext cx="2762250" cy="9525"/>
            </a:xfrm>
            <a:custGeom>
              <a:avLst/>
              <a:gdLst/>
              <a:ahLst/>
              <a:cxnLst/>
              <a:rect l="l" t="t" r="r" b="b"/>
              <a:pathLst>
                <a:path w="2762250" h="9525">
                  <a:moveTo>
                    <a:pt x="0" y="0"/>
                  </a:moveTo>
                  <a:lnTo>
                    <a:pt x="2762250" y="0"/>
                  </a:lnTo>
                </a:path>
              </a:pathLst>
            </a:custGeom>
            <a:noFill/>
            <a:ln w="7620">
              <a:solidFill>
                <a:srgbClr val="2A3F55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4556760" y="2488406"/>
              <a:ext cx="17227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C8D6E5"/>
                  </a:solidFill>
                  <a:latin typeface="Arial"/>
                  <a:ea typeface="Microsoft YaHei"/>
                  <a:cs typeface="Arial"/>
                </a:rPr>
                <a:t>《新民主主义论》(1940)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4556760" y="2697956"/>
              <a:ext cx="15713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C8D6E5"/>
                  </a:solidFill>
                  <a:latin typeface="Arial"/>
                  <a:ea typeface="Microsoft YaHei"/>
                  <a:cs typeface="Arial"/>
                </a:rPr>
                <a:t>《论联合政府》(1945)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4556760" y="2907506"/>
              <a:ext cx="92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C8D6E5"/>
                  </a:solidFill>
                  <a:latin typeface="Arial"/>
                  <a:ea typeface="Microsoft YaHei"/>
                  <a:cs typeface="Arial"/>
                </a:rPr>
                <a:t>奠定政治纲领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4557141" y="3163252"/>
              <a:ext cx="13697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i="1" dirty="0">
                  <a:solidFill>
                    <a:srgbClr val="B0A0D0"/>
                  </a:solidFill>
                  <a:latin typeface="Georgia"/>
                  <a:ea typeface="SimSun"/>
                  <a:cs typeface="Georgia"/>
                </a:rPr>
                <a:t>"枪杆子里面出政权"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4557141" y="3353752"/>
              <a:ext cx="1817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i="1" dirty="0">
                  <a:solidFill>
                    <a:srgbClr val="B0A0D0"/>
                  </a:solidFill>
                  <a:latin typeface="Georgia"/>
                  <a:ea typeface="SimSun"/>
                  <a:cs typeface="Georgia"/>
                </a:rPr>
                <a:t>"没有调查，就没有发言权"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4476750" y="3705225"/>
              <a:ext cx="57150" cy="57150"/>
            </a:xfrm>
            <a:prstGeom prst="ellipse">
              <a:avLst/>
            </a:prstGeom>
            <a:solidFill>
              <a:srgbClr val="7C3AED">
                <a:alpha val="30000"/>
              </a:srgbClr>
            </a:solidFill>
            <a:ln>
              <a:noFill/>
            </a:ln>
          </p:spPr>
        </p:sp>
      </p:grpSp>
      <p:grpSp>
        <p:nvGrpSpPr>
          <p:cNvPr id="88" name="Group 88"/>
          <p:cNvGrpSpPr/>
          <p:nvPr/>
        </p:nvGrpSpPr>
        <p:grpSpPr>
          <a:xfrm>
            <a:off x="533400" y="4076700"/>
            <a:ext cx="3524250" cy="2286000"/>
            <a:chOff x="533400" y="4076700"/>
            <a:chExt cx="3524250" cy="2286000"/>
          </a:xfrm>
        </p:grpSpPr>
        <p:sp>
          <p:nvSpPr>
            <p:cNvPr id="76" name="Rectangle 76"/>
            <p:cNvSpPr/>
            <p:nvPr/>
          </p:nvSpPr>
          <p:spPr>
            <a:xfrm>
              <a:off x="533400" y="4076700"/>
              <a:ext cx="3524250" cy="2286000"/>
            </a:xfrm>
            <a:prstGeom prst="roundRect">
              <a:avLst>
                <a:gd name="adj" fmla="val 2500"/>
              </a:avLst>
            </a:prstGeom>
            <a:gradFill>
              <a:gsLst>
                <a:gs pos="0">
                  <a:srgbClr val="1A2A40"/>
                </a:gs>
                <a:gs pos="100000">
                  <a:srgbClr val="152838"/>
                </a:gs>
              </a:gsLst>
              <a:lin ang="2700000" scaled="1"/>
            </a:gradFill>
            <a:ln w="9525">
              <a:solidFill>
                <a:srgbClr val="2A3F55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533400" y="4076700"/>
              <a:ext cx="352425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8BDF8">
                    <a:alpha val="18000"/>
                  </a:srgbClr>
                </a:gs>
                <a:gs pos="100000">
                  <a:srgbClr val="38BDF8">
                    <a:alpha val="3000"/>
                  </a:srgbClr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762000" y="4248150"/>
              <a:ext cx="38100" cy="152400"/>
            </a:xfrm>
            <a:prstGeom prst="roundRect">
              <a:avLst>
                <a:gd name="adj" fmla="val 50000"/>
              </a:avLst>
            </a:prstGeom>
            <a:solidFill>
              <a:srgbClr val="38BDF8">
                <a:alpha val="90000"/>
              </a:srgbClr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870585" y="4279106"/>
              <a:ext cx="1488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spc="300" dirty="0">
                  <a:solidFill>
                    <a:srgbClr val="38BDF8"/>
                  </a:solidFill>
                  <a:latin typeface="Consolas"/>
                  <a:ea typeface="Consolas"/>
                  <a:cs typeface="Consolas"/>
                </a:rPr>
                <a:t>POETRY &amp; ART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52856" y="45300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诗词成就</a:t>
              </a:r>
            </a:p>
          </p:txBody>
        </p:sp>
        <p:sp>
          <p:nvSpPr>
            <p:cNvPr id="81" name="Line 81"/>
            <p:cNvSpPr/>
            <p:nvPr/>
          </p:nvSpPr>
          <p:spPr>
            <a:xfrm>
              <a:off x="762000" y="4857750"/>
              <a:ext cx="2762250" cy="9525"/>
            </a:xfrm>
            <a:custGeom>
              <a:avLst/>
              <a:gdLst/>
              <a:ahLst/>
              <a:cxnLst/>
              <a:rect l="l" t="t" r="r" b="b"/>
              <a:pathLst>
                <a:path w="2762250" h="9525">
                  <a:moveTo>
                    <a:pt x="0" y="0"/>
                  </a:moveTo>
                  <a:lnTo>
                    <a:pt x="2762250" y="0"/>
                  </a:lnTo>
                </a:path>
              </a:pathLst>
            </a:custGeom>
            <a:noFill/>
            <a:ln w="7620">
              <a:solidFill>
                <a:srgbClr val="2A3F55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756285" y="4964906"/>
              <a:ext cx="10034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C8D6E5"/>
                  </a:solidFill>
                  <a:latin typeface="Arial"/>
                  <a:ea typeface="Microsoft YaHei"/>
                  <a:cs typeface="Arial"/>
                </a:rPr>
                <a:t>《沁园春·雪》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56285" y="5174456"/>
              <a:ext cx="10034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C8D6E5"/>
                  </a:solidFill>
                  <a:latin typeface="Arial"/>
                  <a:ea typeface="Microsoft YaHei"/>
                  <a:cs typeface="Arial"/>
                </a:rPr>
                <a:t>《七律·长征》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56285" y="5384006"/>
              <a:ext cx="13063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C8D6E5"/>
                  </a:solidFill>
                  <a:latin typeface="Arial"/>
                  <a:ea typeface="Microsoft YaHei"/>
                  <a:cs typeface="Arial"/>
                </a:rPr>
                <a:t>《忆秦娥·娄山关》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57047" y="5647849"/>
              <a:ext cx="10993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A8FA6"/>
                  </a:solidFill>
                  <a:latin typeface="Arial"/>
                  <a:ea typeface="Microsoft YaHei"/>
                  <a:cs typeface="Arial"/>
                </a:rPr>
                <a:t>气势磅礴 意境辽阔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57047" y="5838349"/>
              <a:ext cx="13224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A8FA6"/>
                  </a:solidFill>
                  <a:latin typeface="Arial"/>
                  <a:ea typeface="Microsoft YaHei"/>
                  <a:cs typeface="Arial"/>
                </a:rPr>
                <a:t>收入《毛泽东诗词集》</a:t>
              </a:r>
            </a:p>
          </p:txBody>
        </p:sp>
        <p:sp>
          <p:nvSpPr>
            <p:cNvPr id="87" name="Ellipse 87"/>
            <p:cNvSpPr/>
            <p:nvPr/>
          </p:nvSpPr>
          <p:spPr>
            <a:xfrm>
              <a:off x="676275" y="6181725"/>
              <a:ext cx="57150" cy="57150"/>
            </a:xfrm>
            <a:prstGeom prst="ellipse">
              <a:avLst/>
            </a:prstGeom>
            <a:solidFill>
              <a:srgbClr val="38BDF8">
                <a:alpha val="30000"/>
              </a:srgbClr>
            </a:solidFill>
            <a:ln>
              <a:noFill/>
            </a:ln>
          </p:spPr>
        </p:sp>
      </p:grpSp>
      <p:grpSp>
        <p:nvGrpSpPr>
          <p:cNvPr id="101" name="Group 101"/>
          <p:cNvGrpSpPr/>
          <p:nvPr/>
        </p:nvGrpSpPr>
        <p:grpSpPr>
          <a:xfrm>
            <a:off x="4333875" y="4076700"/>
            <a:ext cx="3524250" cy="2286000"/>
            <a:chOff x="4333875" y="4076700"/>
            <a:chExt cx="3524250" cy="2286000"/>
          </a:xfrm>
        </p:grpSpPr>
        <p:sp>
          <p:nvSpPr>
            <p:cNvPr id="89" name="Rectangle 89"/>
            <p:cNvSpPr/>
            <p:nvPr/>
          </p:nvSpPr>
          <p:spPr>
            <a:xfrm>
              <a:off x="4333875" y="4076700"/>
              <a:ext cx="3524250" cy="2286000"/>
            </a:xfrm>
            <a:prstGeom prst="roundRect">
              <a:avLst>
                <a:gd name="adj" fmla="val 2500"/>
              </a:avLst>
            </a:prstGeom>
            <a:gradFill>
              <a:gsLst>
                <a:gs pos="0">
                  <a:srgbClr val="1A2740"/>
                </a:gs>
                <a:gs pos="100000">
                  <a:srgbClr val="152035"/>
                </a:gs>
              </a:gsLst>
              <a:lin ang="2700000" scaled="1"/>
            </a:gradFill>
            <a:ln w="9525">
              <a:solidFill>
                <a:srgbClr val="263A55"/>
              </a:solidFill>
            </a:ln>
          </p:spPr>
        </p:sp>
        <p:sp>
          <p:nvSpPr>
            <p:cNvPr id="90" name="Rectangle 90"/>
            <p:cNvSpPr/>
            <p:nvPr/>
          </p:nvSpPr>
          <p:spPr>
            <a:xfrm>
              <a:off x="4333875" y="4076700"/>
              <a:ext cx="352425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7C3AED">
                    <a:alpha val="15000"/>
                  </a:srgbClr>
                </a:gs>
                <a:gs pos="100000">
                  <a:srgbClr val="7C3AED">
                    <a:alpha val="3000"/>
                  </a:srgbClr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91" name="Rectangle 91"/>
            <p:cNvSpPr/>
            <p:nvPr/>
          </p:nvSpPr>
          <p:spPr>
            <a:xfrm>
              <a:off x="4562475" y="4248150"/>
              <a:ext cx="38100" cy="152400"/>
            </a:xfrm>
            <a:prstGeom prst="roundRect">
              <a:avLst>
                <a:gd name="adj" fmla="val 50000"/>
              </a:avLst>
            </a:prstGeom>
            <a:solidFill>
              <a:srgbClr val="7C3AED">
                <a:alpha val="90000"/>
              </a:srgbClr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4671060" y="4279106"/>
              <a:ext cx="16196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spc="300" dirty="0">
                  <a:solidFill>
                    <a:srgbClr val="7C3AED"/>
                  </a:solidFill>
                  <a:latin typeface="Consolas"/>
                  <a:ea typeface="Consolas"/>
                  <a:cs typeface="Consolas"/>
                </a:rPr>
                <a:t>FAMILY ASPECT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4553331" y="45300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家庭侧面</a:t>
              </a:r>
            </a:p>
          </p:txBody>
        </p:sp>
        <p:sp>
          <p:nvSpPr>
            <p:cNvPr id="94" name="Line 94"/>
            <p:cNvSpPr/>
            <p:nvPr/>
          </p:nvSpPr>
          <p:spPr>
            <a:xfrm>
              <a:off x="4562475" y="4857750"/>
              <a:ext cx="2762250" cy="9525"/>
            </a:xfrm>
            <a:custGeom>
              <a:avLst/>
              <a:gdLst/>
              <a:ahLst/>
              <a:cxnLst/>
              <a:rect l="l" t="t" r="r" b="b"/>
              <a:pathLst>
                <a:path w="2762250" h="9525">
                  <a:moveTo>
                    <a:pt x="0" y="0"/>
                  </a:moveTo>
                  <a:lnTo>
                    <a:pt x="2762250" y="0"/>
                  </a:lnTo>
                </a:path>
              </a:pathLst>
            </a:custGeom>
            <a:noFill/>
            <a:ln w="7620">
              <a:solidFill>
                <a:srgbClr val="263A55"/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4556760" y="4964906"/>
              <a:ext cx="92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C8D6E5"/>
                  </a:solidFill>
                  <a:latin typeface="Arial"/>
                  <a:ea typeface="Microsoft YaHei"/>
                  <a:cs typeface="Arial"/>
                </a:rPr>
                <a:t>四段婚姻经历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4556760" y="5174456"/>
              <a:ext cx="15486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C8D6E5"/>
                  </a:solidFill>
                  <a:latin typeface="Arial"/>
                  <a:ea typeface="Microsoft YaHei"/>
                  <a:cs typeface="Arial"/>
                </a:rPr>
                <a:t>子女：毛岸英 · 毛岸青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4556760" y="5384006"/>
              <a:ext cx="7913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C8D6E5"/>
                  </a:solidFill>
                  <a:latin typeface="Arial"/>
                  <a:ea typeface="Microsoft YaHei"/>
                  <a:cs typeface="Arial"/>
                </a:rPr>
                <a:t>李敏 · 李讷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4557522" y="5647849"/>
              <a:ext cx="13224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A8FA6"/>
                  </a:solidFill>
                  <a:latin typeface="Arial"/>
                  <a:ea typeface="Microsoft YaHei"/>
                  <a:cs typeface="Arial"/>
                </a:rPr>
                <a:t>毛岸英牺牲于朝鲜战场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4557522" y="5838349"/>
              <a:ext cx="11911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A8FA6"/>
                  </a:solidFill>
                  <a:latin typeface="Arial"/>
                  <a:ea typeface="Microsoft YaHei"/>
                  <a:cs typeface="Arial"/>
                </a:rPr>
                <a:t>家庭命运与时代交织</a:t>
              </a:r>
            </a:p>
          </p:txBody>
        </p:sp>
        <p:sp>
          <p:nvSpPr>
            <p:cNvPr id="100" name="Ellipse 100"/>
            <p:cNvSpPr/>
            <p:nvPr/>
          </p:nvSpPr>
          <p:spPr>
            <a:xfrm>
              <a:off x="4476750" y="6181725"/>
              <a:ext cx="57150" cy="57150"/>
            </a:xfrm>
            <a:prstGeom prst="ellipse">
              <a:avLst/>
            </a:prstGeom>
            <a:solidFill>
              <a:srgbClr val="7C3AED">
                <a:alpha val="30000"/>
              </a:srgbClr>
            </a:solidFill>
            <a:ln>
              <a:noFill/>
            </a:ln>
          </p:spPr>
        </p:sp>
      </p:grpSp>
      <p:grpSp>
        <p:nvGrpSpPr>
          <p:cNvPr id="117" name="Group 117"/>
          <p:cNvGrpSpPr/>
          <p:nvPr/>
        </p:nvGrpSpPr>
        <p:grpSpPr>
          <a:xfrm>
            <a:off x="8134350" y="1600200"/>
            <a:ext cx="3524250" cy="4762500"/>
            <a:chOff x="8134350" y="1600200"/>
            <a:chExt cx="3524250" cy="4762500"/>
          </a:xfrm>
        </p:grpSpPr>
        <p:sp>
          <p:nvSpPr>
            <p:cNvPr id="102" name="Rectangle 102"/>
            <p:cNvSpPr/>
            <p:nvPr/>
          </p:nvSpPr>
          <p:spPr>
            <a:xfrm>
              <a:off x="8134350" y="1600200"/>
              <a:ext cx="3524250" cy="4762500"/>
            </a:xfrm>
            <a:prstGeom prst="roundRect">
              <a:avLst>
                <a:gd name="adj" fmla="val 1622"/>
              </a:avLst>
            </a:prstGeom>
            <a:gradFill>
              <a:gsLst>
                <a:gs pos="0">
                  <a:srgbClr val="1A2740">
                    <a:alpha val="90000"/>
                  </a:srgbClr>
                </a:gs>
                <a:gs pos="100000">
                  <a:srgbClr val="152035">
                    <a:alpha val="90000"/>
                  </a:srgbClr>
                </a:gs>
              </a:gsLst>
              <a:lin ang="2700000" scaled="1"/>
            </a:gradFill>
            <a:ln w="9525">
              <a:solidFill>
                <a:srgbClr val="204060">
                  <a:alpha val="90000"/>
                </a:srgbClr>
              </a:solidFill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8134350" y="1600200"/>
              <a:ext cx="352425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8BDF8">
                    <a:alpha val="15000"/>
                  </a:srgbClr>
                </a:gs>
                <a:gs pos="100000">
                  <a:srgbClr val="38BDF8">
                    <a:alpha val="2500"/>
                  </a:srgbClr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8682609" y="2194560"/>
              <a:ext cx="242773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dirty="0">
                  <a:solidFill>
                    <a:srgbClr val="38BDF8"/>
                  </a:solidFill>
                  <a:latin typeface="Georgia"/>
                  <a:ea typeface="SimSun"/>
                  <a:cs typeface="Georgia"/>
                </a:rPr>
                <a:t>逾千万字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8953729" y="2899410"/>
              <a:ext cx="18854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spc="225" dirty="0">
                  <a:solidFill>
                    <a:srgbClr val="7A8FA6"/>
                  </a:solidFill>
                  <a:latin typeface="Consolas"/>
                  <a:ea typeface="Consolas"/>
                  <a:cs typeface="Consolas"/>
                </a:rPr>
                <a:t>ESTIMATED WORKS</a:t>
              </a:r>
            </a:p>
          </p:txBody>
        </p:sp>
        <p:sp>
          <p:nvSpPr>
            <p:cNvPr id="106" name="Line 106"/>
            <p:cNvSpPr/>
            <p:nvPr/>
          </p:nvSpPr>
          <p:spPr>
            <a:xfrm>
              <a:off x="8763000" y="3238500"/>
              <a:ext cx="2266950" cy="9525"/>
            </a:xfrm>
            <a:custGeom>
              <a:avLst/>
              <a:gdLst/>
              <a:ahLst/>
              <a:cxnLst/>
              <a:rect l="l" t="t" r="r" b="b"/>
              <a:pathLst>
                <a:path w="2266950" h="9525">
                  <a:moveTo>
                    <a:pt x="0" y="0"/>
                  </a:moveTo>
                  <a:lnTo>
                    <a:pt x="2266950" y="0"/>
                  </a:lnTo>
                </a:path>
              </a:pathLst>
            </a:custGeom>
            <a:noFill/>
            <a:ln w="7620">
              <a:solidFill>
                <a:srgbClr val="204060"/>
              </a:solidFill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8757285" y="3450431"/>
              <a:ext cx="13744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C8D6E5"/>
                  </a:solidFill>
                  <a:latin typeface="Arial"/>
                  <a:ea typeface="Microsoft YaHei"/>
                  <a:cs typeface="Arial"/>
                </a:rPr>
                <a:t>涵盖《毛泽东选集》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8757285" y="3679031"/>
              <a:ext cx="10715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C8D6E5"/>
                  </a:solidFill>
                  <a:latin typeface="Arial"/>
                  <a:ea typeface="Microsoft YaHei"/>
                  <a:cs typeface="Arial"/>
                </a:rPr>
                <a:t>《毛泽东文集》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8757285" y="3907631"/>
              <a:ext cx="92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C8D6E5"/>
                  </a:solidFill>
                  <a:latin typeface="Arial"/>
                  <a:ea typeface="Microsoft YaHei"/>
                  <a:cs typeface="Arial"/>
                </a:rPr>
                <a:t>《早期文稿》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8757285" y="4136231"/>
              <a:ext cx="92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C8D6E5"/>
                  </a:solidFill>
                  <a:latin typeface="Arial"/>
                  <a:ea typeface="Microsoft YaHei"/>
                  <a:cs typeface="Arial"/>
                </a:rPr>
                <a:t>《军事文集》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8757285" y="4364831"/>
              <a:ext cx="92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C8D6E5"/>
                  </a:solidFill>
                  <a:latin typeface="Arial"/>
                  <a:ea typeface="Microsoft YaHei"/>
                  <a:cs typeface="Arial"/>
                </a:rPr>
                <a:t>《书信选集》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8757285" y="4593431"/>
              <a:ext cx="92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C8D6E5"/>
                  </a:solidFill>
                  <a:latin typeface="Arial"/>
                  <a:ea typeface="Microsoft YaHei"/>
                  <a:cs typeface="Arial"/>
                </a:rPr>
                <a:t>《外交文选》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8758047" y="4895374"/>
              <a:ext cx="10993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A8FA6"/>
                  </a:solidFill>
                  <a:latin typeface="Arial"/>
                  <a:ea typeface="Microsoft YaHei"/>
                  <a:cs typeface="Arial"/>
                </a:rPr>
                <a:t>政治 · 军事 · 外交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8758047" y="5104924"/>
              <a:ext cx="10993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A8FA6"/>
                  </a:solidFill>
                  <a:latin typeface="Arial"/>
                  <a:ea typeface="Microsoft YaHei"/>
                  <a:cs typeface="Arial"/>
                </a:rPr>
                <a:t>文艺 · 哲学 · 教育</a:t>
              </a:r>
            </a:p>
          </p:txBody>
        </p:sp>
        <p:sp>
          <p:nvSpPr>
            <p:cNvPr id="115" name="Ellipse 115"/>
            <p:cNvSpPr/>
            <p:nvPr/>
          </p:nvSpPr>
          <p:spPr>
            <a:xfrm>
              <a:off x="8277225" y="6143625"/>
              <a:ext cx="57150" cy="57150"/>
            </a:xfrm>
            <a:prstGeom prst="ellipse">
              <a:avLst/>
            </a:prstGeom>
            <a:solidFill>
              <a:srgbClr val="38BDF8">
                <a:alpha val="30000"/>
              </a:srgbClr>
            </a:solidFill>
            <a:ln>
              <a:noFill/>
            </a:ln>
          </p:spPr>
        </p:sp>
        <p:sp>
          <p:nvSpPr>
            <p:cNvPr id="116" name="Ellipse 116"/>
            <p:cNvSpPr/>
            <p:nvPr/>
          </p:nvSpPr>
          <p:spPr>
            <a:xfrm>
              <a:off x="11420475" y="6143625"/>
              <a:ext cx="57150" cy="57150"/>
            </a:xfrm>
            <a:prstGeom prst="ellipse">
              <a:avLst/>
            </a:prstGeom>
            <a:solidFill>
              <a:srgbClr val="38BDF8">
                <a:alpha val="20000"/>
              </a:srgbClr>
            </a:solidFill>
            <a:ln>
              <a:noFill/>
            </a:ln>
          </p:spPr>
        </p:sp>
      </p:grpSp>
      <p:sp>
        <p:nvSpPr>
          <p:cNvPr id="118" name="Line 118"/>
          <p:cNvSpPr/>
          <p:nvPr/>
        </p:nvSpPr>
        <p:spPr>
          <a:xfrm>
            <a:off x="533400" y="64960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7620">
            <a:solidFill>
              <a:srgbClr val="1A2A40"/>
            </a:solidFill>
          </a:ln>
        </p:spPr>
      </p:sp>
      <p:sp>
        <p:nvSpPr>
          <p:cNvPr id="119" name="TextBox 119"/>
          <p:cNvSpPr txBox="1"/>
          <p:nvPr/>
        </p:nvSpPr>
        <p:spPr>
          <a:xfrm>
            <a:off x="11467490" y="6573202"/>
            <a:ext cx="19644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spc="225" dirty="0">
                <a:solidFill>
                  <a:srgbClr val="52637A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566547" y="6581299"/>
            <a:ext cx="135274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spc="150" dirty="0">
                <a:solidFill>
                  <a:srgbClr val="3A5060"/>
                </a:solidFill>
                <a:latin typeface="Consolas"/>
                <a:ea typeface="Microsoft YaHei"/>
                <a:cs typeface="Consolas"/>
              </a:rPr>
              <a:t>毛泽东：时代与革命</a:t>
            </a:r>
          </a:p>
        </p:txBody>
      </p:sp>
      <p:sp>
        <p:nvSpPr>
          <p:cNvPr id="121" name="Ellipse 121"/>
          <p:cNvSpPr/>
          <p:nvPr/>
        </p:nvSpPr>
        <p:spPr>
          <a:xfrm>
            <a:off x="514350" y="6648450"/>
            <a:ext cx="38100" cy="38100"/>
          </a:xfrm>
          <a:prstGeom prst="ellipse">
            <a:avLst/>
          </a:prstGeom>
          <a:solidFill>
            <a:srgbClr val="38BDF8">
              <a:alpha val="20000"/>
            </a:srgbClr>
          </a:solidFill>
          <a:ln>
            <a:noFill/>
          </a:ln>
        </p:spPr>
      </p:sp>
      <p:sp>
        <p:nvSpPr>
          <p:cNvPr id="122" name="Ellipse 122"/>
          <p:cNvSpPr/>
          <p:nvPr/>
        </p:nvSpPr>
        <p:spPr>
          <a:xfrm>
            <a:off x="11639550" y="6648450"/>
            <a:ext cx="38100" cy="38100"/>
          </a:xfrm>
          <a:prstGeom prst="ellipse">
            <a:avLst/>
          </a:prstGeom>
          <a:solidFill>
            <a:srgbClr val="38BDF8">
              <a:alpha val="20000"/>
            </a:srgb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0D1328"/>
              </a:gs>
            </a:gsLst>
            <a:lin ang="2700000" scaled="1"/>
          </a:gra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10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571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10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10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10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10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0" y="2857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10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10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0" y="4000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10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10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10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0" y="571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10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0" y="6286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38BDF8">
                  <a:alpha val="10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10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2028825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10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405765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100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100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8124825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10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1015365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38BDF8">
                  <a:alpha val="10000"/>
                </a:srgbClr>
              </a:solidFill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10477500" y="838200"/>
            <a:ext cx="952500" cy="838200"/>
            <a:chOff x="10477500" y="838200"/>
            <a:chExt cx="952500" cy="838200"/>
          </a:xfrm>
        </p:grpSpPr>
        <p:sp>
          <p:nvSpPr>
            <p:cNvPr id="22" name="Polygon 22"/>
            <p:cNvSpPr/>
            <p:nvPr/>
          </p:nvSpPr>
          <p:spPr>
            <a:xfrm>
              <a:off x="10477500" y="838200"/>
              <a:ext cx="381000" cy="457200"/>
            </a:xfrm>
            <a:custGeom>
              <a:avLst/>
              <a:gdLst/>
              <a:ahLst/>
              <a:cxnLst/>
              <a:rect l="l" t="t" r="r" b="b"/>
              <a:pathLst>
                <a:path w="381000" h="457200">
                  <a:moveTo>
                    <a:pt x="0" y="114300"/>
                  </a:moveTo>
                  <a:lnTo>
                    <a:pt x="190500" y="0"/>
                  </a:lnTo>
                  <a:lnTo>
                    <a:pt x="381000" y="114300"/>
                  </a:lnTo>
                  <a:lnTo>
                    <a:pt x="381000" y="342900"/>
                  </a:lnTo>
                  <a:lnTo>
                    <a:pt x="190500" y="457200"/>
                  </a:lnTo>
                  <a:lnTo>
                    <a:pt x="0" y="342900"/>
                  </a:lnTo>
                  <a:close/>
                </a:path>
              </a:pathLst>
            </a:custGeom>
            <a:noFill/>
            <a:ln w="9525">
              <a:solidFill>
                <a:srgbClr val="38BDF8">
                  <a:alpha val="8000"/>
                </a:srgbClr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11049000" y="838200"/>
              <a:ext cx="381000" cy="457200"/>
            </a:xfrm>
            <a:custGeom>
              <a:avLst/>
              <a:gdLst/>
              <a:ahLst/>
              <a:cxnLst/>
              <a:rect l="l" t="t" r="r" b="b"/>
              <a:pathLst>
                <a:path w="381000" h="457200">
                  <a:moveTo>
                    <a:pt x="0" y="114300"/>
                  </a:moveTo>
                  <a:lnTo>
                    <a:pt x="190500" y="0"/>
                  </a:lnTo>
                  <a:lnTo>
                    <a:pt x="381000" y="114300"/>
                  </a:lnTo>
                  <a:lnTo>
                    <a:pt x="381000" y="342900"/>
                  </a:lnTo>
                  <a:lnTo>
                    <a:pt x="190500" y="457200"/>
                  </a:lnTo>
                  <a:lnTo>
                    <a:pt x="0" y="342900"/>
                  </a:lnTo>
                  <a:close/>
                </a:path>
              </a:pathLst>
            </a:custGeom>
            <a:noFill/>
            <a:ln w="9525">
              <a:solidFill>
                <a:srgbClr val="38BDF8">
                  <a:alpha val="8000"/>
                </a:srgbClr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10763250" y="1219200"/>
              <a:ext cx="381000" cy="457200"/>
            </a:xfrm>
            <a:custGeom>
              <a:avLst/>
              <a:gdLst/>
              <a:ahLst/>
              <a:cxnLst/>
              <a:rect l="l" t="t" r="r" b="b"/>
              <a:pathLst>
                <a:path w="381000" h="457200">
                  <a:moveTo>
                    <a:pt x="0" y="114300"/>
                  </a:moveTo>
                  <a:lnTo>
                    <a:pt x="190500" y="0"/>
                  </a:lnTo>
                  <a:lnTo>
                    <a:pt x="381000" y="114300"/>
                  </a:lnTo>
                  <a:lnTo>
                    <a:pt x="381000" y="342900"/>
                  </a:lnTo>
                  <a:lnTo>
                    <a:pt x="190500" y="457200"/>
                  </a:lnTo>
                  <a:lnTo>
                    <a:pt x="0" y="342900"/>
                  </a:lnTo>
                  <a:close/>
                </a:path>
              </a:pathLst>
            </a:custGeom>
            <a:noFill/>
            <a:ln w="9525">
              <a:solidFill>
                <a:srgbClr val="38BDF8">
                  <a:alpha val="8000"/>
                </a:srgbClr>
              </a:solidFill>
            </a:ln>
          </p:spPr>
        </p:sp>
      </p:grpSp>
      <p:sp>
        <p:nvSpPr>
          <p:cNvPr id="26" name="Rectangle 26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gradFill>
            <a:gsLst>
              <a:gs pos="0">
                <a:srgbClr val="2563EB">
                  <a:alpha val="5250"/>
                </a:srgbClr>
              </a:gs>
              <a:gs pos="100000">
                <a:srgbClr val="2563EB">
                  <a:alpha val="75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533400" y="571500"/>
            <a:ext cx="571500" cy="304800"/>
          </a:xfrm>
          <a:prstGeom prst="roundRect">
            <a:avLst>
              <a:gd name="adj" fmla="val 6250"/>
            </a:avLst>
          </a:prstGeom>
          <a:noFill/>
          <a:ln w="9525">
            <a:solidFill>
              <a:srgbClr val="38BDF8">
                <a:alpha val="60000"/>
              </a:srgbClr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724205" y="6515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38BDF8">
                    <a:alphaMod val="80000"/>
                  </a:srgbClr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33450" y="1322070"/>
            <a:ext cx="3995928" cy="1047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400" spc="6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遗产与回响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0648" y="2274094"/>
            <a:ext cx="5486305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spc="300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三个世界理论 · 全球影响 · 多维历史评价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09625" y="1571625"/>
            <a:ext cx="38100" cy="619125"/>
          </a:xfrm>
          <a:prstGeom prst="roundRect">
            <a:avLst>
              <a:gd name="adj" fmla="val 50000"/>
            </a:avLst>
          </a:prstGeom>
          <a:solidFill>
            <a:srgbClr val="38BDF8">
              <a:alpha val="90000"/>
            </a:srgbClr>
          </a:solidFill>
          <a:ln>
            <a:noFill/>
          </a:ln>
        </p:spPr>
      </p:sp>
      <p:grpSp>
        <p:nvGrpSpPr>
          <p:cNvPr id="36" name="Group 36"/>
          <p:cNvGrpSpPr/>
          <p:nvPr/>
        </p:nvGrpSpPr>
        <p:grpSpPr>
          <a:xfrm>
            <a:off x="781050" y="3048000"/>
            <a:ext cx="228600" cy="285750"/>
            <a:chOff x="781050" y="3048000"/>
            <a:chExt cx="228600" cy="285750"/>
          </a:xfrm>
        </p:grpSpPr>
        <p:sp>
          <p:nvSpPr>
            <p:cNvPr id="32" name="Rectangle 32"/>
            <p:cNvSpPr/>
            <p:nvPr/>
          </p:nvSpPr>
          <p:spPr>
            <a:xfrm>
              <a:off x="781050" y="3048000"/>
              <a:ext cx="228600" cy="285750"/>
            </a:xfrm>
            <a:prstGeom prst="roundRect">
              <a:avLst>
                <a:gd name="adj" fmla="val 12500"/>
              </a:avLst>
            </a:prstGeom>
            <a:noFill/>
            <a:ln w="11430">
              <a:solidFill>
                <a:srgbClr val="38BDF8">
                  <a:alpha val="40000"/>
                </a:srgbClr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838200" y="312420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11430">
              <a:solidFill>
                <a:srgbClr val="38BDF8">
                  <a:alpha val="40000"/>
                </a:srgbClr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838200" y="318135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11430">
              <a:solidFill>
                <a:srgbClr val="38BDF8">
                  <a:alpha val="40000"/>
                </a:srgbClr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838200" y="3238500"/>
              <a:ext cx="76200" cy="9525"/>
            </a:xfrm>
            <a:custGeom>
              <a:avLst/>
              <a:gdLst/>
              <a:ahLst/>
              <a:cxnLst/>
              <a:rect l="l" t="t" r="r" b="b"/>
              <a:pathLst>
                <a:path w="76200" h="9525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11430">
              <a:solidFill>
                <a:srgbClr val="38BDF8">
                  <a:alpha val="40000"/>
                </a:srgbClr>
              </a:solidFill>
            </a:ln>
          </p:spPr>
        </p:sp>
      </p:grpSp>
      <p:sp>
        <p:nvSpPr>
          <p:cNvPr id="37" name="Rectangle 37"/>
          <p:cNvSpPr/>
          <p:nvPr/>
        </p:nvSpPr>
        <p:spPr>
          <a:xfrm>
            <a:off x="6286500" y="1143000"/>
            <a:ext cx="5334000" cy="1238250"/>
          </a:xfrm>
          <a:prstGeom prst="roundRect">
            <a:avLst>
              <a:gd name="adj" fmla="val 4615"/>
            </a:avLst>
          </a:prstGeom>
          <a:solidFill>
            <a:srgbClr val="0D1830">
              <a:alpha val="90000"/>
            </a:srgbClr>
          </a:solidFill>
          <a:ln w="9525">
            <a:solidFill>
              <a:srgbClr val="1E3A5F">
                <a:alpha val="90000"/>
              </a:srgbClr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6286500" y="1143000"/>
            <a:ext cx="5334000" cy="2857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39" name="Ellipse 39"/>
          <p:cNvSpPr/>
          <p:nvPr/>
        </p:nvSpPr>
        <p:spPr>
          <a:xfrm>
            <a:off x="6496050" y="1343025"/>
            <a:ext cx="266700" cy="266700"/>
          </a:xfrm>
          <a:prstGeom prst="ellipse">
            <a:avLst/>
          </a:prstGeom>
          <a:noFill/>
          <a:ln w="11430">
            <a:solidFill>
              <a:srgbClr val="38BDF8">
                <a:alpha val="70000"/>
              </a:srgbClr>
            </a:solidFill>
          </a:ln>
        </p:spPr>
      </p:sp>
      <p:sp>
        <p:nvSpPr>
          <p:cNvPr id="40" name="Line 40"/>
          <p:cNvSpPr/>
          <p:nvPr/>
        </p:nvSpPr>
        <p:spPr>
          <a:xfrm>
            <a:off x="6572250" y="1419225"/>
            <a:ext cx="114300" cy="9525"/>
          </a:xfrm>
          <a:custGeom>
            <a:avLst/>
            <a:gdLst/>
            <a:ahLst/>
            <a:cxnLst/>
            <a:rect l="l" t="t" r="r" b="b"/>
            <a:pathLst>
              <a:path w="114300" h="9525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/>
          <a:ln w="9525">
            <a:solidFill>
              <a:srgbClr val="38BDF8">
                <a:alpha val="70000"/>
              </a:srgbClr>
            </a:solidFill>
          </a:ln>
        </p:spPr>
      </p:sp>
      <p:sp>
        <p:nvSpPr>
          <p:cNvPr id="41" name="Line 41"/>
          <p:cNvSpPr/>
          <p:nvPr/>
        </p:nvSpPr>
        <p:spPr>
          <a:xfrm>
            <a:off x="6572250" y="1476375"/>
            <a:ext cx="114300" cy="9525"/>
          </a:xfrm>
          <a:custGeom>
            <a:avLst/>
            <a:gdLst/>
            <a:ahLst/>
            <a:cxnLst/>
            <a:rect l="l" t="t" r="r" b="b"/>
            <a:pathLst>
              <a:path w="114300" h="9525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/>
          <a:ln w="9525">
            <a:solidFill>
              <a:srgbClr val="38BDF8">
                <a:alpha val="70000"/>
              </a:srgbClr>
            </a:solidFill>
          </a:ln>
        </p:spPr>
      </p:sp>
      <p:sp>
        <p:nvSpPr>
          <p:cNvPr id="42" name="Line 42"/>
          <p:cNvSpPr/>
          <p:nvPr/>
        </p:nvSpPr>
        <p:spPr>
          <a:xfrm>
            <a:off x="6572250" y="1533525"/>
            <a:ext cx="114300" cy="9525"/>
          </a:xfrm>
          <a:custGeom>
            <a:avLst/>
            <a:gdLst/>
            <a:ahLst/>
            <a:cxnLst/>
            <a:rect l="l" t="t" r="r" b="b"/>
            <a:pathLst>
              <a:path w="114300" h="9525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/>
          <a:ln w="9525">
            <a:solidFill>
              <a:srgbClr val="38BDF8">
                <a:alpha val="70000"/>
              </a:srgbClr>
            </a:solidFill>
          </a:ln>
        </p:spPr>
      </p:sp>
      <p:sp>
        <p:nvSpPr>
          <p:cNvPr id="43" name="Ellipse 43"/>
          <p:cNvSpPr/>
          <p:nvPr/>
        </p:nvSpPr>
        <p:spPr>
          <a:xfrm>
            <a:off x="6496050" y="1400175"/>
            <a:ext cx="266700" cy="152400"/>
          </a:xfrm>
          <a:prstGeom prst="ellipse">
            <a:avLst/>
          </a:prstGeom>
          <a:noFill/>
          <a:ln w="9525">
            <a:solidFill>
              <a:srgbClr val="38BDF8">
                <a:alpha val="70000"/>
              </a:srgbClr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6850380" y="128587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三个世界理论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852285" y="1574006"/>
            <a:ext cx="291922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BDD7FF"/>
                </a:solidFill>
                <a:latin typeface="Arial"/>
                <a:ea typeface="Microsoft YaHei"/>
                <a:cs typeface="Arial"/>
              </a:rPr>
              <a:t>1974年毛泽东提出划分三个世界的战略思想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852285" y="1783556"/>
            <a:ext cx="30403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BDD7FF"/>
                </a:solidFill>
                <a:latin typeface="Arial"/>
                <a:ea typeface="Microsoft YaHei"/>
                <a:cs typeface="Arial"/>
              </a:rPr>
              <a:t>团结第三世界，争取第二世界，反对霸权主义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852285" y="1993106"/>
            <a:ext cx="243459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BDD7FF"/>
                </a:solidFill>
                <a:latin typeface="Arial"/>
                <a:ea typeface="Microsoft YaHei"/>
                <a:cs typeface="Arial"/>
              </a:rPr>
              <a:t>为新中国外交开拓了广泛的国际空间</a:t>
            </a:r>
          </a:p>
        </p:txBody>
      </p:sp>
      <p:sp>
        <p:nvSpPr>
          <p:cNvPr id="48" name="Rectangle 48"/>
          <p:cNvSpPr/>
          <p:nvPr/>
        </p:nvSpPr>
        <p:spPr>
          <a:xfrm>
            <a:off x="6286500" y="2552700"/>
            <a:ext cx="5334000" cy="1238250"/>
          </a:xfrm>
          <a:prstGeom prst="roundRect">
            <a:avLst>
              <a:gd name="adj" fmla="val 4615"/>
            </a:avLst>
          </a:prstGeom>
          <a:solidFill>
            <a:srgbClr val="0D1830">
              <a:alpha val="90000"/>
            </a:srgbClr>
          </a:solidFill>
          <a:ln w="9525">
            <a:solidFill>
              <a:srgbClr val="1E3A5F">
                <a:alpha val="90000"/>
              </a:srgbClr>
            </a:solidFill>
          </a:ln>
        </p:spPr>
      </p:sp>
      <p:sp>
        <p:nvSpPr>
          <p:cNvPr id="49" name="Rectangle 49"/>
          <p:cNvSpPr/>
          <p:nvPr/>
        </p:nvSpPr>
        <p:spPr>
          <a:xfrm>
            <a:off x="6286500" y="2552700"/>
            <a:ext cx="5334000" cy="28575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</p:sp>
      <p:grpSp>
        <p:nvGrpSpPr>
          <p:cNvPr id="54" name="Group 54"/>
          <p:cNvGrpSpPr/>
          <p:nvPr/>
        </p:nvGrpSpPr>
        <p:grpSpPr>
          <a:xfrm>
            <a:off x="6534150" y="2819400"/>
            <a:ext cx="190500" cy="266700"/>
            <a:chOff x="6534150" y="2819400"/>
            <a:chExt cx="190500" cy="266700"/>
          </a:xfrm>
        </p:grpSpPr>
        <p:sp>
          <p:nvSpPr>
            <p:cNvPr id="50" name="Rectangle 50"/>
            <p:cNvSpPr/>
            <p:nvPr/>
          </p:nvSpPr>
          <p:spPr>
            <a:xfrm>
              <a:off x="6534150" y="2819400"/>
              <a:ext cx="190500" cy="266700"/>
            </a:xfrm>
            <a:prstGeom prst="roundRect">
              <a:avLst>
                <a:gd name="adj" fmla="val 10000"/>
              </a:avLst>
            </a:prstGeom>
            <a:noFill/>
            <a:ln w="11430">
              <a:solidFill>
                <a:srgbClr val="7C3AED">
                  <a:alpha val="70000"/>
                </a:srgbClr>
              </a:solidFill>
            </a:ln>
          </p:spPr>
        </p:sp>
        <p:sp>
          <p:nvSpPr>
            <p:cNvPr id="51" name="Line 51"/>
            <p:cNvSpPr/>
            <p:nvPr/>
          </p:nvSpPr>
          <p:spPr>
            <a:xfrm>
              <a:off x="6572250" y="289560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11430">
              <a:solidFill>
                <a:srgbClr val="7C3AED">
                  <a:alpha val="70000"/>
                </a:srgbClr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6572250" y="295275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11430">
              <a:solidFill>
                <a:srgbClr val="7C3AED">
                  <a:alpha val="70000"/>
                </a:srgbClr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6572250" y="3009900"/>
              <a:ext cx="76200" cy="9525"/>
            </a:xfrm>
            <a:custGeom>
              <a:avLst/>
              <a:gdLst/>
              <a:ahLst/>
              <a:cxnLst/>
              <a:rect l="l" t="t" r="r" b="b"/>
              <a:pathLst>
                <a:path w="76200" h="9525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11430">
              <a:solidFill>
                <a:srgbClr val="7C3AED">
                  <a:alpha val="70000"/>
                </a:srgbClr>
              </a:solidFill>
            </a:ln>
          </p:spPr>
        </p:sp>
      </p:grpSp>
      <p:sp>
        <p:nvSpPr>
          <p:cNvPr id="55" name="TextBox 55"/>
          <p:cNvSpPr txBox="1"/>
          <p:nvPr/>
        </p:nvSpPr>
        <p:spPr>
          <a:xfrm>
            <a:off x="6850380" y="26955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全球影响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852285" y="2983706"/>
            <a:ext cx="32069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BDD7FF"/>
                </a:solidFill>
                <a:latin typeface="Arial"/>
                <a:ea typeface="Microsoft YaHei"/>
                <a:cs typeface="Arial"/>
              </a:rPr>
              <a:t>毛泽东思想深刻影响了20世纪国际共产主义运动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852285" y="3193256"/>
            <a:ext cx="334327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BDD7FF"/>
                </a:solidFill>
                <a:latin typeface="Arial"/>
                <a:ea typeface="Microsoft YaHei"/>
                <a:cs typeface="Arial"/>
              </a:rPr>
              <a:t>著作被广泛翻译传播，毛主义者在全球实践其理念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852285" y="3402806"/>
            <a:ext cx="28889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BDD7FF"/>
                </a:solidFill>
                <a:latin typeface="Arial"/>
                <a:ea typeface="Microsoft YaHei"/>
                <a:cs typeface="Arial"/>
              </a:rPr>
              <a:t>亚非拉地区的民族解放运动深受其理论启发</a:t>
            </a:r>
          </a:p>
        </p:txBody>
      </p:sp>
      <p:sp>
        <p:nvSpPr>
          <p:cNvPr id="59" name="Rectangle 59"/>
          <p:cNvSpPr/>
          <p:nvPr/>
        </p:nvSpPr>
        <p:spPr>
          <a:xfrm>
            <a:off x="6286500" y="3962400"/>
            <a:ext cx="5334000" cy="1238250"/>
          </a:xfrm>
          <a:prstGeom prst="roundRect">
            <a:avLst>
              <a:gd name="adj" fmla="val 4615"/>
            </a:avLst>
          </a:prstGeom>
          <a:solidFill>
            <a:srgbClr val="0D1830">
              <a:alpha val="90000"/>
            </a:srgbClr>
          </a:solidFill>
          <a:ln w="9525">
            <a:solidFill>
              <a:srgbClr val="1E3A5F">
                <a:alpha val="90000"/>
              </a:srgbClr>
            </a:solidFill>
          </a:ln>
        </p:spPr>
      </p:sp>
      <p:sp>
        <p:nvSpPr>
          <p:cNvPr id="60" name="Rectangle 60"/>
          <p:cNvSpPr/>
          <p:nvPr/>
        </p:nvSpPr>
        <p:spPr>
          <a:xfrm>
            <a:off x="6286500" y="3962400"/>
            <a:ext cx="5334000" cy="28575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</p:sp>
      <p:grpSp>
        <p:nvGrpSpPr>
          <p:cNvPr id="64" name="Group 64"/>
          <p:cNvGrpSpPr/>
          <p:nvPr/>
        </p:nvGrpSpPr>
        <p:grpSpPr>
          <a:xfrm>
            <a:off x="6534150" y="4210050"/>
            <a:ext cx="228600" cy="304800"/>
            <a:chOff x="6534150" y="4210050"/>
            <a:chExt cx="228600" cy="304800"/>
          </a:xfrm>
        </p:grpSpPr>
        <p:sp>
          <p:nvSpPr>
            <p:cNvPr id="61" name="Line 61"/>
            <p:cNvSpPr/>
            <p:nvPr/>
          </p:nvSpPr>
          <p:spPr>
            <a:xfrm>
              <a:off x="6648450" y="42100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1430">
              <a:solidFill>
                <a:srgbClr val="38BDF8">
                  <a:alpha val="70000"/>
                </a:srgbClr>
              </a:solidFill>
            </a:ln>
          </p:spPr>
        </p:sp>
        <p:sp>
          <p:nvSpPr>
            <p:cNvPr id="62" name="Line 62"/>
            <p:cNvSpPr/>
            <p:nvPr/>
          </p:nvSpPr>
          <p:spPr>
            <a:xfrm>
              <a:off x="6534150" y="4400550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11430">
              <a:solidFill>
                <a:srgbClr val="38BDF8">
                  <a:alpha val="70000"/>
                </a:srgbClr>
              </a:solidFill>
            </a:ln>
          </p:spPr>
        </p:sp>
        <p:sp>
          <p:nvSpPr>
            <p:cNvPr id="63" name="Ellipse 63"/>
            <p:cNvSpPr/>
            <p:nvPr/>
          </p:nvSpPr>
          <p:spPr>
            <a:xfrm>
              <a:off x="6610350" y="4438650"/>
              <a:ext cx="76200" cy="76200"/>
            </a:xfrm>
            <a:prstGeom prst="ellipse">
              <a:avLst/>
            </a:prstGeom>
            <a:noFill/>
            <a:ln w="11430">
              <a:solidFill>
                <a:srgbClr val="38BDF8">
                  <a:alpha val="70000"/>
                </a:srgbClr>
              </a:solidFill>
            </a:ln>
          </p:spPr>
        </p:sp>
      </p:grpSp>
      <p:sp>
        <p:nvSpPr>
          <p:cNvPr id="65" name="TextBox 65"/>
          <p:cNvSpPr txBox="1"/>
          <p:nvPr/>
        </p:nvSpPr>
        <p:spPr>
          <a:xfrm>
            <a:off x="6850380" y="41052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历史评价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6852285" y="4393406"/>
            <a:ext cx="213169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BDD7FF"/>
                </a:solidFill>
                <a:latin typeface="Arial"/>
                <a:ea typeface="Microsoft YaHei"/>
                <a:cs typeface="Arial"/>
              </a:rPr>
              <a:t>国内外对毛泽东的评价两极分化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852285" y="4602956"/>
            <a:ext cx="30403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BDD7FF"/>
                </a:solidFill>
                <a:latin typeface="Arial"/>
                <a:ea typeface="Microsoft YaHei"/>
                <a:cs typeface="Arial"/>
              </a:rPr>
              <a:t>既有革命领袖的赞誉，也有对晚年错误的争议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852285" y="4812506"/>
            <a:ext cx="243459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BDD7FF"/>
                </a:solidFill>
                <a:latin typeface="Arial"/>
                <a:ea typeface="Microsoft YaHei"/>
                <a:cs typeface="Arial"/>
              </a:rPr>
              <a:t>其历史地位复杂而厚重，需辩证看待</a:t>
            </a:r>
          </a:p>
        </p:txBody>
      </p:sp>
      <p:sp>
        <p:nvSpPr>
          <p:cNvPr id="69" name="Rectangle 69"/>
          <p:cNvSpPr/>
          <p:nvPr/>
        </p:nvSpPr>
        <p:spPr>
          <a:xfrm>
            <a:off x="6286500" y="5372100"/>
            <a:ext cx="5334000" cy="1047750"/>
          </a:xfrm>
          <a:prstGeom prst="roundRect">
            <a:avLst>
              <a:gd name="adj" fmla="val 5455"/>
            </a:avLst>
          </a:prstGeom>
          <a:solidFill>
            <a:srgbClr val="0D1830">
              <a:alpha val="90000"/>
            </a:srgbClr>
          </a:solidFill>
          <a:ln w="9525">
            <a:solidFill>
              <a:srgbClr val="1E3A5F">
                <a:alpha val="90000"/>
              </a:srgbClr>
            </a:solidFill>
          </a:ln>
        </p:spPr>
      </p:sp>
      <p:sp>
        <p:nvSpPr>
          <p:cNvPr id="70" name="Rectangle 70"/>
          <p:cNvSpPr/>
          <p:nvPr/>
        </p:nvSpPr>
        <p:spPr>
          <a:xfrm>
            <a:off x="6286500" y="5372100"/>
            <a:ext cx="5334000" cy="28575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</p:sp>
      <p:grpSp>
        <p:nvGrpSpPr>
          <p:cNvPr id="73" name="Group 73"/>
          <p:cNvGrpSpPr/>
          <p:nvPr/>
        </p:nvGrpSpPr>
        <p:grpSpPr>
          <a:xfrm>
            <a:off x="6534150" y="5600700"/>
            <a:ext cx="152400" cy="228600"/>
            <a:chOff x="6534150" y="5600700"/>
            <a:chExt cx="152400" cy="228600"/>
          </a:xfrm>
        </p:grpSpPr>
        <p:sp>
          <p:nvSpPr>
            <p:cNvPr id="71" name="Freeform 71"/>
            <p:cNvSpPr/>
            <p:nvPr/>
          </p:nvSpPr>
          <p:spPr>
            <a:xfrm>
              <a:off x="6534150" y="5600700"/>
              <a:ext cx="152400" cy="228600"/>
            </a:xfrm>
            <a:custGeom>
              <a:avLst/>
              <a:gdLst/>
              <a:ahLst/>
              <a:cxnLst/>
              <a:rect l="l" t="t" r="r" b="b"/>
              <a:pathLst>
                <a:path w="152400" h="228600">
                  <a:moveTo>
                    <a:pt x="0" y="228600"/>
                  </a:moveTo>
                  <a:lnTo>
                    <a:pt x="0" y="0"/>
                  </a:lnTo>
                  <a:lnTo>
                    <a:pt x="76200" y="76200"/>
                  </a:lnTo>
                  <a:lnTo>
                    <a:pt x="152400" y="0"/>
                  </a:lnTo>
                  <a:lnTo>
                    <a:pt x="152400" y="228600"/>
                  </a:lnTo>
                  <a:close/>
                </a:path>
              </a:pathLst>
            </a:custGeom>
            <a:noFill/>
            <a:ln w="11430">
              <a:solidFill>
                <a:srgbClr val="7C3AED">
                  <a:alpha val="70000"/>
                </a:srgbClr>
              </a:solidFill>
            </a:ln>
          </p:spPr>
        </p:sp>
        <p:sp>
          <p:nvSpPr>
            <p:cNvPr id="72" name="Line 72"/>
            <p:cNvSpPr/>
            <p:nvPr/>
          </p:nvSpPr>
          <p:spPr>
            <a:xfrm>
              <a:off x="6572250" y="5676900"/>
              <a:ext cx="76200" cy="9525"/>
            </a:xfrm>
            <a:custGeom>
              <a:avLst/>
              <a:gdLst/>
              <a:ahLst/>
              <a:cxnLst/>
              <a:rect l="l" t="t" r="r" b="b"/>
              <a:pathLst>
                <a:path w="76200" h="9525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11430">
              <a:solidFill>
                <a:srgbClr val="7C3AED">
                  <a:alpha val="70000"/>
                </a:srgbClr>
              </a:solidFill>
            </a:ln>
          </p:spPr>
        </p:sp>
      </p:grpSp>
      <p:sp>
        <p:nvSpPr>
          <p:cNvPr id="74" name="TextBox 74"/>
          <p:cNvSpPr txBox="1"/>
          <p:nvPr/>
        </p:nvSpPr>
        <p:spPr>
          <a:xfrm>
            <a:off x="6850380" y="54768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文化意涵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6852285" y="5765006"/>
            <a:ext cx="236643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BDD7FF"/>
                </a:solidFill>
                <a:latin typeface="Arial"/>
                <a:ea typeface="Microsoft YaHei"/>
                <a:cs typeface="Arial"/>
              </a:rPr>
              <a:t>诗词如《沁园春·雪》展示文学成就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6852285" y="5974556"/>
            <a:ext cx="273748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BDD7FF"/>
                </a:solidFill>
                <a:latin typeface="Arial"/>
                <a:ea typeface="Microsoft YaHei"/>
                <a:cs typeface="Arial"/>
              </a:rPr>
              <a:t>其姓名与思想已成为深沉的中国文化符号</a:t>
            </a:r>
          </a:p>
        </p:txBody>
      </p:sp>
      <p:grpSp>
        <p:nvGrpSpPr>
          <p:cNvPr id="80" name="Group 80"/>
          <p:cNvGrpSpPr/>
          <p:nvPr/>
        </p:nvGrpSpPr>
        <p:grpSpPr>
          <a:xfrm>
            <a:off x="6286500" y="1762125"/>
            <a:ext cx="9525" cy="3609975"/>
            <a:chOff x="6286500" y="1762125"/>
            <a:chExt cx="9525" cy="3609975"/>
          </a:xfrm>
        </p:grpSpPr>
        <p:sp>
          <p:nvSpPr>
            <p:cNvPr id="77" name="Line 77"/>
            <p:cNvSpPr/>
            <p:nvPr/>
          </p:nvSpPr>
          <p:spPr>
            <a:xfrm>
              <a:off x="6286500" y="1762125"/>
              <a:ext cx="9525" cy="790575"/>
            </a:xfrm>
            <a:custGeom>
              <a:avLst/>
              <a:gdLst/>
              <a:ahLst/>
              <a:cxnLst/>
              <a:rect l="l" t="t" r="r" b="b"/>
              <a:pathLst>
                <a:path w="9525" h="790575">
                  <a:moveTo>
                    <a:pt x="0" y="0"/>
                  </a:moveTo>
                  <a:lnTo>
                    <a:pt x="0" y="790575"/>
                  </a:lnTo>
                </a:path>
              </a:pathLst>
            </a:custGeom>
            <a:noFill/>
            <a:ln w="9525">
              <a:solidFill>
                <a:srgbClr val="38BDF8">
                  <a:alpha val="20000"/>
                </a:srgbClr>
              </a:solidFill>
            </a:ln>
          </p:spPr>
        </p:sp>
        <p:sp>
          <p:nvSpPr>
            <p:cNvPr id="78" name="Line 78"/>
            <p:cNvSpPr/>
            <p:nvPr/>
          </p:nvSpPr>
          <p:spPr>
            <a:xfrm>
              <a:off x="6286500" y="3171825"/>
              <a:ext cx="9525" cy="790575"/>
            </a:xfrm>
            <a:custGeom>
              <a:avLst/>
              <a:gdLst/>
              <a:ahLst/>
              <a:cxnLst/>
              <a:rect l="l" t="t" r="r" b="b"/>
              <a:pathLst>
                <a:path w="9525" h="790575">
                  <a:moveTo>
                    <a:pt x="0" y="0"/>
                  </a:moveTo>
                  <a:lnTo>
                    <a:pt x="0" y="790575"/>
                  </a:lnTo>
                </a:path>
              </a:pathLst>
            </a:custGeom>
            <a:noFill/>
            <a:ln w="9525">
              <a:solidFill>
                <a:srgbClr val="38BDF8">
                  <a:alpha val="20000"/>
                </a:srgbClr>
              </a:solidFill>
            </a:ln>
          </p:spPr>
        </p:sp>
        <p:sp>
          <p:nvSpPr>
            <p:cNvPr id="79" name="Line 79"/>
            <p:cNvSpPr/>
            <p:nvPr/>
          </p:nvSpPr>
          <p:spPr>
            <a:xfrm>
              <a:off x="6286500" y="4581525"/>
              <a:ext cx="9525" cy="790575"/>
            </a:xfrm>
            <a:custGeom>
              <a:avLst/>
              <a:gdLst/>
              <a:ahLst/>
              <a:cxnLst/>
              <a:rect l="l" t="t" r="r" b="b"/>
              <a:pathLst>
                <a:path w="9525" h="790575">
                  <a:moveTo>
                    <a:pt x="0" y="0"/>
                  </a:moveTo>
                  <a:lnTo>
                    <a:pt x="0" y="790575"/>
                  </a:lnTo>
                </a:path>
              </a:pathLst>
            </a:custGeom>
            <a:noFill/>
            <a:ln w="9525">
              <a:solidFill>
                <a:srgbClr val="38BDF8">
                  <a:alpha val="20000"/>
                </a:srgbClr>
              </a:solidFill>
            </a:ln>
          </p:spPr>
        </p:sp>
      </p:grpSp>
      <p:sp>
        <p:nvSpPr>
          <p:cNvPr id="81" name="Ellipse 81"/>
          <p:cNvSpPr/>
          <p:nvPr/>
        </p:nvSpPr>
        <p:spPr>
          <a:xfrm>
            <a:off x="6257925" y="2124075"/>
            <a:ext cx="57150" cy="57150"/>
          </a:xfrm>
          <a:prstGeom prst="ellipse">
            <a:avLst/>
          </a:prstGeom>
          <a:solidFill>
            <a:srgbClr val="38BDF8">
              <a:alpha val="40000"/>
            </a:srgbClr>
          </a:solidFill>
          <a:ln>
            <a:noFill/>
          </a:ln>
        </p:spPr>
      </p:sp>
      <p:sp>
        <p:nvSpPr>
          <p:cNvPr id="82" name="Ellipse 82"/>
          <p:cNvSpPr/>
          <p:nvPr/>
        </p:nvSpPr>
        <p:spPr>
          <a:xfrm>
            <a:off x="6257925" y="3533775"/>
            <a:ext cx="57150" cy="57150"/>
          </a:xfrm>
          <a:prstGeom prst="ellipse">
            <a:avLst/>
          </a:prstGeom>
          <a:solidFill>
            <a:srgbClr val="38BDF8">
              <a:alpha val="40000"/>
            </a:srgbClr>
          </a:solidFill>
          <a:ln>
            <a:noFill/>
          </a:ln>
        </p:spPr>
      </p:sp>
      <p:sp>
        <p:nvSpPr>
          <p:cNvPr id="83" name="Ellipse 83"/>
          <p:cNvSpPr/>
          <p:nvPr/>
        </p:nvSpPr>
        <p:spPr>
          <a:xfrm>
            <a:off x="6257925" y="4943475"/>
            <a:ext cx="57150" cy="57150"/>
          </a:xfrm>
          <a:prstGeom prst="ellipse">
            <a:avLst/>
          </a:prstGeom>
          <a:solidFill>
            <a:srgbClr val="38BDF8">
              <a:alpha val="40000"/>
            </a:srgbClr>
          </a:solidFill>
          <a:ln>
            <a:noFill/>
          </a:ln>
        </p:spPr>
      </p:sp>
      <p:sp>
        <p:nvSpPr>
          <p:cNvPr id="84" name="Rectangle 84"/>
          <p:cNvSpPr/>
          <p:nvPr/>
        </p:nvSpPr>
        <p:spPr>
          <a:xfrm>
            <a:off x="533400" y="6438900"/>
            <a:ext cx="11125200" cy="9525"/>
          </a:xfrm>
          <a:prstGeom prst="roundRect">
            <a:avLst>
              <a:gd name="adj" fmla="val 50000"/>
            </a:avLst>
          </a:prstGeom>
          <a:solidFill>
            <a:srgbClr val="1E3A5F">
              <a:alpha val="50000"/>
            </a:srgbClr>
          </a:solidFill>
          <a:ln>
            <a:noFill/>
          </a:ln>
        </p:spPr>
      </p:sp>
      <p:sp>
        <p:nvSpPr>
          <p:cNvPr id="85" name="TextBox 85"/>
          <p:cNvSpPr txBox="1"/>
          <p:nvPr/>
        </p:nvSpPr>
        <p:spPr>
          <a:xfrm>
            <a:off x="5044292" y="6562249"/>
            <a:ext cx="210341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毛泽东：时代与革命（1893—1976）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1213944" y="6562249"/>
            <a:ext cx="44960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dirty="0">
                <a:solidFill>
                  <a:srgbClr val="52637A"/>
                </a:solidFill>
                <a:latin typeface="Consolas"/>
                <a:ea typeface="Consolas"/>
                <a:cs typeface="Consolas"/>
              </a:rPr>
              <a:t>06 / 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2026-07-18T02:31:36Z</dcterms:created>
  <dcterms:modified xsi:type="dcterms:W3CDTF">2026-07-18T02:31:36Z</dcterms:modified>
  <cp:category/>
  <cp:contentStatus/>
</cp:coreProperties>
</file>