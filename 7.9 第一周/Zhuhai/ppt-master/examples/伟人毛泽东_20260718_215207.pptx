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尊敬的评委、老师们，大家好。毛泽东这个名字，与中国革命、建设的历史紧密相连。今天我们怀着崇敬的心情，开始这段红色之旅。他不仅是一位杰出的军事家、政治家，更是留下千万言著作的思想者。从贫寒农家到开国领袖，他一生的足迹印刻在民族复兴的道路上。虽然后世评价不一，但无人能否认他带领中国人民‘站起来’的历史功绩。让我们以‘东方红，太阳升’的豪情，走进伟人的世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旨在展现毛泽东从青年到建国波澜壮阔的革命历程。我们可以从韶山冲的农家少年讲起，重点突出他在秋收起义、井冈山斗争、长征、抗战和解放战争中的决策与贡献。时间轴的设计能帮助评委直观把握历史脉络。引用遵义会议、论持久战、开国大典等关键节点，让叙述既有宏观视野又有具体史实支撑。通过革命史实与红色情怀的交融，唤起听众对伟人奋斗的敬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1949至1962年毛泽东领导下的建设成就与探索曲折。以抗美援朝、土地改革、社会主义改造和五四宪法展现奠基之功，同时点明反右扩大化和大跃进带来的教训，体现辩证的历史视角。用对比图表增强视觉冲击，突出红色情怀下的复杂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聚焦毛泽东晚年的沧桑变局。1962年的七千人大会本意是纠“左”，但未能弥合高层分歧；随后文化大革命爆发，1967年解放军介入使运动升级，社会经历剧烈震荡。与此同时，毛泽东以战略眼光推动外交破局：1972年尼克松访华打开中美关系大门，紧接着中日建交，大大改善了中国的外部环境。他更提出“三个世界”理论，重塑国际意识形态版图。然而，晚年的“无产阶级专政下继续革命”等思想被历史决议否定，显示其探索中充满矛盾。我们要看到这段历史的复杂性：一方面是大动荡，另一方面是大外交。毛泽东在晚年依然以国家利益为重，为后来的改革开放创造了外部条件。展示时，请强调这种辩证关系，避免简单否定或美化，让评委看到历史的多面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毛泽东的思想体系与人文修养，以“实事求是”“群众路线”等核心理念为切入，展示其对中国革命与建设的理论贡献。同时通过诗词、书法及个人生活侧面，体现伟人博大胸怀与常人情感的统一。可引导学生品读《沁园春·雪》的豪迈意象，结合历史背景理解其精神力量。家庭关系的简短提及，如与杨开慧、毛岸英的故事，让历史人物更具温度，但避免过度细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为收尾页面，需升华红色情怀，体现辩证历史观。首先点明毛泽东著作与思想是丰厚遗产，引用《历史决议》定调功过主次。接着展示其全球影响：三个世界理论、冷战介入、毛主义传播，说明他超越国界的意义。然后直面争议：政治运动造成的代价，评价两极分化的现实。最后，以名句“数风流人物，还看今朝”收束，既呼应封面“东方红，太阳升”的崇敬，又引导师生思考：评价历史人物需置身特定背景，他的精神与教训都将被后人铭记。语气应庄重克制，不回避矛盾，但落脚于精神不灭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419100"/>
            <a:ext cx="9525" cy="6019800"/>
          </a:xfrm>
          <a:custGeom>
            <a:avLst/>
            <a:gdLst/>
            <a:ahLst/>
            <a:cxnLst/>
            <a:rect l="l" t="t" r="r" b="b"/>
            <a:pathLst>
              <a:path w="9525" h="6019800">
                <a:moveTo>
                  <a:pt x="0" y="0"/>
                </a:moveTo>
                <a:lnTo>
                  <a:pt x="0" y="601980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5" name="Ellipse 5"/>
          <p:cNvSpPr/>
          <p:nvPr/>
        </p:nvSpPr>
        <p:spPr>
          <a:xfrm>
            <a:off x="4572000" y="1143000"/>
            <a:ext cx="3048000" cy="3048000"/>
          </a:xfrm>
          <a:prstGeom prst="ellipse">
            <a:avLst/>
          </a:prstGeom>
          <a:noFill/>
          <a:ln w="19050">
            <a:solidFill>
              <a:srgbClr val="F59E0B"/>
            </a:solidFill>
          </a:ln>
        </p:spPr>
      </p:sp>
      <p:sp>
        <p:nvSpPr>
          <p:cNvPr id="6" name="Ellipse 6"/>
          <p:cNvSpPr/>
          <p:nvPr/>
        </p:nvSpPr>
        <p:spPr>
          <a:xfrm>
            <a:off x="4762500" y="1333500"/>
            <a:ext cx="2667000" cy="2667000"/>
          </a:xfrm>
          <a:prstGeom prst="ellipse">
            <a:avLst/>
          </a:prstGeom>
          <a:noFill/>
          <a:ln w="9525">
            <a:solidFill>
              <a:srgbClr val="F59E0B">
                <a:alpha val="4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4953000" y="1524000"/>
            <a:ext cx="2286000" cy="2286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715000" y="2286000"/>
            <a:ext cx="762000" cy="76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6096000" y="762000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19050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59E0B">
                <a:alpha val="3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4762500" y="952500"/>
            <a:ext cx="1333500" cy="1714500"/>
          </a:xfrm>
          <a:custGeom>
            <a:avLst/>
            <a:gdLst/>
            <a:ahLst/>
            <a:cxnLst/>
            <a:rect l="l" t="t" r="r" b="b"/>
            <a:pathLst>
              <a:path w="1333500" h="1714500">
                <a:moveTo>
                  <a:pt x="1333500" y="1714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59E0B">
                <a:alpha val="25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096000" y="952500"/>
            <a:ext cx="1333500" cy="1714500"/>
          </a:xfrm>
          <a:custGeom>
            <a:avLst/>
            <a:gdLst/>
            <a:ahLst/>
            <a:cxnLst/>
            <a:rect l="l" t="t" r="r" b="b"/>
            <a:pathLst>
              <a:path w="1333500" h="1714500">
                <a:moveTo>
                  <a:pt x="0" y="171450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F59E0B">
                <a:alpha val="2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3429000" y="1428750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2667000" y="1238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59E0B">
                <a:alpha val="15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6096000" y="1428750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0" y="123825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F59E0B">
                <a:alpha val="15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857500" y="2190750"/>
            <a:ext cx="3238500" cy="476250"/>
          </a:xfrm>
          <a:custGeom>
            <a:avLst/>
            <a:gdLst/>
            <a:ahLst/>
            <a:cxnLst/>
            <a:rect l="l" t="t" r="r" b="b"/>
            <a:pathLst>
              <a:path w="3238500" h="476250">
                <a:moveTo>
                  <a:pt x="3238500" y="476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59E0B">
                <a:alpha val="8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6096000" y="2190750"/>
            <a:ext cx="3238500" cy="476250"/>
          </a:xfrm>
          <a:custGeom>
            <a:avLst/>
            <a:gdLst/>
            <a:ahLst/>
            <a:cxnLst/>
            <a:rect l="l" t="t" r="r" b="b"/>
            <a:pathLst>
              <a:path w="3238500" h="476250">
                <a:moveTo>
                  <a:pt x="0" y="47625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F59E0B">
                <a:alpha val="8000"/>
              </a:srgbClr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5200650" y="2238375"/>
            <a:ext cx="1514475" cy="1905000"/>
          </a:xfrm>
          <a:custGeom>
            <a:avLst/>
            <a:gdLst/>
            <a:ahLst/>
            <a:cxnLst/>
            <a:rect l="l" t="t" r="r" b="b"/>
            <a:pathLst>
              <a:path w="1514475" h="1905000">
                <a:moveTo>
                  <a:pt x="609600" y="1762125"/>
                </a:moveTo>
                <a:lnTo>
                  <a:pt x="609600" y="1476375"/>
                </a:lnTo>
                <a:lnTo>
                  <a:pt x="466725" y="1381125"/>
                </a:lnTo>
                <a:lnTo>
                  <a:pt x="419100" y="1285875"/>
                </a:lnTo>
                <a:lnTo>
                  <a:pt x="419100" y="1095375"/>
                </a:lnTo>
                <a:lnTo>
                  <a:pt x="466725" y="1000125"/>
                </a:lnTo>
                <a:lnTo>
                  <a:pt x="514350" y="952500"/>
                </a:lnTo>
                <a:lnTo>
                  <a:pt x="561975" y="904875"/>
                </a:lnTo>
                <a:lnTo>
                  <a:pt x="609600" y="809625"/>
                </a:lnTo>
                <a:lnTo>
                  <a:pt x="657225" y="714375"/>
                </a:lnTo>
                <a:lnTo>
                  <a:pt x="704850" y="619125"/>
                </a:lnTo>
                <a:lnTo>
                  <a:pt x="752475" y="523875"/>
                </a:lnTo>
                <a:lnTo>
                  <a:pt x="781050" y="428625"/>
                </a:lnTo>
                <a:lnTo>
                  <a:pt x="800100" y="333375"/>
                </a:lnTo>
                <a:lnTo>
                  <a:pt x="781050" y="238125"/>
                </a:lnTo>
                <a:lnTo>
                  <a:pt x="752475" y="142875"/>
                </a:lnTo>
                <a:lnTo>
                  <a:pt x="704850" y="95250"/>
                </a:lnTo>
                <a:lnTo>
                  <a:pt x="657225" y="47625"/>
                </a:lnTo>
                <a:lnTo>
                  <a:pt x="609600" y="28575"/>
                </a:lnTo>
                <a:lnTo>
                  <a:pt x="561975" y="9525"/>
                </a:lnTo>
                <a:lnTo>
                  <a:pt x="514350" y="0"/>
                </a:lnTo>
                <a:lnTo>
                  <a:pt x="466725" y="28575"/>
                </a:lnTo>
                <a:lnTo>
                  <a:pt x="419100" y="66675"/>
                </a:lnTo>
                <a:lnTo>
                  <a:pt x="400050" y="123825"/>
                </a:lnTo>
                <a:lnTo>
                  <a:pt x="381000" y="190500"/>
                </a:lnTo>
                <a:lnTo>
                  <a:pt x="361950" y="285750"/>
                </a:lnTo>
                <a:lnTo>
                  <a:pt x="323850" y="409575"/>
                </a:lnTo>
                <a:lnTo>
                  <a:pt x="276225" y="523875"/>
                </a:lnTo>
                <a:lnTo>
                  <a:pt x="209550" y="619125"/>
                </a:lnTo>
                <a:lnTo>
                  <a:pt x="133350" y="695325"/>
                </a:lnTo>
                <a:lnTo>
                  <a:pt x="85725" y="733425"/>
                </a:lnTo>
                <a:lnTo>
                  <a:pt x="38100" y="790575"/>
                </a:lnTo>
                <a:lnTo>
                  <a:pt x="19050" y="857250"/>
                </a:lnTo>
                <a:lnTo>
                  <a:pt x="0" y="952500"/>
                </a:lnTo>
                <a:lnTo>
                  <a:pt x="0" y="1047750"/>
                </a:lnTo>
                <a:lnTo>
                  <a:pt x="19050" y="1143000"/>
                </a:lnTo>
                <a:lnTo>
                  <a:pt x="57150" y="1238250"/>
                </a:lnTo>
                <a:lnTo>
                  <a:pt x="114300" y="1333500"/>
                </a:lnTo>
                <a:lnTo>
                  <a:pt x="190500" y="1428750"/>
                </a:lnTo>
                <a:lnTo>
                  <a:pt x="304800" y="1524000"/>
                </a:lnTo>
                <a:lnTo>
                  <a:pt x="419100" y="1619250"/>
                </a:lnTo>
                <a:lnTo>
                  <a:pt x="561975" y="1714500"/>
                </a:lnTo>
                <a:lnTo>
                  <a:pt x="704850" y="1809750"/>
                </a:lnTo>
                <a:lnTo>
                  <a:pt x="847725" y="1876425"/>
                </a:lnTo>
                <a:lnTo>
                  <a:pt x="990600" y="1905000"/>
                </a:lnTo>
                <a:lnTo>
                  <a:pt x="1133475" y="1905000"/>
                </a:lnTo>
                <a:lnTo>
                  <a:pt x="1257300" y="1857375"/>
                </a:lnTo>
                <a:lnTo>
                  <a:pt x="1371600" y="1781175"/>
                </a:lnTo>
                <a:lnTo>
                  <a:pt x="1447800" y="1666875"/>
                </a:lnTo>
                <a:lnTo>
                  <a:pt x="1485900" y="1552575"/>
                </a:lnTo>
                <a:lnTo>
                  <a:pt x="1514475" y="1428750"/>
                </a:lnTo>
                <a:lnTo>
                  <a:pt x="1514475" y="1333500"/>
                </a:lnTo>
                <a:lnTo>
                  <a:pt x="1485900" y="1238250"/>
                </a:lnTo>
                <a:lnTo>
                  <a:pt x="1428750" y="1171575"/>
                </a:lnTo>
                <a:lnTo>
                  <a:pt x="1352550" y="1114425"/>
                </a:lnTo>
                <a:lnTo>
                  <a:pt x="1257300" y="1076325"/>
                </a:lnTo>
                <a:lnTo>
                  <a:pt x="1162050" y="1057275"/>
                </a:lnTo>
                <a:lnTo>
                  <a:pt x="1066800" y="1076325"/>
                </a:lnTo>
                <a:lnTo>
                  <a:pt x="990600" y="1114425"/>
                </a:lnTo>
                <a:lnTo>
                  <a:pt x="942975" y="1171575"/>
                </a:lnTo>
                <a:lnTo>
                  <a:pt x="914400" y="1266825"/>
                </a:lnTo>
                <a:lnTo>
                  <a:pt x="895350" y="1362075"/>
                </a:lnTo>
                <a:lnTo>
                  <a:pt x="895350" y="1762125"/>
                </a:lnTo>
                <a:close/>
              </a:path>
            </a:pathLst>
          </a:custGeom>
          <a:solidFill>
            <a:srgbClr val="1F2937">
              <a:alpha val="9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24613" y="4277678"/>
            <a:ext cx="3142774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spc="4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伟人毛泽东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64430" y="4948238"/>
            <a:ext cx="22631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i="1" dirty="0">
                <a:solidFill>
                  <a:srgbClr val="263244"/>
                </a:solidFill>
                <a:latin typeface="Georgia"/>
                <a:ea typeface="SimSun"/>
                <a:cs typeface="Georgia"/>
              </a:rPr>
              <a:t>东方红，太阳升</a:t>
            </a:r>
          </a:p>
        </p:txBody>
      </p:sp>
      <p:sp>
        <p:nvSpPr>
          <p:cNvPr id="19" name="Line 19"/>
          <p:cNvSpPr/>
          <p:nvPr/>
        </p:nvSpPr>
        <p:spPr>
          <a:xfrm>
            <a:off x="5143500" y="53340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4288">
            <a:solidFill>
              <a:srgbClr val="F59E0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708023" y="56916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他从韶山走来，以思想与行动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8023" y="59393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照亮中国前路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60773" y="569166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逾千万字著作，革命智慧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60773" y="59393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凝为不朽经典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13523" y="56916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一生功过皆求索，人民心中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13523" y="5939314"/>
            <a:ext cx="5278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自有碑</a:t>
            </a:r>
          </a:p>
        </p:txBody>
      </p:sp>
      <p:sp>
        <p:nvSpPr>
          <p:cNvPr id="26" name="Ellipse 26"/>
          <p:cNvSpPr/>
          <p:nvPr/>
        </p:nvSpPr>
        <p:spPr>
          <a:xfrm>
            <a:off x="1495425" y="5734050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4448175" y="5734050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400925" y="5734050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358324" y="6295549"/>
            <a:ext cx="3052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447" y="6295549"/>
            <a:ext cx="17359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伟人毛泽东 · 红色情怀永传承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D0D7E2">
                <a:alpha val="6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6586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D0D7E2">
                <a:alpha val="60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33400" y="419100"/>
            <a:ext cx="11125200" cy="1047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19684" y="518160"/>
            <a:ext cx="42064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革命足迹（1893—1949）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5018" y="10029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从韶山冲到天安门，开创革命新道路</a:t>
            </a:r>
          </a:p>
        </p:txBody>
      </p:sp>
      <p:sp>
        <p:nvSpPr>
          <p:cNvPr id="8" name="Line 8"/>
          <p:cNvSpPr/>
          <p:nvPr/>
        </p:nvSpPr>
        <p:spPr>
          <a:xfrm>
            <a:off x="533400" y="1562100"/>
            <a:ext cx="2514600" cy="9525"/>
          </a:xfrm>
          <a:custGeom>
            <a:avLst/>
            <a:gdLst/>
            <a:ahLst/>
            <a:cxnLst/>
            <a:rect l="l" t="t" r="r" b="b"/>
            <a:pathLst>
              <a:path w="2514600" h="9525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38100">
            <a:solidFill>
              <a:srgbClr val="F59E0B"/>
            </a:solidFill>
          </a:ln>
        </p:spPr>
      </p:sp>
      <p:sp>
        <p:nvSpPr>
          <p:cNvPr id="9" name="Line 9"/>
          <p:cNvSpPr/>
          <p:nvPr/>
        </p:nvSpPr>
        <p:spPr>
          <a:xfrm>
            <a:off x="857250" y="51435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28575">
            <a:solidFill>
              <a:srgbClr val="1F2937"/>
            </a:solidFill>
          </a:ln>
        </p:spPr>
      </p:sp>
      <p:sp>
        <p:nvSpPr>
          <p:cNvPr id="10" name="Polygon 10"/>
          <p:cNvSpPr/>
          <p:nvPr/>
        </p:nvSpPr>
        <p:spPr>
          <a:xfrm>
            <a:off x="11334750" y="50577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0" y="0"/>
                </a:moveTo>
                <a:lnTo>
                  <a:pt x="0" y="171450"/>
                </a:lnTo>
                <a:lnTo>
                  <a:pt x="152400" y="85725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00698" y="5371624"/>
            <a:ext cx="313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1893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8198" y="5371624"/>
            <a:ext cx="313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1949</a:t>
            </a:r>
          </a:p>
        </p:txBody>
      </p:sp>
      <p:sp>
        <p:nvSpPr>
          <p:cNvPr id="13" name="Line 13"/>
          <p:cNvSpPr/>
          <p:nvPr/>
        </p:nvSpPr>
        <p:spPr>
          <a:xfrm>
            <a:off x="3619500" y="5143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3543300" y="5067300"/>
            <a:ext cx="152400" cy="1524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703400" y="5598795"/>
            <a:ext cx="2894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1927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781300" y="5791200"/>
            <a:ext cx="1676400" cy="685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2781300" y="5791200"/>
            <a:ext cx="1676400" cy="9525"/>
          </a:xfrm>
          <a:custGeom>
            <a:avLst/>
            <a:gdLst/>
            <a:ahLst/>
            <a:cxnLst/>
            <a:rect l="l" t="t" r="r" b="b"/>
            <a:pathLst>
              <a:path w="1676400" h="952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28575">
            <a:solidFill>
              <a:srgbClr val="F59E0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852547" y="5876449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秋收起义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738" y="6083141"/>
            <a:ext cx="11201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创建工农革命军第一师</a:t>
            </a:r>
          </a:p>
        </p:txBody>
      </p:sp>
      <p:sp>
        <p:nvSpPr>
          <p:cNvPr id="20" name="Line 20"/>
          <p:cNvSpPr/>
          <p:nvPr/>
        </p:nvSpPr>
        <p:spPr>
          <a:xfrm>
            <a:off x="5143500" y="4572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5067300" y="5067300"/>
            <a:ext cx="152400" cy="1524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109628" y="4436745"/>
            <a:ext cx="6392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1927-1928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05300" y="3638550"/>
            <a:ext cx="1676400" cy="685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4305300" y="3638550"/>
            <a:ext cx="1676400" cy="9525"/>
          </a:xfrm>
          <a:custGeom>
            <a:avLst/>
            <a:gdLst/>
            <a:ahLst/>
            <a:cxnLst/>
            <a:rect l="l" t="t" r="r" b="b"/>
            <a:pathLst>
              <a:path w="1676400" h="952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76547" y="3723799"/>
            <a:ext cx="423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井冈山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6738" y="393049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开创首个农村革命根据地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5143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6591300" y="5067300"/>
            <a:ext cx="152400" cy="1524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538378" y="5598795"/>
            <a:ext cx="6392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1934-1935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829300" y="5791200"/>
            <a:ext cx="1676400" cy="685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5829300" y="5791200"/>
            <a:ext cx="1676400" cy="9525"/>
          </a:xfrm>
          <a:custGeom>
            <a:avLst/>
            <a:gdLst/>
            <a:ahLst/>
            <a:cxnLst/>
            <a:rect l="l" t="t" r="r" b="b"/>
            <a:pathLst>
              <a:path w="1676400" h="952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28575">
            <a:solidFill>
              <a:srgbClr val="F59E0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900547" y="5876449"/>
            <a:ext cx="2855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长征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00738" y="60831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保存革命火种，战略转移</a:t>
            </a:r>
          </a:p>
        </p:txBody>
      </p:sp>
      <p:sp>
        <p:nvSpPr>
          <p:cNvPr id="34" name="Line 34"/>
          <p:cNvSpPr/>
          <p:nvPr/>
        </p:nvSpPr>
        <p:spPr>
          <a:xfrm>
            <a:off x="8191500" y="4572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8115300" y="5067300"/>
            <a:ext cx="152400" cy="1524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119528" y="4436745"/>
            <a:ext cx="6392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1937-1945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353300" y="3638550"/>
            <a:ext cx="1676400" cy="685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7353300" y="3638550"/>
            <a:ext cx="1676400" cy="9525"/>
          </a:xfrm>
          <a:custGeom>
            <a:avLst/>
            <a:gdLst/>
            <a:ahLst/>
            <a:cxnLst/>
            <a:rect l="l" t="t" r="r" b="b"/>
            <a:pathLst>
              <a:path w="1676400" h="952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24547" y="3723799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抗日战争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24738" y="3930491"/>
            <a:ext cx="13422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持久战方针，凝聚民族力量</a:t>
            </a:r>
          </a:p>
        </p:txBody>
      </p:sp>
      <p:sp>
        <p:nvSpPr>
          <p:cNvPr id="41" name="Line 41"/>
          <p:cNvSpPr/>
          <p:nvPr/>
        </p:nvSpPr>
        <p:spPr>
          <a:xfrm>
            <a:off x="9906000" y="5143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42" name="Ellipse 42"/>
          <p:cNvSpPr/>
          <p:nvPr/>
        </p:nvSpPr>
        <p:spPr>
          <a:xfrm>
            <a:off x="9810750" y="5048250"/>
            <a:ext cx="190500" cy="190500"/>
          </a:xfrm>
          <a:prstGeom prst="ellipse">
            <a:avLst/>
          </a:prstGeom>
          <a:solidFill>
            <a:srgbClr val="1F2937"/>
          </a:solidFill>
          <a:ln w="28575">
            <a:solidFill>
              <a:srgbClr val="FFFF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989900" y="5598795"/>
            <a:ext cx="2894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1949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067800" y="5791200"/>
            <a:ext cx="1676400" cy="685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45" name="Line 45"/>
          <p:cNvSpPr/>
          <p:nvPr/>
        </p:nvSpPr>
        <p:spPr>
          <a:xfrm>
            <a:off x="9067800" y="5791200"/>
            <a:ext cx="1676400" cy="9525"/>
          </a:xfrm>
          <a:custGeom>
            <a:avLst/>
            <a:gdLst/>
            <a:ahLst/>
            <a:cxnLst/>
            <a:rect l="l" t="t" r="r" b="b"/>
            <a:pathLst>
              <a:path w="1676400" h="952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28575">
            <a:solidFill>
              <a:srgbClr val="1F2937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139047" y="5876449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开国大典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39238" y="60831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推翻国民党统治，建立新中国</a:t>
            </a:r>
          </a:p>
        </p:txBody>
      </p:sp>
      <p:sp>
        <p:nvSpPr>
          <p:cNvPr id="48" name="Line 48"/>
          <p:cNvSpPr/>
          <p:nvPr/>
        </p:nvSpPr>
        <p:spPr>
          <a:xfrm>
            <a:off x="857250" y="5143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D0D7E2"/>
            </a:solidFill>
            <a:custDash>
              <a:ds d="400000" sp="600000"/>
            </a:custDash>
          </a:ln>
        </p:spPr>
      </p:sp>
      <p:sp>
        <p:nvSpPr>
          <p:cNvPr id="49" name="Ellipse 49"/>
          <p:cNvSpPr/>
          <p:nvPr/>
        </p:nvSpPr>
        <p:spPr>
          <a:xfrm>
            <a:off x="6638925" y="5114925"/>
            <a:ext cx="57150" cy="57150"/>
          </a:xfrm>
          <a:prstGeom prst="ellipse">
            <a:avLst/>
          </a:prstGeom>
          <a:solidFill>
            <a:srgbClr val="667085">
              <a:alpha val="5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157912" y="4872038"/>
            <a:ext cx="101917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遵义会议确立领导地位</a:t>
            </a:r>
          </a:p>
        </p:txBody>
      </p:sp>
      <p:sp>
        <p:nvSpPr>
          <p:cNvPr id="51" name="Line 51"/>
          <p:cNvSpPr/>
          <p:nvPr/>
        </p:nvSpPr>
        <p:spPr>
          <a:xfrm>
            <a:off x="533400" y="6477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0D7E2">
                <a:alpha val="3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47958" y="658939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D0D7E2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334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0D7E2">
                <a:alpha val="30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16586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0D7E2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26542" y="501968"/>
            <a:ext cx="2338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1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7398" y="974408"/>
            <a:ext cx="550425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spc="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建设与探索（1949—1962）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018" y="1584008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奠基与曲折：新中国初期的光辉成就与深刻教训</a:t>
            </a:r>
          </a:p>
        </p:txBody>
      </p:sp>
      <p:sp>
        <p:nvSpPr>
          <p:cNvPr id="9" name="Line 9"/>
          <p:cNvSpPr/>
          <p:nvPr/>
        </p:nvSpPr>
        <p:spPr>
          <a:xfrm>
            <a:off x="533400" y="19812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2209800"/>
            <a:ext cx="5334000" cy="3429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35155" y="2302192"/>
            <a:ext cx="11304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spc="2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光 輝 成 就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324600" y="2209800"/>
            <a:ext cx="5334000" cy="3429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26355" y="2302192"/>
            <a:ext cx="11304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spc="2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深 刻 教 訓</a:t>
            </a:r>
          </a:p>
        </p:txBody>
      </p:sp>
      <p:sp>
        <p:nvSpPr>
          <p:cNvPr id="14" name="Line 14"/>
          <p:cNvSpPr/>
          <p:nvPr/>
        </p:nvSpPr>
        <p:spPr>
          <a:xfrm>
            <a:off x="6057900" y="2209800"/>
            <a:ext cx="9525" cy="4076700"/>
          </a:xfrm>
          <a:custGeom>
            <a:avLst/>
            <a:gdLst/>
            <a:ahLst/>
            <a:cxnLst/>
            <a:rect l="l" t="t" r="r" b="b"/>
            <a:pathLst>
              <a:path w="9525" h="4076700">
                <a:moveTo>
                  <a:pt x="0" y="0"/>
                </a:moveTo>
                <a:lnTo>
                  <a:pt x="0" y="407670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7622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62000" y="2762250"/>
            <a:ext cx="38100" cy="7429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47750" y="29813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1143000" y="30194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57150" y="0"/>
                </a:lnTo>
                <a:lnTo>
                  <a:pt x="114300" y="762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19" name="Line 19"/>
          <p:cNvSpPr/>
          <p:nvPr/>
        </p:nvSpPr>
        <p:spPr>
          <a:xfrm>
            <a:off x="1200150" y="3133725"/>
            <a:ext cx="9525" cy="85725"/>
          </a:xfrm>
          <a:custGeom>
            <a:avLst/>
            <a:gdLst/>
            <a:ahLst/>
            <a:cxnLst/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040505" y="28765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抗美援朝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9804" y="30803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立国之战，捍卫新生政权与国家主权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36385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3638550"/>
            <a:ext cx="38100" cy="7429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38576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1162050" y="39052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  <a:moveTo>
                  <a:pt x="9525" y="114300"/>
                </a:moveTo>
                <a:lnTo>
                  <a:pt x="38100" y="38100"/>
                </a:lnTo>
                <a:lnTo>
                  <a:pt x="66675" y="1143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26" name="Line 26"/>
          <p:cNvSpPr/>
          <p:nvPr/>
        </p:nvSpPr>
        <p:spPr>
          <a:xfrm>
            <a:off x="1200150" y="403860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183380" y="37528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土地改革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9804" y="3956685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废除封建土地所有制，实现耕者有其田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5148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4514850"/>
            <a:ext cx="38100" cy="7429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047750" y="47339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1143000" y="47720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57150" y="0"/>
                </a:lnTo>
                <a:lnTo>
                  <a:pt x="114300" y="762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33" name="Line 33"/>
          <p:cNvSpPr/>
          <p:nvPr/>
        </p:nvSpPr>
        <p:spPr>
          <a:xfrm>
            <a:off x="1200150" y="4886325"/>
            <a:ext cx="9525" cy="85725"/>
          </a:xfrm>
          <a:custGeom>
            <a:avLst/>
            <a:gdLst/>
            <a:ahLst/>
            <a:cxnLst/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573780" y="462915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社会主义改造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79804" y="483298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确立社会主义公有制经济基础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53911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762000" y="5391150"/>
            <a:ext cx="38100" cy="7429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047750" y="56102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1162050" y="564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40" name="Line 40"/>
          <p:cNvSpPr/>
          <p:nvPr/>
        </p:nvSpPr>
        <p:spPr>
          <a:xfrm>
            <a:off x="1200150" y="5762625"/>
            <a:ext cx="9525" cy="85725"/>
          </a:xfrm>
          <a:custGeom>
            <a:avLst/>
            <a:gdLst/>
            <a:ahLst/>
            <a:cxnLst/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888105" y="55054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五四宪法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9804" y="57092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筑牢人民民主与社会主义制度根基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362700" y="27622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362700" y="2762250"/>
            <a:ext cx="381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6648450" y="29813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6743700" y="30194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57150" y="0"/>
                </a:lnTo>
                <a:lnTo>
                  <a:pt x="114300" y="762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47" name="Line 47"/>
          <p:cNvSpPr/>
          <p:nvPr/>
        </p:nvSpPr>
        <p:spPr>
          <a:xfrm>
            <a:off x="6800850" y="3133725"/>
            <a:ext cx="9525" cy="85725"/>
          </a:xfrm>
          <a:custGeom>
            <a:avLst/>
            <a:gdLst/>
            <a:ahLst/>
            <a:cxnLst/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498330" y="287655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反右扩大化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80504" y="30803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打击面过宽，挫伤知识分子积极性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362700" y="3638550"/>
            <a:ext cx="5067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362700" y="3638550"/>
            <a:ext cx="381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648450" y="3857625"/>
            <a:ext cx="304800" cy="304800"/>
          </a:xfrm>
          <a:prstGeom prst="ellipse">
            <a:avLst/>
          </a:prstGeom>
          <a:noFill/>
          <a:ln w="19050">
            <a:solidFill>
              <a:srgbClr val="1F2937"/>
            </a:solidFill>
          </a:ln>
        </p:spPr>
      </p:sp>
      <p:sp>
        <p:nvSpPr>
          <p:cNvPr id="53" name="Freeform 53"/>
          <p:cNvSpPr/>
          <p:nvPr/>
        </p:nvSpPr>
        <p:spPr>
          <a:xfrm>
            <a:off x="6762750" y="389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4288">
            <a:solidFill>
              <a:srgbClr val="1F2937"/>
            </a:solidFill>
          </a:ln>
        </p:spPr>
      </p:sp>
      <p:sp>
        <p:nvSpPr>
          <p:cNvPr id="54" name="Line 54"/>
          <p:cNvSpPr/>
          <p:nvPr/>
        </p:nvSpPr>
        <p:spPr>
          <a:xfrm>
            <a:off x="6800850" y="4010025"/>
            <a:ext cx="9525" cy="85725"/>
          </a:xfrm>
          <a:custGeom>
            <a:avLst/>
            <a:gdLst/>
            <a:ahLst/>
            <a:cxnLst/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631680" y="3752850"/>
            <a:ext cx="7891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大���进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080504" y="39566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盲目追求高指标，导致经济严重困难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362700" y="4667250"/>
            <a:ext cx="5067300" cy="146685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031099" y="4929664"/>
            <a:ext cx="17305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i="1" spc="75" dirty="0">
                <a:solidFill>
                  <a:srgbClr val="667085"/>
                </a:solidFill>
                <a:latin typeface="Georgia"/>
                <a:ea typeface="SimSun"/>
                <a:cs typeface="Georgia"/>
              </a:rPr>
              <a:t>历史是复杂的交响，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031099" y="5196364"/>
            <a:ext cx="17305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i="1" spc="75" dirty="0">
                <a:solidFill>
                  <a:srgbClr val="667085"/>
                </a:solidFill>
                <a:latin typeface="Georgia"/>
                <a:ea typeface="SimSun"/>
                <a:cs typeface="Georgia"/>
              </a:rPr>
              <a:t>光辉与曲折共同刻下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127111" y="5463064"/>
            <a:ext cx="15384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i="1" spc="75" dirty="0">
                <a:solidFill>
                  <a:srgbClr val="667085"/>
                </a:solidFill>
                <a:latin typeface="Georgia"/>
                <a:ea typeface="SimSun"/>
                <a:cs typeface="Georgia"/>
              </a:rPr>
              <a:t>民族前行的脚印。</a:t>
            </a:r>
          </a:p>
        </p:txBody>
      </p:sp>
      <p:sp>
        <p:nvSpPr>
          <p:cNvPr id="61" name="Line 61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4762">
            <a:solidFill>
              <a:srgbClr val="D0D7E2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28066" y="65351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伟人毛泽东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179740" y="6535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952500"/>
            <a:ext cx="9525" cy="5143500"/>
          </a:xfrm>
          <a:custGeom>
            <a:avLst/>
            <a:gdLst/>
            <a:ahLst/>
            <a:cxnLst/>
            <a:rect l="l" t="t" r="r" b="b"/>
            <a:pathLst>
              <a:path w="9525" h="5143500">
                <a:moveTo>
                  <a:pt x="0" y="0"/>
                </a:moveTo>
                <a:lnTo>
                  <a:pt x="0" y="5143500"/>
                </a:lnTo>
              </a:path>
            </a:pathLst>
          </a:custGeom>
          <a:noFill/>
          <a:ln w="19050">
            <a:solidFill>
              <a:srgbClr val="D0D7E2"/>
            </a:solidFill>
          </a:ln>
        </p:spPr>
      </p:sp>
      <p:sp>
        <p:nvSpPr>
          <p:cNvPr id="4" name="Ellipse 4"/>
          <p:cNvSpPr/>
          <p:nvPr/>
        </p:nvSpPr>
        <p:spPr>
          <a:xfrm>
            <a:off x="704850" y="203835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5" name="Ellipse 5"/>
          <p:cNvSpPr/>
          <p:nvPr/>
        </p:nvSpPr>
        <p:spPr>
          <a:xfrm>
            <a:off x="704850" y="308610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04850" y="413385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04850" y="518160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335226" y="63255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6998" y="726758"/>
            <a:ext cx="624332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晚年变局与沧桑（1962—1976）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142" y="1225868"/>
            <a:ext cx="81918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七千人大会后的分歧、文化大革命的风暴与外交破局并行，毛泽东在复杂历史关口逝世，留下深刻回响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28700" y="1714500"/>
            <a:ext cx="49530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34618" y="1879282"/>
            <a:ext cx="5589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1962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1180" y="1905000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七千人大会总结大跃进教训，试图缓解危机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28700" y="2762250"/>
            <a:ext cx="49530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34618" y="2927032"/>
            <a:ext cx="5589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1967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1180" y="2952750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中央下令解放军介入文化大革命，支持夺权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28700" y="3810000"/>
            <a:ext cx="49530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134618" y="3974782"/>
            <a:ext cx="5589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1972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1180" y="40005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尼克松访华破冰；中日邦交正常化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028700" y="4857750"/>
            <a:ext cx="4953000" cy="571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34618" y="5022532"/>
            <a:ext cx="5589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1976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21180" y="5048250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毛泽东逝世，留下深刻历史回响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0" y="1714500"/>
            <a:ext cx="4191000" cy="57150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11947" y="1898332"/>
            <a:ext cx="16831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i="1" dirty="0">
                <a:solidFill>
                  <a:srgbClr val="1F2937"/>
                </a:solidFill>
                <a:latin typeface="Georgia"/>
                <a:ea typeface="SimSun"/>
                <a:cs typeface="Georgia"/>
              </a:rPr>
              <a:t>“三个世界”理论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82762" y="21821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重塑冷战国际格局</a:t>
            </a:r>
          </a:p>
        </p:txBody>
      </p:sp>
      <p:sp>
        <p:nvSpPr>
          <p:cNvPr id="26" name="Freeform 26"/>
          <p:cNvSpPr/>
          <p:nvPr/>
        </p:nvSpPr>
        <p:spPr>
          <a:xfrm>
            <a:off x="7239000" y="3302000"/>
            <a:ext cx="1206500" cy="857250"/>
          </a:xfrm>
          <a:custGeom>
            <a:avLst/>
            <a:gdLst/>
            <a:ahLst/>
            <a:cxnLst/>
            <a:rect l="l" t="t" r="r" b="b"/>
            <a:pathLst>
              <a:path w="1206500" h="857250">
                <a:moveTo>
                  <a:pt x="0" y="317500"/>
                </a:moveTo>
                <a:cubicBezTo>
                  <a:pt x="254000" y="63500"/>
                  <a:pt x="539750" y="0"/>
                  <a:pt x="857250" y="127000"/>
                </a:cubicBezTo>
                <a:cubicBezTo>
                  <a:pt x="1111250" y="190500"/>
                  <a:pt x="1206500" y="349250"/>
                  <a:pt x="1143000" y="603250"/>
                </a:cubicBezTo>
                <a:cubicBezTo>
                  <a:pt x="1016000" y="793750"/>
                  <a:pt x="762000" y="857250"/>
                  <a:pt x="381000" y="793750"/>
                </a:cubicBezTo>
                <a:cubicBezTo>
                  <a:pt x="127000" y="730250"/>
                  <a:pt x="0" y="571500"/>
                  <a:pt x="0" y="317500"/>
                </a:cubicBezTo>
                <a:close/>
              </a:path>
            </a:pathLst>
          </a:custGeom>
          <a:noFill/>
          <a:ln w="14288">
            <a:solidFill>
              <a:srgbClr val="D0D7E2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223250" y="3270250"/>
            <a:ext cx="1047750" cy="1428750"/>
          </a:xfrm>
          <a:custGeom>
            <a:avLst/>
            <a:gdLst/>
            <a:ahLst/>
            <a:cxnLst/>
            <a:rect l="l" t="t" r="r" b="b"/>
            <a:pathLst>
              <a:path w="1047750" h="1428750">
                <a:moveTo>
                  <a:pt x="63500" y="63500"/>
                </a:moveTo>
                <a:cubicBezTo>
                  <a:pt x="381000" y="0"/>
                  <a:pt x="666750" y="95250"/>
                  <a:pt x="920750" y="349250"/>
                </a:cubicBezTo>
                <a:cubicBezTo>
                  <a:pt x="1047750" y="603250"/>
                  <a:pt x="1047750" y="889000"/>
                  <a:pt x="920750" y="1206500"/>
                </a:cubicBezTo>
                <a:cubicBezTo>
                  <a:pt x="666750" y="1397000"/>
                  <a:pt x="412750" y="1428750"/>
                  <a:pt x="158750" y="1301750"/>
                </a:cubicBezTo>
                <a:cubicBezTo>
                  <a:pt x="31750" y="1111250"/>
                  <a:pt x="0" y="698500"/>
                  <a:pt x="63500" y="63500"/>
                </a:cubicBezTo>
                <a:close/>
              </a:path>
            </a:pathLst>
          </a:custGeom>
          <a:noFill/>
          <a:ln w="14288">
            <a:solidFill>
              <a:srgbClr val="D0D7E2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9144000" y="3302000"/>
            <a:ext cx="1270000" cy="1428750"/>
          </a:xfrm>
          <a:custGeom>
            <a:avLst/>
            <a:gdLst/>
            <a:ahLst/>
            <a:cxnLst/>
            <a:rect l="l" t="t" r="r" b="b"/>
            <a:pathLst>
              <a:path w="1270000" h="1428750">
                <a:moveTo>
                  <a:pt x="0" y="127000"/>
                </a:moveTo>
                <a:cubicBezTo>
                  <a:pt x="381000" y="0"/>
                  <a:pt x="698500" y="63500"/>
                  <a:pt x="952500" y="317500"/>
                </a:cubicBezTo>
                <a:cubicBezTo>
                  <a:pt x="1206500" y="571500"/>
                  <a:pt x="1270000" y="857250"/>
                  <a:pt x="1143000" y="1174750"/>
                </a:cubicBezTo>
                <a:cubicBezTo>
                  <a:pt x="889000" y="1365250"/>
                  <a:pt x="635000" y="1428750"/>
                  <a:pt x="381000" y="1365250"/>
                </a:cubicBezTo>
                <a:cubicBezTo>
                  <a:pt x="127000" y="1301750"/>
                  <a:pt x="0" y="889000"/>
                  <a:pt x="0" y="127000"/>
                </a:cubicBezTo>
                <a:close/>
              </a:path>
            </a:pathLst>
          </a:custGeom>
          <a:noFill/>
          <a:ln w="14288">
            <a:solidFill>
              <a:srgbClr val="D0D7E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63421" y="43795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第一世界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5922" y="48558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第二世界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8422" y="47605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第三世界</a:t>
            </a:r>
          </a:p>
        </p:txBody>
      </p:sp>
      <p:sp>
        <p:nvSpPr>
          <p:cNvPr id="32" name="Line 32"/>
          <p:cNvSpPr/>
          <p:nvPr/>
        </p:nvSpPr>
        <p:spPr>
          <a:xfrm>
            <a:off x="7810500" y="42862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7144">
            <a:solidFill>
              <a:srgbClr val="667085"/>
            </a:solidFill>
            <a:custDash>
              <a:ds d="533333" sp="400000"/>
            </a:custDash>
          </a:ln>
        </p:spPr>
      </p:sp>
      <p:sp>
        <p:nvSpPr>
          <p:cNvPr id="33" name="Line 33"/>
          <p:cNvSpPr/>
          <p:nvPr/>
        </p:nvSpPr>
        <p:spPr>
          <a:xfrm>
            <a:off x="8763000" y="46672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7144">
            <a:solidFill>
              <a:srgbClr val="667085"/>
            </a:solidFill>
            <a:custDash>
              <a:ds d="533333" sp="400000"/>
            </a:custDash>
          </a:ln>
        </p:spPr>
      </p:sp>
      <p:sp>
        <p:nvSpPr>
          <p:cNvPr id="34" name="Line 34"/>
          <p:cNvSpPr/>
          <p:nvPr/>
        </p:nvSpPr>
        <p:spPr>
          <a:xfrm>
            <a:off x="9715500" y="464820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7144">
            <a:solidFill>
              <a:srgbClr val="667085"/>
            </a:solidFill>
            <a:custDash>
              <a:ds d="533333" sp="400000"/>
            </a:custDash>
          </a:ln>
        </p:spPr>
      </p:sp>
      <p:sp>
        <p:nvSpPr>
          <p:cNvPr id="35" name="Rectangle 35"/>
          <p:cNvSpPr/>
          <p:nvPr/>
        </p:nvSpPr>
        <p:spPr>
          <a:xfrm>
            <a:off x="1143000" y="666750"/>
            <a:ext cx="533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37666" y="6268402"/>
            <a:ext cx="52547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历史决议指出，“无产阶级专政下继续革命”等晚年论点不属于毛泽东思想科学体系。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419100"/>
            <a:ext cx="9525" cy="6019800"/>
          </a:xfrm>
          <a:custGeom>
            <a:avLst/>
            <a:gdLst/>
            <a:ahLst/>
            <a:cxnLst/>
            <a:rect l="l" t="t" r="r" b="b"/>
            <a:pathLst>
              <a:path w="9525" h="6019800">
                <a:moveTo>
                  <a:pt x="0" y="0"/>
                </a:moveTo>
                <a:lnTo>
                  <a:pt x="0" y="601980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4" name="Line 4"/>
          <p:cNvSpPr/>
          <p:nvPr/>
        </p:nvSpPr>
        <p:spPr>
          <a:xfrm>
            <a:off x="11658600" y="419100"/>
            <a:ext cx="9525" cy="6019800"/>
          </a:xfrm>
          <a:custGeom>
            <a:avLst/>
            <a:gdLst/>
            <a:ahLst/>
            <a:cxnLst/>
            <a:rect l="l" t="t" r="r" b="b"/>
            <a:pathLst>
              <a:path w="9525" h="6019800">
                <a:moveTo>
                  <a:pt x="0" y="0"/>
                </a:moveTo>
                <a:lnTo>
                  <a:pt x="0" y="601980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5" name="Line 5"/>
          <p:cNvSpPr/>
          <p:nvPr/>
        </p:nvSpPr>
        <p:spPr>
          <a:xfrm>
            <a:off x="533400" y="4191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424666" y="6535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8" name="Rectangle 8"/>
          <p:cNvSpPr/>
          <p:nvPr/>
        </p:nvSpPr>
        <p:spPr>
          <a:xfrm>
            <a:off x="533400" y="419100"/>
            <a:ext cx="3048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6498" y="841058"/>
            <a:ext cx="40393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思想底色与人文情怀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356" y="1539240"/>
            <a:ext cx="3483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实事求是 · 群众路线 · 诗书气韵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404" y="2204085"/>
            <a:ext cx="53013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i="1" dirty="0">
                <a:solidFill>
                  <a:srgbClr val="F59E0B"/>
                </a:solidFill>
                <a:latin typeface="Georgia"/>
                <a:ea typeface="Georgia"/>
                <a:cs typeface="Georgia"/>
              </a:rPr>
              <a:t>“</a:t>
            </a:r>
            <a:r>
              <a:rPr lang="en-US" sz="12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zh-CN" sz="1500" i="1" dirty="0">
                <a:solidFill>
                  <a:srgbClr val="263244"/>
                </a:solidFill>
                <a:latin typeface="Georgia"/>
                <a:ea typeface="SimSun"/>
                <a:cs typeface="Georgia"/>
              </a:rPr>
              <a:t>毛泽东思想以实事求是、群众路线为核心，其诗词书法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2470785"/>
            <a:ext cx="44479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263244"/>
                </a:solidFill>
                <a:latin typeface="Georgia"/>
                <a:ea typeface="SimSun"/>
                <a:cs typeface="Georgia"/>
              </a:rPr>
              <a:t>气吞山河，家庭经历折射革命者私情与牺牲。</a:t>
            </a:r>
            <a:r>
              <a:rPr lang="en-US" sz="12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 xml:space="preserve"> </a:t>
            </a:r>
            <a:r>
              <a:rPr lang="en-US" sz="1500" i="1" dirty="0">
                <a:solidFill>
                  <a:srgbClr val="F59E0B"/>
                </a:solidFill>
                <a:latin typeface="Georgia"/>
                <a:ea typeface="Georgia"/>
                <a:cs typeface="Georgia"/>
              </a:rPr>
              <a:t>”</a:t>
            </a:r>
          </a:p>
        </p:txBody>
      </p:sp>
      <p:sp>
        <p:nvSpPr>
          <p:cNvPr id="13" name="Line 13"/>
          <p:cNvSpPr/>
          <p:nvPr/>
        </p:nvSpPr>
        <p:spPr>
          <a:xfrm>
            <a:off x="952500" y="31242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D0D7E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952500" y="3448050"/>
            <a:ext cx="4762500" cy="904875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52500" y="3448050"/>
            <a:ext cx="38100" cy="9048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360140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实事求是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6904" y="3842385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毛泽东思想是马列主义中国化的首创成果，以实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6904" y="405193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事求是、群众路线为灵魂。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52500" y="4495800"/>
            <a:ext cx="4762500" cy="66675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952500" y="4495800"/>
            <a:ext cx="38100" cy="666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37666" y="46491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实践观点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904" y="4899660"/>
            <a:ext cx="45677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“没有调查，就没有发言权”——实践观点贯穿其革命与建设理论。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5305425"/>
            <a:ext cx="4762500" cy="66675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952500" y="5305425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37666" y="545877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经典论断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6904" y="570928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“枪杆子里面出政权”“人民是创造世界历史的动力”等论断影响深远。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3448050"/>
            <a:ext cx="4762500" cy="11430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477000" y="3448050"/>
            <a:ext cx="3810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62166" y="360140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诗词书法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842385"/>
            <a:ext cx="3259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《沁园春·雪》“俱往矣，数风流人物，还看今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1404" y="4051935"/>
            <a:ext cx="31865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朝”气势磅礴；《七律·长征》“红军不怕远征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1404" y="4261485"/>
            <a:ext cx="3008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难”气吞山河。书法刚健雄浑，独树一帜。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733925"/>
            <a:ext cx="4762500" cy="66675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4733925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62166" y="488727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家庭侧面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1404" y="51377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44"/>
                </a:solidFill>
                <a:latin typeface="Arial"/>
                <a:ea typeface="Microsoft YaHei"/>
                <a:cs typeface="Arial"/>
              </a:rPr>
              <a:t>家庭经历折射革命者私情与牺牲，人文情怀丰富伟人侧面。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191750" y="3543300"/>
            <a:ext cx="342900" cy="266700"/>
            <a:chOff x="10191750" y="3543300"/>
            <a:chExt cx="342900" cy="266700"/>
          </a:xfrm>
        </p:grpSpPr>
        <p:sp>
          <p:nvSpPr>
            <p:cNvPr id="37" name="Rectangle 37"/>
            <p:cNvSpPr/>
            <p:nvPr/>
          </p:nvSpPr>
          <p:spPr>
            <a:xfrm>
              <a:off x="10191750" y="3543300"/>
              <a:ext cx="342900" cy="266700"/>
            </a:xfrm>
            <a:prstGeom prst="rect">
              <a:avLst/>
            </a:prstGeom>
            <a:noFill/>
            <a:ln w="19050">
              <a:solidFill>
                <a:srgbClr val="667085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229850" y="36004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667085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229850" y="36576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667085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0229850" y="37147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667085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153650" y="4714875"/>
            <a:ext cx="333375" cy="333375"/>
            <a:chOff x="10153650" y="4714875"/>
            <a:chExt cx="333375" cy="333375"/>
          </a:xfrm>
        </p:grpSpPr>
        <p:sp>
          <p:nvSpPr>
            <p:cNvPr id="42" name="Line 42"/>
            <p:cNvSpPr/>
            <p:nvPr/>
          </p:nvSpPr>
          <p:spPr>
            <a:xfrm>
              <a:off x="10153650" y="4857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667085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0344150" y="4762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667085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429875" y="4714875"/>
              <a:ext cx="57150" cy="57150"/>
            </a:xfrm>
            <a:prstGeom prst="ellipse">
              <a:avLst/>
            </a:prstGeom>
            <a:noFill/>
            <a:ln w="14288">
              <a:solidFill>
                <a:srgbClr val="F59E0B"/>
              </a:solidFill>
            </a:ln>
          </p:spPr>
        </p:sp>
      </p:grpSp>
      <p:sp>
        <p:nvSpPr>
          <p:cNvPr id="46" name="Line 46"/>
          <p:cNvSpPr/>
          <p:nvPr/>
        </p:nvSpPr>
        <p:spPr>
          <a:xfrm>
            <a:off x="6286500" y="3448050"/>
            <a:ext cx="9525" cy="2524125"/>
          </a:xfrm>
          <a:custGeom>
            <a:avLst/>
            <a:gdLst/>
            <a:ahLst/>
            <a:cxnLst/>
            <a:rect l="l" t="t" r="r" b="b"/>
            <a:pathLst>
              <a:path w="9525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9525">
            <a:solidFill>
              <a:srgbClr val="D0D7E2"/>
            </a:solidFill>
            <a:prstDash val="dash"/>
          </a:ln>
        </p:spPr>
      </p:sp>
      <p:sp>
        <p:nvSpPr>
          <p:cNvPr id="47" name="TextBox 47"/>
          <p:cNvSpPr txBox="1"/>
          <p:nvPr/>
        </p:nvSpPr>
        <p:spPr>
          <a:xfrm>
            <a:off x="947166" y="6230302"/>
            <a:ext cx="21733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毛泽东思想 · 诗书气韵 · 人文情怀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" y="6410325"/>
            <a:ext cx="111252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33400" y="419100"/>
            <a:ext cx="38100" cy="6019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33400" y="228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4762">
            <a:solidFill>
              <a:srgbClr val="D0D7E2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4191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4762">
            <a:solidFill>
              <a:srgbClr val="D0D7E2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419100"/>
            <a:ext cx="9525" cy="6019800"/>
          </a:xfrm>
          <a:custGeom>
            <a:avLst/>
            <a:gdLst/>
            <a:ahLst/>
            <a:cxnLst/>
            <a:rect l="l" t="t" r="r" b="b"/>
            <a:pathLst>
              <a:path w="9525" h="6019800">
                <a:moveTo>
                  <a:pt x="0" y="0"/>
                </a:moveTo>
                <a:lnTo>
                  <a:pt x="0" y="6019800"/>
                </a:lnTo>
              </a:path>
            </a:pathLst>
          </a:custGeom>
          <a:noFill/>
          <a:ln w="4762">
            <a:solidFill>
              <a:srgbClr val="D0D7E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5998" y="61245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历史回响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4380" y="1362075"/>
            <a:ext cx="46798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功过相织，精神不灭——毛泽东的历史评价与全球影响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6954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-381000" y="1657350"/>
            <a:ext cx="3810000" cy="2247900"/>
            <a:chOff x="-381000" y="1657350"/>
            <a:chExt cx="3810000" cy="2247900"/>
          </a:xfrm>
        </p:grpSpPr>
        <p:sp>
          <p:nvSpPr>
            <p:cNvPr id="11" name="Rectangle 11"/>
            <p:cNvSpPr/>
            <p:nvPr/>
          </p:nvSpPr>
          <p:spPr>
            <a:xfrm>
              <a:off x="-381000" y="3810000"/>
              <a:ext cx="3810000" cy="95250"/>
            </a:xfrm>
            <a:prstGeom prst="roundRect">
              <a:avLst>
                <a:gd name="adj" fmla="val 20000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28750" y="1714500"/>
              <a:ext cx="190500" cy="2095500"/>
            </a:xfrm>
            <a:prstGeom prst="roundRect">
              <a:avLst>
                <a:gd name="adj" fmla="val 1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-190500" y="17145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1619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-190500" y="1714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0"/>
                  </a:moveTo>
                  <a:cubicBezTo>
                    <a:pt x="0" y="254000"/>
                    <a:pt x="63500" y="381000"/>
                    <a:pt x="190500" y="381000"/>
                  </a:cubicBezTo>
                  <a:lnTo>
                    <a:pt x="571500" y="381000"/>
                  </a:lnTo>
                  <a:cubicBezTo>
                    <a:pt x="698500" y="381000"/>
                    <a:pt x="762000" y="254000"/>
                    <a:pt x="762000" y="0"/>
                  </a:cubicBez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-95250" y="2133600"/>
              <a:ext cx="571500" cy="342900"/>
            </a:xfrm>
            <a:prstGeom prst="roundRect">
              <a:avLst>
                <a:gd name="adj" fmla="val 8333"/>
              </a:avLst>
            </a:prstGeom>
            <a:solidFill>
              <a:srgbClr val="F3F6FB"/>
            </a:solidFill>
            <a:ln w="14288">
              <a:solidFill>
                <a:srgbClr val="1F293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22" y="22364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功绩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28750" y="1714500"/>
              <a:ext cx="190500" cy="2095500"/>
            </a:xfrm>
            <a:prstGeom prst="roundRect">
              <a:avLst>
                <a:gd name="adj" fmla="val 1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1619250" y="17145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76500" y="1714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762000" y="0"/>
                  </a:moveTo>
                  <a:cubicBezTo>
                    <a:pt x="762000" y="254000"/>
                    <a:pt x="698500" y="381000"/>
                    <a:pt x="571500" y="381000"/>
                  </a:cubicBezTo>
                  <a:lnTo>
                    <a:pt x="190500" y="381000"/>
                  </a:lnTo>
                  <a:cubicBezTo>
                    <a:pt x="63500" y="381000"/>
                    <a:pt x="0" y="254000"/>
                    <a:pt x="0" y="0"/>
                  </a:cubicBez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71750" y="2133600"/>
              <a:ext cx="571500" cy="342900"/>
            </a:xfrm>
            <a:prstGeom prst="roundRect">
              <a:avLst>
                <a:gd name="adj" fmla="val 8333"/>
              </a:avLst>
            </a:prstGeom>
            <a:solidFill>
              <a:srgbClr val="F3F6FB"/>
            </a:solidFill>
            <a:ln w="14288">
              <a:solidFill>
                <a:srgbClr val="1F293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25522" y="22364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代价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466850" y="1657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62000" y="4191000"/>
            <a:ext cx="4770311" cy="647700"/>
            <a:chOff x="762000" y="4191000"/>
            <a:chExt cx="4770311" cy="647700"/>
          </a:xfrm>
        </p:grpSpPr>
        <p:sp>
          <p:nvSpPr>
            <p:cNvPr id="24" name="Rectangle 24"/>
            <p:cNvSpPr/>
            <p:nvPr/>
          </p:nvSpPr>
          <p:spPr>
            <a:xfrm>
              <a:off x="762000" y="4191000"/>
              <a:ext cx="4762500" cy="647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4191000"/>
              <a:ext cx="38100" cy="6477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295299"/>
              <a:ext cx="4078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63244"/>
                  </a:solidFill>
                  <a:latin typeface="Arial"/>
                  <a:ea typeface="Microsoft YaHei"/>
                  <a:cs typeface="Arial"/>
                </a:rPr>
                <a:t>毛泽东一生留下逾千万字著述，《毛选》等著作深刻塑造几代人思想。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8497" y="4457224"/>
              <a:ext cx="4603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63244"/>
                  </a:solidFill>
                  <a:latin typeface="Arial"/>
                  <a:ea typeface="Microsoft YaHei"/>
                  <a:cs typeface="Arial"/>
                </a:rPr>
                <a:t>《历史决议》指出：毛泽东思想不包含其晚年错误论点，伟人功绩是第一位的。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4191000"/>
            <a:ext cx="5524500" cy="647700"/>
            <a:chOff x="5905500" y="4191000"/>
            <a:chExt cx="5524500" cy="647700"/>
          </a:xfrm>
        </p:grpSpPr>
        <p:sp>
          <p:nvSpPr>
            <p:cNvPr id="29" name="Rectangle 29"/>
            <p:cNvSpPr/>
            <p:nvPr/>
          </p:nvSpPr>
          <p:spPr>
            <a:xfrm>
              <a:off x="5905500" y="4191000"/>
              <a:ext cx="5524500" cy="647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05500" y="4191000"/>
              <a:ext cx="38100" cy="6477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71997" y="4295299"/>
              <a:ext cx="44725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63244"/>
                  </a:solidFill>
                  <a:latin typeface="Arial"/>
                  <a:ea typeface="Microsoft YaHei"/>
                  <a:cs typeface="Arial"/>
                </a:rPr>
                <a:t>三个世界理论、抗美援朝等影响冷战格局，毛主义至今被全球左翼视为旗帜。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71997" y="4457224"/>
              <a:ext cx="4210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63244"/>
                  </a:solidFill>
                  <a:latin typeface="Arial"/>
                  <a:ea typeface="Microsoft YaHei"/>
                  <a:cs typeface="Arial"/>
                </a:rPr>
                <a:t>大跃进、文革等运动使他成为最具争议的现代人物之一，评价两极分化。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91425" y="2533650"/>
            <a:ext cx="3386138" cy="823913"/>
            <a:chOff x="7591425" y="2533650"/>
            <a:chExt cx="3386138" cy="823913"/>
          </a:xfrm>
        </p:grpSpPr>
        <p:sp>
          <p:nvSpPr>
            <p:cNvPr id="34" name="Ellipse 34"/>
            <p:cNvSpPr/>
            <p:nvPr/>
          </p:nvSpPr>
          <p:spPr>
            <a:xfrm>
              <a:off x="9677400" y="2867025"/>
              <a:ext cx="76200" cy="76200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924925" y="3019425"/>
              <a:ext cx="57150" cy="57150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44162" y="2728912"/>
              <a:ext cx="66675" cy="66675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591425" y="3114675"/>
              <a:ext cx="57150" cy="57150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072688" y="3309938"/>
              <a:ext cx="47625" cy="47625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258175" y="2781300"/>
              <a:ext cx="57150" cy="57150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296400" y="2533650"/>
              <a:ext cx="76200" cy="76200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929938" y="3214688"/>
              <a:ext cx="47625" cy="47625"/>
            </a:xfrm>
            <a:prstGeom prst="ellipse">
              <a:avLst/>
            </a:prstGeom>
            <a:solidFill>
              <a:srgbClr val="1F2937">
                <a:alpha val="15000"/>
              </a:srgbClr>
            </a:solidFill>
            <a:ln>
              <a:noFill/>
            </a:ln>
          </p:spPr>
        </p:sp>
      </p:grpSp>
      <p:sp>
        <p:nvSpPr>
          <p:cNvPr id="43" name="Rectangle 43"/>
          <p:cNvSpPr/>
          <p:nvPr/>
        </p:nvSpPr>
        <p:spPr>
          <a:xfrm>
            <a:off x="5905500" y="5048250"/>
            <a:ext cx="5524500" cy="74295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86856" y="5120640"/>
            <a:ext cx="28602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rgbClr val="1F2937"/>
                </a:solidFill>
                <a:latin typeface="Georgia"/>
                <a:ea typeface="SimSun"/>
                <a:cs typeface="Georgia"/>
              </a:rPr>
              <a:t>“数风流人物，还看今朝”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91047" y="5514499"/>
            <a:ext cx="1407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——毛泽东《沁园春·雪》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1430000" y="419100"/>
            <a:ext cx="38100" cy="6019800"/>
          </a:xfrm>
          <a:prstGeom prst="rect">
            <a:avLst/>
          </a:prstGeom>
          <a:solidFill>
            <a:srgbClr val="F3F6F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335226" y="64017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2026-07-18T13:51:53Z</dcterms:created>
  <dcterms:modified xsi:type="dcterms:W3CDTF">2026-07-18T13:51:53Z</dcterms:modified>
  <cp:category/>
  <cp:contentStatus/>
</cp:coreProperties>
</file>