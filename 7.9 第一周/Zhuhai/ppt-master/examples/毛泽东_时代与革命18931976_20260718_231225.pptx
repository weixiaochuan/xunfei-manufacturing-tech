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  <Relationship Id="rId1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封面页旨在为整场演示定下基调。以深色科技蓝营造精密、未来感的历史叙事空间；标题与副标题点明毛泽东与时代相互塑造的核心主题。观众将看到韶山的地理起点与逾千万字的思想产出，由此过渡到下一页的革命编年叙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以编年时间轴浓缩毛泽东革命之路的关键节点，突出从实践挫折中总结的独立自主道路。从秋收起义后转向农村，到井冈山根据地建设，经历长征的生死考验，再到延安时期统一战线的思想成熟，最终迎来新中国成立。每一阶段均以精炼事件和标志性日期呈现，便于教师评委快速理解革命历程的转折与思想脉络。设计上，深色背景与亮蓝时间线营造精密感，节点标记配合简短说明，避免信息过载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聚焦1949至1962年的立国与探索阶段。开国大典标志新政权的诞生，随后的土地改革与社会主义改造从根本上重塑了社会结构。1953年提出的过渡时期总路线将工业化与改造并举，但1958年大跃进和人民公社化运动在追求高指标中造成严重困难，毛泽东在郑州会议开始纠偏。展现成就与代价并存的复杂历史，为下一阶段晚年风云铺垫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以编年时间轴展示毛泽东晚年（1962—1976）的关键节点。讲解时，可从1962年八届十中全会重提阶级斗争讲起，引出四清运动的转向和文革的逻辑起点。1966年文革全面发动，解放军介入和地方夺权体现了运动的广度。1971年林彪事件是重大转折，说明党内斗争的复杂。1972年尼克松访华展示外交上的务实调整。邓小平的起伏反映了晚年接班问题的反复。最终以1976年去世收束，可简要提及《决议》对晚年思想的评价，保持客观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侧重于毛泽东的内心世界：其思想通过新民主主义、群众路线等重塑了中国革命的理论基础；逾千万字著作与《沁园春·雪》等诗词展现了其文采与战略思维的交织；四次婚姻与子女命运则折射出革命家庭在时代洪流中的悲欢。我们避免简单定论，而是通过这些侧面让观众感受一个立体的毛泽东，同时与全篇科技蓝视觉保持统一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总结毛泽东的全球遗产。他的思想通过著作和革命实践影响第三世界，三个世界理论重塑冷战外交。国内评价在《历史决议》框架下区分科学理论与晚年错误。国际舆论则分歧巨大，从‘革命导师’到‘争议人物’。我们需辩证看待，既承认其对中国独立的贡献，也正视运动代价。最后可引导思考：在当代，毛的思想哪些部分仍在发挥作用？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81426"/>
              </a:gs>
              <a:gs pos="45000">
                <a:srgbClr val="0D2340"/>
              </a:gs>
              <a:gs pos="100000">
                <a:srgbClr val="081426"/>
              </a:gs>
            </a:gsLst>
            <a:lin ang="1761465" scaled="1"/>
          </a:gra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0" y="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2563EB">
                <a:alpha val="8000"/>
              </a:srgbClr>
            </a:solidFill>
          </a:ln>
        </p:spPr>
      </p:sp>
      <p:sp>
        <p:nvSpPr>
          <p:cNvPr id="4" name="Line 4"/>
          <p:cNvSpPr/>
          <p:nvPr/>
        </p:nvSpPr>
        <p:spPr>
          <a:xfrm>
            <a:off x="0" y="8572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3810">
            <a:solidFill>
              <a:srgbClr val="2563EB">
                <a:alpha val="6000"/>
              </a:srgbClr>
            </a:solidFill>
          </a:ln>
        </p:spPr>
      </p:sp>
      <p:sp>
        <p:nvSpPr>
          <p:cNvPr id="5" name="Line 5"/>
          <p:cNvSpPr/>
          <p:nvPr/>
        </p:nvSpPr>
        <p:spPr>
          <a:xfrm>
            <a:off x="0" y="1714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2858">
            <a:solidFill>
              <a:srgbClr val="2563EB">
                <a:alpha val="5000"/>
              </a:srgbClr>
            </a:solidFill>
          </a:ln>
        </p:spPr>
      </p:sp>
      <p:sp>
        <p:nvSpPr>
          <p:cNvPr id="6" name="Line 6"/>
          <p:cNvSpPr/>
          <p:nvPr/>
        </p:nvSpPr>
        <p:spPr>
          <a:xfrm>
            <a:off x="0" y="25717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2858">
            <a:solidFill>
              <a:srgbClr val="2563EB">
                <a:alpha val="4000"/>
              </a:srgbClr>
            </a:solidFill>
          </a:ln>
        </p:spPr>
      </p:sp>
      <p:sp>
        <p:nvSpPr>
          <p:cNvPr id="7" name="Line 7"/>
          <p:cNvSpPr/>
          <p:nvPr/>
        </p:nvSpPr>
        <p:spPr>
          <a:xfrm>
            <a:off x="0" y="3429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2858">
            <a:solidFill>
              <a:srgbClr val="2563EB">
                <a:alpha val="5000"/>
              </a:srgbClr>
            </a:solidFill>
          </a:ln>
        </p:spPr>
      </p:sp>
      <p:sp>
        <p:nvSpPr>
          <p:cNvPr id="8" name="Line 8"/>
          <p:cNvSpPr/>
          <p:nvPr/>
        </p:nvSpPr>
        <p:spPr>
          <a:xfrm>
            <a:off x="0" y="42862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3810">
            <a:solidFill>
              <a:srgbClr val="2563EB">
                <a:alpha val="6000"/>
              </a:srgbClr>
            </a:solidFill>
          </a:ln>
        </p:spPr>
      </p:sp>
      <p:sp>
        <p:nvSpPr>
          <p:cNvPr id="9" name="Line 9"/>
          <p:cNvSpPr/>
          <p:nvPr/>
        </p:nvSpPr>
        <p:spPr>
          <a:xfrm>
            <a:off x="0" y="5143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3810">
            <a:solidFill>
              <a:srgbClr val="2563EB">
                <a:alpha val="8000"/>
              </a:srgbClr>
            </a:solidFill>
          </a:ln>
        </p:spPr>
      </p:sp>
      <p:sp>
        <p:nvSpPr>
          <p:cNvPr id="10" name="Line 10"/>
          <p:cNvSpPr/>
          <p:nvPr/>
        </p:nvSpPr>
        <p:spPr>
          <a:xfrm>
            <a:off x="0" y="60007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2563EB">
                <a:alpha val="8000"/>
              </a:srgbClr>
            </a:solidFill>
          </a:ln>
        </p:spPr>
      </p:sp>
      <p:sp>
        <p:nvSpPr>
          <p:cNvPr id="11" name="Line 11"/>
          <p:cNvSpPr/>
          <p:nvPr/>
        </p:nvSpPr>
        <p:spPr>
          <a:xfrm>
            <a:off x="0" y="685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2563EB">
                <a:alpha val="8000"/>
              </a:srgbClr>
            </a:solidFill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3810">
            <a:solidFill>
              <a:srgbClr val="2563EB">
                <a:alpha val="6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2858">
            <a:solidFill>
              <a:srgbClr val="2563EB">
                <a:alpha val="4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2858">
            <a:solidFill>
              <a:srgbClr val="2563EB">
                <a:alpha val="3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2858">
            <a:solidFill>
              <a:srgbClr val="2563EB">
                <a:alpha val="4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3810">
            <a:solidFill>
              <a:srgbClr val="2563EB">
                <a:alpha val="5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2858">
            <a:solidFill>
              <a:srgbClr val="2563EB">
                <a:alpha val="4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2858">
            <a:solidFill>
              <a:srgbClr val="2563EB">
                <a:alpha val="3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3810">
            <a:solidFill>
              <a:srgbClr val="2563EB">
                <a:alpha val="6000"/>
              </a:srgbClr>
            </a:solidFill>
          </a:ln>
        </p:spPr>
      </p:sp>
      <p:sp>
        <p:nvSpPr>
          <p:cNvPr id="20" name="Ellipse 20"/>
          <p:cNvSpPr/>
          <p:nvPr/>
        </p:nvSpPr>
        <p:spPr>
          <a:xfrm>
            <a:off x="2095500" y="666750"/>
            <a:ext cx="8001000" cy="4953000"/>
          </a:xfrm>
          <a:prstGeom prst="ellipse">
            <a:avLst/>
          </a:prstGeom>
          <a:gradFill>
            <a:gsLst>
              <a:gs pos="0">
                <a:srgbClr val="7C3AED">
                  <a:alpha val="12000"/>
                </a:srgbClr>
              </a:gs>
              <a:gs pos="60000">
                <a:srgbClr val="2563EB">
                  <a:alpha val="4000"/>
                </a:srgbClr>
              </a:gs>
              <a:gs pos="100000">
                <a:srgbClr val="08142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21" name="Freeform 21"/>
          <p:cNvSpPr/>
          <p:nvPr/>
        </p:nvSpPr>
        <p:spPr>
          <a:xfrm>
            <a:off x="1524000" y="3365500"/>
            <a:ext cx="9525000" cy="1778000"/>
          </a:xfrm>
          <a:custGeom>
            <a:avLst/>
            <a:gdLst/>
            <a:ahLst/>
            <a:cxnLst/>
            <a:rect l="l" t="t" r="r" b="b"/>
            <a:pathLst>
              <a:path w="9525000" h="1778000">
                <a:moveTo>
                  <a:pt x="0" y="1778000"/>
                </a:moveTo>
                <a:cubicBezTo>
                  <a:pt x="254000" y="1270000"/>
                  <a:pt x="508000" y="1111250"/>
                  <a:pt x="762000" y="1301750"/>
                </a:cubicBezTo>
                <a:cubicBezTo>
                  <a:pt x="1016000" y="984250"/>
                  <a:pt x="1270000" y="920750"/>
                  <a:pt x="1524000" y="1111250"/>
                </a:cubicBezTo>
                <a:cubicBezTo>
                  <a:pt x="1778000" y="666750"/>
                  <a:pt x="2032000" y="571500"/>
                  <a:pt x="2286000" y="825500"/>
                </a:cubicBezTo>
                <a:cubicBezTo>
                  <a:pt x="2540000" y="444500"/>
                  <a:pt x="2794000" y="381000"/>
                  <a:pt x="3048000" y="635000"/>
                </a:cubicBezTo>
                <a:cubicBezTo>
                  <a:pt x="3302000" y="254000"/>
                  <a:pt x="3556000" y="190500"/>
                  <a:pt x="3810000" y="444500"/>
                </a:cubicBezTo>
                <a:cubicBezTo>
                  <a:pt x="4064000" y="127000"/>
                  <a:pt x="4318000" y="95250"/>
                  <a:pt x="4572000" y="349250"/>
                </a:cubicBezTo>
                <a:cubicBezTo>
                  <a:pt x="4826000" y="63500"/>
                  <a:pt x="5080000" y="47625"/>
                  <a:pt x="5334000" y="301625"/>
                </a:cubicBezTo>
                <a:cubicBezTo>
                  <a:pt x="5588000" y="15875"/>
                  <a:pt x="5842000" y="0"/>
                  <a:pt x="6096000" y="254000"/>
                </a:cubicBezTo>
                <a:cubicBezTo>
                  <a:pt x="6350000" y="31750"/>
                  <a:pt x="6604000" y="47625"/>
                  <a:pt x="6858000" y="301625"/>
                </a:cubicBezTo>
                <a:cubicBezTo>
                  <a:pt x="7112000" y="142875"/>
                  <a:pt x="7366000" y="190500"/>
                  <a:pt x="7620000" y="444500"/>
                </a:cubicBezTo>
                <a:cubicBezTo>
                  <a:pt x="7874000" y="254000"/>
                  <a:pt x="8128000" y="285750"/>
                  <a:pt x="8382000" y="539750"/>
                </a:cubicBezTo>
                <a:cubicBezTo>
                  <a:pt x="8636000" y="412750"/>
                  <a:pt x="8890000" y="476250"/>
                  <a:pt x="9144000" y="730250"/>
                </a:cubicBezTo>
                <a:cubicBezTo>
                  <a:pt x="9271000" y="793750"/>
                  <a:pt x="9398000" y="857250"/>
                  <a:pt x="9525000" y="920750"/>
                </a:cubicBezTo>
                <a:lnTo>
                  <a:pt x="9525000" y="1778000"/>
                </a:lnTo>
                <a:close/>
              </a:path>
            </a:pathLst>
          </a:custGeom>
          <a:solidFill>
            <a:srgbClr val="0B1F38"/>
          </a:solidFill>
          <a:ln w="11430">
            <a:solidFill>
              <a:srgbClr val="2563EB">
                <a:alpha val="35000"/>
              </a:srgbClr>
            </a:solidFill>
          </a:ln>
        </p:spPr>
      </p:sp>
      <p:sp>
        <p:nvSpPr>
          <p:cNvPr id="22" name="Freeform 22"/>
          <p:cNvSpPr/>
          <p:nvPr/>
        </p:nvSpPr>
        <p:spPr>
          <a:xfrm>
            <a:off x="952500" y="4318000"/>
            <a:ext cx="10287000" cy="825500"/>
          </a:xfrm>
          <a:custGeom>
            <a:avLst/>
            <a:gdLst/>
            <a:ahLst/>
            <a:cxnLst/>
            <a:rect l="l" t="t" r="r" b="b"/>
            <a:pathLst>
              <a:path w="10287000" h="825500">
                <a:moveTo>
                  <a:pt x="0" y="635000"/>
                </a:moveTo>
                <a:cubicBezTo>
                  <a:pt x="635000" y="254000"/>
                  <a:pt x="1333500" y="190500"/>
                  <a:pt x="2095500" y="444500"/>
                </a:cubicBezTo>
                <a:cubicBezTo>
                  <a:pt x="2857500" y="63500"/>
                  <a:pt x="3619500" y="0"/>
                  <a:pt x="4381500" y="254000"/>
                </a:cubicBezTo>
                <a:cubicBezTo>
                  <a:pt x="4889500" y="63500"/>
                  <a:pt x="5397500" y="31750"/>
                  <a:pt x="5905500" y="158750"/>
                </a:cubicBezTo>
                <a:cubicBezTo>
                  <a:pt x="6413500" y="0"/>
                  <a:pt x="6921500" y="15875"/>
                  <a:pt x="7429500" y="206375"/>
                </a:cubicBezTo>
                <a:cubicBezTo>
                  <a:pt x="7937500" y="79375"/>
                  <a:pt x="8445500" y="111125"/>
                  <a:pt x="8953500" y="301625"/>
                </a:cubicBezTo>
                <a:cubicBezTo>
                  <a:pt x="9461500" y="142875"/>
                  <a:pt x="9906000" y="158750"/>
                  <a:pt x="10287000" y="349250"/>
                </a:cubicBezTo>
                <a:lnTo>
                  <a:pt x="10287000" y="825500"/>
                </a:lnTo>
                <a:lnTo>
                  <a:pt x="0" y="825500"/>
                </a:lnTo>
                <a:close/>
              </a:path>
            </a:pathLst>
          </a:custGeom>
          <a:solidFill>
            <a:srgbClr val="0D2340"/>
          </a:solidFill>
          <a:ln w="7620">
            <a:solidFill>
              <a:srgbClr val="2563EB">
                <a:alpha val="20000"/>
              </a:srgbClr>
            </a:solidFill>
          </a:ln>
        </p:spPr>
      </p:sp>
      <p:sp>
        <p:nvSpPr>
          <p:cNvPr id="23" name="Polyline 23"/>
          <p:cNvSpPr/>
          <p:nvPr/>
        </p:nvSpPr>
        <p:spPr>
          <a:xfrm>
            <a:off x="762000" y="1333500"/>
            <a:ext cx="1143000" cy="381000"/>
          </a:xfrm>
          <a:custGeom>
            <a:avLst/>
            <a:gdLst/>
            <a:ahLst/>
            <a:cxnLst/>
            <a:rect l="l" t="t" r="r" b="b"/>
            <a:pathLst>
              <a:path w="1143000" h="381000">
                <a:moveTo>
                  <a:pt x="0" y="381000"/>
                </a:moveTo>
                <a:lnTo>
                  <a:pt x="571500" y="381000"/>
                </a:lnTo>
                <a:lnTo>
                  <a:pt x="762000" y="190500"/>
                </a:lnTo>
                <a:lnTo>
                  <a:pt x="1143000" y="190500"/>
                </a:lnTo>
                <a:lnTo>
                  <a:pt x="1143000" y="0"/>
                </a:lnTo>
              </a:path>
            </a:pathLst>
          </a:custGeom>
          <a:noFill/>
          <a:ln w="9525">
            <a:solidFill>
              <a:srgbClr val="2563EB">
                <a:alpha val="30000"/>
              </a:srgbClr>
            </a:solidFill>
          </a:ln>
        </p:spPr>
      </p:sp>
      <p:sp>
        <p:nvSpPr>
          <p:cNvPr id="24" name="Ellipse 24"/>
          <p:cNvSpPr/>
          <p:nvPr/>
        </p:nvSpPr>
        <p:spPr>
          <a:xfrm>
            <a:off x="1881188" y="1309688"/>
            <a:ext cx="47625" cy="47625"/>
          </a:xfrm>
          <a:prstGeom prst="ellipse">
            <a:avLst/>
          </a:prstGeom>
          <a:solidFill>
            <a:srgbClr val="38BDF8">
              <a:alpha val="70000"/>
            </a:srgbClr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738188" y="1690688"/>
            <a:ext cx="47625" cy="47625"/>
          </a:xfrm>
          <a:prstGeom prst="ellipse">
            <a:avLst/>
          </a:prstGeom>
          <a:solidFill>
            <a:srgbClr val="38BDF8">
              <a:alpha val="50000"/>
            </a:srgbClr>
          </a:solidFill>
          <a:ln>
            <a:noFill/>
          </a:ln>
        </p:spPr>
      </p:sp>
      <p:sp>
        <p:nvSpPr>
          <p:cNvPr id="26" name="Polyline 26"/>
          <p:cNvSpPr/>
          <p:nvPr/>
        </p:nvSpPr>
        <p:spPr>
          <a:xfrm>
            <a:off x="10287000" y="1428750"/>
            <a:ext cx="1143000" cy="476250"/>
          </a:xfrm>
          <a:custGeom>
            <a:avLst/>
            <a:gdLst/>
            <a:ahLst/>
            <a:cxnLst/>
            <a:rect l="l" t="t" r="r" b="b"/>
            <a:pathLst>
              <a:path w="1143000" h="476250">
                <a:moveTo>
                  <a:pt x="1143000" y="476250"/>
                </a:moveTo>
                <a:lnTo>
                  <a:pt x="571500" y="476250"/>
                </a:lnTo>
                <a:lnTo>
                  <a:pt x="381000" y="285750"/>
                </a:lnTo>
                <a:lnTo>
                  <a:pt x="0" y="28575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7C3AED">
                <a:alpha val="30000"/>
              </a:srgbClr>
            </a:solidFill>
          </a:ln>
        </p:spPr>
      </p:sp>
      <p:sp>
        <p:nvSpPr>
          <p:cNvPr id="27" name="Ellipse 27"/>
          <p:cNvSpPr/>
          <p:nvPr/>
        </p:nvSpPr>
        <p:spPr>
          <a:xfrm>
            <a:off x="10263188" y="1404938"/>
            <a:ext cx="47625" cy="47625"/>
          </a:xfrm>
          <a:prstGeom prst="ellipse">
            <a:avLst/>
          </a:prstGeom>
          <a:solidFill>
            <a:srgbClr val="7C3AED">
              <a:alpha val="70000"/>
            </a:srgbClr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11406188" y="1881188"/>
            <a:ext cx="47625" cy="47625"/>
          </a:xfrm>
          <a:prstGeom prst="ellipse">
            <a:avLst/>
          </a:prstGeom>
          <a:solidFill>
            <a:srgbClr val="7C3AED">
              <a:alpha val="50000"/>
            </a:srgbClr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3221355" y="1506855"/>
            <a:ext cx="34290" cy="34290"/>
          </a:xfrm>
          <a:prstGeom prst="ellipse">
            <a:avLst/>
          </a:prstGeom>
          <a:solidFill>
            <a:srgbClr val="38BDF8">
              <a:alpha val="50000"/>
            </a:srgbClr>
          </a:solidFill>
          <a:ln>
            <a:noFill/>
          </a:ln>
        </p:spPr>
      </p:sp>
      <p:sp>
        <p:nvSpPr>
          <p:cNvPr id="30" name="Ellipse 30"/>
          <p:cNvSpPr/>
          <p:nvPr/>
        </p:nvSpPr>
        <p:spPr>
          <a:xfrm>
            <a:off x="5224462" y="1033462"/>
            <a:ext cx="28575" cy="28575"/>
          </a:xfrm>
          <a:prstGeom prst="ellipse">
            <a:avLst/>
          </a:prstGeom>
          <a:solidFill>
            <a:srgbClr val="38BDF8">
              <a:alpha val="40000"/>
            </a:srgbClr>
          </a:solidFill>
          <a:ln>
            <a:noFill/>
          </a:ln>
        </p:spPr>
      </p:sp>
      <p:sp>
        <p:nvSpPr>
          <p:cNvPr id="31" name="Ellipse 31"/>
          <p:cNvSpPr/>
          <p:nvPr/>
        </p:nvSpPr>
        <p:spPr>
          <a:xfrm>
            <a:off x="6840855" y="1316355"/>
            <a:ext cx="34290" cy="34290"/>
          </a:xfrm>
          <a:prstGeom prst="ellipse">
            <a:avLst/>
          </a:prstGeom>
          <a:solidFill>
            <a:srgbClr val="7C3AED">
              <a:alpha val="45000"/>
            </a:srgbClr>
          </a:solidFill>
          <a:ln>
            <a:noFill/>
          </a:ln>
        </p:spPr>
      </p:sp>
      <p:sp>
        <p:nvSpPr>
          <p:cNvPr id="32" name="Ellipse 32"/>
          <p:cNvSpPr/>
          <p:nvPr/>
        </p:nvSpPr>
        <p:spPr>
          <a:xfrm>
            <a:off x="8939212" y="1604962"/>
            <a:ext cx="28575" cy="28575"/>
          </a:xfrm>
          <a:prstGeom prst="ellipse">
            <a:avLst/>
          </a:prstGeom>
          <a:solidFill>
            <a:srgbClr val="38BDF8">
              <a:alpha val="40000"/>
            </a:srgbClr>
          </a:solidFill>
          <a:ln>
            <a:noFill/>
          </a:ln>
        </p:spPr>
      </p:sp>
      <p:sp>
        <p:nvSpPr>
          <p:cNvPr id="33" name="Ellipse 33"/>
          <p:cNvSpPr/>
          <p:nvPr/>
        </p:nvSpPr>
        <p:spPr>
          <a:xfrm>
            <a:off x="1700212" y="2747962"/>
            <a:ext cx="28575" cy="28575"/>
          </a:xfrm>
          <a:prstGeom prst="ellipse">
            <a:avLst/>
          </a:prstGeom>
          <a:solidFill>
            <a:srgbClr val="7C3AED">
              <a:alpha val="35000"/>
            </a:srgbClr>
          </a:solidFill>
          <a:ln>
            <a:noFill/>
          </a:ln>
        </p:spPr>
      </p:sp>
      <p:sp>
        <p:nvSpPr>
          <p:cNvPr id="34" name="Ellipse 34"/>
          <p:cNvSpPr/>
          <p:nvPr/>
        </p:nvSpPr>
        <p:spPr>
          <a:xfrm>
            <a:off x="10272712" y="2843212"/>
            <a:ext cx="28575" cy="28575"/>
          </a:xfrm>
          <a:prstGeom prst="ellipse">
            <a:avLst/>
          </a:prstGeom>
          <a:solidFill>
            <a:srgbClr val="2563EB">
              <a:alpha val="40000"/>
            </a:srgbClr>
          </a:solidFill>
          <a:ln>
            <a:noFill/>
          </a:ln>
        </p:spPr>
      </p:sp>
      <p:sp>
        <p:nvSpPr>
          <p:cNvPr id="35" name="Ellipse 35"/>
          <p:cNvSpPr/>
          <p:nvPr/>
        </p:nvSpPr>
        <p:spPr>
          <a:xfrm>
            <a:off x="3989070" y="2369820"/>
            <a:ext cx="22860" cy="22860"/>
          </a:xfrm>
          <a:prstGeom prst="ellipse">
            <a:avLst/>
          </a:prstGeom>
          <a:solidFill>
            <a:srgbClr val="38BDF8">
              <a:alpha val="30000"/>
            </a:srgbClr>
          </a:solidFill>
          <a:ln>
            <a:noFill/>
          </a:ln>
        </p:spPr>
      </p:sp>
      <p:sp>
        <p:nvSpPr>
          <p:cNvPr id="36" name="Ellipse 36"/>
          <p:cNvSpPr/>
          <p:nvPr/>
        </p:nvSpPr>
        <p:spPr>
          <a:xfrm>
            <a:off x="8180070" y="2465070"/>
            <a:ext cx="22860" cy="22860"/>
          </a:xfrm>
          <a:prstGeom prst="ellipse">
            <a:avLst/>
          </a:prstGeom>
          <a:solidFill>
            <a:srgbClr val="7C3AED">
              <a:alpha val="30000"/>
            </a:srgbClr>
          </a:solidFill>
          <a:ln>
            <a:noFill/>
          </a:ln>
        </p:spPr>
      </p:sp>
      <p:sp>
        <p:nvSpPr>
          <p:cNvPr id="37" name="Ellipse 37"/>
          <p:cNvSpPr/>
          <p:nvPr/>
        </p:nvSpPr>
        <p:spPr>
          <a:xfrm>
            <a:off x="6075045" y="931545"/>
            <a:ext cx="41910" cy="41910"/>
          </a:xfrm>
          <a:prstGeom prst="ellipse">
            <a:avLst/>
          </a:prstGeom>
          <a:solidFill>
            <a:srgbClr val="7C3AED">
              <a:alpha val="60000"/>
            </a:srgbClr>
          </a:solidFill>
          <a:ln>
            <a:noFill/>
          </a:ln>
        </p:spPr>
      </p:sp>
      <p:sp>
        <p:nvSpPr>
          <p:cNvPr id="38" name="Ellipse 38"/>
          <p:cNvSpPr/>
          <p:nvPr/>
        </p:nvSpPr>
        <p:spPr>
          <a:xfrm>
            <a:off x="10844212" y="3986212"/>
            <a:ext cx="28575" cy="28575"/>
          </a:xfrm>
          <a:prstGeom prst="ellipse">
            <a:avLst/>
          </a:prstGeom>
          <a:solidFill>
            <a:srgbClr val="38BDF8">
              <a:alpha val="35000"/>
            </a:srgbClr>
          </a:solidFill>
          <a:ln>
            <a:noFill/>
          </a:ln>
        </p:spPr>
      </p:sp>
      <p:sp>
        <p:nvSpPr>
          <p:cNvPr id="39" name="Ellipse 39"/>
          <p:cNvSpPr/>
          <p:nvPr/>
        </p:nvSpPr>
        <p:spPr>
          <a:xfrm>
            <a:off x="1414462" y="4176712"/>
            <a:ext cx="28575" cy="28575"/>
          </a:xfrm>
          <a:prstGeom prst="ellipse">
            <a:avLst/>
          </a:prstGeom>
          <a:solidFill>
            <a:srgbClr val="2563EB">
              <a:alpha val="35000"/>
            </a:srgbClr>
          </a:solidFill>
          <a:ln>
            <a:noFill/>
          </a:ln>
        </p:spPr>
      </p:sp>
      <p:sp>
        <p:nvSpPr>
          <p:cNvPr id="40" name="Ellipse 40"/>
          <p:cNvSpPr/>
          <p:nvPr/>
        </p:nvSpPr>
        <p:spPr>
          <a:xfrm>
            <a:off x="3448050" y="2781300"/>
            <a:ext cx="342900" cy="342900"/>
          </a:xfrm>
          <a:prstGeom prst="ellipse">
            <a:avLst/>
          </a:prstGeom>
          <a:gradFill>
            <a:gsLst>
              <a:gs pos="0">
                <a:srgbClr val="38BDF8">
                  <a:alpha val="15000"/>
                </a:srgbClr>
              </a:gs>
              <a:gs pos="100000">
                <a:srgbClr val="38BDF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1" name="Ellipse 41"/>
          <p:cNvSpPr/>
          <p:nvPr/>
        </p:nvSpPr>
        <p:spPr>
          <a:xfrm>
            <a:off x="3581400" y="2914650"/>
            <a:ext cx="76200" cy="76200"/>
          </a:xfrm>
          <a:prstGeom prst="ellipse">
            <a:avLst/>
          </a:prstGeom>
          <a:solidFill>
            <a:srgbClr val="38BDF8">
              <a:alpha val="80000"/>
            </a:srgbClr>
          </a:solidFill>
          <a:ln>
            <a:noFill/>
          </a:ln>
        </p:spPr>
      </p:sp>
      <p:sp>
        <p:nvSpPr>
          <p:cNvPr id="42" name="Ellipse 42"/>
          <p:cNvSpPr/>
          <p:nvPr/>
        </p:nvSpPr>
        <p:spPr>
          <a:xfrm>
            <a:off x="8362950" y="3124200"/>
            <a:ext cx="419100" cy="419100"/>
          </a:xfrm>
          <a:prstGeom prst="ellipse">
            <a:avLst/>
          </a:prstGeom>
          <a:gradFill>
            <a:gsLst>
              <a:gs pos="0">
                <a:srgbClr val="7C3AED">
                  <a:alpha val="12000"/>
                </a:srgbClr>
              </a:gs>
              <a:gs pos="100000">
                <a:srgbClr val="7C3AE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3" name="Ellipse 43"/>
          <p:cNvSpPr/>
          <p:nvPr/>
        </p:nvSpPr>
        <p:spPr>
          <a:xfrm>
            <a:off x="8529638" y="3290888"/>
            <a:ext cx="85725" cy="85725"/>
          </a:xfrm>
          <a:prstGeom prst="ellipse">
            <a:avLst/>
          </a:prstGeom>
          <a:solidFill>
            <a:srgbClr val="7C3AED">
              <a:alpha val="80000"/>
            </a:srgbClr>
          </a:solidFill>
          <a:ln>
            <a:noFill/>
          </a:ln>
        </p:spPr>
      </p:sp>
      <p:sp>
        <p:nvSpPr>
          <p:cNvPr id="44" name="Ellipse 44"/>
          <p:cNvSpPr/>
          <p:nvPr/>
        </p:nvSpPr>
        <p:spPr>
          <a:xfrm>
            <a:off x="5848350" y="1847850"/>
            <a:ext cx="495300" cy="495300"/>
          </a:xfrm>
          <a:prstGeom prst="ellipse">
            <a:avLst/>
          </a:prstGeom>
          <a:gradFill>
            <a:gsLst>
              <a:gs pos="0">
                <a:srgbClr val="38BDF8">
                  <a:alpha val="10000"/>
                </a:srgbClr>
              </a:gs>
              <a:gs pos="100000">
                <a:srgbClr val="38BDF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5" name="Ellipse 45"/>
          <p:cNvSpPr/>
          <p:nvPr/>
        </p:nvSpPr>
        <p:spPr>
          <a:xfrm>
            <a:off x="6048375" y="2047875"/>
            <a:ext cx="95250" cy="95250"/>
          </a:xfrm>
          <a:prstGeom prst="ellipse">
            <a:avLst/>
          </a:prstGeom>
          <a:solidFill>
            <a:srgbClr val="38BDF8">
              <a:alpha val="70000"/>
            </a:srgbClr>
          </a:solidFill>
          <a:ln>
            <a:noFill/>
          </a:ln>
        </p:spPr>
      </p:sp>
      <p:sp>
        <p:nvSpPr>
          <p:cNvPr id="46" name="Line 46"/>
          <p:cNvSpPr/>
          <p:nvPr/>
        </p:nvSpPr>
        <p:spPr>
          <a:xfrm>
            <a:off x="3619500" y="2095500"/>
            <a:ext cx="2476500" cy="857250"/>
          </a:xfrm>
          <a:custGeom>
            <a:avLst/>
            <a:gdLst/>
            <a:ahLst/>
            <a:cxnLst/>
            <a:rect l="l" t="t" r="r" b="b"/>
            <a:pathLst>
              <a:path w="2476500" h="857250">
                <a:moveTo>
                  <a:pt x="0" y="857250"/>
                </a:moveTo>
                <a:lnTo>
                  <a:pt x="2476500" y="0"/>
                </a:lnTo>
              </a:path>
            </a:pathLst>
          </a:custGeom>
          <a:noFill/>
          <a:ln w="7620">
            <a:solidFill>
              <a:srgbClr val="2563EB">
                <a:alpha val="20000"/>
              </a:srgbClr>
            </a:solidFill>
          </a:ln>
        </p:spPr>
      </p:sp>
      <p:sp>
        <p:nvSpPr>
          <p:cNvPr id="47" name="Line 47"/>
          <p:cNvSpPr/>
          <p:nvPr/>
        </p:nvSpPr>
        <p:spPr>
          <a:xfrm>
            <a:off x="6096000" y="2095500"/>
            <a:ext cx="2476500" cy="1238250"/>
          </a:xfrm>
          <a:custGeom>
            <a:avLst/>
            <a:gdLst/>
            <a:ahLst/>
            <a:cxnLst/>
            <a:rect l="l" t="t" r="r" b="b"/>
            <a:pathLst>
              <a:path w="2476500" h="1238250">
                <a:moveTo>
                  <a:pt x="0" y="0"/>
                </a:moveTo>
                <a:lnTo>
                  <a:pt x="2476500" y="1238250"/>
                </a:lnTo>
              </a:path>
            </a:pathLst>
          </a:custGeom>
          <a:noFill/>
          <a:ln w="7620">
            <a:solidFill>
              <a:srgbClr val="7C3AED">
                <a:alpha val="18000"/>
              </a:srgbClr>
            </a:solidFill>
          </a:ln>
        </p:spPr>
      </p:sp>
      <p:sp>
        <p:nvSpPr>
          <p:cNvPr id="48" name="Line 48"/>
          <p:cNvSpPr/>
          <p:nvPr/>
        </p:nvSpPr>
        <p:spPr>
          <a:xfrm>
            <a:off x="3238500" y="2514600"/>
            <a:ext cx="2286000" cy="9525"/>
          </a:xfrm>
          <a:custGeom>
            <a:avLst/>
            <a:gdLst/>
            <a:ahLst/>
            <a:cxnLst/>
            <a:rect l="l" t="t" r="r" b="b"/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11430">
            <a:gradFill>
              <a:gsLst>
                <a:gs pos="0">
                  <a:srgbClr val="2563EB">
                    <a:alpha val="10000"/>
                  </a:srgbClr>
                </a:gs>
                <a:gs pos="50000">
                  <a:srgbClr val="38BDF8">
                    <a:alpha val="60000"/>
                  </a:srgbClr>
                </a:gs>
                <a:gs pos="100000">
                  <a:srgbClr val="2563EB">
                    <a:alpha val="10000"/>
                  </a:srgbClr>
                </a:gs>
              </a:gsLst>
              <a:lin ang="0" scaled="1"/>
            </a:gradFill>
          </a:ln>
        </p:spPr>
      </p:sp>
      <p:sp>
        <p:nvSpPr>
          <p:cNvPr id="49" name="Line 49"/>
          <p:cNvSpPr/>
          <p:nvPr/>
        </p:nvSpPr>
        <p:spPr>
          <a:xfrm>
            <a:off x="6667500" y="2514600"/>
            <a:ext cx="2286000" cy="9525"/>
          </a:xfrm>
          <a:custGeom>
            <a:avLst/>
            <a:gdLst/>
            <a:ahLst/>
            <a:cxnLst/>
            <a:rect l="l" t="t" r="r" b="b"/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11430">
            <a:gradFill>
              <a:gsLst>
                <a:gs pos="0">
                  <a:srgbClr val="2563EB">
                    <a:alpha val="10000"/>
                  </a:srgbClr>
                </a:gs>
                <a:gs pos="50000">
                  <a:srgbClr val="38BDF8">
                    <a:alpha val="60000"/>
                  </a:srgbClr>
                </a:gs>
                <a:gs pos="100000">
                  <a:srgbClr val="2563EB">
                    <a:alpha val="10000"/>
                  </a:srgbClr>
                </a:gs>
              </a:gsLst>
              <a:lin ang="0" scaled="1"/>
            </a:gradFill>
          </a:ln>
        </p:spPr>
      </p:sp>
      <p:sp>
        <p:nvSpPr>
          <p:cNvPr id="50" name="Ellipse 50"/>
          <p:cNvSpPr/>
          <p:nvPr/>
        </p:nvSpPr>
        <p:spPr>
          <a:xfrm>
            <a:off x="6057900" y="2476500"/>
            <a:ext cx="76200" cy="76200"/>
          </a:xfrm>
          <a:prstGeom prst="ellipse">
            <a:avLst/>
          </a:prstGeom>
          <a:solidFill>
            <a:srgbClr val="38BDF8">
              <a:alpha val="70000"/>
            </a:srgbClr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4955229" y="1116330"/>
            <a:ext cx="2281542" cy="990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100" b="1" spc="300" dirty="0">
                <a:solidFill>
                  <a:srgbClr val="F8FBFF"/>
                </a:solidFill>
                <a:latin typeface="Arial"/>
                <a:ea typeface="Microsoft YaHei"/>
                <a:cs typeface="Arial"/>
              </a:rPr>
              <a:t>毛泽东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456184" y="2137410"/>
            <a:ext cx="527963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spc="45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时代与革命（1893—1976）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88872" y="3060382"/>
            <a:ext cx="981425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i="1" spc="150" dirty="0">
                <a:solidFill>
                  <a:srgbClr val="CBD5E1"/>
                </a:solidFill>
                <a:latin typeface="Georgia"/>
                <a:ea typeface="SimSun"/>
                <a:cs typeface="Georgia"/>
              </a:rPr>
              <a:t>19世纪与20世纪之交，中国在危机中孕育变革，一位农家子弟以笔与枪重塑民族命运。</a:t>
            </a:r>
          </a:p>
        </p:txBody>
      </p:sp>
      <p:sp>
        <p:nvSpPr>
          <p:cNvPr id="54" name="Rectangle 54"/>
          <p:cNvSpPr/>
          <p:nvPr/>
        </p:nvSpPr>
        <p:spPr>
          <a:xfrm>
            <a:off x="762000" y="5143500"/>
            <a:ext cx="2381250" cy="1047750"/>
          </a:xfrm>
          <a:prstGeom prst="roundRect">
            <a:avLst>
              <a:gd name="adj" fmla="val 5455"/>
            </a:avLst>
          </a:prstGeom>
          <a:solidFill>
            <a:srgbClr val="0B1F38"/>
          </a:solidFill>
          <a:ln w="9525">
            <a:solidFill>
              <a:srgbClr val="2563EB">
                <a:alpha val="40000"/>
              </a:srgbClr>
            </a:solidFill>
          </a:ln>
        </p:spPr>
      </p:sp>
      <p:sp>
        <p:nvSpPr>
          <p:cNvPr id="55" name="Rectangle 55"/>
          <p:cNvSpPr/>
          <p:nvPr/>
        </p:nvSpPr>
        <p:spPr>
          <a:xfrm>
            <a:off x="762000" y="5143500"/>
            <a:ext cx="2381250" cy="28575"/>
          </a:xfrm>
          <a:prstGeom prst="roundRect">
            <a:avLst>
              <a:gd name="adj" fmla="val 33333"/>
            </a:avLst>
          </a:prstGeom>
          <a:solidFill>
            <a:srgbClr val="38BDF8">
              <a:alpha val="70000"/>
            </a:srgbClr>
          </a:solidFill>
          <a:ln>
            <a:noFill/>
          </a:ln>
        </p:spPr>
      </p:sp>
      <p:sp>
        <p:nvSpPr>
          <p:cNvPr id="56" name="Ellipse 56"/>
          <p:cNvSpPr/>
          <p:nvPr/>
        </p:nvSpPr>
        <p:spPr>
          <a:xfrm>
            <a:off x="923925" y="5400675"/>
            <a:ext cx="57150" cy="57150"/>
          </a:xfrm>
          <a:prstGeom prst="ellipse">
            <a:avLst/>
          </a:prstGeom>
          <a:solidFill>
            <a:srgbClr val="38BDF8">
              <a:alpha val="80000"/>
            </a:srgbClr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1061085" y="5364956"/>
            <a:ext cx="113214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F8FBFF"/>
                </a:solidFill>
                <a:latin typeface="Arial"/>
                <a:ea typeface="Microsoft YaHei"/>
                <a:cs typeface="Arial"/>
              </a:rPr>
              <a:t>1893年12月26日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061466" y="5582602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生于湖南湘潭韶山冲</a:t>
            </a:r>
          </a:p>
        </p:txBody>
      </p:sp>
      <p:sp>
        <p:nvSpPr>
          <p:cNvPr id="59" name="Rectangle 59"/>
          <p:cNvSpPr/>
          <p:nvPr/>
        </p:nvSpPr>
        <p:spPr>
          <a:xfrm>
            <a:off x="3333750" y="5143500"/>
            <a:ext cx="2381250" cy="1047750"/>
          </a:xfrm>
          <a:prstGeom prst="roundRect">
            <a:avLst>
              <a:gd name="adj" fmla="val 5455"/>
            </a:avLst>
          </a:prstGeom>
          <a:solidFill>
            <a:srgbClr val="0B1F38"/>
          </a:solidFill>
          <a:ln w="9525">
            <a:solidFill>
              <a:srgbClr val="2563EB">
                <a:alpha val="40000"/>
              </a:srgbClr>
            </a:solidFill>
          </a:ln>
        </p:spPr>
      </p:sp>
      <p:sp>
        <p:nvSpPr>
          <p:cNvPr id="60" name="Rectangle 60"/>
          <p:cNvSpPr/>
          <p:nvPr/>
        </p:nvSpPr>
        <p:spPr>
          <a:xfrm>
            <a:off x="3333750" y="5143500"/>
            <a:ext cx="2381250" cy="28575"/>
          </a:xfrm>
          <a:prstGeom prst="roundRect">
            <a:avLst>
              <a:gd name="adj" fmla="val 33333"/>
            </a:avLst>
          </a:prstGeom>
          <a:solidFill>
            <a:srgbClr val="38BDF8">
              <a:alpha val="70000"/>
            </a:srgbClr>
          </a:solidFill>
          <a:ln>
            <a:noFill/>
          </a:ln>
        </p:spPr>
      </p:sp>
      <p:sp>
        <p:nvSpPr>
          <p:cNvPr id="61" name="Ellipse 61"/>
          <p:cNvSpPr/>
          <p:nvPr/>
        </p:nvSpPr>
        <p:spPr>
          <a:xfrm>
            <a:off x="3495675" y="5400675"/>
            <a:ext cx="57150" cy="57150"/>
          </a:xfrm>
          <a:prstGeom prst="ellipse">
            <a:avLst/>
          </a:prstGeom>
          <a:solidFill>
            <a:srgbClr val="38BDF8">
              <a:alpha val="80000"/>
            </a:srgbClr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3632835" y="5364956"/>
            <a:ext cx="122301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F8FBFF"/>
                </a:solidFill>
                <a:latin typeface="Arial"/>
                <a:ea typeface="Microsoft YaHei"/>
                <a:cs typeface="Arial"/>
              </a:rPr>
              <a:t>早年亲历国家危难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3633216" y="5582602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志在匡时救国</a:t>
            </a:r>
          </a:p>
        </p:txBody>
      </p:sp>
      <p:sp>
        <p:nvSpPr>
          <p:cNvPr id="64" name="Rectangle 64"/>
          <p:cNvSpPr/>
          <p:nvPr/>
        </p:nvSpPr>
        <p:spPr>
          <a:xfrm>
            <a:off x="5905500" y="5143500"/>
            <a:ext cx="2381250" cy="1047750"/>
          </a:xfrm>
          <a:prstGeom prst="roundRect">
            <a:avLst>
              <a:gd name="adj" fmla="val 5455"/>
            </a:avLst>
          </a:prstGeom>
          <a:solidFill>
            <a:srgbClr val="0B1F38"/>
          </a:solidFill>
          <a:ln w="9525">
            <a:solidFill>
              <a:srgbClr val="7C3AED">
                <a:alpha val="40000"/>
              </a:srgbClr>
            </a:solidFill>
          </a:ln>
        </p:spPr>
      </p:sp>
      <p:sp>
        <p:nvSpPr>
          <p:cNvPr id="65" name="Rectangle 65"/>
          <p:cNvSpPr/>
          <p:nvPr/>
        </p:nvSpPr>
        <p:spPr>
          <a:xfrm>
            <a:off x="5905500" y="5143500"/>
            <a:ext cx="2381250" cy="28575"/>
          </a:xfrm>
          <a:prstGeom prst="roundRect">
            <a:avLst>
              <a:gd name="adj" fmla="val 33333"/>
            </a:avLst>
          </a:prstGeom>
          <a:solidFill>
            <a:srgbClr val="7C3AED">
              <a:alpha val="70000"/>
            </a:srgbClr>
          </a:solidFill>
          <a:ln>
            <a:noFill/>
          </a:ln>
        </p:spPr>
      </p:sp>
      <p:sp>
        <p:nvSpPr>
          <p:cNvPr id="66" name="Ellipse 66"/>
          <p:cNvSpPr/>
          <p:nvPr/>
        </p:nvSpPr>
        <p:spPr>
          <a:xfrm>
            <a:off x="6067425" y="5400675"/>
            <a:ext cx="57150" cy="57150"/>
          </a:xfrm>
          <a:prstGeom prst="ellipse">
            <a:avLst/>
          </a:prstGeom>
          <a:solidFill>
            <a:srgbClr val="7C3AED">
              <a:alpha val="80000"/>
            </a:srgbClr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6204585" y="5364956"/>
            <a:ext cx="92011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F8FBFF"/>
                </a:solidFill>
                <a:latin typeface="Arial"/>
                <a:ea typeface="Microsoft YaHei"/>
                <a:cs typeface="Arial"/>
              </a:rPr>
              <a:t>逾千万字著述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204966" y="5582602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以笔为剑启蒙民众</a:t>
            </a:r>
          </a:p>
        </p:txBody>
      </p:sp>
      <p:sp>
        <p:nvSpPr>
          <p:cNvPr id="69" name="Rectangle 69"/>
          <p:cNvSpPr/>
          <p:nvPr/>
        </p:nvSpPr>
        <p:spPr>
          <a:xfrm>
            <a:off x="9048750" y="5143500"/>
            <a:ext cx="2381250" cy="1047750"/>
          </a:xfrm>
          <a:prstGeom prst="roundRect">
            <a:avLst>
              <a:gd name="adj" fmla="val 5455"/>
            </a:avLst>
          </a:prstGeom>
          <a:solidFill>
            <a:srgbClr val="0B1F38"/>
          </a:solidFill>
          <a:ln w="9525">
            <a:solidFill>
              <a:srgbClr val="7C3AED">
                <a:alpha val="40000"/>
              </a:srgbClr>
            </a:solidFill>
          </a:ln>
        </p:spPr>
      </p:sp>
      <p:sp>
        <p:nvSpPr>
          <p:cNvPr id="70" name="Rectangle 70"/>
          <p:cNvSpPr/>
          <p:nvPr/>
        </p:nvSpPr>
        <p:spPr>
          <a:xfrm>
            <a:off x="9048750" y="5143500"/>
            <a:ext cx="2381250" cy="28575"/>
          </a:xfrm>
          <a:prstGeom prst="roundRect">
            <a:avLst>
              <a:gd name="adj" fmla="val 33333"/>
            </a:avLst>
          </a:prstGeom>
          <a:solidFill>
            <a:srgbClr val="7C3AED">
              <a:alpha val="70000"/>
            </a:srgbClr>
          </a:solidFill>
          <a:ln>
            <a:noFill/>
          </a:ln>
        </p:spPr>
      </p:sp>
      <p:sp>
        <p:nvSpPr>
          <p:cNvPr id="71" name="Ellipse 71"/>
          <p:cNvSpPr/>
          <p:nvPr/>
        </p:nvSpPr>
        <p:spPr>
          <a:xfrm>
            <a:off x="9210675" y="5400675"/>
            <a:ext cx="57150" cy="57150"/>
          </a:xfrm>
          <a:prstGeom prst="ellipse">
            <a:avLst/>
          </a:prstGeom>
          <a:solidFill>
            <a:srgbClr val="7C3AED">
              <a:alpha val="80000"/>
            </a:srgbClr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9347835" y="5364956"/>
            <a:ext cx="92011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F8FBFF"/>
                </a:solidFill>
                <a:latin typeface="Arial"/>
                <a:ea typeface="Microsoft YaHei"/>
                <a:cs typeface="Arial"/>
              </a:rPr>
              <a:t>毛泽东思想的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9348216" y="55826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形成与传播</a:t>
            </a:r>
          </a:p>
        </p:txBody>
      </p:sp>
      <p:sp>
        <p:nvSpPr>
          <p:cNvPr id="74" name="Line 74"/>
          <p:cNvSpPr/>
          <p:nvPr/>
        </p:nvSpPr>
        <p:spPr>
          <a:xfrm>
            <a:off x="762000" y="64198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4288">
            <a:gradFill>
              <a:gsLst>
                <a:gs pos="0">
                  <a:srgbClr val="2563EB">
                    <a:alpha val="30000"/>
                  </a:srgbClr>
                </a:gs>
                <a:gs pos="30000">
                  <a:srgbClr val="7C3AED">
                    <a:alpha val="80000"/>
                  </a:srgbClr>
                </a:gs>
                <a:gs pos="70000">
                  <a:srgbClr val="38BDF8">
                    <a:alpha val="80000"/>
                  </a:srgbClr>
                </a:gs>
                <a:gs pos="100000">
                  <a:srgbClr val="2563EB">
                    <a:alpha val="30000"/>
                  </a:srgbClr>
                </a:gs>
              </a:gsLst>
              <a:lin ang="0" scaled="1"/>
            </a:gradFill>
          </a:ln>
        </p:spPr>
      </p:sp>
      <p:sp>
        <p:nvSpPr>
          <p:cNvPr id="75" name="Ellipse 75"/>
          <p:cNvSpPr/>
          <p:nvPr/>
        </p:nvSpPr>
        <p:spPr>
          <a:xfrm>
            <a:off x="714375" y="6372225"/>
            <a:ext cx="95250" cy="95250"/>
          </a:xfrm>
          <a:prstGeom prst="ellipse">
            <a:avLst/>
          </a:prstGeom>
          <a:solidFill>
            <a:srgbClr val="2563EB">
              <a:alpha val="80000"/>
            </a:srgbClr>
          </a:solidFill>
          <a:ln>
            <a:noFill/>
          </a:ln>
        </p:spPr>
      </p:sp>
      <p:sp>
        <p:nvSpPr>
          <p:cNvPr id="76" name="Ellipse 76"/>
          <p:cNvSpPr/>
          <p:nvPr/>
        </p:nvSpPr>
        <p:spPr>
          <a:xfrm>
            <a:off x="11382375" y="6372225"/>
            <a:ext cx="95250" cy="95250"/>
          </a:xfrm>
          <a:prstGeom prst="ellipse">
            <a:avLst/>
          </a:prstGeom>
          <a:solidFill>
            <a:srgbClr val="2563EB">
              <a:alpha val="80000"/>
            </a:srgbClr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993667" y="6524149"/>
            <a:ext cx="2986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1893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4803667" y="6524149"/>
            <a:ext cx="2986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1921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8042167" y="6524149"/>
            <a:ext cx="2986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1949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0899667" y="6524149"/>
            <a:ext cx="2986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1976</a:t>
            </a:r>
          </a:p>
        </p:txBody>
      </p:sp>
      <p:sp>
        <p:nvSpPr>
          <p:cNvPr id="81" name="Ellipse 81"/>
          <p:cNvSpPr/>
          <p:nvPr/>
        </p:nvSpPr>
        <p:spPr>
          <a:xfrm>
            <a:off x="2833688" y="6396038"/>
            <a:ext cx="47625" cy="47625"/>
          </a:xfrm>
          <a:prstGeom prst="ellipse">
            <a:avLst/>
          </a:prstGeom>
          <a:solidFill>
            <a:srgbClr val="38BDF8">
              <a:alpha val="60000"/>
            </a:srgbClr>
          </a:solidFill>
          <a:ln>
            <a:noFill/>
          </a:ln>
        </p:spPr>
      </p:sp>
      <p:sp>
        <p:nvSpPr>
          <p:cNvPr id="82" name="Ellipse 82"/>
          <p:cNvSpPr/>
          <p:nvPr/>
        </p:nvSpPr>
        <p:spPr>
          <a:xfrm>
            <a:off x="6443662" y="6386512"/>
            <a:ext cx="66675" cy="66675"/>
          </a:xfrm>
          <a:prstGeom prst="ellipse">
            <a:avLst/>
          </a:prstGeom>
          <a:solidFill>
            <a:srgbClr val="7C3AED">
              <a:alpha val="70000"/>
            </a:srgbClr>
          </a:solidFill>
          <a:ln>
            <a:noFill/>
          </a:ln>
        </p:spPr>
      </p:sp>
      <p:sp>
        <p:nvSpPr>
          <p:cNvPr id="83" name="Ellipse 83"/>
          <p:cNvSpPr/>
          <p:nvPr/>
        </p:nvSpPr>
        <p:spPr>
          <a:xfrm>
            <a:off x="9120188" y="6396038"/>
            <a:ext cx="47625" cy="47625"/>
          </a:xfrm>
          <a:prstGeom prst="ellipse">
            <a:avLst/>
          </a:prstGeom>
          <a:solidFill>
            <a:srgbClr val="38BDF8">
              <a:alpha val="6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81426"/>
              </a:gs>
              <a:gs pos="50000">
                <a:srgbClr val="0D2340"/>
              </a:gs>
              <a:gs pos="100000">
                <a:srgbClr val="081426"/>
              </a:gs>
            </a:gsLst>
            <a:lin ang="2700000" scaled="1"/>
          </a:gradFill>
          <a:ln>
            <a:noFill/>
          </a:ln>
        </p:spPr>
      </p:sp>
      <p:grpSp>
        <p:nvGrpSpPr>
          <p:cNvPr id="15" name="Group 1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4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4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4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4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4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4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4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4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4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4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4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4000"/>
                </a:srgbClr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0072688" y="166688"/>
            <a:ext cx="1766887" cy="814387"/>
            <a:chOff x="10072688" y="166688"/>
            <a:chExt cx="1766887" cy="814387"/>
          </a:xfrm>
        </p:grpSpPr>
        <p:sp>
          <p:nvSpPr>
            <p:cNvPr id="16" name="Polyline 16"/>
            <p:cNvSpPr/>
            <p:nvPr/>
          </p:nvSpPr>
          <p:spPr>
            <a:xfrm>
              <a:off x="11239500" y="381000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0" y="381000"/>
                  </a:moveTo>
                  <a:lnTo>
                    <a:pt x="0" y="0"/>
                  </a:lnTo>
                  <a:lnTo>
                    <a:pt x="571500" y="0"/>
                  </a:lnTo>
                  <a:lnTo>
                    <a:pt x="571500" y="571500"/>
                  </a:lnTo>
                </a:path>
              </a:pathLst>
            </a:custGeom>
            <a:noFill/>
            <a:ln w="9525">
              <a:solidFill>
                <a:srgbClr val="38BDF8">
                  <a:alpha val="8000"/>
                </a:srgbClr>
              </a:solidFill>
            </a:ln>
          </p:spPr>
        </p:sp>
        <p:sp>
          <p:nvSpPr>
            <p:cNvPr id="17" name="Polyline 17"/>
            <p:cNvSpPr/>
            <p:nvPr/>
          </p:nvSpPr>
          <p:spPr>
            <a:xfrm>
              <a:off x="10096500" y="1905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381000"/>
                  </a:moveTo>
                  <a:lnTo>
                    <a:pt x="381000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38BDF8">
                  <a:alpha val="8000"/>
                </a:srgbClr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11782425" y="923925"/>
              <a:ext cx="57150" cy="57150"/>
            </a:xfrm>
            <a:prstGeom prst="ellipse">
              <a:avLst/>
            </a:prstGeom>
            <a:solidFill>
              <a:srgbClr val="38BDF8">
                <a:alpha val="2400"/>
              </a:srgbClr>
            </a:solidFill>
            <a:ln w="9525">
              <a:solidFill>
                <a:srgbClr val="38BDF8">
                  <a:alpha val="2400"/>
                </a:srgbClr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10072688" y="166688"/>
              <a:ext cx="47625" cy="47625"/>
            </a:xfrm>
            <a:prstGeom prst="ellipse">
              <a:avLst/>
            </a:prstGeom>
            <a:solidFill>
              <a:srgbClr val="38BDF8">
                <a:alpha val="2400"/>
              </a:srgbClr>
            </a:solidFill>
            <a:ln w="9525">
              <a:solidFill>
                <a:srgbClr val="38BDF8">
                  <a:alpha val="2400"/>
                </a:srgbClr>
              </a:solidFill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11522640" y="6525578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CBD5E1">
                    <a:alphaMod val="60000"/>
                  </a:srgbClr>
                </a:solidFill>
                <a:latin typeface="Consolas"/>
                <a:ea typeface="Consolas"/>
                <a:cs typeface="Consolas"/>
              </a:rPr>
              <a:t>02 / 06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5998" y="441008"/>
            <a:ext cx="4907553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8FBFF"/>
                </a:solidFill>
                <a:latin typeface="Arial"/>
                <a:ea typeface="Microsoft YaHei"/>
                <a:cs typeface="Arial"/>
              </a:rPr>
              <a:t>革命之路（1893—1949）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2856" y="986790"/>
            <a:ext cx="559155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CBD5E1">
                    <a:alphaMod val="85000"/>
                  </a:srgbClr>
                </a:solidFill>
                <a:latin typeface="Arial"/>
                <a:ea typeface="Microsoft YaHei"/>
                <a:cs typeface="Arial"/>
              </a:rPr>
              <a:t>从韶山私塾到天安门城楼，独立自主革命道路的锻造</a:t>
            </a:r>
          </a:p>
        </p:txBody>
      </p:sp>
      <p:sp>
        <p:nvSpPr>
          <p:cNvPr id="24" name="Line 24"/>
          <p:cNvSpPr/>
          <p:nvPr/>
        </p:nvSpPr>
        <p:spPr>
          <a:xfrm>
            <a:off x="762000" y="135255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19050">
            <a:solidFill>
              <a:srgbClr val="2563EB">
                <a:alpha val="80000"/>
              </a:srgbClr>
            </a:solidFill>
          </a:ln>
        </p:spPr>
      </p:sp>
      <p:sp>
        <p:nvSpPr>
          <p:cNvPr id="25" name="Ellipse 25"/>
          <p:cNvSpPr/>
          <p:nvPr/>
        </p:nvSpPr>
        <p:spPr>
          <a:xfrm>
            <a:off x="3590925" y="1323975"/>
            <a:ext cx="57150" cy="57150"/>
          </a:xfrm>
          <a:prstGeom prst="ellipse">
            <a:avLst/>
          </a:prstGeom>
          <a:solidFill>
            <a:srgbClr val="38BDF8">
              <a:alpha val="80000"/>
            </a:srgbClr>
          </a:solidFill>
          <a:ln>
            <a:noFill/>
          </a:ln>
        </p:spPr>
      </p:sp>
      <p:sp>
        <p:nvSpPr>
          <p:cNvPr id="26" name="Line 26"/>
          <p:cNvSpPr/>
          <p:nvPr/>
        </p:nvSpPr>
        <p:spPr>
          <a:xfrm>
            <a:off x="762000" y="41910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28575">
            <a:gradFill>
              <a:gsLst>
                <a:gs pos="0">
                  <a:srgbClr val="2563EB">
                    <a:alpha val="9000"/>
                  </a:srgbClr>
                </a:gs>
                <a:gs pos="15000">
                  <a:srgbClr val="2563EB">
                    <a:alpha val="54000"/>
                  </a:srgbClr>
                </a:gs>
                <a:gs pos="30000">
                  <a:srgbClr val="38BDF8">
                    <a:alpha val="72000"/>
                  </a:srgbClr>
                </a:gs>
                <a:gs pos="50000">
                  <a:srgbClr val="7C3AED">
                    <a:alpha val="81000"/>
                  </a:srgbClr>
                </a:gs>
                <a:gs pos="70000">
                  <a:srgbClr val="38BDF8">
                    <a:alpha val="72000"/>
                  </a:srgbClr>
                </a:gs>
                <a:gs pos="85000">
                  <a:srgbClr val="2563EB">
                    <a:alpha val="54000"/>
                  </a:srgbClr>
                </a:gs>
                <a:gs pos="100000">
                  <a:srgbClr val="7C3AED">
                    <a:alpha val="36000"/>
                  </a:srgbClr>
                </a:gs>
              </a:gsLst>
              <a:lin ang="0" scaled="1"/>
            </a:gradFill>
          </a:ln>
        </p:spPr>
      </p:sp>
      <p:grpSp>
        <p:nvGrpSpPr>
          <p:cNvPr id="35" name="Group 35"/>
          <p:cNvGrpSpPr/>
          <p:nvPr/>
        </p:nvGrpSpPr>
        <p:grpSpPr>
          <a:xfrm>
            <a:off x="1143000" y="4114800"/>
            <a:ext cx="9344025" cy="152400"/>
            <a:chOff x="1143000" y="4114800"/>
            <a:chExt cx="9344025" cy="152400"/>
          </a:xfrm>
        </p:grpSpPr>
        <p:sp>
          <p:nvSpPr>
            <p:cNvPr id="27" name="Line 27"/>
            <p:cNvSpPr/>
            <p:nvPr/>
          </p:nvSpPr>
          <p:spPr>
            <a:xfrm>
              <a:off x="1143000" y="411480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14288">
              <a:solidFill>
                <a:srgbClr val="38BDF8">
                  <a:alpha val="60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2476500" y="411480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14288">
              <a:solidFill>
                <a:srgbClr val="38BDF8">
                  <a:alpha val="60000"/>
                </a:srgb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3810000" y="411480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14288">
              <a:solidFill>
                <a:srgbClr val="38BDF8">
                  <a:alpha val="60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5143500" y="411480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14288">
              <a:solidFill>
                <a:srgbClr val="38BDF8">
                  <a:alpha val="60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6477000" y="411480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14288">
              <a:solidFill>
                <a:srgbClr val="38BDF8">
                  <a:alpha val="60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7810500" y="411480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14288">
              <a:solidFill>
                <a:srgbClr val="38BDF8">
                  <a:alpha val="60000"/>
                </a:srgbClr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9144000" y="411480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14288">
              <a:solidFill>
                <a:srgbClr val="38BDF8">
                  <a:alpha val="60000"/>
                </a:srgbClr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10477500" y="411480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14288">
              <a:solidFill>
                <a:srgbClr val="38BDF8">
                  <a:alpha val="60000"/>
                </a:srgbClr>
              </a:solidFill>
            </a:ln>
          </p:spPr>
        </p:sp>
      </p:grpSp>
      <p:sp>
        <p:nvSpPr>
          <p:cNvPr id="36" name="Ellipse 36"/>
          <p:cNvSpPr/>
          <p:nvPr/>
        </p:nvSpPr>
        <p:spPr>
          <a:xfrm>
            <a:off x="1943100" y="3848100"/>
            <a:ext cx="685800" cy="685800"/>
          </a:xfrm>
          <a:prstGeom prst="ellipse">
            <a:avLst/>
          </a:prstGeom>
          <a:gradFill>
            <a:gsLst>
              <a:gs pos="0">
                <a:srgbClr val="38BDF8">
                  <a:alpha val="35000"/>
                </a:srgbClr>
              </a:gs>
              <a:gs pos="100000">
                <a:srgbClr val="38BDF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37" name="Ellipse 37"/>
          <p:cNvSpPr/>
          <p:nvPr/>
        </p:nvSpPr>
        <p:spPr>
          <a:xfrm>
            <a:off x="2171700" y="4076700"/>
            <a:ext cx="228600" cy="228600"/>
          </a:xfrm>
          <a:prstGeom prst="ellipse">
            <a:avLst/>
          </a:prstGeom>
          <a:solidFill>
            <a:srgbClr val="0D2340"/>
          </a:solidFill>
          <a:ln w="23812">
            <a:solidFill>
              <a:srgbClr val="38BDF8"/>
            </a:solidFill>
          </a:ln>
        </p:spPr>
      </p:sp>
      <p:sp>
        <p:nvSpPr>
          <p:cNvPr id="38" name="Ellipse 38"/>
          <p:cNvSpPr/>
          <p:nvPr/>
        </p:nvSpPr>
        <p:spPr>
          <a:xfrm>
            <a:off x="2238375" y="4143375"/>
            <a:ext cx="95250" cy="9525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2069236" y="4331018"/>
            <a:ext cx="43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1927</a:t>
            </a:r>
          </a:p>
        </p:txBody>
      </p:sp>
      <p:sp>
        <p:nvSpPr>
          <p:cNvPr id="40" name="Line 40"/>
          <p:cNvSpPr/>
          <p:nvPr/>
        </p:nvSpPr>
        <p:spPr>
          <a:xfrm>
            <a:off x="2286000" y="3238500"/>
            <a:ext cx="9525" cy="838200"/>
          </a:xfrm>
          <a:custGeom>
            <a:avLst/>
            <a:gdLst/>
            <a:ahLst/>
            <a:cxnLst/>
            <a:rect l="l" t="t" r="r" b="b"/>
            <a:pathLst>
              <a:path w="9525" h="838200">
                <a:moveTo>
                  <a:pt x="0" y="8382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38BDF8">
                <a:alpha val="50000"/>
              </a:srgbClr>
            </a:solidFill>
            <a:custDash>
              <a:ds d="333333" sp="250000"/>
            </a:custDash>
          </a:ln>
        </p:spPr>
      </p:sp>
      <p:sp>
        <p:nvSpPr>
          <p:cNvPr id="41" name="Rectangle 41"/>
          <p:cNvSpPr/>
          <p:nvPr/>
        </p:nvSpPr>
        <p:spPr>
          <a:xfrm>
            <a:off x="1476375" y="2095500"/>
            <a:ext cx="1619250" cy="1066800"/>
          </a:xfrm>
          <a:prstGeom prst="roundRect">
            <a:avLst>
              <a:gd name="adj" fmla="val 5357"/>
            </a:avLst>
          </a:prstGeom>
          <a:solidFill>
            <a:srgbClr val="0B1F38">
              <a:alpha val="95000"/>
            </a:srgbClr>
          </a:solidFill>
          <a:ln w="11430">
            <a:solidFill>
              <a:srgbClr val="2563EB">
                <a:alpha val="95000"/>
              </a:srgbClr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1476375" y="2095500"/>
            <a:ext cx="161925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1566291" y="226790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8BDF8"/>
                </a:solidFill>
                <a:latin typeface="Consolas"/>
                <a:ea typeface="Microsoft YaHei"/>
                <a:cs typeface="Consolas"/>
              </a:rPr>
              <a:t>秋收起义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566672" y="2466499"/>
            <a:ext cx="119119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CBD5E1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国共分裂后领导秋收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566672" y="2628424"/>
            <a:ext cx="92868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CBD5E1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起义，开创首个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566672" y="2790349"/>
            <a:ext cx="66617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CBD5E1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农村根据地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2809875" y="2238375"/>
            <a:ext cx="95250" cy="209550"/>
            <a:chOff x="2809875" y="2238375"/>
            <a:chExt cx="95250" cy="209550"/>
          </a:xfrm>
        </p:grpSpPr>
        <p:sp>
          <p:nvSpPr>
            <p:cNvPr id="47" name="Polyline 47"/>
            <p:cNvSpPr/>
            <p:nvPr/>
          </p:nvSpPr>
          <p:spPr>
            <a:xfrm>
              <a:off x="2809875" y="2238375"/>
              <a:ext cx="95250" cy="142875"/>
            </a:xfrm>
            <a:custGeom>
              <a:avLst/>
              <a:gdLst/>
              <a:ahLst/>
              <a:cxnLst/>
              <a:rect l="l" t="t" r="r" b="b"/>
              <a:pathLst>
                <a:path w="95250" h="142875">
                  <a:moveTo>
                    <a:pt x="0" y="142875"/>
                  </a:moveTo>
                  <a:lnTo>
                    <a:pt x="0" y="0"/>
                  </a:lnTo>
                  <a:lnTo>
                    <a:pt x="95250" y="38100"/>
                  </a:lnTo>
                </a:path>
              </a:pathLst>
            </a:custGeom>
            <a:noFill/>
            <a:ln w="11430">
              <a:solidFill>
                <a:srgbClr val="38BDF8">
                  <a:alpha val="50000"/>
                </a:srgbClr>
              </a:solidFill>
            </a:ln>
          </p:spPr>
        </p:sp>
        <p:sp>
          <p:nvSpPr>
            <p:cNvPr id="48" name="Polyline 48"/>
            <p:cNvSpPr/>
            <p:nvPr/>
          </p:nvSpPr>
          <p:spPr>
            <a:xfrm>
              <a:off x="2809875" y="2381250"/>
              <a:ext cx="76200" cy="66675"/>
            </a:xfrm>
            <a:custGeom>
              <a:avLst/>
              <a:gdLst/>
              <a:ahLst/>
              <a:cxnLst/>
              <a:rect l="l" t="t" r="r" b="b"/>
              <a:pathLst>
                <a:path w="76200" h="66675">
                  <a:moveTo>
                    <a:pt x="0" y="0"/>
                  </a:moveTo>
                  <a:lnTo>
                    <a:pt x="0" y="66675"/>
                  </a:lnTo>
                  <a:lnTo>
                    <a:pt x="76200" y="66675"/>
                  </a:lnTo>
                </a:path>
              </a:pathLst>
            </a:custGeom>
            <a:noFill/>
            <a:ln w="11430">
              <a:solidFill>
                <a:srgbClr val="38BDF8">
                  <a:alpha val="50000"/>
                </a:srgbClr>
              </a:solidFill>
            </a:ln>
          </p:spPr>
        </p:sp>
      </p:grpSp>
      <p:sp>
        <p:nvSpPr>
          <p:cNvPr id="50" name="Ellipse 50"/>
          <p:cNvSpPr/>
          <p:nvPr/>
        </p:nvSpPr>
        <p:spPr>
          <a:xfrm>
            <a:off x="3981450" y="3886200"/>
            <a:ext cx="609600" cy="609600"/>
          </a:xfrm>
          <a:prstGeom prst="ellipse">
            <a:avLst/>
          </a:prstGeom>
          <a:gradFill>
            <a:gsLst>
              <a:gs pos="0">
                <a:srgbClr val="2563EB">
                  <a:alpha val="35000"/>
                </a:srgbClr>
              </a:gs>
              <a:gs pos="100000">
                <a:srgbClr val="2563E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1" name="Ellipse 51"/>
          <p:cNvSpPr/>
          <p:nvPr/>
        </p:nvSpPr>
        <p:spPr>
          <a:xfrm>
            <a:off x="4181475" y="4086225"/>
            <a:ext cx="209550" cy="209550"/>
          </a:xfrm>
          <a:prstGeom prst="ellipse">
            <a:avLst/>
          </a:prstGeom>
          <a:solidFill>
            <a:srgbClr val="0D2340"/>
          </a:solidFill>
          <a:ln w="23812">
            <a:solidFill>
              <a:srgbClr val="2563EB"/>
            </a:solidFill>
          </a:ln>
        </p:spPr>
      </p:sp>
      <p:sp>
        <p:nvSpPr>
          <p:cNvPr id="52" name="Ellipse 52"/>
          <p:cNvSpPr/>
          <p:nvPr/>
        </p:nvSpPr>
        <p:spPr>
          <a:xfrm>
            <a:off x="4243388" y="4148138"/>
            <a:ext cx="85725" cy="85725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3953633" y="4347210"/>
            <a:ext cx="6652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1927-30</a:t>
            </a:r>
          </a:p>
        </p:txBody>
      </p:sp>
      <p:sp>
        <p:nvSpPr>
          <p:cNvPr id="54" name="Line 54"/>
          <p:cNvSpPr/>
          <p:nvPr/>
        </p:nvSpPr>
        <p:spPr>
          <a:xfrm>
            <a:off x="4286250" y="3238500"/>
            <a:ext cx="9525" cy="838200"/>
          </a:xfrm>
          <a:custGeom>
            <a:avLst/>
            <a:gdLst/>
            <a:ahLst/>
            <a:cxnLst/>
            <a:rect l="l" t="t" r="r" b="b"/>
            <a:pathLst>
              <a:path w="9525" h="838200">
                <a:moveTo>
                  <a:pt x="0" y="8382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2563EB">
                <a:alpha val="50000"/>
              </a:srgbClr>
            </a:solidFill>
            <a:custDash>
              <a:ds d="333333" sp="250000"/>
            </a:custDash>
          </a:ln>
        </p:spPr>
      </p:sp>
      <p:sp>
        <p:nvSpPr>
          <p:cNvPr id="55" name="Rectangle 55"/>
          <p:cNvSpPr/>
          <p:nvPr/>
        </p:nvSpPr>
        <p:spPr>
          <a:xfrm>
            <a:off x="3476625" y="4572000"/>
            <a:ext cx="1619250" cy="1066800"/>
          </a:xfrm>
          <a:prstGeom prst="roundRect">
            <a:avLst>
              <a:gd name="adj" fmla="val 5357"/>
            </a:avLst>
          </a:prstGeom>
          <a:solidFill>
            <a:srgbClr val="0B1F38">
              <a:alpha val="95000"/>
            </a:srgbClr>
          </a:solidFill>
          <a:ln w="11430">
            <a:solidFill>
              <a:srgbClr val="2563EB">
                <a:alpha val="95000"/>
              </a:srgbClr>
            </a:solidFill>
          </a:ln>
        </p:spPr>
      </p:sp>
      <p:sp>
        <p:nvSpPr>
          <p:cNvPr id="56" name="Rectangle 56"/>
          <p:cNvSpPr/>
          <p:nvPr/>
        </p:nvSpPr>
        <p:spPr>
          <a:xfrm>
            <a:off x="3476625" y="4572000"/>
            <a:ext cx="161925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3566541" y="4744402"/>
            <a:ext cx="7527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井冈山时期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566922" y="4942999"/>
            <a:ext cx="92868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CBD5E1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创建工农革命军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566922" y="5104924"/>
            <a:ext cx="105994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CBD5E1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第一师，探索武装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3566922" y="5266849"/>
            <a:ext cx="5349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CBD5E1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割据道路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4781550" y="4772025"/>
            <a:ext cx="209550" cy="123825"/>
            <a:chOff x="4781550" y="4772025"/>
            <a:chExt cx="209550" cy="123825"/>
          </a:xfrm>
        </p:grpSpPr>
        <p:sp>
          <p:nvSpPr>
            <p:cNvPr id="61" name="Polyline 61"/>
            <p:cNvSpPr/>
            <p:nvPr/>
          </p:nvSpPr>
          <p:spPr>
            <a:xfrm>
              <a:off x="4810125" y="4772025"/>
              <a:ext cx="152400" cy="114300"/>
            </a:xfrm>
            <a:custGeom>
              <a:avLst/>
              <a:gdLst/>
              <a:ahLst/>
              <a:cxnLst/>
              <a:rect l="l" t="t" r="r" b="b"/>
              <a:pathLst>
                <a:path w="152400" h="114300">
                  <a:moveTo>
                    <a:pt x="0" y="114300"/>
                  </a:moveTo>
                  <a:lnTo>
                    <a:pt x="76200" y="0"/>
                  </a:lnTo>
                  <a:lnTo>
                    <a:pt x="152400" y="114300"/>
                  </a:lnTo>
                </a:path>
              </a:pathLst>
            </a:custGeom>
            <a:noFill/>
            <a:ln w="11430">
              <a:solidFill>
                <a:srgbClr val="2563EB">
                  <a:alpha val="50000"/>
                </a:srgbClr>
              </a:solidFill>
            </a:ln>
          </p:spPr>
        </p:sp>
        <p:sp>
          <p:nvSpPr>
            <p:cNvPr id="62" name="Line 62"/>
            <p:cNvSpPr/>
            <p:nvPr/>
          </p:nvSpPr>
          <p:spPr>
            <a:xfrm>
              <a:off x="4781550" y="4886325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11430">
              <a:solidFill>
                <a:srgbClr val="2563EB">
                  <a:alpha val="50000"/>
                </a:srgbClr>
              </a:solidFill>
            </a:ln>
          </p:spPr>
        </p:sp>
      </p:grpSp>
      <p:sp>
        <p:nvSpPr>
          <p:cNvPr id="64" name="Ellipse 64"/>
          <p:cNvSpPr/>
          <p:nvPr/>
        </p:nvSpPr>
        <p:spPr>
          <a:xfrm>
            <a:off x="6096000" y="3810000"/>
            <a:ext cx="762000" cy="762000"/>
          </a:xfrm>
          <a:prstGeom prst="ellipse">
            <a:avLst/>
          </a:prstGeom>
          <a:gradFill>
            <a:gsLst>
              <a:gs pos="0">
                <a:srgbClr val="7C3AED">
                  <a:alpha val="40000"/>
                </a:srgbClr>
              </a:gs>
              <a:gs pos="100000">
                <a:srgbClr val="7C3AE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5" name="Ellipse 65"/>
          <p:cNvSpPr/>
          <p:nvPr/>
        </p:nvSpPr>
        <p:spPr>
          <a:xfrm>
            <a:off x="6353175" y="4067175"/>
            <a:ext cx="247650" cy="247650"/>
          </a:xfrm>
          <a:prstGeom prst="ellipse">
            <a:avLst/>
          </a:prstGeom>
          <a:solidFill>
            <a:srgbClr val="0D2340"/>
          </a:solidFill>
          <a:ln w="26670">
            <a:solidFill>
              <a:srgbClr val="7C3AED"/>
            </a:solidFill>
          </a:ln>
        </p:spPr>
      </p:sp>
      <p:sp>
        <p:nvSpPr>
          <p:cNvPr id="66" name="Ellipse 66"/>
          <p:cNvSpPr/>
          <p:nvPr/>
        </p:nvSpPr>
        <p:spPr>
          <a:xfrm>
            <a:off x="6424612" y="4138612"/>
            <a:ext cx="104775" cy="104775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6102806" y="4331018"/>
            <a:ext cx="7483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7C3AED"/>
                </a:solidFill>
                <a:latin typeface="Consolas"/>
                <a:ea typeface="Consolas"/>
                <a:cs typeface="Consolas"/>
              </a:rPr>
              <a:t>1934-35</a:t>
            </a:r>
          </a:p>
        </p:txBody>
      </p:sp>
      <p:sp>
        <p:nvSpPr>
          <p:cNvPr id="68" name="Line 68"/>
          <p:cNvSpPr/>
          <p:nvPr/>
        </p:nvSpPr>
        <p:spPr>
          <a:xfrm>
            <a:off x="6477000" y="3238500"/>
            <a:ext cx="9525" cy="828675"/>
          </a:xfrm>
          <a:custGeom>
            <a:avLst/>
            <a:gdLst/>
            <a:ahLst/>
            <a:cxnLst/>
            <a:rect l="l" t="t" r="r" b="b"/>
            <a:pathLst>
              <a:path w="9525" h="828675">
                <a:moveTo>
                  <a:pt x="0" y="828675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7C3AED">
                <a:alpha val="50000"/>
              </a:srgbClr>
            </a:solidFill>
            <a:custDash>
              <a:ds d="333333" sp="250000"/>
            </a:custDash>
          </a:ln>
        </p:spPr>
      </p:sp>
      <p:sp>
        <p:nvSpPr>
          <p:cNvPr id="69" name="Rectangle 69"/>
          <p:cNvSpPr/>
          <p:nvPr/>
        </p:nvSpPr>
        <p:spPr>
          <a:xfrm>
            <a:off x="5286375" y="1905000"/>
            <a:ext cx="2381250" cy="1238250"/>
          </a:xfrm>
          <a:prstGeom prst="roundRect">
            <a:avLst>
              <a:gd name="adj" fmla="val 4615"/>
            </a:avLst>
          </a:prstGeom>
          <a:solidFill>
            <a:srgbClr val="0B1F38">
              <a:alpha val="95000"/>
            </a:srgbClr>
          </a:solidFill>
          <a:ln w="14288">
            <a:solidFill>
              <a:srgbClr val="7C3AED">
                <a:alpha val="95000"/>
              </a:srgbClr>
            </a:solidFill>
          </a:ln>
        </p:spPr>
      </p:sp>
      <p:sp>
        <p:nvSpPr>
          <p:cNvPr id="70" name="Rectangle 70"/>
          <p:cNvSpPr/>
          <p:nvPr/>
        </p:nvSpPr>
        <p:spPr>
          <a:xfrm>
            <a:off x="5286375" y="1905000"/>
            <a:ext cx="2381250" cy="381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5376291" y="2077402"/>
            <a:ext cx="10718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7C3AED"/>
                </a:solidFill>
                <a:latin typeface="Consolas"/>
                <a:ea typeface="Microsoft YaHei"/>
                <a:cs typeface="Consolas"/>
              </a:rPr>
              <a:t>长征 · 遵义会议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376672" y="2275999"/>
            <a:ext cx="14537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CBD5E1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长征途中召开遵义会议，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5376672" y="2437924"/>
            <a:ext cx="132245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CBD5E1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确立毛泽东领导地位，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5376672" y="2599849"/>
            <a:ext cx="7974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CBD5E1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在最危难时刻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5376672" y="2761774"/>
            <a:ext cx="5349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CBD5E1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转危为安</a:t>
            </a:r>
          </a:p>
        </p:txBody>
      </p:sp>
      <p:sp>
        <p:nvSpPr>
          <p:cNvPr id="76" name="Ellipse 76"/>
          <p:cNvSpPr/>
          <p:nvPr/>
        </p:nvSpPr>
        <p:spPr>
          <a:xfrm>
            <a:off x="8248650" y="3867150"/>
            <a:ext cx="647700" cy="647700"/>
          </a:xfrm>
          <a:prstGeom prst="ellipse">
            <a:avLst/>
          </a:prstGeom>
          <a:gradFill>
            <a:gsLst>
              <a:gs pos="0">
                <a:srgbClr val="38BDF8">
                  <a:alpha val="35000"/>
                </a:srgbClr>
              </a:gs>
              <a:gs pos="100000">
                <a:srgbClr val="38BDF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7" name="Ellipse 77"/>
          <p:cNvSpPr/>
          <p:nvPr/>
        </p:nvSpPr>
        <p:spPr>
          <a:xfrm>
            <a:off x="8467725" y="4086225"/>
            <a:ext cx="209550" cy="209550"/>
          </a:xfrm>
          <a:prstGeom prst="ellipse">
            <a:avLst/>
          </a:prstGeom>
          <a:solidFill>
            <a:srgbClr val="0D2340"/>
          </a:solidFill>
          <a:ln w="23812">
            <a:solidFill>
              <a:srgbClr val="38BDF8"/>
            </a:solidFill>
          </a:ln>
        </p:spPr>
      </p:sp>
      <p:sp>
        <p:nvSpPr>
          <p:cNvPr id="78" name="Ellipse 78"/>
          <p:cNvSpPr/>
          <p:nvPr/>
        </p:nvSpPr>
        <p:spPr>
          <a:xfrm>
            <a:off x="8529638" y="4148138"/>
            <a:ext cx="85725" cy="85725"/>
          </a:xfrm>
          <a:prstGeom prst="ellipse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79" name="TextBox 79"/>
          <p:cNvSpPr txBox="1"/>
          <p:nvPr/>
        </p:nvSpPr>
        <p:spPr>
          <a:xfrm>
            <a:off x="8239883" y="4347210"/>
            <a:ext cx="6652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1935-45</a:t>
            </a:r>
          </a:p>
        </p:txBody>
      </p:sp>
      <p:sp>
        <p:nvSpPr>
          <p:cNvPr id="80" name="Line 80"/>
          <p:cNvSpPr/>
          <p:nvPr/>
        </p:nvSpPr>
        <p:spPr>
          <a:xfrm>
            <a:off x="8572500" y="3238500"/>
            <a:ext cx="9525" cy="838200"/>
          </a:xfrm>
          <a:custGeom>
            <a:avLst/>
            <a:gdLst/>
            <a:ahLst/>
            <a:cxnLst/>
            <a:rect l="l" t="t" r="r" b="b"/>
            <a:pathLst>
              <a:path w="9525" h="838200">
                <a:moveTo>
                  <a:pt x="0" y="8382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38BDF8">
                <a:alpha val="50000"/>
              </a:srgbClr>
            </a:solidFill>
            <a:custDash>
              <a:ds d="333333" sp="250000"/>
            </a:custDash>
          </a:ln>
        </p:spPr>
      </p:sp>
      <p:sp>
        <p:nvSpPr>
          <p:cNvPr id="81" name="Rectangle 81"/>
          <p:cNvSpPr/>
          <p:nvPr/>
        </p:nvSpPr>
        <p:spPr>
          <a:xfrm>
            <a:off x="7762875" y="2095500"/>
            <a:ext cx="1619250" cy="1066800"/>
          </a:xfrm>
          <a:prstGeom prst="roundRect">
            <a:avLst>
              <a:gd name="adj" fmla="val 5357"/>
            </a:avLst>
          </a:prstGeom>
          <a:solidFill>
            <a:srgbClr val="0B1F38">
              <a:alpha val="95000"/>
            </a:srgbClr>
          </a:solidFill>
          <a:ln w="11430">
            <a:solidFill>
              <a:srgbClr val="38BDF8">
                <a:alpha val="95000"/>
              </a:srgbClr>
            </a:solidFill>
          </a:ln>
        </p:spPr>
      </p:sp>
      <p:sp>
        <p:nvSpPr>
          <p:cNvPr id="82" name="Rectangle 82"/>
          <p:cNvSpPr/>
          <p:nvPr/>
        </p:nvSpPr>
        <p:spPr>
          <a:xfrm>
            <a:off x="7762875" y="2095500"/>
            <a:ext cx="161925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</p:sp>
      <p:sp>
        <p:nvSpPr>
          <p:cNvPr id="83" name="TextBox 83"/>
          <p:cNvSpPr txBox="1"/>
          <p:nvPr/>
        </p:nvSpPr>
        <p:spPr>
          <a:xfrm>
            <a:off x="7852791" y="226790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8BDF8"/>
                </a:solidFill>
                <a:latin typeface="Consolas"/>
                <a:ea typeface="Microsoft YaHei"/>
                <a:cs typeface="Consolas"/>
              </a:rPr>
              <a:t>延安时期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7853172" y="2466499"/>
            <a:ext cx="119119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CBD5E1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整风与六届六中全会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7853172" y="2628424"/>
            <a:ext cx="92868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CBD5E1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批判右倾，坚持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7853172" y="2790349"/>
            <a:ext cx="105994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CBD5E1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统一战线独立自主</a:t>
            </a:r>
          </a:p>
        </p:txBody>
      </p:sp>
      <p:grpSp>
        <p:nvGrpSpPr>
          <p:cNvPr id="89" name="Group 89"/>
          <p:cNvGrpSpPr/>
          <p:nvPr/>
        </p:nvGrpSpPr>
        <p:grpSpPr>
          <a:xfrm>
            <a:off x="9096375" y="2238375"/>
            <a:ext cx="114300" cy="152400"/>
            <a:chOff x="9096375" y="2238375"/>
            <a:chExt cx="114300" cy="152400"/>
          </a:xfrm>
        </p:grpSpPr>
        <p:sp>
          <p:nvSpPr>
            <p:cNvPr id="87" name="Polyline 87"/>
            <p:cNvSpPr/>
            <p:nvPr/>
          </p:nvSpPr>
          <p:spPr>
            <a:xfrm>
              <a:off x="9096375" y="2238375"/>
              <a:ext cx="114300" cy="142875"/>
            </a:xfrm>
            <a:custGeom>
              <a:avLst/>
              <a:gdLst/>
              <a:ahLst/>
              <a:cxnLst/>
              <a:rect l="l" t="t" r="r" b="b"/>
              <a:pathLst>
                <a:path w="114300" h="142875">
                  <a:moveTo>
                    <a:pt x="0" y="142875"/>
                  </a:moveTo>
                  <a:lnTo>
                    <a:pt x="0" y="76200"/>
                  </a:lnTo>
                  <a:lnTo>
                    <a:pt x="57150" y="0"/>
                  </a:lnTo>
                  <a:lnTo>
                    <a:pt x="114300" y="76200"/>
                  </a:lnTo>
                  <a:lnTo>
                    <a:pt x="114300" y="142875"/>
                  </a:lnTo>
                </a:path>
              </a:pathLst>
            </a:custGeom>
            <a:noFill/>
            <a:ln w="11430">
              <a:solidFill>
                <a:srgbClr val="38BDF8">
                  <a:alpha val="50000"/>
                </a:srgbClr>
              </a:solidFill>
            </a:ln>
          </p:spPr>
        </p:sp>
        <p:sp>
          <p:nvSpPr>
            <p:cNvPr id="88" name="Line 88"/>
            <p:cNvSpPr/>
            <p:nvPr/>
          </p:nvSpPr>
          <p:spPr>
            <a:xfrm>
              <a:off x="9096375" y="238125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1430">
              <a:solidFill>
                <a:srgbClr val="38BDF8">
                  <a:alpha val="50000"/>
                </a:srgbClr>
              </a:solidFill>
            </a:ln>
          </p:spPr>
        </p:sp>
      </p:grpSp>
      <p:sp>
        <p:nvSpPr>
          <p:cNvPr id="90" name="Ellipse 90"/>
          <p:cNvSpPr/>
          <p:nvPr/>
        </p:nvSpPr>
        <p:spPr>
          <a:xfrm>
            <a:off x="9829800" y="3733800"/>
            <a:ext cx="914400" cy="914400"/>
          </a:xfrm>
          <a:prstGeom prst="ellipse">
            <a:avLst/>
          </a:prstGeom>
          <a:gradFill>
            <a:gsLst>
              <a:gs pos="0">
                <a:srgbClr val="7C3AED">
                  <a:alpha val="50000"/>
                </a:srgbClr>
              </a:gs>
              <a:gs pos="50000">
                <a:srgbClr val="2563EB">
                  <a:alpha val="25000"/>
                </a:srgbClr>
              </a:gs>
              <a:gs pos="100000">
                <a:srgbClr val="2563E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91" name="Ellipse 91"/>
          <p:cNvSpPr/>
          <p:nvPr/>
        </p:nvSpPr>
        <p:spPr>
          <a:xfrm>
            <a:off x="10144125" y="4048125"/>
            <a:ext cx="285750" cy="285750"/>
          </a:xfrm>
          <a:prstGeom prst="ellipse">
            <a:avLst/>
          </a:prstGeom>
          <a:solidFill>
            <a:srgbClr val="0D2340"/>
          </a:solidFill>
          <a:ln w="28575">
            <a:solidFill>
              <a:srgbClr val="7C3AED"/>
            </a:solidFill>
          </a:ln>
        </p:spPr>
      </p:sp>
      <p:sp>
        <p:nvSpPr>
          <p:cNvPr id="92" name="Ellipse 92"/>
          <p:cNvSpPr/>
          <p:nvPr/>
        </p:nvSpPr>
        <p:spPr>
          <a:xfrm>
            <a:off x="10229850" y="4133850"/>
            <a:ext cx="114300" cy="114300"/>
          </a:xfrm>
          <a:prstGeom prst="ellipse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93" name="Ellipse 93"/>
          <p:cNvSpPr/>
          <p:nvPr/>
        </p:nvSpPr>
        <p:spPr>
          <a:xfrm>
            <a:off x="10144125" y="4048125"/>
            <a:ext cx="285750" cy="285750"/>
          </a:xfrm>
          <a:prstGeom prst="ellipse">
            <a:avLst/>
          </a:prstGeom>
          <a:noFill/>
          <a:ln w="7620">
            <a:solidFill>
              <a:srgbClr val="38BDF8">
                <a:alpha val="50000"/>
              </a:srgbClr>
            </a:solidFill>
          </a:ln>
        </p:spPr>
      </p:sp>
      <p:sp>
        <p:nvSpPr>
          <p:cNvPr id="94" name="TextBox 94"/>
          <p:cNvSpPr txBox="1"/>
          <p:nvPr/>
        </p:nvSpPr>
        <p:spPr>
          <a:xfrm>
            <a:off x="10046151" y="4314825"/>
            <a:ext cx="48169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8FBFF"/>
                </a:solidFill>
                <a:latin typeface="Consolas"/>
                <a:ea typeface="Consolas"/>
                <a:cs typeface="Consolas"/>
              </a:rPr>
              <a:t>1949</a:t>
            </a:r>
          </a:p>
        </p:txBody>
      </p:sp>
      <p:sp>
        <p:nvSpPr>
          <p:cNvPr id="95" name="Line 95"/>
          <p:cNvSpPr/>
          <p:nvPr/>
        </p:nvSpPr>
        <p:spPr>
          <a:xfrm>
            <a:off x="10287000" y="3238500"/>
            <a:ext cx="9525" cy="809625"/>
          </a:xfrm>
          <a:custGeom>
            <a:avLst/>
            <a:gdLst/>
            <a:ahLst/>
            <a:cxnLst/>
            <a:rect l="l" t="t" r="r" b="b"/>
            <a:pathLst>
              <a:path w="9525" h="809625">
                <a:moveTo>
                  <a:pt x="0" y="809625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7C3AED">
                <a:alpha val="70000"/>
              </a:srgbClr>
            </a:solidFill>
            <a:custDash>
              <a:ds d="333333" sp="266666"/>
            </a:custDash>
          </a:ln>
        </p:spPr>
      </p:sp>
      <p:sp>
        <p:nvSpPr>
          <p:cNvPr id="96" name="Rectangle 96"/>
          <p:cNvSpPr/>
          <p:nvPr/>
        </p:nvSpPr>
        <p:spPr>
          <a:xfrm>
            <a:off x="8763000" y="1714500"/>
            <a:ext cx="2667000" cy="1428750"/>
          </a:xfrm>
          <a:prstGeom prst="roundRect">
            <a:avLst>
              <a:gd name="adj" fmla="val 5333"/>
            </a:avLst>
          </a:prstGeom>
          <a:solidFill>
            <a:srgbClr val="0B1F38">
              <a:alpha val="97000"/>
            </a:srgbClr>
          </a:solidFill>
          <a:ln w="17145">
            <a:solidFill>
              <a:srgbClr val="7C3AED">
                <a:alpha val="97000"/>
              </a:srgbClr>
            </a:solidFill>
          </a:ln>
        </p:spPr>
      </p:sp>
      <p:sp>
        <p:nvSpPr>
          <p:cNvPr id="97" name="Rectangle 97"/>
          <p:cNvSpPr/>
          <p:nvPr/>
        </p:nvSpPr>
        <p:spPr>
          <a:xfrm>
            <a:off x="8763000" y="1714500"/>
            <a:ext cx="2667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>
                  <a:alpha val="10000"/>
                </a:srgbClr>
              </a:gs>
              <a:gs pos="15000">
                <a:srgbClr val="2563EB">
                  <a:alpha val="60000"/>
                </a:srgbClr>
              </a:gs>
              <a:gs pos="30000">
                <a:srgbClr val="38BDF8">
                  <a:alpha val="80000"/>
                </a:srgbClr>
              </a:gs>
              <a:gs pos="50000">
                <a:srgbClr val="7C3AED">
                  <a:alpha val="90000"/>
                </a:srgbClr>
              </a:gs>
              <a:gs pos="70000">
                <a:srgbClr val="38BDF8">
                  <a:alpha val="80000"/>
                </a:srgbClr>
              </a:gs>
              <a:gs pos="85000">
                <a:srgbClr val="2563EB">
                  <a:alpha val="60000"/>
                </a:srgbClr>
              </a:gs>
              <a:gs pos="100000">
                <a:srgbClr val="7C3AED">
                  <a:alpha val="4000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02" name="Group 102"/>
          <p:cNvGrpSpPr/>
          <p:nvPr/>
        </p:nvGrpSpPr>
        <p:grpSpPr>
          <a:xfrm>
            <a:off x="10791825" y="1962150"/>
            <a:ext cx="514350" cy="161925"/>
            <a:chOff x="10791825" y="1962150"/>
            <a:chExt cx="514350" cy="161925"/>
          </a:xfrm>
        </p:grpSpPr>
        <p:sp>
          <p:nvSpPr>
            <p:cNvPr id="98" name="Rectangle 98"/>
            <p:cNvSpPr/>
            <p:nvPr/>
          </p:nvSpPr>
          <p:spPr>
            <a:xfrm>
              <a:off x="10906125" y="1962150"/>
              <a:ext cx="285750" cy="152400"/>
            </a:xfrm>
            <a:prstGeom prst="rect">
              <a:avLst/>
            </a:prstGeom>
            <a:noFill/>
            <a:ln w="11430">
              <a:solidFill>
                <a:srgbClr val="F8FBFF">
                  <a:alpha val="35000"/>
                </a:srgbClr>
              </a:solidFill>
            </a:ln>
          </p:spPr>
        </p:sp>
        <p:sp>
          <p:nvSpPr>
            <p:cNvPr id="99" name="Rectangle 99"/>
            <p:cNvSpPr/>
            <p:nvPr/>
          </p:nvSpPr>
          <p:spPr>
            <a:xfrm>
              <a:off x="10868025" y="2000250"/>
              <a:ext cx="76200" cy="114300"/>
            </a:xfrm>
            <a:prstGeom prst="rect">
              <a:avLst/>
            </a:prstGeom>
            <a:noFill/>
            <a:ln w="11430">
              <a:solidFill>
                <a:srgbClr val="F8FBFF">
                  <a:alpha val="35000"/>
                </a:srgbClr>
              </a:solidFill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11153775" y="2000250"/>
              <a:ext cx="76200" cy="114300"/>
            </a:xfrm>
            <a:prstGeom prst="rect">
              <a:avLst/>
            </a:prstGeom>
            <a:noFill/>
            <a:ln w="11430">
              <a:solidFill>
                <a:srgbClr val="F8FBFF">
                  <a:alpha val="35000"/>
                </a:srgbClr>
              </a:solidFill>
            </a:ln>
          </p:spPr>
        </p:sp>
        <p:sp>
          <p:nvSpPr>
            <p:cNvPr id="101" name="Line 101"/>
            <p:cNvSpPr/>
            <p:nvPr/>
          </p:nvSpPr>
          <p:spPr>
            <a:xfrm>
              <a:off x="10791825" y="2114550"/>
              <a:ext cx="514350" cy="9525"/>
            </a:xfrm>
            <a:custGeom>
              <a:avLst/>
              <a:gdLst/>
              <a:ahLst/>
              <a:cxnLst/>
              <a:rect l="l" t="t" r="r" b="b"/>
              <a:pathLst>
                <a:path w="514350" h="9525">
                  <a:moveTo>
                    <a:pt x="0" y="0"/>
                  </a:moveTo>
                  <a:lnTo>
                    <a:pt x="514350" y="0"/>
                  </a:lnTo>
                </a:path>
              </a:pathLst>
            </a:custGeom>
            <a:noFill/>
            <a:ln w="11430">
              <a:solidFill>
                <a:srgbClr val="F8FBFF">
                  <a:alpha val="35000"/>
                </a:srgbClr>
              </a:solidFill>
            </a:ln>
          </p:spPr>
        </p:sp>
      </p:grpSp>
      <p:sp>
        <p:nvSpPr>
          <p:cNvPr id="103" name="TextBox 103"/>
          <p:cNvSpPr txBox="1"/>
          <p:nvPr/>
        </p:nvSpPr>
        <p:spPr>
          <a:xfrm>
            <a:off x="8852535" y="1907381"/>
            <a:ext cx="80652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F8FBFF"/>
                </a:solidFill>
                <a:latin typeface="Consolas"/>
                <a:ea typeface="Microsoft YaHei"/>
                <a:cs typeface="Consolas"/>
              </a:rPr>
              <a:t>新中国成立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9127992" y="2110026"/>
            <a:ext cx="1489172" cy="198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0" dirty="0">
                <a:solidFill>
                  <a:srgbClr val="CBD5E1">
                    <a:alphaMod val="95000"/>
                  </a:srgbClr>
                </a:solidFill>
                <a:latin typeface="Arial"/>
                <a:ea typeface="Microsoft YaHei"/>
                <a:cs typeface="Arial"/>
              </a:rPr>
              <a:t>1949年10月1日，毛泽东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9127992" y="2271951"/>
            <a:ext cx="1373314" cy="198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0" dirty="0">
                <a:solidFill>
                  <a:srgbClr val="CBD5E1">
                    <a:alphaMod val="95000"/>
                  </a:srgbClr>
                </a:solidFill>
                <a:latin typeface="Arial"/>
                <a:ea typeface="Microsoft YaHei"/>
                <a:cs typeface="Arial"/>
              </a:rPr>
              <a:t>在天安门城楼庄严宣告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9127992" y="2433876"/>
            <a:ext cx="964406" cy="198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0" dirty="0">
                <a:solidFill>
                  <a:srgbClr val="CBD5E1">
                    <a:alphaMod val="95000"/>
                  </a:srgbClr>
                </a:solidFill>
                <a:latin typeface="Arial"/>
                <a:ea typeface="Microsoft YaHei"/>
                <a:cs typeface="Arial"/>
              </a:rPr>
              <a:t>中华人民共和国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9127992" y="2595801"/>
            <a:ext cx="1100709" cy="198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0" dirty="0">
                <a:solidFill>
                  <a:srgbClr val="CBD5E1">
                    <a:alphaMod val="95000"/>
                  </a:srgbClr>
                </a:solidFill>
                <a:latin typeface="Arial"/>
                <a:ea typeface="Microsoft YaHei"/>
                <a:cs typeface="Arial"/>
              </a:rPr>
              <a:t>中央人民政府成立</a:t>
            </a:r>
          </a:p>
        </p:txBody>
      </p:sp>
      <p:grpSp>
        <p:nvGrpSpPr>
          <p:cNvPr id="115" name="Group 115"/>
          <p:cNvGrpSpPr/>
          <p:nvPr/>
        </p:nvGrpSpPr>
        <p:grpSpPr>
          <a:xfrm>
            <a:off x="742950" y="4171950"/>
            <a:ext cx="10325100" cy="38100"/>
            <a:chOff x="742950" y="4171950"/>
            <a:chExt cx="10325100" cy="38100"/>
          </a:xfrm>
        </p:grpSpPr>
        <p:sp>
          <p:nvSpPr>
            <p:cNvPr id="108" name="Ellipse 108"/>
            <p:cNvSpPr/>
            <p:nvPr/>
          </p:nvSpPr>
          <p:spPr>
            <a:xfrm>
              <a:off x="742950" y="4171950"/>
              <a:ext cx="38100" cy="38100"/>
            </a:xfrm>
            <a:prstGeom prst="ellipse">
              <a:avLst/>
            </a:prstGeom>
            <a:solidFill>
              <a:srgbClr val="38BDF8">
                <a:alpha val="30000"/>
              </a:srgbClr>
            </a:solidFill>
            <a:ln>
              <a:noFill/>
            </a:ln>
          </p:spPr>
        </p:sp>
        <p:sp>
          <p:nvSpPr>
            <p:cNvPr id="109" name="Ellipse 109"/>
            <p:cNvSpPr/>
            <p:nvPr/>
          </p:nvSpPr>
          <p:spPr>
            <a:xfrm>
              <a:off x="1509712" y="4176712"/>
              <a:ext cx="28575" cy="28575"/>
            </a:xfrm>
            <a:prstGeom prst="ellipse">
              <a:avLst/>
            </a:prstGeom>
            <a:solidFill>
              <a:srgbClr val="38BDF8">
                <a:alpha val="30000"/>
              </a:srgbClr>
            </a:solidFill>
            <a:ln>
              <a:noFill/>
            </a:ln>
          </p:spPr>
        </p:sp>
        <p:sp>
          <p:nvSpPr>
            <p:cNvPr id="110" name="Ellipse 110"/>
            <p:cNvSpPr/>
            <p:nvPr/>
          </p:nvSpPr>
          <p:spPr>
            <a:xfrm>
              <a:off x="3224212" y="4176712"/>
              <a:ext cx="28575" cy="28575"/>
            </a:xfrm>
            <a:prstGeom prst="ellipse">
              <a:avLst/>
            </a:prstGeom>
            <a:solidFill>
              <a:srgbClr val="38BDF8">
                <a:alpha val="30000"/>
              </a:srgbClr>
            </a:solidFill>
            <a:ln>
              <a:noFill/>
            </a:ln>
          </p:spPr>
        </p:sp>
        <p:sp>
          <p:nvSpPr>
            <p:cNvPr id="111" name="Ellipse 111"/>
            <p:cNvSpPr/>
            <p:nvPr/>
          </p:nvSpPr>
          <p:spPr>
            <a:xfrm>
              <a:off x="5319712" y="4176712"/>
              <a:ext cx="28575" cy="28575"/>
            </a:xfrm>
            <a:prstGeom prst="ellipse">
              <a:avLst/>
            </a:prstGeom>
            <a:solidFill>
              <a:srgbClr val="38BDF8">
                <a:alpha val="30000"/>
              </a:srgbClr>
            </a:solidFill>
            <a:ln>
              <a:noFill/>
            </a:ln>
          </p:spPr>
        </p:sp>
        <p:sp>
          <p:nvSpPr>
            <p:cNvPr id="112" name="Ellipse 112"/>
            <p:cNvSpPr/>
            <p:nvPr/>
          </p:nvSpPr>
          <p:spPr>
            <a:xfrm>
              <a:off x="7510462" y="4176712"/>
              <a:ext cx="28575" cy="28575"/>
            </a:xfrm>
            <a:prstGeom prst="ellipse">
              <a:avLst/>
            </a:prstGeom>
            <a:solidFill>
              <a:srgbClr val="38BDF8">
                <a:alpha val="30000"/>
              </a:srgbClr>
            </a:solidFill>
            <a:ln>
              <a:noFill/>
            </a:ln>
          </p:spPr>
        </p:sp>
        <p:sp>
          <p:nvSpPr>
            <p:cNvPr id="113" name="Ellipse 113"/>
            <p:cNvSpPr/>
            <p:nvPr/>
          </p:nvSpPr>
          <p:spPr>
            <a:xfrm>
              <a:off x="9415462" y="4176712"/>
              <a:ext cx="28575" cy="28575"/>
            </a:xfrm>
            <a:prstGeom prst="ellipse">
              <a:avLst/>
            </a:prstGeom>
            <a:solidFill>
              <a:srgbClr val="38BDF8">
                <a:alpha val="30000"/>
              </a:srgbClr>
            </a:solidFill>
            <a:ln>
              <a:noFill/>
            </a:ln>
          </p:spPr>
        </p:sp>
        <p:sp>
          <p:nvSpPr>
            <p:cNvPr id="114" name="Ellipse 114"/>
            <p:cNvSpPr/>
            <p:nvPr/>
          </p:nvSpPr>
          <p:spPr>
            <a:xfrm>
              <a:off x="11029950" y="4171950"/>
              <a:ext cx="38100" cy="38100"/>
            </a:xfrm>
            <a:prstGeom prst="ellipse">
              <a:avLst/>
            </a:prstGeom>
            <a:solidFill>
              <a:srgbClr val="38BDF8">
                <a:alpha val="30000"/>
              </a:srgbClr>
            </a:solidFill>
            <a:ln>
              <a:noFill/>
            </a:ln>
          </p:spPr>
        </p:sp>
      </p:grpSp>
      <p:grpSp>
        <p:nvGrpSpPr>
          <p:cNvPr id="126" name="Group 126"/>
          <p:cNvGrpSpPr/>
          <p:nvPr/>
        </p:nvGrpSpPr>
        <p:grpSpPr>
          <a:xfrm>
            <a:off x="2176462" y="3986212"/>
            <a:ext cx="8267701" cy="414338"/>
            <a:chOff x="2176462" y="3986212"/>
            <a:chExt cx="8267701" cy="414338"/>
          </a:xfrm>
        </p:grpSpPr>
        <p:sp>
          <p:nvSpPr>
            <p:cNvPr id="116" name="Ellipse 116"/>
            <p:cNvSpPr/>
            <p:nvPr/>
          </p:nvSpPr>
          <p:spPr>
            <a:xfrm>
              <a:off x="2176462" y="4367212"/>
              <a:ext cx="28575" cy="28575"/>
            </a:xfrm>
            <a:prstGeom prst="ellipse">
              <a:avLst/>
            </a:prstGeom>
            <a:solidFill>
              <a:srgbClr val="38BDF8">
                <a:alpha val="20000"/>
              </a:srgbClr>
            </a:solidFill>
            <a:ln>
              <a:noFill/>
            </a:ln>
          </p:spPr>
        </p:sp>
        <p:sp>
          <p:nvSpPr>
            <p:cNvPr id="117" name="Ellipse 117"/>
            <p:cNvSpPr/>
            <p:nvPr/>
          </p:nvSpPr>
          <p:spPr>
            <a:xfrm>
              <a:off x="2419350" y="4086225"/>
              <a:ext cx="19050" cy="19050"/>
            </a:xfrm>
            <a:prstGeom prst="ellipse">
              <a:avLst/>
            </a:prstGeom>
            <a:solidFill>
              <a:srgbClr val="38BDF8">
                <a:alpha val="20000"/>
              </a:srgbClr>
            </a:solidFill>
            <a:ln>
              <a:noFill/>
            </a:ln>
          </p:spPr>
        </p:sp>
        <p:sp>
          <p:nvSpPr>
            <p:cNvPr id="118" name="Ellipse 118"/>
            <p:cNvSpPr/>
            <p:nvPr/>
          </p:nvSpPr>
          <p:spPr>
            <a:xfrm>
              <a:off x="4176712" y="4319588"/>
              <a:ext cx="28575" cy="28575"/>
            </a:xfrm>
            <a:prstGeom prst="ellipse">
              <a:avLst/>
            </a:prstGeom>
            <a:solidFill>
              <a:srgbClr val="38BDF8">
                <a:alpha val="20000"/>
              </a:srgbClr>
            </a:solidFill>
            <a:ln>
              <a:noFill/>
            </a:ln>
          </p:spPr>
        </p:sp>
        <p:sp>
          <p:nvSpPr>
            <p:cNvPr id="119" name="Ellipse 119"/>
            <p:cNvSpPr/>
            <p:nvPr/>
          </p:nvSpPr>
          <p:spPr>
            <a:xfrm>
              <a:off x="4419600" y="4038600"/>
              <a:ext cx="19050" cy="19050"/>
            </a:xfrm>
            <a:prstGeom prst="ellipse">
              <a:avLst/>
            </a:prstGeom>
            <a:solidFill>
              <a:srgbClr val="38BDF8">
                <a:alpha val="20000"/>
              </a:srgbClr>
            </a:solidFill>
            <a:ln>
              <a:noFill/>
            </a:ln>
          </p:spPr>
        </p:sp>
        <p:sp>
          <p:nvSpPr>
            <p:cNvPr id="120" name="Ellipse 120"/>
            <p:cNvSpPr/>
            <p:nvPr/>
          </p:nvSpPr>
          <p:spPr>
            <a:xfrm>
              <a:off x="6362700" y="4314825"/>
              <a:ext cx="38100" cy="38100"/>
            </a:xfrm>
            <a:prstGeom prst="ellipse">
              <a:avLst/>
            </a:prstGeom>
            <a:solidFill>
              <a:srgbClr val="38BDF8">
                <a:alpha val="20000"/>
              </a:srgbClr>
            </a:solidFill>
            <a:ln>
              <a:noFill/>
            </a:ln>
          </p:spPr>
        </p:sp>
        <p:sp>
          <p:nvSpPr>
            <p:cNvPr id="121" name="Ellipse 121"/>
            <p:cNvSpPr/>
            <p:nvPr/>
          </p:nvSpPr>
          <p:spPr>
            <a:xfrm>
              <a:off x="6605588" y="4033838"/>
              <a:ext cx="28575" cy="28575"/>
            </a:xfrm>
            <a:prstGeom prst="ellipse">
              <a:avLst/>
            </a:prstGeom>
            <a:solidFill>
              <a:srgbClr val="38BDF8">
                <a:alpha val="20000"/>
              </a:srgbClr>
            </a:solidFill>
            <a:ln>
              <a:noFill/>
            </a:ln>
          </p:spPr>
        </p:sp>
        <p:sp>
          <p:nvSpPr>
            <p:cNvPr id="122" name="Ellipse 122"/>
            <p:cNvSpPr/>
            <p:nvPr/>
          </p:nvSpPr>
          <p:spPr>
            <a:xfrm>
              <a:off x="8462962" y="4319588"/>
              <a:ext cx="28575" cy="28575"/>
            </a:xfrm>
            <a:prstGeom prst="ellipse">
              <a:avLst/>
            </a:prstGeom>
            <a:solidFill>
              <a:srgbClr val="38BDF8">
                <a:alpha val="20000"/>
              </a:srgbClr>
            </a:solidFill>
            <a:ln>
              <a:noFill/>
            </a:ln>
          </p:spPr>
        </p:sp>
        <p:sp>
          <p:nvSpPr>
            <p:cNvPr id="123" name="Ellipse 123"/>
            <p:cNvSpPr/>
            <p:nvPr/>
          </p:nvSpPr>
          <p:spPr>
            <a:xfrm>
              <a:off x="8705850" y="4038600"/>
              <a:ext cx="19050" cy="19050"/>
            </a:xfrm>
            <a:prstGeom prst="ellipse">
              <a:avLst/>
            </a:prstGeom>
            <a:solidFill>
              <a:srgbClr val="38BDF8">
                <a:alpha val="20000"/>
              </a:srgbClr>
            </a:solidFill>
            <a:ln>
              <a:noFill/>
            </a:ln>
          </p:spPr>
        </p:sp>
        <p:sp>
          <p:nvSpPr>
            <p:cNvPr id="124" name="Ellipse 124"/>
            <p:cNvSpPr/>
            <p:nvPr/>
          </p:nvSpPr>
          <p:spPr>
            <a:xfrm>
              <a:off x="10172700" y="4362450"/>
              <a:ext cx="38100" cy="38100"/>
            </a:xfrm>
            <a:prstGeom prst="ellipse">
              <a:avLst/>
            </a:prstGeom>
            <a:solidFill>
              <a:srgbClr val="38BDF8">
                <a:alpha val="20000"/>
              </a:srgbClr>
            </a:solidFill>
            <a:ln>
              <a:noFill/>
            </a:ln>
          </p:spPr>
        </p:sp>
        <p:sp>
          <p:nvSpPr>
            <p:cNvPr id="125" name="Ellipse 125"/>
            <p:cNvSpPr/>
            <p:nvPr/>
          </p:nvSpPr>
          <p:spPr>
            <a:xfrm>
              <a:off x="10415588" y="3986212"/>
              <a:ext cx="28575" cy="28575"/>
            </a:xfrm>
            <a:prstGeom prst="ellipse">
              <a:avLst/>
            </a:prstGeom>
            <a:solidFill>
              <a:srgbClr val="38BDF8">
                <a:alpha val="20000"/>
              </a:srgbClr>
            </a:solidFill>
            <a:ln>
              <a:noFill/>
            </a:ln>
          </p:spPr>
        </p:sp>
      </p:grpSp>
      <p:grpSp>
        <p:nvGrpSpPr>
          <p:cNvPr id="130" name="Group 130"/>
          <p:cNvGrpSpPr/>
          <p:nvPr/>
        </p:nvGrpSpPr>
        <p:grpSpPr>
          <a:xfrm>
            <a:off x="381000" y="5334000"/>
            <a:ext cx="762000" cy="600075"/>
            <a:chOff x="381000" y="5334000"/>
            <a:chExt cx="762000" cy="600075"/>
          </a:xfrm>
        </p:grpSpPr>
        <p:sp>
          <p:nvSpPr>
            <p:cNvPr id="127" name="Polyline 127"/>
            <p:cNvSpPr/>
            <p:nvPr/>
          </p:nvSpPr>
          <p:spPr>
            <a:xfrm>
              <a:off x="381000" y="5334000"/>
              <a:ext cx="381000" cy="571500"/>
            </a:xfrm>
            <a:custGeom>
              <a:avLst/>
              <a:gdLst/>
              <a:ahLst/>
              <a:cxnLst/>
              <a:rect l="l" t="t" r="r" b="b"/>
              <a:pathLst>
                <a:path w="381000" h="571500">
                  <a:moveTo>
                    <a:pt x="0" y="381000"/>
                  </a:moveTo>
                  <a:lnTo>
                    <a:pt x="0" y="0"/>
                  </a:lnTo>
                  <a:lnTo>
                    <a:pt x="381000" y="0"/>
                  </a:lnTo>
                  <a:lnTo>
                    <a:pt x="381000" y="571500"/>
                  </a:lnTo>
                </a:path>
              </a:pathLst>
            </a:custGeom>
            <a:noFill/>
            <a:ln w="9525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28" name="Polyline 128"/>
            <p:cNvSpPr/>
            <p:nvPr/>
          </p:nvSpPr>
          <p:spPr>
            <a:xfrm>
              <a:off x="381000" y="53340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9525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29" name="Ellipse 129"/>
            <p:cNvSpPr/>
            <p:nvPr/>
          </p:nvSpPr>
          <p:spPr>
            <a:xfrm>
              <a:off x="733425" y="5876925"/>
              <a:ext cx="57150" cy="57150"/>
            </a:xfrm>
            <a:prstGeom prst="ellipse">
              <a:avLst/>
            </a:prstGeom>
            <a:solidFill>
              <a:srgbClr val="38BDF8">
                <a:alpha val="6000"/>
              </a:srgbClr>
            </a:solidFill>
            <a:ln w="9525">
              <a:solidFill>
                <a:srgbClr val="38BDF8">
                  <a:alpha val="6000"/>
                </a:srgbClr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</p:sp>
      <p:grpSp>
        <p:nvGrpSpPr>
          <p:cNvPr id="29" name="Group 2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571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2857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0" y="4000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0" y="6286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76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381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533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685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838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990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1143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</p:grpSp>
      <p:sp>
        <p:nvSpPr>
          <p:cNvPr id="30" name="Line 30"/>
          <p:cNvSpPr/>
          <p:nvPr/>
        </p:nvSpPr>
        <p:spPr>
          <a:xfrm>
            <a:off x="762000" y="4953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14288">
            <a:solidFill>
              <a:srgbClr val="2563EB">
                <a:alpha val="60000"/>
              </a:srgbClr>
            </a:solidFill>
          </a:ln>
        </p:spPr>
      </p:sp>
      <p:sp>
        <p:nvSpPr>
          <p:cNvPr id="31" name="Ellipse 31"/>
          <p:cNvSpPr/>
          <p:nvPr/>
        </p:nvSpPr>
        <p:spPr>
          <a:xfrm>
            <a:off x="733425" y="466725"/>
            <a:ext cx="57150" cy="57150"/>
          </a:xfrm>
          <a:prstGeom prst="ellipse">
            <a:avLst/>
          </a:prstGeom>
          <a:solidFill>
            <a:srgbClr val="38BDF8">
              <a:alpha val="90000"/>
            </a:srgbClr>
          </a:solidFill>
          <a:ln>
            <a:noFill/>
          </a:ln>
        </p:spPr>
      </p:sp>
      <p:sp>
        <p:nvSpPr>
          <p:cNvPr id="32" name="Ellipse 32"/>
          <p:cNvSpPr/>
          <p:nvPr/>
        </p:nvSpPr>
        <p:spPr>
          <a:xfrm>
            <a:off x="2271712" y="481012"/>
            <a:ext cx="28575" cy="28575"/>
          </a:xfrm>
          <a:prstGeom prst="ellipse">
            <a:avLst/>
          </a:prstGeom>
          <a:solidFill>
            <a:srgbClr val="38BDF8">
              <a:alpha val="40000"/>
            </a:srgbClr>
          </a:solidFill>
          <a:ln>
            <a:noFill/>
          </a:ln>
        </p:spPr>
      </p:sp>
      <p:sp>
        <p:nvSpPr>
          <p:cNvPr id="33" name="Ellipse 33"/>
          <p:cNvSpPr/>
          <p:nvPr/>
        </p:nvSpPr>
        <p:spPr>
          <a:xfrm>
            <a:off x="3790950" y="476250"/>
            <a:ext cx="38100" cy="38100"/>
          </a:xfrm>
          <a:prstGeom prst="ellipse">
            <a:avLst/>
          </a:prstGeom>
          <a:solidFill>
            <a:srgbClr val="38BDF8">
              <a:alpha val="60000"/>
            </a:srgbClr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45998" y="688658"/>
            <a:ext cx="5807152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spc="225" dirty="0">
                <a:solidFill>
                  <a:srgbClr val="F8FBFF"/>
                </a:solidFill>
                <a:latin typeface="Arial"/>
                <a:ea typeface="Microsoft YaHei"/>
                <a:cs typeface="Arial"/>
              </a:rPr>
              <a:t>立国与探索（1949—1962）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54380" y="1247775"/>
            <a:ext cx="43415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112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政权巩固、社会改造与工业化起步的双重叙事</a:t>
            </a:r>
          </a:p>
        </p:txBody>
      </p:sp>
      <p:sp>
        <p:nvSpPr>
          <p:cNvPr id="36" name="Rectangle 36"/>
          <p:cNvSpPr/>
          <p:nvPr/>
        </p:nvSpPr>
        <p:spPr>
          <a:xfrm>
            <a:off x="7572375" y="357188"/>
            <a:ext cx="1285875" cy="3429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7C3AED">
                <a:alpha val="70000"/>
              </a:srgbClr>
            </a:solidFill>
          </a:ln>
        </p:spPr>
      </p:sp>
      <p:sp>
        <p:nvSpPr>
          <p:cNvPr id="37" name="Ellipse 37"/>
          <p:cNvSpPr/>
          <p:nvPr/>
        </p:nvSpPr>
        <p:spPr>
          <a:xfrm>
            <a:off x="7705725" y="500062"/>
            <a:ext cx="57150" cy="57150"/>
          </a:xfrm>
          <a:prstGeom prst="ellipse">
            <a:avLst/>
          </a:prstGeom>
          <a:solidFill>
            <a:srgbClr val="7C3AED">
              <a:alpha val="80000"/>
            </a:srgbClr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7728623" y="451485"/>
            <a:ext cx="97337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spc="150" dirty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1949—1962</a:t>
            </a:r>
          </a:p>
        </p:txBody>
      </p:sp>
      <p:sp>
        <p:nvSpPr>
          <p:cNvPr id="39" name="Line 39"/>
          <p:cNvSpPr/>
          <p:nvPr/>
        </p:nvSpPr>
        <p:spPr>
          <a:xfrm>
            <a:off x="762000" y="16192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2563EB">
                <a:alpha val="15000"/>
              </a:srgbClr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754380" y="1790700"/>
            <a:ext cx="347329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112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新政权的巩固与社会改造同步推进，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54380" y="2057400"/>
            <a:ext cx="49928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112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工业化与集体化路径在成就与代价中展开双重叙事。</a:t>
            </a:r>
          </a:p>
        </p:txBody>
      </p:sp>
      <p:sp>
        <p:nvSpPr>
          <p:cNvPr id="42" name="Ellipse 42"/>
          <p:cNvSpPr/>
          <p:nvPr/>
        </p:nvSpPr>
        <p:spPr>
          <a:xfrm>
            <a:off x="1238250" y="2571750"/>
            <a:ext cx="1333500" cy="1333500"/>
          </a:xfrm>
          <a:prstGeom prst="ellipse">
            <a:avLst/>
          </a:prstGeom>
          <a:gradFill>
            <a:gsLst>
              <a:gs pos="0">
                <a:srgbClr val="2563EB">
                  <a:alpha val="35000"/>
                </a:srgbClr>
              </a:gs>
              <a:gs pos="100000">
                <a:srgbClr val="2563E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714375" y="2476500"/>
            <a:ext cx="1285875" cy="1809750"/>
          </a:xfrm>
          <a:prstGeom prst="roundRect">
            <a:avLst>
              <a:gd name="adj" fmla="val 4444"/>
            </a:avLst>
          </a:prstGeom>
          <a:solidFill>
            <a:srgbClr val="0D2340"/>
          </a:solidFill>
          <a:ln w="9525">
            <a:solidFill>
              <a:srgbClr val="2563EB">
                <a:alpha val="50000"/>
              </a:srgbClr>
            </a:solidFill>
          </a:ln>
        </p:spPr>
      </p:sp>
      <p:sp>
        <p:nvSpPr>
          <p:cNvPr id="44" name="Line 44"/>
          <p:cNvSpPr/>
          <p:nvPr/>
        </p:nvSpPr>
        <p:spPr>
          <a:xfrm>
            <a:off x="809625" y="2476500"/>
            <a:ext cx="9525" cy="1809750"/>
          </a:xfrm>
          <a:custGeom>
            <a:avLst/>
            <a:gdLst/>
            <a:ahLst/>
            <a:cxnLst/>
            <a:rect l="l" t="t" r="r" b="b"/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/>
          <a:ln w="9525">
            <a:gradFill>
              <a:gsLst>
                <a:gs pos="0">
                  <a:srgbClr val="2563EB">
                    <a:alpha val="60000"/>
                  </a:srgbClr>
                </a:gs>
                <a:gs pos="100000">
                  <a:srgbClr val="38BDF8">
                    <a:alpha val="20000"/>
                  </a:srgbClr>
                </a:gs>
              </a:gsLst>
              <a:lin ang="2700000" scaled="1"/>
            </a:gradFill>
          </a:ln>
        </p:spPr>
      </p:sp>
      <p:sp>
        <p:nvSpPr>
          <p:cNvPr id="45" name="Ellipse 45"/>
          <p:cNvSpPr/>
          <p:nvPr/>
        </p:nvSpPr>
        <p:spPr>
          <a:xfrm>
            <a:off x="1147762" y="2695575"/>
            <a:ext cx="419100" cy="419100"/>
          </a:xfrm>
          <a:prstGeom prst="ellipse">
            <a:avLst/>
          </a:prstGeom>
          <a:noFill/>
          <a:ln w="14288">
            <a:solidFill>
              <a:srgbClr val="38BDF8">
                <a:alpha val="70000"/>
              </a:srgbClr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968807" y="282606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8FBFF"/>
                </a:solidFill>
                <a:latin typeface="Arial"/>
                <a:ea typeface="Microsoft YaHei"/>
                <a:cs typeface="Arial"/>
              </a:rPr>
              <a:t>开国大典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24223" y="3418999"/>
            <a:ext cx="66617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毛泽东宣告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92969" y="3590449"/>
            <a:ext cx="92868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中华人民共和国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221105" y="3761899"/>
            <a:ext cx="2724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成立</a:t>
            </a:r>
          </a:p>
        </p:txBody>
      </p:sp>
      <p:sp>
        <p:nvSpPr>
          <p:cNvPr id="50" name="Ellipse 50"/>
          <p:cNvSpPr/>
          <p:nvPr/>
        </p:nvSpPr>
        <p:spPr>
          <a:xfrm>
            <a:off x="1328738" y="4162425"/>
            <a:ext cx="57150" cy="57150"/>
          </a:xfrm>
          <a:prstGeom prst="ellipse">
            <a:avLst/>
          </a:prstGeom>
          <a:solidFill>
            <a:srgbClr val="2563EB">
              <a:alpha val="80000"/>
            </a:srgbClr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2571750" y="2476500"/>
            <a:ext cx="1285875" cy="1809750"/>
          </a:xfrm>
          <a:prstGeom prst="roundRect">
            <a:avLst>
              <a:gd name="adj" fmla="val 4444"/>
            </a:avLst>
          </a:prstGeom>
          <a:solidFill>
            <a:srgbClr val="0D2340"/>
          </a:solidFill>
          <a:ln w="9525">
            <a:solidFill>
              <a:srgbClr val="2563EB">
                <a:alpha val="50000"/>
              </a:srgbClr>
            </a:solidFill>
          </a:ln>
        </p:spPr>
      </p:sp>
      <p:sp>
        <p:nvSpPr>
          <p:cNvPr id="52" name="Line 52"/>
          <p:cNvSpPr/>
          <p:nvPr/>
        </p:nvSpPr>
        <p:spPr>
          <a:xfrm>
            <a:off x="2667000" y="2476500"/>
            <a:ext cx="9525" cy="1809750"/>
          </a:xfrm>
          <a:custGeom>
            <a:avLst/>
            <a:gdLst/>
            <a:ahLst/>
            <a:cxnLst/>
            <a:rect l="l" t="t" r="r" b="b"/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/>
          <a:ln w="9525">
            <a:gradFill>
              <a:gsLst>
                <a:gs pos="0">
                  <a:srgbClr val="2563EB">
                    <a:alpha val="60000"/>
                  </a:srgbClr>
                </a:gs>
                <a:gs pos="100000">
                  <a:srgbClr val="38BDF8">
                    <a:alpha val="20000"/>
                  </a:srgbClr>
                </a:gs>
              </a:gsLst>
              <a:lin ang="2700000" scaled="1"/>
            </a:gradFill>
          </a:ln>
        </p:spPr>
      </p:sp>
      <p:sp>
        <p:nvSpPr>
          <p:cNvPr id="53" name="Ellipse 53"/>
          <p:cNvSpPr/>
          <p:nvPr/>
        </p:nvSpPr>
        <p:spPr>
          <a:xfrm>
            <a:off x="3005138" y="2695575"/>
            <a:ext cx="419100" cy="419100"/>
          </a:xfrm>
          <a:prstGeom prst="ellipse">
            <a:avLst/>
          </a:prstGeom>
          <a:noFill/>
          <a:ln w="14288">
            <a:solidFill>
              <a:srgbClr val="38BDF8">
                <a:alpha val="70000"/>
              </a:srgbClr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2730770" y="282606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8FBFF"/>
                </a:solidFill>
                <a:latin typeface="Arial"/>
                <a:ea typeface="Microsoft YaHei"/>
                <a:cs typeface="Arial"/>
              </a:rPr>
              <a:t>土改与改造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2815971" y="3418999"/>
            <a:ext cx="7974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重塑社会结构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881598" y="3590449"/>
            <a:ext cx="66617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土地改革与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815971" y="3761899"/>
            <a:ext cx="7974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社会主义改造</a:t>
            </a:r>
          </a:p>
        </p:txBody>
      </p:sp>
      <p:sp>
        <p:nvSpPr>
          <p:cNvPr id="58" name="Ellipse 58"/>
          <p:cNvSpPr/>
          <p:nvPr/>
        </p:nvSpPr>
        <p:spPr>
          <a:xfrm>
            <a:off x="3186112" y="4162425"/>
            <a:ext cx="57150" cy="57150"/>
          </a:xfrm>
          <a:prstGeom prst="ellipse">
            <a:avLst/>
          </a:prstGeom>
          <a:solidFill>
            <a:srgbClr val="2563EB">
              <a:alpha val="80000"/>
            </a:srgbClr>
          </a:solidFill>
          <a:ln>
            <a:noFill/>
          </a:ln>
        </p:spPr>
      </p:sp>
      <p:sp>
        <p:nvSpPr>
          <p:cNvPr id="59" name="Rectangle 59"/>
          <p:cNvSpPr/>
          <p:nvPr/>
        </p:nvSpPr>
        <p:spPr>
          <a:xfrm>
            <a:off x="4429125" y="2476500"/>
            <a:ext cx="1285875" cy="1809750"/>
          </a:xfrm>
          <a:prstGeom prst="roundRect">
            <a:avLst>
              <a:gd name="adj" fmla="val 4444"/>
            </a:avLst>
          </a:prstGeom>
          <a:solidFill>
            <a:srgbClr val="0D2340"/>
          </a:solidFill>
          <a:ln w="9525">
            <a:solidFill>
              <a:srgbClr val="7C3AED">
                <a:alpha val="50000"/>
              </a:srgbClr>
            </a:solidFill>
          </a:ln>
        </p:spPr>
      </p:sp>
      <p:sp>
        <p:nvSpPr>
          <p:cNvPr id="60" name="Line 60"/>
          <p:cNvSpPr/>
          <p:nvPr/>
        </p:nvSpPr>
        <p:spPr>
          <a:xfrm>
            <a:off x="4524375" y="2476500"/>
            <a:ext cx="9525" cy="1809750"/>
          </a:xfrm>
          <a:custGeom>
            <a:avLst/>
            <a:gdLst/>
            <a:ahLst/>
            <a:cxnLst/>
            <a:rect l="l" t="t" r="r" b="b"/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/>
          <a:ln w="9525">
            <a:gradFill>
              <a:gsLst>
                <a:gs pos="0">
                  <a:srgbClr val="7C3AED">
                    <a:alpha val="60000"/>
                  </a:srgbClr>
                </a:gs>
                <a:gs pos="100000">
                  <a:srgbClr val="2563EB">
                    <a:alpha val="20000"/>
                  </a:srgbClr>
                </a:gs>
              </a:gsLst>
              <a:lin ang="2700000" scaled="1"/>
            </a:gradFill>
          </a:ln>
        </p:spPr>
      </p:sp>
      <p:sp>
        <p:nvSpPr>
          <p:cNvPr id="61" name="Ellipse 61"/>
          <p:cNvSpPr/>
          <p:nvPr/>
        </p:nvSpPr>
        <p:spPr>
          <a:xfrm>
            <a:off x="4862512" y="2695575"/>
            <a:ext cx="419100" cy="419100"/>
          </a:xfrm>
          <a:prstGeom prst="ellipse">
            <a:avLst/>
          </a:prstGeom>
          <a:noFill/>
          <a:ln w="14288">
            <a:solidFill>
              <a:srgbClr val="7C3AED">
                <a:alpha val="70000"/>
              </a:srgbClr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4778969" y="2826068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8FBFF"/>
                </a:solidFill>
                <a:latin typeface="Arial"/>
                <a:ea typeface="Microsoft YaHei"/>
                <a:cs typeface="Arial"/>
              </a:rPr>
              <a:t>总路线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804600" y="3418999"/>
            <a:ext cx="5349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过渡时期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673346" y="3590449"/>
            <a:ext cx="7974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工业化与改造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4935855" y="3761899"/>
            <a:ext cx="2724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并举</a:t>
            </a:r>
          </a:p>
        </p:txBody>
      </p:sp>
      <p:sp>
        <p:nvSpPr>
          <p:cNvPr id="66" name="Ellipse 66"/>
          <p:cNvSpPr/>
          <p:nvPr/>
        </p:nvSpPr>
        <p:spPr>
          <a:xfrm>
            <a:off x="5043488" y="4162425"/>
            <a:ext cx="57150" cy="57150"/>
          </a:xfrm>
          <a:prstGeom prst="ellipse">
            <a:avLst/>
          </a:prstGeom>
          <a:solidFill>
            <a:srgbClr val="7C3AED">
              <a:alpha val="80000"/>
            </a:srgbClr>
          </a:solidFill>
          <a:ln>
            <a:noFill/>
          </a:ln>
        </p:spPr>
      </p:sp>
      <p:sp>
        <p:nvSpPr>
          <p:cNvPr id="67" name="Ellipse 67"/>
          <p:cNvSpPr/>
          <p:nvPr/>
        </p:nvSpPr>
        <p:spPr>
          <a:xfrm>
            <a:off x="6262688" y="2571750"/>
            <a:ext cx="1333500" cy="1333500"/>
          </a:xfrm>
          <a:prstGeom prst="ellipse">
            <a:avLst/>
          </a:prstGeom>
          <a:gradFill>
            <a:gsLst>
              <a:gs pos="0">
                <a:srgbClr val="7C3AED">
                  <a:alpha val="30000"/>
                </a:srgbClr>
              </a:gs>
              <a:gs pos="100000">
                <a:srgbClr val="7C3AE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8" name="Rectangle 68"/>
          <p:cNvSpPr/>
          <p:nvPr/>
        </p:nvSpPr>
        <p:spPr>
          <a:xfrm>
            <a:off x="6286500" y="2476500"/>
            <a:ext cx="1285875" cy="1809750"/>
          </a:xfrm>
          <a:prstGeom prst="roundRect">
            <a:avLst>
              <a:gd name="adj" fmla="val 4444"/>
            </a:avLst>
          </a:prstGeom>
          <a:solidFill>
            <a:srgbClr val="0D2340"/>
          </a:solidFill>
          <a:ln w="9525">
            <a:solidFill>
              <a:srgbClr val="7C3AED">
                <a:alpha val="50000"/>
              </a:srgbClr>
            </a:solidFill>
          </a:ln>
        </p:spPr>
      </p:sp>
      <p:sp>
        <p:nvSpPr>
          <p:cNvPr id="69" name="Line 69"/>
          <p:cNvSpPr/>
          <p:nvPr/>
        </p:nvSpPr>
        <p:spPr>
          <a:xfrm>
            <a:off x="6381750" y="2476500"/>
            <a:ext cx="9525" cy="1809750"/>
          </a:xfrm>
          <a:custGeom>
            <a:avLst/>
            <a:gdLst/>
            <a:ahLst/>
            <a:cxnLst/>
            <a:rect l="l" t="t" r="r" b="b"/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/>
          <a:ln w="9525">
            <a:gradFill>
              <a:gsLst>
                <a:gs pos="0">
                  <a:srgbClr val="7C3AED">
                    <a:alpha val="60000"/>
                  </a:srgbClr>
                </a:gs>
                <a:gs pos="100000">
                  <a:srgbClr val="2563EB">
                    <a:alpha val="20000"/>
                  </a:srgbClr>
                </a:gs>
              </a:gsLst>
              <a:lin ang="2700000" scaled="1"/>
            </a:gradFill>
          </a:ln>
        </p:spPr>
      </p:sp>
      <p:sp>
        <p:nvSpPr>
          <p:cNvPr id="70" name="Ellipse 70"/>
          <p:cNvSpPr/>
          <p:nvPr/>
        </p:nvSpPr>
        <p:spPr>
          <a:xfrm>
            <a:off x="6719888" y="2695575"/>
            <a:ext cx="419100" cy="419100"/>
          </a:xfrm>
          <a:prstGeom prst="ellipse">
            <a:avLst/>
          </a:prstGeom>
          <a:noFill/>
          <a:ln w="14288">
            <a:solidFill>
              <a:srgbClr val="7C3AED">
                <a:alpha val="70000"/>
              </a:srgbClr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6624577" y="2777490"/>
            <a:ext cx="60972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b="1" dirty="0">
                <a:solidFill>
                  <a:srgbClr val="38BDF8"/>
                </a:solidFill>
                <a:latin typeface="Georgia"/>
                <a:ea typeface="Georgia"/>
                <a:cs typeface="Georgia"/>
              </a:rPr>
              <a:t>1070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6732842" y="3046095"/>
            <a:ext cx="39319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spc="75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万吨钢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6661976" y="3495199"/>
            <a:ext cx="5349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大跃进与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6596348" y="3666649"/>
            <a:ext cx="66617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人民公社化</a:t>
            </a:r>
          </a:p>
        </p:txBody>
      </p:sp>
      <p:sp>
        <p:nvSpPr>
          <p:cNvPr id="75" name="Ellipse 75"/>
          <p:cNvSpPr/>
          <p:nvPr/>
        </p:nvSpPr>
        <p:spPr>
          <a:xfrm>
            <a:off x="6900862" y="4162425"/>
            <a:ext cx="57150" cy="57150"/>
          </a:xfrm>
          <a:prstGeom prst="ellipse">
            <a:avLst/>
          </a:prstGeom>
          <a:solidFill>
            <a:srgbClr val="7C3AED">
              <a:alpha val="80000"/>
            </a:srgbClr>
          </a:solidFill>
          <a:ln>
            <a:noFill/>
          </a:ln>
        </p:spPr>
      </p:sp>
      <p:sp>
        <p:nvSpPr>
          <p:cNvPr id="76" name="Line 76"/>
          <p:cNvSpPr/>
          <p:nvPr/>
        </p:nvSpPr>
        <p:spPr>
          <a:xfrm>
            <a:off x="2000250" y="4191000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9525">
            <a:solidFill>
              <a:srgbClr val="2563EB">
                <a:alpha val="40000"/>
              </a:srgbClr>
            </a:solidFill>
            <a:custDash>
              <a:ds d="400000" sp="600000"/>
            </a:custDash>
          </a:ln>
        </p:spPr>
      </p:sp>
      <p:sp>
        <p:nvSpPr>
          <p:cNvPr id="77" name="Line 77"/>
          <p:cNvSpPr/>
          <p:nvPr/>
        </p:nvSpPr>
        <p:spPr>
          <a:xfrm>
            <a:off x="3857625" y="4191000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9525">
            <a:solidFill>
              <a:srgbClr val="7C3AED">
                <a:alpha val="40000"/>
              </a:srgbClr>
            </a:solidFill>
            <a:custDash>
              <a:ds d="400000" sp="600000"/>
            </a:custDash>
          </a:ln>
        </p:spPr>
      </p:sp>
      <p:sp>
        <p:nvSpPr>
          <p:cNvPr id="78" name="Line 78"/>
          <p:cNvSpPr/>
          <p:nvPr/>
        </p:nvSpPr>
        <p:spPr>
          <a:xfrm>
            <a:off x="5715000" y="4191000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9525">
            <a:solidFill>
              <a:srgbClr val="7C3AED">
                <a:alpha val="40000"/>
              </a:srgbClr>
            </a:solidFill>
            <a:custDash>
              <a:ds d="400000" sp="600000"/>
            </a:custDash>
          </a:ln>
        </p:spPr>
      </p:sp>
      <p:sp>
        <p:nvSpPr>
          <p:cNvPr id="79" name="Rectangle 79"/>
          <p:cNvSpPr/>
          <p:nvPr/>
        </p:nvSpPr>
        <p:spPr>
          <a:xfrm>
            <a:off x="762000" y="4619625"/>
            <a:ext cx="10668000" cy="19050"/>
          </a:xfrm>
          <a:prstGeom prst="rect">
            <a:avLst/>
          </a:prstGeom>
          <a:solidFill>
            <a:srgbClr val="2563EB">
              <a:alpha val="30000"/>
            </a:srgbClr>
          </a:solidFill>
          <a:ln>
            <a:noFill/>
          </a:ln>
        </p:spPr>
      </p:sp>
      <p:sp>
        <p:nvSpPr>
          <p:cNvPr id="80" name="Ellipse 80"/>
          <p:cNvSpPr/>
          <p:nvPr/>
        </p:nvSpPr>
        <p:spPr>
          <a:xfrm>
            <a:off x="723900" y="4591050"/>
            <a:ext cx="76200" cy="76200"/>
          </a:xfrm>
          <a:prstGeom prst="ellipse">
            <a:avLst/>
          </a:prstGeom>
          <a:solidFill>
            <a:srgbClr val="38BDF8">
              <a:alpha val="80000"/>
            </a:srgbClr>
          </a:solidFill>
          <a:ln>
            <a:noFill/>
          </a:ln>
        </p:spPr>
      </p:sp>
      <p:sp>
        <p:nvSpPr>
          <p:cNvPr id="81" name="Ellipse 81"/>
          <p:cNvSpPr/>
          <p:nvPr/>
        </p:nvSpPr>
        <p:spPr>
          <a:xfrm>
            <a:off x="3390900" y="4591050"/>
            <a:ext cx="76200" cy="76200"/>
          </a:xfrm>
          <a:prstGeom prst="ellipse">
            <a:avLst/>
          </a:prstGeom>
          <a:solidFill>
            <a:srgbClr val="38BDF8">
              <a:alpha val="60000"/>
            </a:srgbClr>
          </a:solidFill>
          <a:ln>
            <a:noFill/>
          </a:ln>
        </p:spPr>
      </p:sp>
      <p:sp>
        <p:nvSpPr>
          <p:cNvPr id="82" name="Ellipse 82"/>
          <p:cNvSpPr/>
          <p:nvPr/>
        </p:nvSpPr>
        <p:spPr>
          <a:xfrm>
            <a:off x="6057900" y="4591050"/>
            <a:ext cx="76200" cy="76200"/>
          </a:xfrm>
          <a:prstGeom prst="ellipse">
            <a:avLst/>
          </a:prstGeom>
          <a:solidFill>
            <a:srgbClr val="7C3AED">
              <a:alpha val="70000"/>
            </a:srgbClr>
          </a:solidFill>
          <a:ln>
            <a:noFill/>
          </a:ln>
        </p:spPr>
      </p:sp>
      <p:sp>
        <p:nvSpPr>
          <p:cNvPr id="83" name="Ellipse 83"/>
          <p:cNvSpPr/>
          <p:nvPr/>
        </p:nvSpPr>
        <p:spPr>
          <a:xfrm>
            <a:off x="8724900" y="4591050"/>
            <a:ext cx="76200" cy="76200"/>
          </a:xfrm>
          <a:prstGeom prst="ellipse">
            <a:avLst/>
          </a:prstGeom>
          <a:solidFill>
            <a:srgbClr val="7C3AED">
              <a:alpha val="50000"/>
            </a:srgbClr>
          </a:solidFill>
          <a:ln>
            <a:noFill/>
          </a:ln>
        </p:spPr>
      </p:sp>
      <p:sp>
        <p:nvSpPr>
          <p:cNvPr id="84" name="Ellipse 84"/>
          <p:cNvSpPr/>
          <p:nvPr/>
        </p:nvSpPr>
        <p:spPr>
          <a:xfrm>
            <a:off x="11391900" y="4591050"/>
            <a:ext cx="76200" cy="76200"/>
          </a:xfrm>
          <a:prstGeom prst="ellipse">
            <a:avLst/>
          </a:prstGeom>
          <a:solidFill>
            <a:srgbClr val="38BDF8">
              <a:alpha val="40000"/>
            </a:srgbClr>
          </a:solidFill>
          <a:ln>
            <a:noFill/>
          </a:ln>
        </p:spPr>
      </p:sp>
      <p:sp>
        <p:nvSpPr>
          <p:cNvPr id="85" name="TextBox 85"/>
          <p:cNvSpPr txBox="1"/>
          <p:nvPr/>
        </p:nvSpPr>
        <p:spPr>
          <a:xfrm>
            <a:off x="707917" y="4752499"/>
            <a:ext cx="2986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1949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3279667" y="4752499"/>
            <a:ext cx="2986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1953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5946667" y="4752499"/>
            <a:ext cx="2986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7C3AED"/>
                </a:solidFill>
                <a:latin typeface="Consolas"/>
                <a:ea typeface="Consolas"/>
                <a:cs typeface="Consolas"/>
              </a:rPr>
              <a:t>1958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8613667" y="4752499"/>
            <a:ext cx="2986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7C3AED"/>
                </a:solidFill>
                <a:latin typeface="Consolas"/>
                <a:ea typeface="Consolas"/>
                <a:cs typeface="Consolas"/>
              </a:rPr>
              <a:t>1958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1280667" y="4752499"/>
            <a:ext cx="2986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1962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535114" y="4959191"/>
            <a:ext cx="45377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开国大典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3146584" y="4959191"/>
            <a:ext cx="56483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总路线提出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5924645" y="4959191"/>
            <a:ext cx="34271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大跃进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8536114" y="4959191"/>
            <a:ext cx="45377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郑州会议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11147584" y="4959191"/>
            <a:ext cx="56483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七千人大会</a:t>
            </a:r>
          </a:p>
        </p:txBody>
      </p:sp>
      <p:sp>
        <p:nvSpPr>
          <p:cNvPr id="95" name="Polyline 95"/>
          <p:cNvSpPr/>
          <p:nvPr/>
        </p:nvSpPr>
        <p:spPr>
          <a:xfrm>
            <a:off x="762000" y="5334000"/>
            <a:ext cx="10668000" cy="190500"/>
          </a:xfrm>
          <a:custGeom>
            <a:avLst/>
            <a:gdLst/>
            <a:ahLst/>
            <a:cxnLst/>
            <a:rect l="l" t="t" r="r" b="b"/>
            <a:pathLst>
              <a:path w="10668000" h="190500">
                <a:moveTo>
                  <a:pt x="0" y="190500"/>
                </a:moveTo>
                <a:lnTo>
                  <a:pt x="1143000" y="190500"/>
                </a:lnTo>
                <a:lnTo>
                  <a:pt x="1524000" y="0"/>
                </a:lnTo>
                <a:lnTo>
                  <a:pt x="2286000" y="0"/>
                </a:lnTo>
                <a:lnTo>
                  <a:pt x="2667000" y="190500"/>
                </a:lnTo>
                <a:lnTo>
                  <a:pt x="3810000" y="190500"/>
                </a:lnTo>
                <a:lnTo>
                  <a:pt x="4191000" y="0"/>
                </a:lnTo>
                <a:lnTo>
                  <a:pt x="4953000" y="0"/>
                </a:lnTo>
                <a:lnTo>
                  <a:pt x="5334000" y="190500"/>
                </a:lnTo>
                <a:lnTo>
                  <a:pt x="6477000" y="190500"/>
                </a:lnTo>
                <a:lnTo>
                  <a:pt x="6858000" y="0"/>
                </a:lnTo>
                <a:lnTo>
                  <a:pt x="7620000" y="0"/>
                </a:lnTo>
                <a:lnTo>
                  <a:pt x="8001000" y="190500"/>
                </a:lnTo>
                <a:lnTo>
                  <a:pt x="9144000" y="190500"/>
                </a:lnTo>
                <a:lnTo>
                  <a:pt x="9525000" y="0"/>
                </a:lnTo>
                <a:lnTo>
                  <a:pt x="10287000" y="0"/>
                </a:lnTo>
                <a:lnTo>
                  <a:pt x="10668000" y="190500"/>
                </a:lnTo>
              </a:path>
            </a:pathLst>
          </a:custGeom>
          <a:noFill/>
          <a:ln w="7620">
            <a:solidFill>
              <a:srgbClr val="2563EB">
                <a:alpha val="25000"/>
              </a:srgbClr>
            </a:solidFill>
          </a:ln>
        </p:spPr>
      </p:sp>
      <p:sp>
        <p:nvSpPr>
          <p:cNvPr id="96" name="Ellipse 96"/>
          <p:cNvSpPr/>
          <p:nvPr/>
        </p:nvSpPr>
        <p:spPr>
          <a:xfrm>
            <a:off x="742950" y="5505450"/>
            <a:ext cx="38100" cy="38100"/>
          </a:xfrm>
          <a:prstGeom prst="ellipse">
            <a:avLst/>
          </a:prstGeom>
          <a:solidFill>
            <a:srgbClr val="2563EB">
              <a:alpha val="50000"/>
            </a:srgbClr>
          </a:solidFill>
          <a:ln>
            <a:noFill/>
          </a:ln>
        </p:spPr>
      </p:sp>
      <p:sp>
        <p:nvSpPr>
          <p:cNvPr id="97" name="Ellipse 97"/>
          <p:cNvSpPr/>
          <p:nvPr/>
        </p:nvSpPr>
        <p:spPr>
          <a:xfrm>
            <a:off x="3409950" y="5505450"/>
            <a:ext cx="38100" cy="38100"/>
          </a:xfrm>
          <a:prstGeom prst="ellipse">
            <a:avLst/>
          </a:prstGeom>
          <a:solidFill>
            <a:srgbClr val="2563EB">
              <a:alpha val="50000"/>
            </a:srgbClr>
          </a:solidFill>
          <a:ln>
            <a:noFill/>
          </a:ln>
        </p:spPr>
      </p:sp>
      <p:sp>
        <p:nvSpPr>
          <p:cNvPr id="98" name="Ellipse 98"/>
          <p:cNvSpPr/>
          <p:nvPr/>
        </p:nvSpPr>
        <p:spPr>
          <a:xfrm>
            <a:off x="6076950" y="5505450"/>
            <a:ext cx="38100" cy="38100"/>
          </a:xfrm>
          <a:prstGeom prst="ellipse">
            <a:avLst/>
          </a:prstGeom>
          <a:solidFill>
            <a:srgbClr val="7C3AED">
              <a:alpha val="50000"/>
            </a:srgbClr>
          </a:solidFill>
          <a:ln>
            <a:noFill/>
          </a:ln>
        </p:spPr>
      </p:sp>
      <p:sp>
        <p:nvSpPr>
          <p:cNvPr id="99" name="Ellipse 99"/>
          <p:cNvSpPr/>
          <p:nvPr/>
        </p:nvSpPr>
        <p:spPr>
          <a:xfrm>
            <a:off x="8743950" y="5505450"/>
            <a:ext cx="38100" cy="38100"/>
          </a:xfrm>
          <a:prstGeom prst="ellipse">
            <a:avLst/>
          </a:prstGeom>
          <a:solidFill>
            <a:srgbClr val="7C3AED">
              <a:alpha val="50000"/>
            </a:srgbClr>
          </a:solidFill>
          <a:ln>
            <a:noFill/>
          </a:ln>
        </p:spPr>
      </p:sp>
      <p:sp>
        <p:nvSpPr>
          <p:cNvPr id="100" name="Ellipse 100"/>
          <p:cNvSpPr/>
          <p:nvPr/>
        </p:nvSpPr>
        <p:spPr>
          <a:xfrm>
            <a:off x="11410950" y="5505450"/>
            <a:ext cx="38100" cy="38100"/>
          </a:xfrm>
          <a:prstGeom prst="ellipse">
            <a:avLst/>
          </a:prstGeom>
          <a:solidFill>
            <a:srgbClr val="2563EB">
              <a:alpha val="50000"/>
            </a:srgbClr>
          </a:solidFill>
          <a:ln>
            <a:noFill/>
          </a:ln>
        </p:spPr>
      </p:sp>
      <p:sp>
        <p:nvSpPr>
          <p:cNvPr id="101" name="TextBox 101"/>
          <p:cNvSpPr txBox="1"/>
          <p:nvPr/>
        </p:nvSpPr>
        <p:spPr>
          <a:xfrm>
            <a:off x="757047" y="5990749"/>
            <a:ext cx="21034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CBD5E1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毛泽东：时代与革命（1893—1976）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11279743" y="4600099"/>
            <a:ext cx="30522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CBD5E1">
                    <a:alphaMod val="50000"/>
                  </a:srgbClr>
                </a:solidFill>
                <a:latin typeface="Consolas"/>
                <a:ea typeface="Consolas"/>
                <a:cs typeface="Consolas"/>
              </a:rPr>
              <a:t>3 / 6</a:t>
            </a:r>
          </a:p>
        </p:txBody>
      </p:sp>
      <p:sp>
        <p:nvSpPr>
          <p:cNvPr id="103" name="Line 103"/>
          <p:cNvSpPr/>
          <p:nvPr/>
        </p:nvSpPr>
        <p:spPr>
          <a:xfrm>
            <a:off x="762000" y="62865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7620">
            <a:solidFill>
              <a:srgbClr val="2563EB">
                <a:alpha val="30000"/>
              </a:srgbClr>
            </a:solidFill>
          </a:ln>
        </p:spPr>
      </p:sp>
      <p:sp>
        <p:nvSpPr>
          <p:cNvPr id="104" name="Line 104"/>
          <p:cNvSpPr/>
          <p:nvPr/>
        </p:nvSpPr>
        <p:spPr>
          <a:xfrm>
            <a:off x="762000" y="590550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381000"/>
                </a:moveTo>
                <a:lnTo>
                  <a:pt x="0" y="0"/>
                </a:lnTo>
              </a:path>
            </a:pathLst>
          </a:custGeom>
          <a:noFill/>
          <a:ln w="7620">
            <a:solidFill>
              <a:srgbClr val="2563EB">
                <a:alpha val="30000"/>
              </a:srgbClr>
            </a:solidFill>
          </a:ln>
        </p:spPr>
      </p:sp>
      <p:sp>
        <p:nvSpPr>
          <p:cNvPr id="105" name="Line 105"/>
          <p:cNvSpPr/>
          <p:nvPr/>
        </p:nvSpPr>
        <p:spPr>
          <a:xfrm>
            <a:off x="11049000" y="62865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381000" y="0"/>
                </a:moveTo>
                <a:lnTo>
                  <a:pt x="0" y="0"/>
                </a:lnTo>
              </a:path>
            </a:pathLst>
          </a:custGeom>
          <a:noFill/>
          <a:ln w="7620">
            <a:solidFill>
              <a:srgbClr val="2563EB">
                <a:alpha val="30000"/>
              </a:srgbClr>
            </a:solidFill>
          </a:ln>
        </p:spPr>
      </p:sp>
      <p:sp>
        <p:nvSpPr>
          <p:cNvPr id="106" name="Line 106"/>
          <p:cNvSpPr/>
          <p:nvPr/>
        </p:nvSpPr>
        <p:spPr>
          <a:xfrm>
            <a:off x="11430000" y="590550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381000"/>
                </a:moveTo>
                <a:lnTo>
                  <a:pt x="0" y="0"/>
                </a:lnTo>
              </a:path>
            </a:pathLst>
          </a:custGeom>
          <a:noFill/>
          <a:ln w="7620">
            <a:solidFill>
              <a:srgbClr val="2563EB">
                <a:alpha val="30000"/>
              </a:srgbClr>
            </a:solidFill>
          </a:ln>
        </p:spPr>
      </p:sp>
      <p:sp>
        <p:nvSpPr>
          <p:cNvPr id="107" name="Ellipse 107"/>
          <p:cNvSpPr/>
          <p:nvPr/>
        </p:nvSpPr>
        <p:spPr>
          <a:xfrm>
            <a:off x="10463212" y="1128712"/>
            <a:ext cx="28575" cy="28575"/>
          </a:xfrm>
          <a:prstGeom prst="ellipse">
            <a:avLst/>
          </a:prstGeom>
          <a:solidFill>
            <a:srgbClr val="38BDF8">
              <a:alpha val="25000"/>
            </a:srgbClr>
          </a:solidFill>
          <a:ln>
            <a:noFill/>
          </a:ln>
        </p:spPr>
      </p:sp>
      <p:sp>
        <p:nvSpPr>
          <p:cNvPr id="108" name="Ellipse 108"/>
          <p:cNvSpPr/>
          <p:nvPr/>
        </p:nvSpPr>
        <p:spPr>
          <a:xfrm>
            <a:off x="10944225" y="1895475"/>
            <a:ext cx="19050" cy="19050"/>
          </a:xfrm>
          <a:prstGeom prst="ellipse">
            <a:avLst/>
          </a:prstGeom>
          <a:solidFill>
            <a:srgbClr val="38BDF8">
              <a:alpha val="20000"/>
            </a:srgbClr>
          </a:solidFill>
          <a:ln>
            <a:noFill/>
          </a:ln>
        </p:spPr>
      </p:sp>
      <p:sp>
        <p:nvSpPr>
          <p:cNvPr id="109" name="Ellipse 109"/>
          <p:cNvSpPr/>
          <p:nvPr/>
        </p:nvSpPr>
        <p:spPr>
          <a:xfrm>
            <a:off x="9986962" y="6462712"/>
            <a:ext cx="28575" cy="28575"/>
          </a:xfrm>
          <a:prstGeom prst="ellipse">
            <a:avLst/>
          </a:prstGeom>
          <a:solidFill>
            <a:srgbClr val="38BDF8">
              <a:alpha val="25000"/>
            </a:srgbClr>
          </a:solidFill>
          <a:ln>
            <a:noFill/>
          </a:ln>
        </p:spPr>
      </p:sp>
      <p:sp>
        <p:nvSpPr>
          <p:cNvPr id="110" name="Ellipse 110"/>
          <p:cNvSpPr/>
          <p:nvPr/>
        </p:nvSpPr>
        <p:spPr>
          <a:xfrm>
            <a:off x="1419225" y="6372225"/>
            <a:ext cx="19050" cy="19050"/>
          </a:xfrm>
          <a:prstGeom prst="ellipse">
            <a:avLst/>
          </a:prstGeom>
          <a:solidFill>
            <a:srgbClr val="7C3AED">
              <a:alpha val="20000"/>
            </a:srgbClr>
          </a:solidFill>
          <a:ln>
            <a:noFill/>
          </a:ln>
        </p:spPr>
      </p:sp>
      <p:sp>
        <p:nvSpPr>
          <p:cNvPr id="111" name="Ellipse 111"/>
          <p:cNvSpPr/>
          <p:nvPr/>
        </p:nvSpPr>
        <p:spPr>
          <a:xfrm>
            <a:off x="8086725" y="1895475"/>
            <a:ext cx="19050" cy="19050"/>
          </a:xfrm>
          <a:prstGeom prst="ellipse">
            <a:avLst/>
          </a:prstGeom>
          <a:solidFill>
            <a:srgbClr val="7C3AED">
              <a:alpha val="2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81426"/>
              </a:gs>
              <a:gs pos="100000">
                <a:srgbClr val="0D2340"/>
              </a:gs>
            </a:gsLst>
            <a:lin ang="2700000" scaled="1"/>
          </a:gradFill>
          <a:ln>
            <a:noFill/>
          </a:ln>
        </p:spPr>
      </p:sp>
      <p:grpSp>
        <p:nvGrpSpPr>
          <p:cNvPr id="20" name="Group 2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2857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0" y="4000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0" y="6286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762000" y="381000"/>
            <a:ext cx="10668000" cy="6096000"/>
            <a:chOff x="762000" y="381000"/>
            <a:chExt cx="10668000" cy="6096000"/>
          </a:xfrm>
        </p:grpSpPr>
        <p:sp>
          <p:nvSpPr>
            <p:cNvPr id="21" name="Polyline 21"/>
            <p:cNvSpPr/>
            <p:nvPr/>
          </p:nvSpPr>
          <p:spPr>
            <a:xfrm>
              <a:off x="762000" y="60960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81000"/>
                  </a:moveTo>
                  <a:lnTo>
                    <a:pt x="0" y="190500"/>
                  </a:lnTo>
                  <a:lnTo>
                    <a:pt x="381000" y="190500"/>
                  </a:lnTo>
                  <a:lnTo>
                    <a:pt x="381000" y="0"/>
                  </a:lnTo>
                </a:path>
              </a:pathLst>
            </a:custGeom>
            <a:noFill/>
            <a:ln w="9525">
              <a:solidFill>
                <a:srgbClr val="2563EB">
                  <a:alpha val="20000"/>
                </a:srgbClr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1123950" y="6076950"/>
              <a:ext cx="38100" cy="38100"/>
            </a:xfrm>
            <a:prstGeom prst="ellipse">
              <a:avLst/>
            </a:prstGeom>
            <a:solidFill>
              <a:srgbClr val="2563EB">
                <a:alpha val="30000"/>
              </a:srgbClr>
            </a:solidFill>
            <a:ln w="9525">
              <a:solidFill>
                <a:srgbClr val="2563EB">
                  <a:alpha val="20000"/>
                </a:srgbClr>
              </a:solidFill>
            </a:ln>
          </p:spPr>
        </p:sp>
        <p:sp>
          <p:nvSpPr>
            <p:cNvPr id="23" name="Polyline 23"/>
            <p:cNvSpPr/>
            <p:nvPr/>
          </p:nvSpPr>
          <p:spPr>
            <a:xfrm>
              <a:off x="11049000" y="381000"/>
              <a:ext cx="381000" cy="190500"/>
            </a:xfrm>
            <a:custGeom>
              <a:avLst/>
              <a:gdLst/>
              <a:ahLst/>
              <a:cxnLst/>
              <a:rect l="l" t="t" r="r" b="b"/>
              <a:pathLst>
                <a:path w="381000" h="190500">
                  <a:moveTo>
                    <a:pt x="381000" y="0"/>
                  </a:moveTo>
                  <a:lnTo>
                    <a:pt x="190500" y="0"/>
                  </a:lnTo>
                  <a:lnTo>
                    <a:pt x="190500" y="190500"/>
                  </a:lnTo>
                  <a:lnTo>
                    <a:pt x="0" y="190500"/>
                  </a:lnTo>
                </a:path>
              </a:pathLst>
            </a:custGeom>
            <a:noFill/>
            <a:ln w="9525">
              <a:solidFill>
                <a:srgbClr val="2563EB">
                  <a:alpha val="20000"/>
                </a:srgbClr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11029950" y="552450"/>
              <a:ext cx="38100" cy="38100"/>
            </a:xfrm>
            <a:prstGeom prst="ellipse">
              <a:avLst/>
            </a:prstGeom>
            <a:solidFill>
              <a:srgbClr val="2563EB">
                <a:alpha val="30000"/>
              </a:srgbClr>
            </a:solidFill>
            <a:ln w="9525">
              <a:solidFill>
                <a:srgbClr val="2563EB">
                  <a:alpha val="20000"/>
                </a:srgbClr>
              </a:solidFill>
            </a:ln>
          </p:spPr>
        </p:sp>
      </p:grpSp>
      <p:sp>
        <p:nvSpPr>
          <p:cNvPr id="26" name="Rectangle 26"/>
          <p:cNvSpPr/>
          <p:nvPr/>
        </p:nvSpPr>
        <p:spPr>
          <a:xfrm>
            <a:off x="0" y="0"/>
            <a:ext cx="12192000" cy="857250"/>
          </a:xfrm>
          <a:prstGeom prst="rect">
            <a:avLst/>
          </a:prstGeom>
          <a:solidFill>
            <a:srgbClr val="0B1F38"/>
          </a:solidFill>
          <a:ln w="9525">
            <a:solidFill>
              <a:srgbClr val="2563EB">
                <a:alpha val="50000"/>
              </a:srgbClr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0" y="838200"/>
            <a:ext cx="12192000" cy="19050"/>
          </a:xfrm>
          <a:prstGeom prst="rect">
            <a:avLst/>
          </a:prstGeom>
          <a:gradFill>
            <a:gsLst>
              <a:gs pos="0">
                <a:srgbClr val="2563EB">
                  <a:alpha val="60000"/>
                </a:srgbClr>
              </a:gs>
              <a:gs pos="100000">
                <a:srgbClr val="38BDF8">
                  <a:alpha val="60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98932" y="249555"/>
            <a:ext cx="327170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8FBFF"/>
                </a:solidFill>
                <a:latin typeface="Arial"/>
                <a:ea typeface="Microsoft YaHei"/>
                <a:cs typeface="Arial"/>
              </a:rPr>
              <a:t>晚年风云（1962—1976）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04266" y="610552"/>
            <a:ext cx="410984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从四清到文革，从林彪出逃到尼克松破冰，晚年探索的动荡与转折</a:t>
            </a:r>
          </a:p>
        </p:txBody>
      </p:sp>
      <p:sp>
        <p:nvSpPr>
          <p:cNvPr id="30" name="Ellipse 30"/>
          <p:cNvSpPr/>
          <p:nvPr/>
        </p:nvSpPr>
        <p:spPr>
          <a:xfrm>
            <a:off x="11544300" y="352425"/>
            <a:ext cx="152400" cy="152400"/>
          </a:xfrm>
          <a:prstGeom prst="ellipse">
            <a:avLst/>
          </a:prstGeom>
          <a:noFill/>
          <a:ln w="9525">
            <a:solidFill>
              <a:srgbClr val="38BDF8">
                <a:alpha val="60000"/>
              </a:srgbClr>
            </a:solidFill>
          </a:ln>
        </p:spPr>
      </p:sp>
      <p:sp>
        <p:nvSpPr>
          <p:cNvPr id="31" name="Ellipse 31"/>
          <p:cNvSpPr/>
          <p:nvPr/>
        </p:nvSpPr>
        <p:spPr>
          <a:xfrm>
            <a:off x="11591925" y="400050"/>
            <a:ext cx="57150" cy="57150"/>
          </a:xfrm>
          <a:prstGeom prst="ellipse">
            <a:avLst/>
          </a:prstGeom>
          <a:solidFill>
            <a:srgbClr val="38BDF8">
              <a:alpha val="80000"/>
            </a:srgbClr>
          </a:solidFill>
          <a:ln>
            <a:noFill/>
          </a:ln>
        </p:spPr>
      </p:sp>
      <p:sp>
        <p:nvSpPr>
          <p:cNvPr id="32" name="Ellipse 32"/>
          <p:cNvSpPr/>
          <p:nvPr/>
        </p:nvSpPr>
        <p:spPr>
          <a:xfrm>
            <a:off x="11753850" y="371475"/>
            <a:ext cx="114300" cy="114300"/>
          </a:xfrm>
          <a:prstGeom prst="ellipse">
            <a:avLst/>
          </a:prstGeom>
          <a:noFill/>
          <a:ln w="9525">
            <a:solidFill>
              <a:srgbClr val="7C3AED">
                <a:alpha val="50000"/>
              </a:srgbClr>
            </a:solidFill>
          </a:ln>
        </p:spPr>
      </p:sp>
      <p:sp>
        <p:nvSpPr>
          <p:cNvPr id="33" name="Ellipse 33"/>
          <p:cNvSpPr/>
          <p:nvPr/>
        </p:nvSpPr>
        <p:spPr>
          <a:xfrm>
            <a:off x="11791950" y="409575"/>
            <a:ext cx="38100" cy="38100"/>
          </a:xfrm>
          <a:prstGeom prst="ellipse">
            <a:avLst/>
          </a:prstGeom>
          <a:solidFill>
            <a:srgbClr val="7C3AED">
              <a:alpha val="70000"/>
            </a:srgbClr>
          </a:solidFill>
          <a:ln>
            <a:noFill/>
          </a:ln>
        </p:spPr>
      </p:sp>
      <p:sp>
        <p:nvSpPr>
          <p:cNvPr id="34" name="Line 34"/>
          <p:cNvSpPr/>
          <p:nvPr/>
        </p:nvSpPr>
        <p:spPr>
          <a:xfrm>
            <a:off x="3810000" y="1333500"/>
            <a:ext cx="9525" cy="5238750"/>
          </a:xfrm>
          <a:custGeom>
            <a:avLst/>
            <a:gdLst/>
            <a:ahLst/>
            <a:cxnLst/>
            <a:rect l="l" t="t" r="r" b="b"/>
            <a:pathLst>
              <a:path w="9525" h="5238750">
                <a:moveTo>
                  <a:pt x="0" y="0"/>
                </a:moveTo>
                <a:lnTo>
                  <a:pt x="0" y="5238750"/>
                </a:lnTo>
              </a:path>
            </a:pathLst>
          </a:custGeom>
          <a:noFill/>
          <a:ln w="19050">
            <a:gradFill>
              <a:gsLst>
                <a:gs pos="0">
                  <a:srgbClr val="38BDF8">
                    <a:alpha val="60000"/>
                  </a:srgbClr>
                </a:gs>
                <a:gs pos="100000">
                  <a:srgbClr val="2563EB">
                    <a:alpha val="60000"/>
                  </a:srgbClr>
                </a:gs>
              </a:gsLst>
              <a:lin ang="5400000" scaled="1"/>
            </a:gradFill>
          </a:ln>
        </p:spPr>
      </p:sp>
      <p:grpSp>
        <p:nvGrpSpPr>
          <p:cNvPr id="42" name="Group 42"/>
          <p:cNvGrpSpPr/>
          <p:nvPr/>
        </p:nvGrpSpPr>
        <p:grpSpPr>
          <a:xfrm>
            <a:off x="3240020" y="1666875"/>
            <a:ext cx="6284980" cy="552450"/>
            <a:chOff x="3240020" y="1666875"/>
            <a:chExt cx="6284980" cy="552450"/>
          </a:xfrm>
        </p:grpSpPr>
        <p:sp>
          <p:nvSpPr>
            <p:cNvPr id="35" name="Ellipse 35"/>
            <p:cNvSpPr/>
            <p:nvPr/>
          </p:nvSpPr>
          <p:spPr>
            <a:xfrm>
              <a:off x="3714750" y="1857375"/>
              <a:ext cx="190500" cy="190500"/>
            </a:xfrm>
            <a:prstGeom prst="ellipse">
              <a:avLst/>
            </a:prstGeom>
            <a:solidFill>
              <a:srgbClr val="0B1F38"/>
            </a:solidFill>
            <a:ln w="19050">
              <a:solidFill>
                <a:srgbClr val="38BDF8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3771900" y="1914525"/>
              <a:ext cx="76200" cy="76200"/>
            </a:xfrm>
            <a:prstGeom prst="ellipse">
              <a:avLst/>
            </a:prstGeom>
            <a:solidFill>
              <a:srgbClr val="38BDF8">
                <a:alpha val="90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240020" y="1896428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rgbClr val="38BDF8"/>
                  </a:solidFill>
                  <a:latin typeface="Consolas"/>
                  <a:ea typeface="Consolas"/>
                  <a:cs typeface="Consolas"/>
                </a:rPr>
                <a:t>1962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381500" y="1666875"/>
              <a:ext cx="5143500" cy="552450"/>
            </a:xfrm>
            <a:prstGeom prst="roundRect">
              <a:avLst>
                <a:gd name="adj" fmla="val 6897"/>
              </a:avLst>
            </a:prstGeom>
            <a:gradFill>
              <a:gsLst>
                <a:gs pos="0">
                  <a:srgbClr val="102B4E">
                    <a:alpha val="85000"/>
                  </a:srgbClr>
                </a:gs>
                <a:gs pos="100000">
                  <a:srgbClr val="0B1F38">
                    <a:alpha val="85000"/>
                  </a:srgbClr>
                </a:gs>
              </a:gsLst>
              <a:lin ang="2700000" scaled="1"/>
            </a:gradFill>
            <a:ln w="7620">
              <a:solidFill>
                <a:srgbClr val="2563EB">
                  <a:alpha val="50000"/>
                </a:srgbClr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05338" y="1750695"/>
              <a:ext cx="14089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8FBFF"/>
                  </a:solidFill>
                  <a:latin typeface="Arial"/>
                  <a:ea typeface="Microsoft YaHei"/>
                  <a:cs typeface="Arial"/>
                </a:rPr>
                <a:t>八届十中全会与四清运动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605338" y="1938338"/>
              <a:ext cx="254374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重提阶级斗争，“反修防修”为纲，城乡社教运动渐次铺开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3905250" y="195262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7620">
              <a:solidFill>
                <a:srgbClr val="2563EB">
                  <a:alpha val="60000"/>
                </a:srgbClr>
              </a:solidFill>
            </a:ln>
          </p:spPr>
        </p:sp>
      </p:grpSp>
      <p:grpSp>
        <p:nvGrpSpPr>
          <p:cNvPr id="51" name="Group 51"/>
          <p:cNvGrpSpPr/>
          <p:nvPr/>
        </p:nvGrpSpPr>
        <p:grpSpPr>
          <a:xfrm>
            <a:off x="2831869" y="2809875"/>
            <a:ext cx="6693131" cy="571501"/>
            <a:chOff x="2831869" y="2809875"/>
            <a:chExt cx="6693131" cy="571501"/>
          </a:xfrm>
        </p:grpSpPr>
        <p:sp>
          <p:nvSpPr>
            <p:cNvPr id="43" name="Ellipse 43"/>
            <p:cNvSpPr/>
            <p:nvPr/>
          </p:nvSpPr>
          <p:spPr>
            <a:xfrm>
              <a:off x="3714750" y="3000375"/>
              <a:ext cx="190500" cy="190500"/>
            </a:xfrm>
            <a:prstGeom prst="ellipse">
              <a:avLst/>
            </a:prstGeom>
            <a:solidFill>
              <a:srgbClr val="0B1F38"/>
            </a:solidFill>
            <a:ln w="19050">
              <a:solidFill>
                <a:srgbClr val="7C3AED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3771900" y="3057525"/>
              <a:ext cx="76200" cy="76200"/>
            </a:xfrm>
            <a:prstGeom prst="ellipse">
              <a:avLst/>
            </a:prstGeom>
            <a:solidFill>
              <a:srgbClr val="7C3AED">
                <a:alpha val="90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831869" y="3039428"/>
              <a:ext cx="7453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rgbClr val="7C3AED"/>
                  </a:solidFill>
                  <a:latin typeface="Consolas"/>
                  <a:ea typeface="Consolas"/>
                  <a:cs typeface="Consolas"/>
                </a:rPr>
                <a:t>1966—1969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4381500" y="2809875"/>
              <a:ext cx="5143500" cy="552450"/>
            </a:xfrm>
            <a:prstGeom prst="roundRect">
              <a:avLst>
                <a:gd name="adj" fmla="val 6897"/>
              </a:avLst>
            </a:prstGeom>
            <a:gradFill>
              <a:gsLst>
                <a:gs pos="0">
                  <a:srgbClr val="102B4E">
                    <a:alpha val="85000"/>
                  </a:srgbClr>
                </a:gs>
                <a:gs pos="100000">
                  <a:srgbClr val="0B1F38">
                    <a:alpha val="85000"/>
                  </a:srgbClr>
                </a:gs>
              </a:gsLst>
              <a:lin ang="2700000" scaled="1"/>
            </a:gradFill>
            <a:ln w="7620">
              <a:solidFill>
                <a:srgbClr val="7C3AED">
                  <a:alpha val="50000"/>
                </a:srgbClr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072461" y="2893695"/>
              <a:ext cx="7728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8FBFF"/>
                  </a:solidFill>
                  <a:latin typeface="Arial"/>
                  <a:ea typeface="Microsoft YaHei"/>
                  <a:cs typeface="Arial"/>
                </a:rPr>
                <a:t>文革全面发动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605338" y="3081338"/>
              <a:ext cx="248821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《五·一六通知》与《十六条》定调，解放军介入支左，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605338" y="3233738"/>
              <a:ext cx="172593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夺权风暴席卷全国，政治秩序全面重构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3905250" y="309562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7620">
              <a:solidFill>
                <a:srgbClr val="7C3AED">
                  <a:alpha val="60000"/>
                </a:srgbClr>
              </a:solidFill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3076760" y="3952875"/>
            <a:ext cx="6448240" cy="571501"/>
            <a:chOff x="3076760" y="3952875"/>
            <a:chExt cx="6448240" cy="571501"/>
          </a:xfrm>
        </p:grpSpPr>
        <p:sp>
          <p:nvSpPr>
            <p:cNvPr id="52" name="Ellipse 52"/>
            <p:cNvSpPr/>
            <p:nvPr/>
          </p:nvSpPr>
          <p:spPr>
            <a:xfrm>
              <a:off x="3714750" y="4143375"/>
              <a:ext cx="190500" cy="190500"/>
            </a:xfrm>
            <a:prstGeom prst="ellipse">
              <a:avLst/>
            </a:prstGeom>
            <a:solidFill>
              <a:srgbClr val="0B1F38"/>
            </a:solidFill>
            <a:ln w="19050">
              <a:solidFill>
                <a:srgbClr val="38BDF8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3771900" y="4200525"/>
              <a:ext cx="76200" cy="76200"/>
            </a:xfrm>
            <a:prstGeom prst="ellipse">
              <a:avLst/>
            </a:prstGeom>
            <a:solidFill>
              <a:srgbClr val="38BDF8">
                <a:alpha val="90000"/>
              </a:srgbClr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3076760" y="4182428"/>
              <a:ext cx="500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rgbClr val="38BDF8"/>
                  </a:solidFill>
                  <a:latin typeface="Consolas"/>
                  <a:ea typeface="Consolas"/>
                  <a:cs typeface="Consolas"/>
                </a:rPr>
                <a:t>1971.9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381500" y="3952875"/>
              <a:ext cx="5143500" cy="552450"/>
            </a:xfrm>
            <a:prstGeom prst="roundRect">
              <a:avLst>
                <a:gd name="adj" fmla="val 6897"/>
              </a:avLst>
            </a:prstGeom>
            <a:gradFill>
              <a:gsLst>
                <a:gs pos="0">
                  <a:srgbClr val="102B4E">
                    <a:alpha val="85000"/>
                  </a:srgbClr>
                </a:gs>
                <a:gs pos="100000">
                  <a:srgbClr val="0B1F38">
                    <a:alpha val="85000"/>
                  </a:srgbClr>
                </a:gs>
              </a:gsLst>
              <a:lin ang="2700000" scaled="1"/>
            </a:gradFill>
            <a:ln w="7620">
              <a:solidFill>
                <a:srgbClr val="38BDF8">
                  <a:alpha val="50000"/>
                </a:srgbClr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477893" y="4036695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8FBFF"/>
                  </a:solidFill>
                  <a:latin typeface="Arial"/>
                  <a:ea typeface="Microsoft YaHei"/>
                  <a:cs typeface="Arial"/>
                </a:rPr>
                <a:t>林彪事件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605338" y="4224338"/>
              <a:ext cx="182689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林立果制定暗杀计划，毛泽东南巡批判，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605338" y="4376738"/>
              <a:ext cx="132207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林彪出逃坠机，政治震荡深远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3905250" y="423862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7620">
              <a:solidFill>
                <a:srgbClr val="38BDF8">
                  <a:alpha val="60000"/>
                </a:srgbClr>
              </a:solidFill>
            </a:ln>
          </p:spPr>
        </p:sp>
      </p:grpSp>
      <p:grpSp>
        <p:nvGrpSpPr>
          <p:cNvPr id="68" name="Group 68"/>
          <p:cNvGrpSpPr/>
          <p:nvPr/>
        </p:nvGrpSpPr>
        <p:grpSpPr>
          <a:xfrm>
            <a:off x="3076760" y="4905375"/>
            <a:ext cx="6448240" cy="552450"/>
            <a:chOff x="3076760" y="4905375"/>
            <a:chExt cx="6448240" cy="552450"/>
          </a:xfrm>
        </p:grpSpPr>
        <p:sp>
          <p:nvSpPr>
            <p:cNvPr id="61" name="Ellipse 61"/>
            <p:cNvSpPr/>
            <p:nvPr/>
          </p:nvSpPr>
          <p:spPr>
            <a:xfrm>
              <a:off x="3714750" y="5095875"/>
              <a:ext cx="190500" cy="190500"/>
            </a:xfrm>
            <a:prstGeom prst="ellipse">
              <a:avLst/>
            </a:prstGeom>
            <a:solidFill>
              <a:srgbClr val="0B1F38"/>
            </a:solidFill>
            <a:ln w="19050">
              <a:solidFill>
                <a:srgbClr val="2563EB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3771900" y="5153025"/>
              <a:ext cx="76200" cy="76200"/>
            </a:xfrm>
            <a:prstGeom prst="ellipse">
              <a:avLst/>
            </a:prstGeom>
            <a:solidFill>
              <a:srgbClr val="2563EB">
                <a:alpha val="90000"/>
              </a:srgbClr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3076760" y="5134928"/>
              <a:ext cx="500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rgbClr val="2563EB"/>
                  </a:solidFill>
                  <a:latin typeface="Consolas"/>
                  <a:ea typeface="Consolas"/>
                  <a:cs typeface="Consolas"/>
                </a:rPr>
                <a:t>1972.2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4381500" y="4905375"/>
              <a:ext cx="5143500" cy="552450"/>
            </a:xfrm>
            <a:prstGeom prst="roundRect">
              <a:avLst>
                <a:gd name="adj" fmla="val 6897"/>
              </a:avLst>
            </a:prstGeom>
            <a:gradFill>
              <a:gsLst>
                <a:gs pos="0">
                  <a:srgbClr val="102B4E">
                    <a:alpha val="85000"/>
                  </a:srgbClr>
                </a:gs>
                <a:gs pos="100000">
                  <a:srgbClr val="0B1F38">
                    <a:alpha val="85000"/>
                  </a:srgbClr>
                </a:gs>
              </a:gsLst>
              <a:lin ang="2700000" scaled="1"/>
            </a:gradFill>
            <a:ln w="7620">
              <a:solidFill>
                <a:srgbClr val="2563EB">
                  <a:alpha val="50000"/>
                </a:srgbClr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605338" y="4989195"/>
              <a:ext cx="6456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8FBFF"/>
                  </a:solidFill>
                  <a:latin typeface="Arial"/>
                  <a:ea typeface="Microsoft YaHei"/>
                  <a:cs typeface="Arial"/>
                </a:rPr>
                <a:t>尼克松访华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605338" y="5176838"/>
              <a:ext cx="162496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中美关系破冰，外交格局战略性转变</a:t>
              </a:r>
            </a:p>
          </p:txBody>
        </p:sp>
        <p:sp>
          <p:nvSpPr>
            <p:cNvPr id="67" name="Line 67"/>
            <p:cNvSpPr/>
            <p:nvPr/>
          </p:nvSpPr>
          <p:spPr>
            <a:xfrm>
              <a:off x="3905250" y="519112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7620">
              <a:solidFill>
                <a:srgbClr val="2563EB">
                  <a:alpha val="60000"/>
                </a:srgbClr>
              </a:solidFill>
            </a:ln>
          </p:spPr>
        </p:sp>
      </p:grpSp>
      <p:grpSp>
        <p:nvGrpSpPr>
          <p:cNvPr id="77" name="Group 77"/>
          <p:cNvGrpSpPr/>
          <p:nvPr/>
        </p:nvGrpSpPr>
        <p:grpSpPr>
          <a:xfrm>
            <a:off x="2831869" y="5857875"/>
            <a:ext cx="6693131" cy="571501"/>
            <a:chOff x="2831869" y="5857875"/>
            <a:chExt cx="6693131" cy="571501"/>
          </a:xfrm>
        </p:grpSpPr>
        <p:sp>
          <p:nvSpPr>
            <p:cNvPr id="69" name="Ellipse 69"/>
            <p:cNvSpPr/>
            <p:nvPr/>
          </p:nvSpPr>
          <p:spPr>
            <a:xfrm>
              <a:off x="3714750" y="6048375"/>
              <a:ext cx="190500" cy="190500"/>
            </a:xfrm>
            <a:prstGeom prst="ellipse">
              <a:avLst/>
            </a:prstGeom>
            <a:solidFill>
              <a:srgbClr val="0B1F38"/>
            </a:solidFill>
            <a:ln w="19050">
              <a:solidFill>
                <a:srgbClr val="7C3AED"/>
              </a:solidFill>
            </a:ln>
          </p:spPr>
        </p:sp>
        <p:sp>
          <p:nvSpPr>
            <p:cNvPr id="70" name="Ellipse 70"/>
            <p:cNvSpPr/>
            <p:nvPr/>
          </p:nvSpPr>
          <p:spPr>
            <a:xfrm>
              <a:off x="3771900" y="6105525"/>
              <a:ext cx="76200" cy="76200"/>
            </a:xfrm>
            <a:prstGeom prst="ellipse">
              <a:avLst/>
            </a:prstGeom>
            <a:solidFill>
              <a:srgbClr val="7C3AED">
                <a:alpha val="90000"/>
              </a:srgbClr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2831869" y="6087428"/>
              <a:ext cx="7453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rgbClr val="7C3AED"/>
                  </a:solidFill>
                  <a:latin typeface="Consolas"/>
                  <a:ea typeface="Consolas"/>
                  <a:cs typeface="Consolas"/>
                </a:rPr>
                <a:t>1973—1976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4381500" y="5857875"/>
              <a:ext cx="5143500" cy="552450"/>
            </a:xfrm>
            <a:prstGeom prst="roundRect">
              <a:avLst>
                <a:gd name="adj" fmla="val 6897"/>
              </a:avLst>
            </a:prstGeom>
            <a:gradFill>
              <a:gsLst>
                <a:gs pos="0">
                  <a:srgbClr val="102B4E">
                    <a:alpha val="85000"/>
                  </a:srgbClr>
                </a:gs>
                <a:gs pos="100000">
                  <a:srgbClr val="0B1F38">
                    <a:alpha val="85000"/>
                  </a:srgbClr>
                </a:gs>
              </a:gsLst>
              <a:lin ang="2700000" scaled="1"/>
            </a:gradFill>
            <a:ln w="7620">
              <a:solidFill>
                <a:srgbClr val="7C3AED">
                  <a:alpha val="50000"/>
                </a:srgbClr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082433" y="5941695"/>
              <a:ext cx="12816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8FBFF"/>
                  </a:solidFill>
                  <a:latin typeface="Arial"/>
                  <a:ea typeface="Microsoft YaHei"/>
                  <a:cs typeface="Arial"/>
                </a:rPr>
                <a:t>邓小平起伏与时代落幕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4605338" y="6129338"/>
              <a:ext cx="245287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邓小平复出后被停止工作；1976年毛泽东于唐山地震后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605338" y="6281738"/>
              <a:ext cx="91821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辞世，一个时代落幕</a:t>
              </a:r>
            </a:p>
          </p:txBody>
        </p:sp>
        <p:sp>
          <p:nvSpPr>
            <p:cNvPr id="76" name="Line 76"/>
            <p:cNvSpPr/>
            <p:nvPr/>
          </p:nvSpPr>
          <p:spPr>
            <a:xfrm>
              <a:off x="3905250" y="614362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7620">
              <a:solidFill>
                <a:srgbClr val="7C3AED">
                  <a:alpha val="60000"/>
                </a:srgbClr>
              </a:solidFill>
            </a:ln>
          </p:spPr>
        </p:sp>
      </p:grpSp>
      <p:sp>
        <p:nvSpPr>
          <p:cNvPr id="78" name="Line 78"/>
          <p:cNvSpPr/>
          <p:nvPr/>
        </p:nvSpPr>
        <p:spPr>
          <a:xfrm>
            <a:off x="571500" y="661987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2563EB">
                <a:alpha val="30000"/>
              </a:srgbClr>
            </a:solidFill>
          </a:ln>
        </p:spPr>
      </p:sp>
      <p:sp>
        <p:nvSpPr>
          <p:cNvPr id="79" name="TextBox 79"/>
          <p:cNvSpPr txBox="1"/>
          <p:nvPr/>
        </p:nvSpPr>
        <p:spPr>
          <a:xfrm>
            <a:off x="585788" y="6700838"/>
            <a:ext cx="161991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CBD5E1">
                    <a:alphaMod val="50000"/>
                  </a:srgbClr>
                </a:solidFill>
                <a:latin typeface="Consolas"/>
                <a:ea typeface="Microsoft YaHei"/>
                <a:cs typeface="Consolas"/>
              </a:rPr>
              <a:t>毛泽东：时代与革命（1893—1976）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1258455" y="6700838"/>
            <a:ext cx="34775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750" dirty="0">
                <a:solidFill>
                  <a:srgbClr val="CBD5E1">
                    <a:alphaMod val="50000"/>
                  </a:srgbClr>
                </a:solidFill>
                <a:latin typeface="Consolas"/>
                <a:ea typeface="Consolas"/>
                <a:cs typeface="Consolas"/>
              </a:rPr>
              <a:t>04 / 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</p:sp>
      <p:grpSp>
        <p:nvGrpSpPr>
          <p:cNvPr id="15" name="Group 1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2563EB">
                  <a:alpha val="12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2563EB">
                  <a:alpha val="12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2563EB">
                  <a:alpha val="12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2563EB">
                  <a:alpha val="12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2563EB">
                  <a:alpha val="12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2563EB">
                  <a:alpha val="12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2563EB">
                  <a:alpha val="12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2563EB">
                  <a:alpha val="12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2563EB">
                  <a:alpha val="12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2563EB">
                  <a:alpha val="12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2563EB">
                  <a:alpha val="12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2563EB">
                  <a:alpha val="12000"/>
                </a:srgbClr>
              </a:solidFill>
            </a:ln>
          </p:spPr>
        </p:sp>
      </p:grpSp>
      <p:sp>
        <p:nvSpPr>
          <p:cNvPr id="16" name="Ellipse 16"/>
          <p:cNvSpPr/>
          <p:nvPr/>
        </p:nvSpPr>
        <p:spPr>
          <a:xfrm>
            <a:off x="895350" y="1695450"/>
            <a:ext cx="38100" cy="38100"/>
          </a:xfrm>
          <a:prstGeom prst="ellipse">
            <a:avLst/>
          </a:prstGeom>
          <a:solidFill>
            <a:srgbClr val="38BDF8">
              <a:alpha val="50000"/>
            </a:srgbClr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10839450" y="5124450"/>
            <a:ext cx="38100" cy="38100"/>
          </a:xfrm>
          <a:prstGeom prst="ellipse">
            <a:avLst/>
          </a:prstGeom>
          <a:solidFill>
            <a:srgbClr val="7C3AED">
              <a:alpha val="50000"/>
            </a:srgbClr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2176462" y="6176962"/>
            <a:ext cx="28575" cy="28575"/>
          </a:xfrm>
          <a:prstGeom prst="ellipse">
            <a:avLst/>
          </a:prstGeom>
          <a:solidFill>
            <a:srgbClr val="38BDF8">
              <a:alpha val="40000"/>
            </a:srgbClr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9986962" y="1509712"/>
            <a:ext cx="28575" cy="28575"/>
          </a:xfrm>
          <a:prstGeom prst="ellipse">
            <a:avLst/>
          </a:prstGeom>
          <a:solidFill>
            <a:srgbClr val="2563EB">
              <a:alpha val="40000"/>
            </a:srgbClr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8181975" y="6467475"/>
            <a:ext cx="19050" cy="19050"/>
          </a:xfrm>
          <a:prstGeom prst="ellipse">
            <a:avLst/>
          </a:prstGeom>
          <a:solidFill>
            <a:srgbClr val="7C3AED">
              <a:alpha val="35000"/>
            </a:srgbClr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571500" y="1238250"/>
            <a:ext cx="3238500" cy="4381500"/>
          </a:xfrm>
          <a:prstGeom prst="roundRect">
            <a:avLst>
              <a:gd name="adj" fmla="val 1765"/>
            </a:avLst>
          </a:prstGeom>
          <a:noFill/>
          <a:ln w="9525">
            <a:solidFill>
              <a:srgbClr val="102B4E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628650" y="1295400"/>
            <a:ext cx="3124200" cy="4267200"/>
          </a:xfrm>
          <a:prstGeom prst="roundRect">
            <a:avLst>
              <a:gd name="adj" fmla="val 915"/>
            </a:avLst>
          </a:prstGeom>
          <a:solidFill>
            <a:srgbClr val="0B1F38">
              <a:alpha val="50000"/>
            </a:srgbClr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628650" y="1295400"/>
            <a:ext cx="3124200" cy="4267200"/>
          </a:xfrm>
          <a:prstGeom prst="roundRect">
            <a:avLst>
              <a:gd name="adj" fmla="val 915"/>
            </a:avLst>
          </a:prstGeom>
          <a:solidFill>
            <a:srgbClr val="0D2340">
              <a:alpha val="70000"/>
            </a:srgbClr>
          </a:solidFill>
          <a:ln>
            <a:noFill/>
          </a:ln>
        </p:spPr>
      </p:sp>
      <p:sp>
        <p:nvSpPr>
          <p:cNvPr id="24" name="Ellipse 24"/>
          <p:cNvSpPr/>
          <p:nvPr/>
        </p:nvSpPr>
        <p:spPr>
          <a:xfrm>
            <a:off x="1524000" y="1828800"/>
            <a:ext cx="1333500" cy="1676400"/>
          </a:xfrm>
          <a:prstGeom prst="ellipse">
            <a:avLst/>
          </a:prstGeom>
          <a:noFill/>
          <a:ln w="11430">
            <a:solidFill>
              <a:srgbClr val="2563EB">
                <a:alpha val="50000"/>
              </a:srgbClr>
            </a:solidFill>
          </a:ln>
        </p:spPr>
      </p:sp>
      <p:sp>
        <p:nvSpPr>
          <p:cNvPr id="25" name="Ellipse 25"/>
          <p:cNvSpPr/>
          <p:nvPr/>
        </p:nvSpPr>
        <p:spPr>
          <a:xfrm>
            <a:off x="1809750" y="3162300"/>
            <a:ext cx="762000" cy="533400"/>
          </a:xfrm>
          <a:prstGeom prst="ellipse">
            <a:avLst/>
          </a:prstGeom>
          <a:noFill/>
          <a:ln w="7620">
            <a:solidFill>
              <a:srgbClr val="2563EB">
                <a:alpha val="40000"/>
              </a:srgbClr>
            </a:solidFill>
          </a:ln>
        </p:spPr>
      </p:sp>
      <p:sp>
        <p:nvSpPr>
          <p:cNvPr id="26" name="Freeform 26"/>
          <p:cNvSpPr/>
          <p:nvPr/>
        </p:nvSpPr>
        <p:spPr>
          <a:xfrm>
            <a:off x="952500" y="3619500"/>
            <a:ext cx="571500" cy="1143000"/>
          </a:xfrm>
          <a:custGeom>
            <a:avLst/>
            <a:gdLst/>
            <a:ahLst/>
            <a:cxnLst/>
            <a:rect l="l" t="t" r="r" b="b"/>
            <a:pathLst>
              <a:path w="571500" h="1143000">
                <a:moveTo>
                  <a:pt x="571500" y="0"/>
                </a:moveTo>
                <a:cubicBezTo>
                  <a:pt x="381000" y="508000"/>
                  <a:pt x="190500" y="889000"/>
                  <a:pt x="0" y="1143000"/>
                </a:cubicBezTo>
              </a:path>
            </a:pathLst>
          </a:custGeom>
          <a:noFill/>
          <a:ln w="7620">
            <a:solidFill>
              <a:srgbClr val="2563EB">
                <a:alpha val="35000"/>
              </a:srgbClr>
            </a:solidFill>
          </a:ln>
        </p:spPr>
      </p:sp>
      <p:sp>
        <p:nvSpPr>
          <p:cNvPr id="27" name="Freeform 27"/>
          <p:cNvSpPr/>
          <p:nvPr/>
        </p:nvSpPr>
        <p:spPr>
          <a:xfrm>
            <a:off x="2857500" y="3619500"/>
            <a:ext cx="571500" cy="1143000"/>
          </a:xfrm>
          <a:custGeom>
            <a:avLst/>
            <a:gdLst/>
            <a:ahLst/>
            <a:cxnLst/>
            <a:rect l="l" t="t" r="r" b="b"/>
            <a:pathLst>
              <a:path w="571500" h="1143000">
                <a:moveTo>
                  <a:pt x="0" y="0"/>
                </a:moveTo>
                <a:cubicBezTo>
                  <a:pt x="190500" y="508000"/>
                  <a:pt x="381000" y="889000"/>
                  <a:pt x="571500" y="1143000"/>
                </a:cubicBezTo>
              </a:path>
            </a:pathLst>
          </a:custGeom>
          <a:noFill/>
          <a:ln w="7620">
            <a:solidFill>
              <a:srgbClr val="2563EB">
                <a:alpha val="35000"/>
              </a:srgbClr>
            </a:solidFill>
          </a:ln>
        </p:spPr>
      </p:sp>
      <p:sp>
        <p:nvSpPr>
          <p:cNvPr id="28" name="Ellipse 28"/>
          <p:cNvSpPr/>
          <p:nvPr/>
        </p:nvSpPr>
        <p:spPr>
          <a:xfrm>
            <a:off x="1809750" y="1524000"/>
            <a:ext cx="762000" cy="762000"/>
          </a:xfrm>
          <a:prstGeom prst="ellipse">
            <a:avLst/>
          </a:prstGeom>
          <a:gradFill>
            <a:gsLst>
              <a:gs pos="0">
                <a:srgbClr val="7C3AED">
                  <a:alpha val="17500"/>
                </a:srgbClr>
              </a:gs>
              <a:gs pos="100000">
                <a:srgbClr val="7C3AE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2152650" y="1866900"/>
            <a:ext cx="76200" cy="76200"/>
          </a:xfrm>
          <a:prstGeom prst="ellipse">
            <a:avLst/>
          </a:prstGeom>
          <a:solidFill>
            <a:srgbClr val="7C3AED">
              <a:alpha val="80000"/>
            </a:srgbClr>
          </a:solidFill>
          <a:ln>
            <a:noFill/>
          </a:ln>
        </p:spPr>
      </p:sp>
      <p:sp>
        <p:nvSpPr>
          <p:cNvPr id="30" name="Freeform 30"/>
          <p:cNvSpPr/>
          <p:nvPr/>
        </p:nvSpPr>
        <p:spPr>
          <a:xfrm>
            <a:off x="571500" y="857250"/>
            <a:ext cx="952500" cy="381000"/>
          </a:xfrm>
          <a:custGeom>
            <a:avLst/>
            <a:gdLst/>
            <a:ahLst/>
            <a:cxnLst/>
            <a:rect l="l" t="t" r="r" b="b"/>
            <a:pathLst>
              <a:path w="952500" h="381000">
                <a:moveTo>
                  <a:pt x="0" y="381000"/>
                </a:moveTo>
                <a:lnTo>
                  <a:pt x="0" y="0"/>
                </a:lnTo>
                <a:lnTo>
                  <a:pt x="952500" y="0"/>
                </a:lnTo>
                <a:lnTo>
                  <a:pt x="952500" y="381000"/>
                </a:lnTo>
              </a:path>
            </a:pathLst>
          </a:custGeom>
          <a:noFill/>
          <a:ln w="5715">
            <a:solidFill>
              <a:srgbClr val="2563EB">
                <a:alpha val="40000"/>
              </a:srgbClr>
            </a:solidFill>
          </a:ln>
        </p:spPr>
      </p:sp>
      <p:sp>
        <p:nvSpPr>
          <p:cNvPr id="31" name="Ellipse 31"/>
          <p:cNvSpPr/>
          <p:nvPr/>
        </p:nvSpPr>
        <p:spPr>
          <a:xfrm>
            <a:off x="1504950" y="838200"/>
            <a:ext cx="38100" cy="38100"/>
          </a:xfrm>
          <a:prstGeom prst="ellipse">
            <a:avLst/>
          </a:prstGeom>
          <a:solidFill>
            <a:srgbClr val="38BDF8">
              <a:alpha val="60000"/>
            </a:srgbClr>
          </a:solidFill>
          <a:ln>
            <a:noFill/>
          </a:ln>
        </p:spPr>
      </p:sp>
      <p:sp>
        <p:nvSpPr>
          <p:cNvPr id="32" name="Line 32"/>
          <p:cNvSpPr/>
          <p:nvPr/>
        </p:nvSpPr>
        <p:spPr>
          <a:xfrm>
            <a:off x="3810000" y="2667000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7620">
            <a:solidFill>
              <a:srgbClr val="2563EB">
                <a:alpha val="35000"/>
              </a:srgbClr>
            </a:solidFill>
          </a:ln>
        </p:spPr>
      </p:sp>
      <p:sp>
        <p:nvSpPr>
          <p:cNvPr id="33" name="Ellipse 33"/>
          <p:cNvSpPr/>
          <p:nvPr/>
        </p:nvSpPr>
        <p:spPr>
          <a:xfrm>
            <a:off x="4352925" y="2638425"/>
            <a:ext cx="57150" cy="57150"/>
          </a:xfrm>
          <a:prstGeom prst="ellipse">
            <a:avLst/>
          </a:prstGeom>
          <a:solidFill>
            <a:srgbClr val="38BDF8">
              <a:alpha val="50000"/>
            </a:srgbClr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4572000" y="952500"/>
            <a:ext cx="3333750" cy="1905000"/>
          </a:xfrm>
          <a:prstGeom prst="roundRect">
            <a:avLst>
              <a:gd name="adj" fmla="val 2500"/>
            </a:avLst>
          </a:prstGeom>
          <a:solidFill>
            <a:srgbClr val="0B1F38">
              <a:alpha val="70000"/>
            </a:srgbClr>
          </a:solidFill>
          <a:ln w="9525">
            <a:solidFill>
              <a:srgbClr val="102B4E">
                <a:alpha val="70000"/>
              </a:srgbClr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4572000" y="952500"/>
            <a:ext cx="38100" cy="1905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>
                  <a:alpha val="70000"/>
                </a:srgbClr>
              </a:gs>
              <a:gs pos="100000">
                <a:srgbClr val="7C3AED">
                  <a:alpha val="15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36" name="Ellipse 36"/>
          <p:cNvSpPr/>
          <p:nvPr/>
        </p:nvSpPr>
        <p:spPr>
          <a:xfrm>
            <a:off x="4562475" y="1019175"/>
            <a:ext cx="57150" cy="57150"/>
          </a:xfrm>
          <a:prstGeom prst="ellipse">
            <a:avLst/>
          </a:prstGeom>
          <a:solidFill>
            <a:srgbClr val="7C3AED">
              <a:alpha val="70000"/>
            </a:srgbClr>
          </a:solidFill>
          <a:ln>
            <a:noFill/>
          </a:ln>
        </p:spPr>
      </p:sp>
      <p:sp>
        <p:nvSpPr>
          <p:cNvPr id="37" name="Ellipse 37"/>
          <p:cNvSpPr/>
          <p:nvPr/>
        </p:nvSpPr>
        <p:spPr>
          <a:xfrm>
            <a:off x="4495800" y="952500"/>
            <a:ext cx="190500" cy="190500"/>
          </a:xfrm>
          <a:prstGeom prst="ellipse">
            <a:avLst/>
          </a:prstGeom>
          <a:gradFill>
            <a:gsLst>
              <a:gs pos="0">
                <a:srgbClr val="7C3AED">
                  <a:alpha val="13999"/>
                </a:srgbClr>
              </a:gs>
              <a:gs pos="100000">
                <a:srgbClr val="7C3AE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4756404" y="112776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spc="225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毛泽东思想</a:t>
            </a:r>
          </a:p>
        </p:txBody>
      </p:sp>
      <p:sp>
        <p:nvSpPr>
          <p:cNvPr id="39" name="Line 39"/>
          <p:cNvSpPr/>
          <p:nvPr/>
        </p:nvSpPr>
        <p:spPr>
          <a:xfrm>
            <a:off x="4762500" y="1428750"/>
            <a:ext cx="2952750" cy="9525"/>
          </a:xfrm>
          <a:custGeom>
            <a:avLst/>
            <a:gdLst/>
            <a:ahLst/>
            <a:cxnLst/>
            <a:rect l="l" t="t" r="r" b="b"/>
            <a:pathLst>
              <a:path w="2952750" h="9525">
                <a:moveTo>
                  <a:pt x="0" y="0"/>
                </a:moveTo>
                <a:lnTo>
                  <a:pt x="2952750" y="0"/>
                </a:lnTo>
              </a:path>
            </a:pathLst>
          </a:custGeom>
          <a:noFill/>
          <a:ln w="4762">
            <a:solidFill>
              <a:srgbClr val="2563EB">
                <a:alpha val="40000"/>
              </a:srgbClr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4757166" y="1582102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新民主主义革命理论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757166" y="1772602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群众路线与统一战线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757166" y="1963102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社会主义改造与建设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757166" y="2153602"/>
            <a:ext cx="142417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马克思列宁主义中国化</a:t>
            </a:r>
          </a:p>
        </p:txBody>
      </p:sp>
      <p:sp>
        <p:nvSpPr>
          <p:cNvPr id="44" name="Ellipse 44"/>
          <p:cNvSpPr/>
          <p:nvPr/>
        </p:nvSpPr>
        <p:spPr>
          <a:xfrm>
            <a:off x="4552950" y="1504950"/>
            <a:ext cx="38100" cy="38100"/>
          </a:xfrm>
          <a:prstGeom prst="ellipse">
            <a:avLst/>
          </a:prstGeom>
          <a:solidFill>
            <a:srgbClr val="38BDF8">
              <a:alpha val="50000"/>
            </a:srgbClr>
          </a:solidFill>
          <a:ln>
            <a:noFill/>
          </a:ln>
        </p:spPr>
      </p:sp>
      <p:sp>
        <p:nvSpPr>
          <p:cNvPr id="45" name="Ellipse 45"/>
          <p:cNvSpPr/>
          <p:nvPr/>
        </p:nvSpPr>
        <p:spPr>
          <a:xfrm>
            <a:off x="4552950" y="1885950"/>
            <a:ext cx="38100" cy="38100"/>
          </a:xfrm>
          <a:prstGeom prst="ellipse">
            <a:avLst/>
          </a:prstGeom>
          <a:solidFill>
            <a:srgbClr val="38BDF8">
              <a:alpha val="50000"/>
            </a:srgbClr>
          </a:solidFill>
          <a:ln>
            <a:noFill/>
          </a:ln>
        </p:spPr>
      </p:sp>
      <p:sp>
        <p:nvSpPr>
          <p:cNvPr id="46" name="Ellipse 46"/>
          <p:cNvSpPr/>
          <p:nvPr/>
        </p:nvSpPr>
        <p:spPr>
          <a:xfrm>
            <a:off x="4552950" y="2266950"/>
            <a:ext cx="38100" cy="38100"/>
          </a:xfrm>
          <a:prstGeom prst="ellipse">
            <a:avLst/>
          </a:prstGeom>
          <a:solidFill>
            <a:srgbClr val="38BDF8">
              <a:alpha val="50000"/>
            </a:srgbClr>
          </a:solidFill>
          <a:ln>
            <a:noFill/>
          </a:ln>
        </p:spPr>
      </p:sp>
      <p:sp>
        <p:nvSpPr>
          <p:cNvPr id="47" name="Ellipse 47"/>
          <p:cNvSpPr/>
          <p:nvPr/>
        </p:nvSpPr>
        <p:spPr>
          <a:xfrm>
            <a:off x="4552950" y="2647950"/>
            <a:ext cx="38100" cy="38100"/>
          </a:xfrm>
          <a:prstGeom prst="ellipse">
            <a:avLst/>
          </a:prstGeom>
          <a:solidFill>
            <a:srgbClr val="38BDF8">
              <a:alpha val="50000"/>
            </a:srgbClr>
          </a:solidFill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8191500" y="952500"/>
            <a:ext cx="3429000" cy="1905000"/>
          </a:xfrm>
          <a:prstGeom prst="roundRect">
            <a:avLst>
              <a:gd name="adj" fmla="val 2500"/>
            </a:avLst>
          </a:prstGeom>
          <a:solidFill>
            <a:srgbClr val="0B1F38">
              <a:alpha val="70000"/>
            </a:srgbClr>
          </a:solidFill>
          <a:ln w="9525">
            <a:solidFill>
              <a:srgbClr val="102B4E">
                <a:alpha val="70000"/>
              </a:srgbClr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8191500" y="952500"/>
            <a:ext cx="38100" cy="1905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>
                  <a:alpha val="70000"/>
                </a:srgbClr>
              </a:gs>
              <a:gs pos="100000">
                <a:srgbClr val="7C3AED">
                  <a:alpha val="15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50" name="Ellipse 50"/>
          <p:cNvSpPr/>
          <p:nvPr/>
        </p:nvSpPr>
        <p:spPr>
          <a:xfrm>
            <a:off x="8181975" y="1019175"/>
            <a:ext cx="57150" cy="57150"/>
          </a:xfrm>
          <a:prstGeom prst="ellipse">
            <a:avLst/>
          </a:prstGeom>
          <a:solidFill>
            <a:srgbClr val="7C3AED">
              <a:alpha val="70000"/>
            </a:srgbClr>
          </a:solidFill>
          <a:ln>
            <a:noFill/>
          </a:ln>
        </p:spPr>
      </p:sp>
      <p:sp>
        <p:nvSpPr>
          <p:cNvPr id="51" name="Ellipse 51"/>
          <p:cNvSpPr/>
          <p:nvPr/>
        </p:nvSpPr>
        <p:spPr>
          <a:xfrm>
            <a:off x="8115300" y="952500"/>
            <a:ext cx="190500" cy="190500"/>
          </a:xfrm>
          <a:prstGeom prst="ellipse">
            <a:avLst/>
          </a:prstGeom>
          <a:gradFill>
            <a:gsLst>
              <a:gs pos="0">
                <a:srgbClr val="7C3AED">
                  <a:alpha val="13999"/>
                </a:srgbClr>
              </a:gs>
              <a:gs pos="100000">
                <a:srgbClr val="7C3AE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8375904" y="112776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spc="225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著作与诗词</a:t>
            </a:r>
          </a:p>
        </p:txBody>
      </p:sp>
      <p:sp>
        <p:nvSpPr>
          <p:cNvPr id="53" name="Line 53"/>
          <p:cNvSpPr/>
          <p:nvPr/>
        </p:nvSpPr>
        <p:spPr>
          <a:xfrm>
            <a:off x="8382000" y="142875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4762">
            <a:solidFill>
              <a:srgbClr val="2563EB">
                <a:alpha val="40000"/>
              </a:srgbClr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8376666" y="1582102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著作逾千万字，《毛泽东选集》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376666" y="1772602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《毛泽东文集》等汇其思想精粹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376666" y="1982152"/>
            <a:ext cx="9889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i="1" dirty="0">
                <a:solidFill>
                  <a:srgbClr val="7C3AED"/>
                </a:solidFill>
                <a:latin typeface="Georgia"/>
                <a:ea typeface="SimSun"/>
                <a:cs typeface="Georgia"/>
              </a:rPr>
              <a:t>「沁园春·雪」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376666" y="2172652"/>
            <a:ext cx="19259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「七律·长征」等诗词铭刻文采</a:t>
            </a:r>
          </a:p>
        </p:txBody>
      </p:sp>
      <p:sp>
        <p:nvSpPr>
          <p:cNvPr id="58" name="Ellipse 58"/>
          <p:cNvSpPr/>
          <p:nvPr/>
        </p:nvSpPr>
        <p:spPr>
          <a:xfrm>
            <a:off x="8172450" y="1504950"/>
            <a:ext cx="38100" cy="38100"/>
          </a:xfrm>
          <a:prstGeom prst="ellipse">
            <a:avLst/>
          </a:prstGeom>
          <a:solidFill>
            <a:srgbClr val="38BDF8">
              <a:alpha val="50000"/>
            </a:srgbClr>
          </a:solidFill>
          <a:ln>
            <a:noFill/>
          </a:ln>
        </p:spPr>
      </p:sp>
      <p:sp>
        <p:nvSpPr>
          <p:cNvPr id="59" name="Ellipse 59"/>
          <p:cNvSpPr/>
          <p:nvPr/>
        </p:nvSpPr>
        <p:spPr>
          <a:xfrm>
            <a:off x="8172450" y="1885950"/>
            <a:ext cx="38100" cy="38100"/>
          </a:xfrm>
          <a:prstGeom prst="ellipse">
            <a:avLst/>
          </a:prstGeom>
          <a:solidFill>
            <a:srgbClr val="38BDF8">
              <a:alpha val="50000"/>
            </a:srgbClr>
          </a:solidFill>
          <a:ln>
            <a:noFill/>
          </a:ln>
        </p:spPr>
      </p:sp>
      <p:sp>
        <p:nvSpPr>
          <p:cNvPr id="60" name="Ellipse 60"/>
          <p:cNvSpPr/>
          <p:nvPr/>
        </p:nvSpPr>
        <p:spPr>
          <a:xfrm>
            <a:off x="8172450" y="2362200"/>
            <a:ext cx="38100" cy="38100"/>
          </a:xfrm>
          <a:prstGeom prst="ellipse">
            <a:avLst/>
          </a:prstGeom>
          <a:solidFill>
            <a:srgbClr val="7C3AED">
              <a:alpha val="60000"/>
            </a:srgbClr>
          </a:solidFill>
          <a:ln>
            <a:noFill/>
          </a:ln>
        </p:spPr>
      </p:sp>
      <p:sp>
        <p:nvSpPr>
          <p:cNvPr id="61" name="Ellipse 61"/>
          <p:cNvSpPr/>
          <p:nvPr/>
        </p:nvSpPr>
        <p:spPr>
          <a:xfrm>
            <a:off x="8172450" y="2647950"/>
            <a:ext cx="38100" cy="38100"/>
          </a:xfrm>
          <a:prstGeom prst="ellipse">
            <a:avLst/>
          </a:prstGeom>
          <a:solidFill>
            <a:srgbClr val="38BDF8">
              <a:alpha val="50000"/>
            </a:srgbClr>
          </a:solidFill>
          <a:ln>
            <a:noFill/>
          </a:ln>
        </p:spPr>
      </p:sp>
      <p:sp>
        <p:nvSpPr>
          <p:cNvPr id="62" name="Line 62"/>
          <p:cNvSpPr/>
          <p:nvPr/>
        </p:nvSpPr>
        <p:spPr>
          <a:xfrm>
            <a:off x="571500" y="4191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2563EB">
                <a:alpha val="25000"/>
              </a:srgbClr>
            </a:solidFill>
          </a:ln>
        </p:spPr>
      </p:sp>
      <p:sp>
        <p:nvSpPr>
          <p:cNvPr id="63" name="Rectangle 63"/>
          <p:cNvSpPr/>
          <p:nvPr/>
        </p:nvSpPr>
        <p:spPr>
          <a:xfrm>
            <a:off x="571500" y="4381500"/>
            <a:ext cx="11049000" cy="1619250"/>
          </a:xfrm>
          <a:prstGeom prst="roundRect">
            <a:avLst>
              <a:gd name="adj" fmla="val 2941"/>
            </a:avLst>
          </a:prstGeom>
          <a:solidFill>
            <a:srgbClr val="0B1F38">
              <a:alpha val="60000"/>
            </a:srgbClr>
          </a:solidFill>
          <a:ln w="9525">
            <a:solidFill>
              <a:srgbClr val="102B4E">
                <a:alpha val="60000"/>
              </a:srgbClr>
            </a:solidFill>
          </a:ln>
        </p:spPr>
      </p:sp>
      <p:sp>
        <p:nvSpPr>
          <p:cNvPr id="64" name="Rectangle 64"/>
          <p:cNvSpPr/>
          <p:nvPr/>
        </p:nvSpPr>
        <p:spPr>
          <a:xfrm>
            <a:off x="571500" y="4381500"/>
            <a:ext cx="11049000" cy="28575"/>
          </a:xfrm>
          <a:prstGeom prst="roundRect">
            <a:avLst>
              <a:gd name="adj" fmla="val 50000"/>
            </a:avLst>
          </a:prstGeom>
          <a:solidFill>
            <a:srgbClr val="2563EB">
              <a:alpha val="50000"/>
            </a:srgbClr>
          </a:solidFill>
          <a:ln>
            <a:noFill/>
          </a:ln>
        </p:spPr>
      </p:sp>
      <p:sp>
        <p:nvSpPr>
          <p:cNvPr id="65" name="Ellipse 65"/>
          <p:cNvSpPr/>
          <p:nvPr/>
        </p:nvSpPr>
        <p:spPr>
          <a:xfrm>
            <a:off x="723900" y="4533900"/>
            <a:ext cx="76200" cy="76200"/>
          </a:xfrm>
          <a:prstGeom prst="ellipse">
            <a:avLst/>
          </a:prstGeom>
          <a:solidFill>
            <a:srgbClr val="7C3AED">
              <a:alpha val="70000"/>
            </a:srgbClr>
          </a:solidFill>
          <a:ln>
            <a:noFill/>
          </a:ln>
        </p:spPr>
      </p:sp>
      <p:sp>
        <p:nvSpPr>
          <p:cNvPr id="66" name="Ellipse 66"/>
          <p:cNvSpPr/>
          <p:nvPr/>
        </p:nvSpPr>
        <p:spPr>
          <a:xfrm>
            <a:off x="609600" y="4419600"/>
            <a:ext cx="304800" cy="304800"/>
          </a:xfrm>
          <a:prstGeom prst="ellipse">
            <a:avLst/>
          </a:prstGeom>
          <a:gradFill>
            <a:gsLst>
              <a:gs pos="0">
                <a:srgbClr val="7C3AED">
                  <a:alpha val="12249"/>
                </a:srgbClr>
              </a:gs>
              <a:gs pos="100000">
                <a:srgbClr val="7C3AE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947166" y="4601528"/>
            <a:ext cx="173923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150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婚姻与家庭 · 个人悲欢</a:t>
            </a:r>
          </a:p>
        </p:txBody>
      </p:sp>
      <p:sp>
        <p:nvSpPr>
          <p:cNvPr id="68" name="Line 68"/>
          <p:cNvSpPr/>
          <p:nvPr/>
        </p:nvSpPr>
        <p:spPr>
          <a:xfrm>
            <a:off x="952500" y="4953000"/>
            <a:ext cx="10287000" cy="9525"/>
          </a:xfrm>
          <a:custGeom>
            <a:avLst/>
            <a:gdLst/>
            <a:ahLst/>
            <a:cxnLst/>
            <a:rect l="l" t="t" r="r" b="b"/>
            <a:pathLst>
              <a:path w="10287000" h="952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/>
          <a:ln w="9525">
            <a:solidFill>
              <a:srgbClr val="2563EB">
                <a:alpha val="35000"/>
              </a:srgbClr>
            </a:solidFill>
          </a:ln>
        </p:spPr>
      </p:sp>
      <p:sp>
        <p:nvSpPr>
          <p:cNvPr id="69" name="Ellipse 69"/>
          <p:cNvSpPr/>
          <p:nvPr/>
        </p:nvSpPr>
        <p:spPr>
          <a:xfrm>
            <a:off x="2133600" y="4895850"/>
            <a:ext cx="114300" cy="114300"/>
          </a:xfrm>
          <a:prstGeom prst="ellipse">
            <a:avLst/>
          </a:prstGeom>
          <a:solidFill>
            <a:srgbClr val="7C3AED">
              <a:alpha val="70000"/>
            </a:srgbClr>
          </a:solidFill>
          <a:ln>
            <a:noFill/>
          </a:ln>
        </p:spPr>
      </p:sp>
      <p:sp>
        <p:nvSpPr>
          <p:cNvPr id="70" name="Ellipse 70"/>
          <p:cNvSpPr/>
          <p:nvPr/>
        </p:nvSpPr>
        <p:spPr>
          <a:xfrm>
            <a:off x="2019300" y="4781550"/>
            <a:ext cx="342900" cy="342900"/>
          </a:xfrm>
          <a:prstGeom prst="ellipse">
            <a:avLst/>
          </a:prstGeom>
          <a:gradFill>
            <a:gsLst>
              <a:gs pos="0">
                <a:srgbClr val="7C3AED">
                  <a:alpha val="10500"/>
                </a:srgbClr>
              </a:gs>
              <a:gs pos="100000">
                <a:srgbClr val="7C3AE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1988915" y="5057299"/>
            <a:ext cx="40367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F8FBFF"/>
                </a:solidFill>
                <a:latin typeface="Arial"/>
                <a:ea typeface="Microsoft YaHei"/>
                <a:cs typeface="Arial"/>
              </a:rPr>
              <a:t>罗一秀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936099" y="5244941"/>
            <a:ext cx="50930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1907 包办</a:t>
            </a:r>
          </a:p>
        </p:txBody>
      </p:sp>
      <p:sp>
        <p:nvSpPr>
          <p:cNvPr id="73" name="Ellipse 73"/>
          <p:cNvSpPr/>
          <p:nvPr/>
        </p:nvSpPr>
        <p:spPr>
          <a:xfrm>
            <a:off x="3848100" y="4895850"/>
            <a:ext cx="114300" cy="114300"/>
          </a:xfrm>
          <a:prstGeom prst="ellipse">
            <a:avLst/>
          </a:prstGeom>
          <a:solidFill>
            <a:srgbClr val="38BDF8">
              <a:alpha val="70000"/>
            </a:srgbClr>
          </a:solidFill>
          <a:ln>
            <a:noFill/>
          </a:ln>
        </p:spPr>
      </p:sp>
      <p:sp>
        <p:nvSpPr>
          <p:cNvPr id="74" name="Ellipse 74"/>
          <p:cNvSpPr/>
          <p:nvPr/>
        </p:nvSpPr>
        <p:spPr>
          <a:xfrm>
            <a:off x="3733800" y="4781550"/>
            <a:ext cx="342900" cy="342900"/>
          </a:xfrm>
          <a:prstGeom prst="ellipse">
            <a:avLst/>
          </a:prstGeom>
          <a:gradFill>
            <a:gsLst>
              <a:gs pos="0">
                <a:srgbClr val="38BDF8">
                  <a:alpha val="9000"/>
                </a:srgbClr>
              </a:gs>
              <a:gs pos="100000">
                <a:srgbClr val="38BDF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5" name="TextBox 75"/>
          <p:cNvSpPr txBox="1"/>
          <p:nvPr/>
        </p:nvSpPr>
        <p:spPr>
          <a:xfrm>
            <a:off x="3703415" y="5057299"/>
            <a:ext cx="40367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F8FBFF"/>
                </a:solidFill>
                <a:latin typeface="Arial"/>
                <a:ea typeface="Microsoft YaHei"/>
                <a:cs typeface="Arial"/>
              </a:rPr>
              <a:t>杨开慧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3539538" y="5244941"/>
            <a:ext cx="73142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1920 革命伴侣</a:t>
            </a:r>
          </a:p>
        </p:txBody>
      </p:sp>
      <p:sp>
        <p:nvSpPr>
          <p:cNvPr id="77" name="Ellipse 77"/>
          <p:cNvSpPr/>
          <p:nvPr/>
        </p:nvSpPr>
        <p:spPr>
          <a:xfrm>
            <a:off x="5562600" y="4895850"/>
            <a:ext cx="114300" cy="114300"/>
          </a:xfrm>
          <a:prstGeom prst="ellipse">
            <a:avLst/>
          </a:prstGeom>
          <a:solidFill>
            <a:srgbClr val="2563EB">
              <a:alpha val="70000"/>
            </a:srgbClr>
          </a:solidFill>
          <a:ln>
            <a:noFill/>
          </a:ln>
        </p:spPr>
      </p:sp>
      <p:sp>
        <p:nvSpPr>
          <p:cNvPr id="78" name="Ellipse 78"/>
          <p:cNvSpPr/>
          <p:nvPr/>
        </p:nvSpPr>
        <p:spPr>
          <a:xfrm>
            <a:off x="5448300" y="4781550"/>
            <a:ext cx="342900" cy="342900"/>
          </a:xfrm>
          <a:prstGeom prst="ellipse">
            <a:avLst/>
          </a:prstGeom>
          <a:gradFill>
            <a:gsLst>
              <a:gs pos="0">
                <a:srgbClr val="2563EB">
                  <a:alpha val="7500"/>
                </a:srgbClr>
              </a:gs>
              <a:gs pos="100000">
                <a:srgbClr val="2563E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9" name="TextBox 79"/>
          <p:cNvSpPr txBox="1"/>
          <p:nvPr/>
        </p:nvSpPr>
        <p:spPr>
          <a:xfrm>
            <a:off x="5417915" y="5057299"/>
            <a:ext cx="40367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F8FBFF"/>
                </a:solidFill>
                <a:latin typeface="Arial"/>
                <a:ea typeface="Microsoft YaHei"/>
                <a:cs typeface="Arial"/>
              </a:rPr>
              <a:t>贺子珍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5254038" y="5244941"/>
            <a:ext cx="73142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1928 井冈烽火</a:t>
            </a:r>
          </a:p>
        </p:txBody>
      </p:sp>
      <p:sp>
        <p:nvSpPr>
          <p:cNvPr id="81" name="Ellipse 81"/>
          <p:cNvSpPr/>
          <p:nvPr/>
        </p:nvSpPr>
        <p:spPr>
          <a:xfrm>
            <a:off x="7277100" y="4895850"/>
            <a:ext cx="114300" cy="114300"/>
          </a:xfrm>
          <a:prstGeom prst="ellipse">
            <a:avLst/>
          </a:prstGeom>
          <a:solidFill>
            <a:srgbClr val="7C3AED">
              <a:alpha val="70000"/>
            </a:srgbClr>
          </a:solidFill>
          <a:ln>
            <a:noFill/>
          </a:ln>
        </p:spPr>
      </p:sp>
      <p:sp>
        <p:nvSpPr>
          <p:cNvPr id="82" name="Ellipse 82"/>
          <p:cNvSpPr/>
          <p:nvPr/>
        </p:nvSpPr>
        <p:spPr>
          <a:xfrm>
            <a:off x="7162800" y="4781550"/>
            <a:ext cx="342900" cy="342900"/>
          </a:xfrm>
          <a:prstGeom prst="ellipse">
            <a:avLst/>
          </a:prstGeom>
          <a:gradFill>
            <a:gsLst>
              <a:gs pos="0">
                <a:srgbClr val="7C3AED">
                  <a:alpha val="10500"/>
                </a:srgbClr>
              </a:gs>
              <a:gs pos="100000">
                <a:srgbClr val="7C3AE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3" name="TextBox 83"/>
          <p:cNvSpPr txBox="1"/>
          <p:nvPr/>
        </p:nvSpPr>
        <p:spPr>
          <a:xfrm>
            <a:off x="7198042" y="5057299"/>
            <a:ext cx="2724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F8FBFF"/>
                </a:solidFill>
                <a:latin typeface="Arial"/>
                <a:ea typeface="Microsoft YaHei"/>
                <a:cs typeface="Arial"/>
              </a:rPr>
              <a:t>江青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6968538" y="5244941"/>
            <a:ext cx="73142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1938 延安岁月</a:t>
            </a:r>
          </a:p>
        </p:txBody>
      </p:sp>
      <p:sp>
        <p:nvSpPr>
          <p:cNvPr id="85" name="Ellipse 85"/>
          <p:cNvSpPr/>
          <p:nvPr/>
        </p:nvSpPr>
        <p:spPr>
          <a:xfrm>
            <a:off x="9001125" y="4905375"/>
            <a:ext cx="95250" cy="95250"/>
          </a:xfrm>
          <a:prstGeom prst="ellipse">
            <a:avLst/>
          </a:prstGeom>
          <a:solidFill>
            <a:srgbClr val="38BDF8">
              <a:alpha val="60000"/>
            </a:srgbClr>
          </a:solidFill>
          <a:ln>
            <a:noFill/>
          </a:ln>
        </p:spPr>
      </p:sp>
      <p:sp>
        <p:nvSpPr>
          <p:cNvPr id="86" name="TextBox 86"/>
          <p:cNvSpPr txBox="1"/>
          <p:nvPr/>
        </p:nvSpPr>
        <p:spPr>
          <a:xfrm>
            <a:off x="8781288" y="5057299"/>
            <a:ext cx="5349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F8FBFF"/>
                </a:solidFill>
                <a:latin typeface="Arial"/>
                <a:ea typeface="Microsoft YaHei"/>
                <a:cs typeface="Arial"/>
              </a:rPr>
              <a:t>毛岸英等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8821864" y="5244941"/>
            <a:ext cx="45377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革命后代</a:t>
            </a:r>
          </a:p>
        </p:txBody>
      </p:sp>
      <p:sp>
        <p:nvSpPr>
          <p:cNvPr id="88" name="Line 88"/>
          <p:cNvSpPr/>
          <p:nvPr/>
        </p:nvSpPr>
        <p:spPr>
          <a:xfrm>
            <a:off x="571500" y="56197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3810">
            <a:solidFill>
              <a:srgbClr val="2563EB">
                <a:alpha val="20000"/>
              </a:srgbClr>
            </a:solidFill>
          </a:ln>
        </p:spPr>
      </p:sp>
      <p:sp>
        <p:nvSpPr>
          <p:cNvPr id="89" name="TextBox 89"/>
          <p:cNvSpPr txBox="1"/>
          <p:nvPr/>
        </p:nvSpPr>
        <p:spPr>
          <a:xfrm>
            <a:off x="4637342" y="5751195"/>
            <a:ext cx="291731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CBD5E1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四次婚姻与子女命运折射革命家庭在时代洪流中的悲欢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367284" y="299085"/>
            <a:ext cx="336331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spc="300" dirty="0">
                <a:solidFill>
                  <a:srgbClr val="F8FBFF"/>
                </a:solidFill>
                <a:latin typeface="Arial"/>
                <a:ea typeface="Microsoft YaHei"/>
                <a:cs typeface="Arial"/>
              </a:rPr>
              <a:t>思想、笔触与家人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375666" y="743902"/>
            <a:ext cx="620991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spc="75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毛泽东思想体系涵盖新民主主义与群众路线，著作与诗词铭刻文采，婚姻与子女折射个人悲欢</a:t>
            </a:r>
          </a:p>
        </p:txBody>
      </p:sp>
      <p:sp>
        <p:nvSpPr>
          <p:cNvPr id="92" name="Line 92"/>
          <p:cNvSpPr/>
          <p:nvPr/>
        </p:nvSpPr>
        <p:spPr>
          <a:xfrm>
            <a:off x="381000" y="952500"/>
            <a:ext cx="3619500" cy="9525"/>
          </a:xfrm>
          <a:custGeom>
            <a:avLst/>
            <a:gdLst/>
            <a:ahLst/>
            <a:cxnLst/>
            <a:rect l="l" t="t" r="r" b="b"/>
            <a:pathLst>
              <a:path w="3619500" h="9525">
                <a:moveTo>
                  <a:pt x="0" y="0"/>
                </a:moveTo>
                <a:lnTo>
                  <a:pt x="3619500" y="0"/>
                </a:lnTo>
              </a:path>
            </a:pathLst>
          </a:custGeom>
          <a:noFill/>
          <a:ln w="14288">
            <a:gradFill>
              <a:gsLst>
                <a:gs pos="0">
                  <a:srgbClr val="7C3AED">
                    <a:alpha val="0"/>
                  </a:srgbClr>
                </a:gs>
                <a:gs pos="50000">
                  <a:srgbClr val="7C3AED">
                    <a:alpha val="80000"/>
                  </a:srgbClr>
                </a:gs>
                <a:gs pos="100000">
                  <a:srgbClr val="7C3AED">
                    <a:alpha val="0"/>
                  </a:srgbClr>
                </a:gs>
              </a:gsLst>
              <a:lin ang="0" scaled="1"/>
            </a:gradFill>
          </a:ln>
        </p:spPr>
      </p:sp>
      <p:sp>
        <p:nvSpPr>
          <p:cNvPr id="93" name="TextBox 93"/>
          <p:cNvSpPr txBox="1"/>
          <p:nvPr/>
        </p:nvSpPr>
        <p:spPr>
          <a:xfrm>
            <a:off x="11175844" y="6619399"/>
            <a:ext cx="44960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CBD5E1">
                    <a:alphaMod val="60000"/>
                  </a:srgbClr>
                </a:solidFill>
                <a:latin typeface="Consolas"/>
                <a:ea typeface="Consolas"/>
                <a:cs typeface="Consolas"/>
              </a:rPr>
              <a:t>05 / 06</a:t>
            </a:r>
          </a:p>
        </p:txBody>
      </p:sp>
      <p:sp>
        <p:nvSpPr>
          <p:cNvPr id="94" name="Ellipse 94"/>
          <p:cNvSpPr/>
          <p:nvPr/>
        </p:nvSpPr>
        <p:spPr>
          <a:xfrm>
            <a:off x="11601450" y="6457950"/>
            <a:ext cx="38100" cy="38100"/>
          </a:xfrm>
          <a:prstGeom prst="ellipse">
            <a:avLst/>
          </a:prstGeom>
          <a:solidFill>
            <a:srgbClr val="38BDF8">
              <a:alpha val="40000"/>
            </a:srgbClr>
          </a:solidFill>
          <a:ln>
            <a:noFill/>
          </a:ln>
        </p:spPr>
      </p:sp>
      <p:sp>
        <p:nvSpPr>
          <p:cNvPr id="95" name="Ellipse 95"/>
          <p:cNvSpPr/>
          <p:nvPr/>
        </p:nvSpPr>
        <p:spPr>
          <a:xfrm>
            <a:off x="11225212" y="6462712"/>
            <a:ext cx="28575" cy="28575"/>
          </a:xfrm>
          <a:prstGeom prst="ellipse">
            <a:avLst/>
          </a:prstGeom>
          <a:solidFill>
            <a:srgbClr val="2563EB">
              <a:alpha val="35000"/>
            </a:srgbClr>
          </a:solidFill>
          <a:ln>
            <a:noFill/>
          </a:ln>
        </p:spPr>
      </p:sp>
      <p:sp>
        <p:nvSpPr>
          <p:cNvPr id="96" name="Line 96"/>
          <p:cNvSpPr/>
          <p:nvPr/>
        </p:nvSpPr>
        <p:spPr>
          <a:xfrm>
            <a:off x="11811000" y="628650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4762">
            <a:solidFill>
              <a:srgbClr val="2563EB">
                <a:alpha val="30000"/>
              </a:srgbClr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</p:sp>
      <p:grpSp>
        <p:nvGrpSpPr>
          <p:cNvPr id="15" name="Group 1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2563EB">
                  <a:alpha val="8000"/>
                </a:srgbClr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90500" y="190500"/>
            <a:ext cx="11811000" cy="6477000"/>
            <a:chOff x="190500" y="190500"/>
            <a:chExt cx="11811000" cy="6477000"/>
          </a:xfrm>
        </p:grpSpPr>
        <p:sp>
          <p:nvSpPr>
            <p:cNvPr id="16" name="Polyline 16"/>
            <p:cNvSpPr/>
            <p:nvPr/>
          </p:nvSpPr>
          <p:spPr>
            <a:xfrm>
              <a:off x="190500" y="1905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81000"/>
                  </a:moveTo>
                  <a:lnTo>
                    <a:pt x="0" y="0"/>
                  </a:lnTo>
                  <a:lnTo>
                    <a:pt x="381000" y="0"/>
                  </a:lnTo>
                </a:path>
              </a:pathLst>
            </a:custGeom>
            <a:noFill/>
            <a:ln w="9525">
              <a:solidFill>
                <a:srgbClr val="2563EB">
                  <a:alpha val="30000"/>
                </a:srgbClr>
              </a:solidFill>
            </a:ln>
          </p:spPr>
        </p:sp>
        <p:sp>
          <p:nvSpPr>
            <p:cNvPr id="17" name="Polyline 17"/>
            <p:cNvSpPr/>
            <p:nvPr/>
          </p:nvSpPr>
          <p:spPr>
            <a:xfrm>
              <a:off x="11620500" y="5715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</a:path>
              </a:pathLst>
            </a:custGeom>
            <a:noFill/>
            <a:ln w="9525">
              <a:solidFill>
                <a:srgbClr val="2563EB">
                  <a:alpha val="30000"/>
                </a:srgbClr>
              </a:solidFill>
            </a:ln>
          </p:spPr>
        </p:sp>
        <p:sp>
          <p:nvSpPr>
            <p:cNvPr id="18" name="Polyline 18"/>
            <p:cNvSpPr/>
            <p:nvPr/>
          </p:nvSpPr>
          <p:spPr>
            <a:xfrm>
              <a:off x="190500" y="62865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0" y="381000"/>
                  </a:lnTo>
                  <a:lnTo>
                    <a:pt x="381000" y="381000"/>
                  </a:lnTo>
                </a:path>
              </a:pathLst>
            </a:custGeom>
            <a:noFill/>
            <a:ln w="9525">
              <a:solidFill>
                <a:srgbClr val="2563EB">
                  <a:alpha val="30000"/>
                </a:srgbClr>
              </a:solidFill>
            </a:ln>
          </p:spPr>
        </p:sp>
        <p:sp>
          <p:nvSpPr>
            <p:cNvPr id="19" name="Polyline 19"/>
            <p:cNvSpPr/>
            <p:nvPr/>
          </p:nvSpPr>
          <p:spPr>
            <a:xfrm>
              <a:off x="11620500" y="62865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81000"/>
                  </a:moveTo>
                  <a:lnTo>
                    <a:pt x="381000" y="381000"/>
                  </a:lnTo>
                  <a:lnTo>
                    <a:pt x="381000" y="0"/>
                  </a:lnTo>
                </a:path>
              </a:pathLst>
            </a:custGeom>
            <a:noFill/>
            <a:ln w="9525">
              <a:solidFill>
                <a:srgbClr val="2563EB">
                  <a:alpha val="30000"/>
                </a:srgbClr>
              </a:solidFill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746760" y="342900"/>
            <a:ext cx="215074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8FBFF"/>
                </a:solidFill>
                <a:latin typeface="Arial"/>
                <a:ea typeface="Microsoft YaHei"/>
                <a:cs typeface="Arial"/>
              </a:rPr>
              <a:t>遗产与回响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5142" y="902018"/>
            <a:ext cx="328498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全球影响、三个世界理论与多元历史评价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62000" y="1123950"/>
            <a:ext cx="762000" cy="19050"/>
          </a:xfrm>
          <a:prstGeom prst="roundRect">
            <a:avLst>
              <a:gd name="adj" fmla="val 50000"/>
            </a:avLst>
          </a:prstGeom>
          <a:solidFill>
            <a:srgbClr val="38BDF8">
              <a:alpha val="80000"/>
            </a:srgbClr>
          </a:solidFill>
          <a:ln>
            <a:noFill/>
          </a:ln>
        </p:spPr>
      </p:sp>
      <p:grpSp>
        <p:nvGrpSpPr>
          <p:cNvPr id="51" name="Group 51"/>
          <p:cNvGrpSpPr/>
          <p:nvPr/>
        </p:nvGrpSpPr>
        <p:grpSpPr>
          <a:xfrm>
            <a:off x="2857500" y="1730375"/>
            <a:ext cx="5219700" cy="4041775"/>
            <a:chOff x="2857500" y="1730375"/>
            <a:chExt cx="5219700" cy="4041775"/>
          </a:xfrm>
        </p:grpSpPr>
        <p:sp>
          <p:nvSpPr>
            <p:cNvPr id="24" name="Freeform 24"/>
            <p:cNvSpPr/>
            <p:nvPr/>
          </p:nvSpPr>
          <p:spPr>
            <a:xfrm>
              <a:off x="5159375" y="1730375"/>
              <a:ext cx="1190625" cy="1063625"/>
            </a:xfrm>
            <a:custGeom>
              <a:avLst/>
              <a:gdLst/>
              <a:ahLst/>
              <a:cxnLst/>
              <a:rect l="l" t="t" r="r" b="b"/>
              <a:pathLst>
                <a:path w="1190625" h="1063625">
                  <a:moveTo>
                    <a:pt x="174625" y="174625"/>
                  </a:moveTo>
                  <a:cubicBezTo>
                    <a:pt x="301625" y="47625"/>
                    <a:pt x="492125" y="0"/>
                    <a:pt x="746125" y="31750"/>
                  </a:cubicBezTo>
                  <a:cubicBezTo>
                    <a:pt x="936625" y="63500"/>
                    <a:pt x="1063625" y="142875"/>
                    <a:pt x="1127125" y="269875"/>
                  </a:cubicBezTo>
                  <a:cubicBezTo>
                    <a:pt x="1190625" y="396875"/>
                    <a:pt x="1158875" y="555625"/>
                    <a:pt x="1031875" y="746125"/>
                  </a:cubicBezTo>
                  <a:cubicBezTo>
                    <a:pt x="904875" y="873125"/>
                    <a:pt x="746125" y="968375"/>
                    <a:pt x="555625" y="1031875"/>
                  </a:cubicBezTo>
                  <a:cubicBezTo>
                    <a:pt x="428625" y="1063625"/>
                    <a:pt x="301625" y="1047750"/>
                    <a:pt x="174625" y="984250"/>
                  </a:cubicBezTo>
                  <a:cubicBezTo>
                    <a:pt x="47625" y="889000"/>
                    <a:pt x="0" y="746125"/>
                    <a:pt x="31750" y="555625"/>
                  </a:cubicBezTo>
                  <a:close/>
                </a:path>
              </a:pathLst>
            </a:custGeom>
            <a:noFill/>
            <a:ln w="7620">
              <a:solidFill>
                <a:srgbClr val="2563EB">
                  <a:alpha val="35000"/>
                </a:srgbClr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4143375" y="1936750"/>
              <a:ext cx="793750" cy="825500"/>
            </a:xfrm>
            <a:custGeom>
              <a:avLst/>
              <a:gdLst/>
              <a:ahLst/>
              <a:cxnLst/>
              <a:rect l="l" t="t" r="r" b="b"/>
              <a:pathLst>
                <a:path w="793750" h="825500">
                  <a:moveTo>
                    <a:pt x="47625" y="158750"/>
                  </a:moveTo>
                  <a:cubicBezTo>
                    <a:pt x="174625" y="31750"/>
                    <a:pt x="365125" y="0"/>
                    <a:pt x="619125" y="63500"/>
                  </a:cubicBezTo>
                  <a:cubicBezTo>
                    <a:pt x="746125" y="158750"/>
                    <a:pt x="793750" y="301625"/>
                    <a:pt x="762000" y="492125"/>
                  </a:cubicBezTo>
                  <a:cubicBezTo>
                    <a:pt x="698500" y="650875"/>
                    <a:pt x="555625" y="762000"/>
                    <a:pt x="333375" y="825500"/>
                  </a:cubicBezTo>
                  <a:cubicBezTo>
                    <a:pt x="174625" y="793750"/>
                    <a:pt x="63500" y="698500"/>
                    <a:pt x="0" y="539750"/>
                  </a:cubicBezTo>
                  <a:close/>
                </a:path>
              </a:pathLst>
            </a:custGeom>
            <a:noFill/>
            <a:ln w="7620">
              <a:solidFill>
                <a:srgbClr val="2563EB">
                  <a:alpha val="35000"/>
                </a:srgbClr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6397625" y="1905000"/>
              <a:ext cx="666750" cy="809625"/>
            </a:xfrm>
            <a:custGeom>
              <a:avLst/>
              <a:gdLst/>
              <a:ahLst/>
              <a:cxnLst/>
              <a:rect l="l" t="t" r="r" b="b"/>
              <a:pathLst>
                <a:path w="666750" h="809625">
                  <a:moveTo>
                    <a:pt x="79375" y="95250"/>
                  </a:moveTo>
                  <a:cubicBezTo>
                    <a:pt x="269875" y="0"/>
                    <a:pt x="428625" y="0"/>
                    <a:pt x="555625" y="95250"/>
                  </a:cubicBezTo>
                  <a:cubicBezTo>
                    <a:pt x="650875" y="222250"/>
                    <a:pt x="666750" y="381000"/>
                    <a:pt x="603250" y="571500"/>
                  </a:cubicBezTo>
                  <a:cubicBezTo>
                    <a:pt x="476250" y="698500"/>
                    <a:pt x="317500" y="777875"/>
                    <a:pt x="127000" y="809625"/>
                  </a:cubicBezTo>
                  <a:cubicBezTo>
                    <a:pt x="31750" y="714375"/>
                    <a:pt x="0" y="571500"/>
                    <a:pt x="31750" y="381000"/>
                  </a:cubicBezTo>
                  <a:close/>
                </a:path>
              </a:pathLst>
            </a:custGeom>
            <a:noFill/>
            <a:ln w="7620">
              <a:solidFill>
                <a:srgbClr val="2563EB">
                  <a:alpha val="35000"/>
                </a:srgbClr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3587750" y="2190750"/>
              <a:ext cx="492125" cy="635000"/>
            </a:xfrm>
            <a:custGeom>
              <a:avLst/>
              <a:gdLst/>
              <a:ahLst/>
              <a:cxnLst/>
              <a:rect l="l" t="t" r="r" b="b"/>
              <a:pathLst>
                <a:path w="492125" h="635000">
                  <a:moveTo>
                    <a:pt x="127000" y="95250"/>
                  </a:moveTo>
                  <a:cubicBezTo>
                    <a:pt x="254000" y="0"/>
                    <a:pt x="365125" y="15875"/>
                    <a:pt x="460375" y="142875"/>
                  </a:cubicBezTo>
                  <a:cubicBezTo>
                    <a:pt x="492125" y="301625"/>
                    <a:pt x="460375" y="444500"/>
                    <a:pt x="365125" y="571500"/>
                  </a:cubicBezTo>
                  <a:cubicBezTo>
                    <a:pt x="238125" y="635000"/>
                    <a:pt x="127000" y="619125"/>
                    <a:pt x="31750" y="523875"/>
                  </a:cubicBezTo>
                  <a:cubicBezTo>
                    <a:pt x="0" y="396875"/>
                    <a:pt x="15875" y="269875"/>
                    <a:pt x="79375" y="142875"/>
                  </a:cubicBezTo>
                  <a:close/>
                </a:path>
              </a:pathLst>
            </a:custGeom>
            <a:noFill/>
            <a:ln w="7620">
              <a:solidFill>
                <a:srgbClr val="2563EB">
                  <a:alpha val="35000"/>
                </a:srgbClr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6826250" y="2254250"/>
              <a:ext cx="539750" cy="619125"/>
            </a:xfrm>
            <a:custGeom>
              <a:avLst/>
              <a:gdLst/>
              <a:ahLst/>
              <a:cxnLst/>
              <a:rect l="l" t="t" r="r" b="b"/>
              <a:pathLst>
                <a:path w="539750" h="619125">
                  <a:moveTo>
                    <a:pt x="127000" y="31750"/>
                  </a:moveTo>
                  <a:cubicBezTo>
                    <a:pt x="285750" y="0"/>
                    <a:pt x="412750" y="31750"/>
                    <a:pt x="508000" y="127000"/>
                  </a:cubicBezTo>
                  <a:cubicBezTo>
                    <a:pt x="539750" y="285750"/>
                    <a:pt x="508000" y="428625"/>
                    <a:pt x="412750" y="555625"/>
                  </a:cubicBezTo>
                  <a:cubicBezTo>
                    <a:pt x="285750" y="619125"/>
                    <a:pt x="174625" y="619125"/>
                    <a:pt x="79375" y="555625"/>
                  </a:cubicBezTo>
                  <a:cubicBezTo>
                    <a:pt x="15875" y="428625"/>
                    <a:pt x="0" y="301625"/>
                    <a:pt x="31750" y="174625"/>
                  </a:cubicBezTo>
                  <a:close/>
                </a:path>
              </a:pathLst>
            </a:custGeom>
            <a:noFill/>
            <a:ln w="7620">
              <a:solidFill>
                <a:srgbClr val="2563EB">
                  <a:alpha val="35000"/>
                </a:srgbClr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3238500" y="2476500"/>
              <a:ext cx="352425" cy="508000"/>
            </a:xfrm>
            <a:custGeom>
              <a:avLst/>
              <a:gdLst/>
              <a:ahLst/>
              <a:cxnLst/>
              <a:rect l="l" t="t" r="r" b="b"/>
              <a:pathLst>
                <a:path w="352425" h="508000">
                  <a:moveTo>
                    <a:pt x="95250" y="95250"/>
                  </a:moveTo>
                  <a:cubicBezTo>
                    <a:pt x="190500" y="0"/>
                    <a:pt x="269875" y="15875"/>
                    <a:pt x="333375" y="142875"/>
                  </a:cubicBezTo>
                  <a:cubicBezTo>
                    <a:pt x="352425" y="269875"/>
                    <a:pt x="320675" y="381000"/>
                    <a:pt x="238125" y="476250"/>
                  </a:cubicBezTo>
                  <a:cubicBezTo>
                    <a:pt x="130175" y="508000"/>
                    <a:pt x="50800" y="476250"/>
                    <a:pt x="0" y="381000"/>
                  </a:cubicBezTo>
                  <a:close/>
                </a:path>
              </a:pathLst>
            </a:custGeom>
            <a:noFill/>
            <a:ln w="7620">
              <a:solidFill>
                <a:srgbClr val="2563EB">
                  <a:alpha val="35000"/>
                </a:srgbClr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7286625" y="2603500"/>
              <a:ext cx="365125" cy="523875"/>
            </a:xfrm>
            <a:custGeom>
              <a:avLst/>
              <a:gdLst/>
              <a:ahLst/>
              <a:cxnLst/>
              <a:rect l="l" t="t" r="r" b="b"/>
              <a:pathLst>
                <a:path w="365125" h="523875">
                  <a:moveTo>
                    <a:pt x="47625" y="63500"/>
                  </a:moveTo>
                  <a:cubicBezTo>
                    <a:pt x="174625" y="0"/>
                    <a:pt x="269875" y="31750"/>
                    <a:pt x="333375" y="158750"/>
                  </a:cubicBezTo>
                  <a:cubicBezTo>
                    <a:pt x="365125" y="285750"/>
                    <a:pt x="333375" y="396875"/>
                    <a:pt x="238125" y="492125"/>
                  </a:cubicBezTo>
                  <a:cubicBezTo>
                    <a:pt x="142875" y="523875"/>
                    <a:pt x="63500" y="492125"/>
                    <a:pt x="0" y="396875"/>
                  </a:cubicBezTo>
                  <a:close/>
                </a:path>
              </a:pathLst>
            </a:custGeom>
            <a:noFill/>
            <a:ln w="7620">
              <a:solidFill>
                <a:srgbClr val="2563EB">
                  <a:alpha val="35000"/>
                </a:srgbClr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4476750" y="2778125"/>
              <a:ext cx="746125" cy="603250"/>
            </a:xfrm>
            <a:custGeom>
              <a:avLst/>
              <a:gdLst/>
              <a:ahLst/>
              <a:cxnLst/>
              <a:rect l="l" t="t" r="r" b="b"/>
              <a:pathLst>
                <a:path w="746125" h="603250">
                  <a:moveTo>
                    <a:pt x="0" y="79375"/>
                  </a:moveTo>
                  <a:cubicBezTo>
                    <a:pt x="190500" y="15875"/>
                    <a:pt x="381000" y="0"/>
                    <a:pt x="571500" y="31750"/>
                  </a:cubicBezTo>
                  <a:cubicBezTo>
                    <a:pt x="698500" y="95250"/>
                    <a:pt x="746125" y="206375"/>
                    <a:pt x="714375" y="365125"/>
                  </a:cubicBezTo>
                  <a:cubicBezTo>
                    <a:pt x="619125" y="492125"/>
                    <a:pt x="476250" y="571500"/>
                    <a:pt x="285750" y="603250"/>
                  </a:cubicBezTo>
                  <a:cubicBezTo>
                    <a:pt x="127000" y="558800"/>
                    <a:pt x="31750" y="479425"/>
                    <a:pt x="0" y="365125"/>
                  </a:cubicBezTo>
                  <a:close/>
                </a:path>
              </a:pathLst>
            </a:custGeom>
            <a:noFill/>
            <a:ln w="7620">
              <a:solidFill>
                <a:srgbClr val="2563EB">
                  <a:alpha val="35000"/>
                </a:srgbClr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5476875" y="2873375"/>
              <a:ext cx="730250" cy="549275"/>
            </a:xfrm>
            <a:custGeom>
              <a:avLst/>
              <a:gdLst/>
              <a:ahLst/>
              <a:cxnLst/>
              <a:rect l="l" t="t" r="r" b="b"/>
              <a:pathLst>
                <a:path w="730250" h="549275">
                  <a:moveTo>
                    <a:pt x="47625" y="79375"/>
                  </a:moveTo>
                  <a:cubicBezTo>
                    <a:pt x="238125" y="15875"/>
                    <a:pt x="428625" y="0"/>
                    <a:pt x="619125" y="31750"/>
                  </a:cubicBezTo>
                  <a:cubicBezTo>
                    <a:pt x="714375" y="127000"/>
                    <a:pt x="730250" y="254000"/>
                    <a:pt x="666750" y="412750"/>
                  </a:cubicBezTo>
                  <a:cubicBezTo>
                    <a:pt x="539750" y="508000"/>
                    <a:pt x="381000" y="549275"/>
                    <a:pt x="190500" y="536575"/>
                  </a:cubicBezTo>
                  <a:cubicBezTo>
                    <a:pt x="63500" y="473075"/>
                    <a:pt x="0" y="384175"/>
                    <a:pt x="0" y="269875"/>
                  </a:cubicBezTo>
                  <a:close/>
                </a:path>
              </a:pathLst>
            </a:custGeom>
            <a:noFill/>
            <a:ln w="7620">
              <a:solidFill>
                <a:srgbClr val="2563EB">
                  <a:alpha val="35000"/>
                </a:srgbClr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2857500" y="2857500"/>
              <a:ext cx="257175" cy="476250"/>
            </a:xfrm>
            <a:custGeom>
              <a:avLst/>
              <a:gdLst/>
              <a:ahLst/>
              <a:cxnLst/>
              <a:rect l="l" t="t" r="r" b="b"/>
              <a:pathLst>
                <a:path w="257175" h="476250">
                  <a:moveTo>
                    <a:pt x="0" y="95250"/>
                  </a:moveTo>
                  <a:cubicBezTo>
                    <a:pt x="95250" y="0"/>
                    <a:pt x="174625" y="15875"/>
                    <a:pt x="238125" y="142875"/>
                  </a:cubicBezTo>
                  <a:cubicBezTo>
                    <a:pt x="257175" y="269875"/>
                    <a:pt x="225425" y="381000"/>
                    <a:pt x="142875" y="476250"/>
                  </a:cubicBezTo>
                  <a:close/>
                </a:path>
              </a:pathLst>
            </a:custGeom>
            <a:noFill/>
            <a:ln w="7620">
              <a:solidFill>
                <a:srgbClr val="2563EB">
                  <a:alpha val="35000"/>
                </a:srgbClr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715250" y="2984500"/>
              <a:ext cx="269875" cy="444500"/>
            </a:xfrm>
            <a:custGeom>
              <a:avLst/>
              <a:gdLst/>
              <a:ahLst/>
              <a:cxnLst/>
              <a:rect l="l" t="t" r="r" b="b"/>
              <a:pathLst>
                <a:path w="269875" h="444500">
                  <a:moveTo>
                    <a:pt x="0" y="63500"/>
                  </a:moveTo>
                  <a:cubicBezTo>
                    <a:pt x="95250" y="0"/>
                    <a:pt x="174625" y="31750"/>
                    <a:pt x="238125" y="158750"/>
                  </a:cubicBezTo>
                  <a:cubicBezTo>
                    <a:pt x="269875" y="285750"/>
                    <a:pt x="238125" y="381000"/>
                    <a:pt x="142875" y="444500"/>
                  </a:cubicBezTo>
                  <a:close/>
                </a:path>
              </a:pathLst>
            </a:custGeom>
            <a:noFill/>
            <a:ln w="7620">
              <a:solidFill>
                <a:srgbClr val="2563EB">
                  <a:alpha val="35000"/>
                </a:srgbClr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2857500" y="3333750"/>
              <a:ext cx="285750" cy="381000"/>
            </a:xfrm>
            <a:custGeom>
              <a:avLst/>
              <a:gdLst/>
              <a:ahLst/>
              <a:cxnLst/>
              <a:rect l="l" t="t" r="r" b="b"/>
              <a:pathLst>
                <a:path w="285750" h="381000">
                  <a:moveTo>
                    <a:pt x="0" y="95250"/>
                  </a:moveTo>
                  <a:cubicBezTo>
                    <a:pt x="127000" y="0"/>
                    <a:pt x="222250" y="15875"/>
                    <a:pt x="285750" y="142875"/>
                  </a:cubicBezTo>
                  <a:cubicBezTo>
                    <a:pt x="254000" y="269875"/>
                    <a:pt x="174625" y="349250"/>
                    <a:pt x="47625" y="381000"/>
                  </a:cubicBezTo>
                  <a:close/>
                </a:path>
              </a:pathLst>
            </a:custGeom>
            <a:noFill/>
            <a:ln w="7620">
              <a:solidFill>
                <a:srgbClr val="2563EB">
                  <a:alpha val="35000"/>
                </a:srgbClr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7810500" y="3413125"/>
              <a:ext cx="238125" cy="396875"/>
            </a:xfrm>
            <a:custGeom>
              <a:avLst/>
              <a:gdLst/>
              <a:ahLst/>
              <a:cxnLst/>
              <a:rect l="l" t="t" r="r" b="b"/>
              <a:pathLst>
                <a:path w="238125" h="396875">
                  <a:moveTo>
                    <a:pt x="0" y="63500"/>
                  </a:moveTo>
                  <a:cubicBezTo>
                    <a:pt x="127000" y="0"/>
                    <a:pt x="206375" y="31750"/>
                    <a:pt x="238125" y="158750"/>
                  </a:cubicBezTo>
                  <a:cubicBezTo>
                    <a:pt x="206375" y="285750"/>
                    <a:pt x="142875" y="365125"/>
                    <a:pt x="47625" y="396875"/>
                  </a:cubicBezTo>
                  <a:close/>
                </a:path>
              </a:pathLst>
            </a:custGeom>
            <a:noFill/>
            <a:ln w="7620">
              <a:solidFill>
                <a:srgbClr val="2563EB">
                  <a:alpha val="35000"/>
                </a:srgbClr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2952750" y="3841750"/>
              <a:ext cx="285750" cy="301625"/>
            </a:xfrm>
            <a:custGeom>
              <a:avLst/>
              <a:gdLst/>
              <a:ahLst/>
              <a:cxnLst/>
              <a:rect l="l" t="t" r="r" b="b"/>
              <a:pathLst>
                <a:path w="285750" h="301625">
                  <a:moveTo>
                    <a:pt x="0" y="63500"/>
                  </a:moveTo>
                  <a:cubicBezTo>
                    <a:pt x="127000" y="0"/>
                    <a:pt x="222250" y="15875"/>
                    <a:pt x="285750" y="111125"/>
                  </a:cubicBezTo>
                  <a:cubicBezTo>
                    <a:pt x="273050" y="206375"/>
                    <a:pt x="209550" y="269875"/>
                    <a:pt x="95250" y="301625"/>
                  </a:cubicBezTo>
                  <a:close/>
                </a:path>
              </a:pathLst>
            </a:custGeom>
            <a:noFill/>
            <a:ln w="7620">
              <a:solidFill>
                <a:srgbClr val="2563EB">
                  <a:alpha val="35000"/>
                </a:srgbClr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858125" y="3841750"/>
              <a:ext cx="219075" cy="330200"/>
            </a:xfrm>
            <a:custGeom>
              <a:avLst/>
              <a:gdLst/>
              <a:ahLst/>
              <a:cxnLst/>
              <a:rect l="l" t="t" r="r" b="b"/>
              <a:pathLst>
                <a:path w="219075" h="330200">
                  <a:moveTo>
                    <a:pt x="0" y="63500"/>
                  </a:moveTo>
                  <a:cubicBezTo>
                    <a:pt x="127000" y="0"/>
                    <a:pt x="200025" y="31750"/>
                    <a:pt x="219075" y="158750"/>
                  </a:cubicBezTo>
                  <a:cubicBezTo>
                    <a:pt x="168275" y="254000"/>
                    <a:pt x="95250" y="311150"/>
                    <a:pt x="0" y="330200"/>
                  </a:cubicBezTo>
                  <a:close/>
                </a:path>
              </a:pathLst>
            </a:custGeom>
            <a:noFill/>
            <a:ln w="7620">
              <a:solidFill>
                <a:srgbClr val="2563EB">
                  <a:alpha val="35000"/>
                </a:srgbClr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4635500" y="3841750"/>
              <a:ext cx="714375" cy="501650"/>
            </a:xfrm>
            <a:custGeom>
              <a:avLst/>
              <a:gdLst/>
              <a:ahLst/>
              <a:cxnLst/>
              <a:rect l="l" t="t" r="r" b="b"/>
              <a:pathLst>
                <a:path w="714375" h="501650">
                  <a:moveTo>
                    <a:pt x="127000" y="63500"/>
                  </a:moveTo>
                  <a:cubicBezTo>
                    <a:pt x="317500" y="0"/>
                    <a:pt x="492125" y="0"/>
                    <a:pt x="650875" y="63500"/>
                  </a:cubicBezTo>
                  <a:cubicBezTo>
                    <a:pt x="714375" y="190500"/>
                    <a:pt x="698500" y="317500"/>
                    <a:pt x="603250" y="444500"/>
                  </a:cubicBezTo>
                  <a:cubicBezTo>
                    <a:pt x="444500" y="495300"/>
                    <a:pt x="285750" y="501650"/>
                    <a:pt x="127000" y="463550"/>
                  </a:cubicBezTo>
                  <a:cubicBezTo>
                    <a:pt x="31750" y="387350"/>
                    <a:pt x="0" y="301625"/>
                    <a:pt x="31750" y="206375"/>
                  </a:cubicBezTo>
                  <a:close/>
                </a:path>
              </a:pathLst>
            </a:custGeom>
            <a:noFill/>
            <a:ln w="7620">
              <a:solidFill>
                <a:srgbClr val="2563EB">
                  <a:alpha val="35000"/>
                </a:srgbClr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5588000" y="3889375"/>
              <a:ext cx="654050" cy="476250"/>
            </a:xfrm>
            <a:custGeom>
              <a:avLst/>
              <a:gdLst/>
              <a:ahLst/>
              <a:cxnLst/>
              <a:rect l="l" t="t" r="r" b="b"/>
              <a:pathLst>
                <a:path w="654050" h="476250">
                  <a:moveTo>
                    <a:pt x="127000" y="63500"/>
                  </a:moveTo>
                  <a:cubicBezTo>
                    <a:pt x="317500" y="0"/>
                    <a:pt x="476250" y="9525"/>
                    <a:pt x="603250" y="92075"/>
                  </a:cubicBezTo>
                  <a:cubicBezTo>
                    <a:pt x="654050" y="231775"/>
                    <a:pt x="622300" y="349250"/>
                    <a:pt x="508000" y="444500"/>
                  </a:cubicBezTo>
                  <a:cubicBezTo>
                    <a:pt x="349250" y="476250"/>
                    <a:pt x="206375" y="466725"/>
                    <a:pt x="79375" y="415925"/>
                  </a:cubicBezTo>
                  <a:cubicBezTo>
                    <a:pt x="15875" y="307975"/>
                    <a:pt x="0" y="206375"/>
                    <a:pt x="31750" y="111125"/>
                  </a:cubicBezTo>
                  <a:close/>
                </a:path>
              </a:pathLst>
            </a:custGeom>
            <a:noFill/>
            <a:ln w="7620">
              <a:solidFill>
                <a:srgbClr val="2563EB">
                  <a:alpha val="35000"/>
                </a:srgbClr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3333750" y="4127500"/>
              <a:ext cx="238125" cy="301625"/>
            </a:xfrm>
            <a:custGeom>
              <a:avLst/>
              <a:gdLst/>
              <a:ahLst/>
              <a:cxnLst/>
              <a:rect l="l" t="t" r="r" b="b"/>
              <a:pathLst>
                <a:path w="238125" h="301625">
                  <a:moveTo>
                    <a:pt x="0" y="63500"/>
                  </a:moveTo>
                  <a:cubicBezTo>
                    <a:pt x="95250" y="0"/>
                    <a:pt x="174625" y="15875"/>
                    <a:pt x="238125" y="111125"/>
                  </a:cubicBezTo>
                  <a:cubicBezTo>
                    <a:pt x="206375" y="206375"/>
                    <a:pt x="142875" y="269875"/>
                    <a:pt x="47625" y="301625"/>
                  </a:cubicBezTo>
                  <a:close/>
                </a:path>
              </a:pathLst>
            </a:custGeom>
            <a:noFill/>
            <a:ln w="7620">
              <a:solidFill>
                <a:srgbClr val="2563EB">
                  <a:alpha val="35000"/>
                </a:srgbClr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7524750" y="4127500"/>
              <a:ext cx="266700" cy="301625"/>
            </a:xfrm>
            <a:custGeom>
              <a:avLst/>
              <a:gdLst/>
              <a:ahLst/>
              <a:cxnLst/>
              <a:rect l="l" t="t" r="r" b="b"/>
              <a:pathLst>
                <a:path w="266700" h="301625">
                  <a:moveTo>
                    <a:pt x="0" y="63500"/>
                  </a:moveTo>
                  <a:cubicBezTo>
                    <a:pt x="95250" y="0"/>
                    <a:pt x="184150" y="15875"/>
                    <a:pt x="266700" y="111125"/>
                  </a:cubicBezTo>
                  <a:cubicBezTo>
                    <a:pt x="215900" y="206375"/>
                    <a:pt x="142875" y="269875"/>
                    <a:pt x="47625" y="301625"/>
                  </a:cubicBezTo>
                  <a:close/>
                </a:path>
              </a:pathLst>
            </a:custGeom>
            <a:noFill/>
            <a:ln w="7620">
              <a:solidFill>
                <a:srgbClr val="2563EB">
                  <a:alpha val="35000"/>
                </a:srgbClr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3714750" y="4508500"/>
              <a:ext cx="285750" cy="301625"/>
            </a:xfrm>
            <a:custGeom>
              <a:avLst/>
              <a:gdLst/>
              <a:ahLst/>
              <a:cxnLst/>
              <a:rect l="l" t="t" r="r" b="b"/>
              <a:pathLst>
                <a:path w="285750" h="301625">
                  <a:moveTo>
                    <a:pt x="0" y="63500"/>
                  </a:moveTo>
                  <a:cubicBezTo>
                    <a:pt x="127000" y="0"/>
                    <a:pt x="222250" y="15875"/>
                    <a:pt x="285750" y="111125"/>
                  </a:cubicBezTo>
                  <a:cubicBezTo>
                    <a:pt x="254000" y="206375"/>
                    <a:pt x="190500" y="269875"/>
                    <a:pt x="95250" y="301625"/>
                  </a:cubicBezTo>
                  <a:close/>
                </a:path>
              </a:pathLst>
            </a:custGeom>
            <a:noFill/>
            <a:ln w="7620">
              <a:solidFill>
                <a:srgbClr val="2563EB">
                  <a:alpha val="35000"/>
                </a:srgbClr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7143750" y="4556125"/>
              <a:ext cx="285750" cy="301625"/>
            </a:xfrm>
            <a:custGeom>
              <a:avLst/>
              <a:gdLst/>
              <a:ahLst/>
              <a:cxnLst/>
              <a:rect l="l" t="t" r="r" b="b"/>
              <a:pathLst>
                <a:path w="285750" h="301625">
                  <a:moveTo>
                    <a:pt x="0" y="63500"/>
                  </a:moveTo>
                  <a:cubicBezTo>
                    <a:pt x="127000" y="0"/>
                    <a:pt x="222250" y="15875"/>
                    <a:pt x="285750" y="111125"/>
                  </a:cubicBezTo>
                  <a:cubicBezTo>
                    <a:pt x="254000" y="206375"/>
                    <a:pt x="190500" y="269875"/>
                    <a:pt x="95250" y="301625"/>
                  </a:cubicBezTo>
                  <a:close/>
                </a:path>
              </a:pathLst>
            </a:custGeom>
            <a:noFill/>
            <a:ln w="7620">
              <a:solidFill>
                <a:srgbClr val="2563EB">
                  <a:alpha val="35000"/>
                </a:srgbClr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4206875" y="4699000"/>
              <a:ext cx="698500" cy="511175"/>
            </a:xfrm>
            <a:custGeom>
              <a:avLst/>
              <a:gdLst/>
              <a:ahLst/>
              <a:cxnLst/>
              <a:rect l="l" t="t" r="r" b="b"/>
              <a:pathLst>
                <a:path w="698500" h="511175">
                  <a:moveTo>
                    <a:pt x="79375" y="63500"/>
                  </a:moveTo>
                  <a:cubicBezTo>
                    <a:pt x="269875" y="0"/>
                    <a:pt x="444500" y="0"/>
                    <a:pt x="603250" y="63500"/>
                  </a:cubicBezTo>
                  <a:cubicBezTo>
                    <a:pt x="698500" y="158750"/>
                    <a:pt x="698500" y="269875"/>
                    <a:pt x="603250" y="396875"/>
                  </a:cubicBezTo>
                  <a:cubicBezTo>
                    <a:pt x="463550" y="479425"/>
                    <a:pt x="304800" y="511175"/>
                    <a:pt x="127000" y="492125"/>
                  </a:cubicBezTo>
                  <a:cubicBezTo>
                    <a:pt x="31750" y="396875"/>
                    <a:pt x="0" y="301625"/>
                    <a:pt x="31750" y="206375"/>
                  </a:cubicBezTo>
                  <a:close/>
                </a:path>
              </a:pathLst>
            </a:custGeom>
            <a:noFill/>
            <a:ln w="7620">
              <a:solidFill>
                <a:srgbClr val="2563EB">
                  <a:alpha val="35000"/>
                </a:srgbClr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5391150" y="4746625"/>
              <a:ext cx="625475" cy="447675"/>
            </a:xfrm>
            <a:custGeom>
              <a:avLst/>
              <a:gdLst/>
              <a:ahLst/>
              <a:cxnLst/>
              <a:rect l="l" t="t" r="r" b="b"/>
              <a:pathLst>
                <a:path w="625475" h="447675">
                  <a:moveTo>
                    <a:pt x="38100" y="63500"/>
                  </a:moveTo>
                  <a:cubicBezTo>
                    <a:pt x="228600" y="0"/>
                    <a:pt x="403225" y="0"/>
                    <a:pt x="561975" y="63500"/>
                  </a:cubicBezTo>
                  <a:cubicBezTo>
                    <a:pt x="625475" y="190500"/>
                    <a:pt x="609600" y="301625"/>
                    <a:pt x="514350" y="396875"/>
                  </a:cubicBezTo>
                  <a:cubicBezTo>
                    <a:pt x="355600" y="447675"/>
                    <a:pt x="212725" y="447675"/>
                    <a:pt x="85725" y="396875"/>
                  </a:cubicBezTo>
                  <a:cubicBezTo>
                    <a:pt x="22225" y="301625"/>
                    <a:pt x="0" y="206375"/>
                    <a:pt x="19050" y="111125"/>
                  </a:cubicBezTo>
                  <a:close/>
                </a:path>
              </a:pathLst>
            </a:custGeom>
            <a:noFill/>
            <a:ln w="7620">
              <a:solidFill>
                <a:srgbClr val="2563EB">
                  <a:alpha val="35000"/>
                </a:srgbClr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4191000" y="5175250"/>
              <a:ext cx="285750" cy="301625"/>
            </a:xfrm>
            <a:custGeom>
              <a:avLst/>
              <a:gdLst/>
              <a:ahLst/>
              <a:cxnLst/>
              <a:rect l="l" t="t" r="r" b="b"/>
              <a:pathLst>
                <a:path w="285750" h="301625">
                  <a:moveTo>
                    <a:pt x="0" y="63500"/>
                  </a:moveTo>
                  <a:cubicBezTo>
                    <a:pt x="127000" y="0"/>
                    <a:pt x="222250" y="15875"/>
                    <a:pt x="285750" y="111125"/>
                  </a:cubicBezTo>
                  <a:cubicBezTo>
                    <a:pt x="254000" y="206375"/>
                    <a:pt x="190500" y="269875"/>
                    <a:pt x="95250" y="301625"/>
                  </a:cubicBezTo>
                  <a:close/>
                </a:path>
              </a:pathLst>
            </a:custGeom>
            <a:noFill/>
            <a:ln w="7620">
              <a:solidFill>
                <a:srgbClr val="2563EB">
                  <a:alpha val="35000"/>
                </a:srgbClr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6477000" y="5222875"/>
              <a:ext cx="285750" cy="301625"/>
            </a:xfrm>
            <a:custGeom>
              <a:avLst/>
              <a:gdLst/>
              <a:ahLst/>
              <a:cxnLst/>
              <a:rect l="l" t="t" r="r" b="b"/>
              <a:pathLst>
                <a:path w="285750" h="301625">
                  <a:moveTo>
                    <a:pt x="0" y="63500"/>
                  </a:moveTo>
                  <a:cubicBezTo>
                    <a:pt x="127000" y="0"/>
                    <a:pt x="222250" y="15875"/>
                    <a:pt x="285750" y="111125"/>
                  </a:cubicBezTo>
                  <a:cubicBezTo>
                    <a:pt x="254000" y="206375"/>
                    <a:pt x="190500" y="269875"/>
                    <a:pt x="95250" y="301625"/>
                  </a:cubicBezTo>
                  <a:close/>
                </a:path>
              </a:pathLst>
            </a:custGeom>
            <a:noFill/>
            <a:ln w="7620">
              <a:solidFill>
                <a:srgbClr val="2563EB">
                  <a:alpha val="35000"/>
                </a:srgbClr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4575175" y="5365750"/>
              <a:ext cx="679450" cy="400050"/>
            </a:xfrm>
            <a:custGeom>
              <a:avLst/>
              <a:gdLst/>
              <a:ahLst/>
              <a:cxnLst/>
              <a:rect l="l" t="t" r="r" b="b"/>
              <a:pathLst>
                <a:path w="679450" h="400050">
                  <a:moveTo>
                    <a:pt x="92075" y="63500"/>
                  </a:moveTo>
                  <a:cubicBezTo>
                    <a:pt x="282575" y="0"/>
                    <a:pt x="457200" y="0"/>
                    <a:pt x="615950" y="63500"/>
                  </a:cubicBezTo>
                  <a:cubicBezTo>
                    <a:pt x="679450" y="158750"/>
                    <a:pt x="663575" y="254000"/>
                    <a:pt x="568325" y="349250"/>
                  </a:cubicBezTo>
                  <a:cubicBezTo>
                    <a:pt x="409575" y="400050"/>
                    <a:pt x="250825" y="400050"/>
                    <a:pt x="92075" y="349250"/>
                  </a:cubicBezTo>
                  <a:cubicBezTo>
                    <a:pt x="15875" y="273050"/>
                    <a:pt x="0" y="193675"/>
                    <a:pt x="44450" y="111125"/>
                  </a:cubicBezTo>
                  <a:close/>
                </a:path>
              </a:pathLst>
            </a:custGeom>
            <a:noFill/>
            <a:ln w="7620">
              <a:solidFill>
                <a:srgbClr val="2563EB">
                  <a:alpha val="35000"/>
                </a:srgbClr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5464175" y="5413375"/>
              <a:ext cx="600075" cy="358775"/>
            </a:xfrm>
            <a:custGeom>
              <a:avLst/>
              <a:gdLst/>
              <a:ahLst/>
              <a:cxnLst/>
              <a:rect l="l" t="t" r="r" b="b"/>
              <a:pathLst>
                <a:path w="600075" h="358775">
                  <a:moveTo>
                    <a:pt x="60325" y="63500"/>
                  </a:moveTo>
                  <a:cubicBezTo>
                    <a:pt x="250825" y="0"/>
                    <a:pt x="409575" y="0"/>
                    <a:pt x="536575" y="63500"/>
                  </a:cubicBezTo>
                  <a:cubicBezTo>
                    <a:pt x="600075" y="158750"/>
                    <a:pt x="584200" y="244475"/>
                    <a:pt x="488950" y="320675"/>
                  </a:cubicBezTo>
                  <a:cubicBezTo>
                    <a:pt x="330200" y="358775"/>
                    <a:pt x="193675" y="352425"/>
                    <a:pt x="79375" y="301625"/>
                  </a:cubicBezTo>
                  <a:cubicBezTo>
                    <a:pt x="15875" y="225425"/>
                    <a:pt x="0" y="146050"/>
                    <a:pt x="31750" y="63500"/>
                  </a:cubicBezTo>
                  <a:close/>
                </a:path>
              </a:pathLst>
            </a:custGeom>
            <a:noFill/>
            <a:ln w="7620">
              <a:solidFill>
                <a:srgbClr val="2563EB">
                  <a:alpha val="35000"/>
                </a:srgbClr>
              </a:solidFill>
            </a:ln>
          </p:spPr>
        </p:sp>
      </p:grpSp>
      <p:sp>
        <p:nvSpPr>
          <p:cNvPr id="52" name="Ellipse 52"/>
          <p:cNvSpPr/>
          <p:nvPr/>
        </p:nvSpPr>
        <p:spPr>
          <a:xfrm>
            <a:off x="4324350" y="2324100"/>
            <a:ext cx="304800" cy="304800"/>
          </a:xfrm>
          <a:prstGeom prst="ellipse">
            <a:avLst/>
          </a:prstGeom>
          <a:solidFill>
            <a:srgbClr val="7C3AED">
              <a:alpha val="15000"/>
            </a:srgbClr>
          </a:solidFill>
          <a:ln>
            <a:noFill/>
          </a:ln>
        </p:spPr>
      </p:sp>
      <p:sp>
        <p:nvSpPr>
          <p:cNvPr id="53" name="Ellipse 53"/>
          <p:cNvSpPr/>
          <p:nvPr/>
        </p:nvSpPr>
        <p:spPr>
          <a:xfrm>
            <a:off x="4419600" y="2419350"/>
            <a:ext cx="114300" cy="1143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54" name="Ellipse 54"/>
          <p:cNvSpPr/>
          <p:nvPr/>
        </p:nvSpPr>
        <p:spPr>
          <a:xfrm>
            <a:off x="4448175" y="2447925"/>
            <a:ext cx="57150" cy="57150"/>
          </a:xfrm>
          <a:prstGeom prst="ellipse">
            <a:avLst/>
          </a:prstGeom>
          <a:solidFill>
            <a:srgbClr val="F8FBFF">
              <a:alpha val="90000"/>
            </a:srgbClr>
          </a:solidFill>
          <a:ln>
            <a:noFill/>
          </a:ln>
        </p:spPr>
      </p:sp>
      <p:sp>
        <p:nvSpPr>
          <p:cNvPr id="55" name="Ellipse 55"/>
          <p:cNvSpPr/>
          <p:nvPr/>
        </p:nvSpPr>
        <p:spPr>
          <a:xfrm>
            <a:off x="5581650" y="1771650"/>
            <a:ext cx="266700" cy="266700"/>
          </a:xfrm>
          <a:prstGeom prst="ellipse">
            <a:avLst/>
          </a:prstGeom>
          <a:solidFill>
            <a:srgbClr val="7C3AED">
              <a:alpha val="15000"/>
            </a:srgbClr>
          </a:solidFill>
          <a:ln>
            <a:noFill/>
          </a:ln>
        </p:spPr>
      </p:sp>
      <p:sp>
        <p:nvSpPr>
          <p:cNvPr id="56" name="Ellipse 56"/>
          <p:cNvSpPr/>
          <p:nvPr/>
        </p:nvSpPr>
        <p:spPr>
          <a:xfrm>
            <a:off x="5667375" y="1857375"/>
            <a:ext cx="95250" cy="9525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57" name="Ellipse 57"/>
          <p:cNvSpPr/>
          <p:nvPr/>
        </p:nvSpPr>
        <p:spPr>
          <a:xfrm>
            <a:off x="5691188" y="1881188"/>
            <a:ext cx="47625" cy="47625"/>
          </a:xfrm>
          <a:prstGeom prst="ellipse">
            <a:avLst/>
          </a:prstGeom>
          <a:solidFill>
            <a:srgbClr val="F8FBFF">
              <a:alpha val="90000"/>
            </a:srgbClr>
          </a:solidFill>
          <a:ln>
            <a:noFill/>
          </a:ln>
        </p:spPr>
      </p:sp>
      <p:sp>
        <p:nvSpPr>
          <p:cNvPr id="58" name="Ellipse 58"/>
          <p:cNvSpPr/>
          <p:nvPr/>
        </p:nvSpPr>
        <p:spPr>
          <a:xfrm>
            <a:off x="2914650" y="3390900"/>
            <a:ext cx="266700" cy="266700"/>
          </a:xfrm>
          <a:prstGeom prst="ellipse">
            <a:avLst/>
          </a:prstGeom>
          <a:solidFill>
            <a:srgbClr val="38BDF8">
              <a:alpha val="15000"/>
            </a:srgbClr>
          </a:solidFill>
          <a:ln>
            <a:noFill/>
          </a:ln>
        </p:spPr>
      </p:sp>
      <p:sp>
        <p:nvSpPr>
          <p:cNvPr id="59" name="Ellipse 59"/>
          <p:cNvSpPr/>
          <p:nvPr/>
        </p:nvSpPr>
        <p:spPr>
          <a:xfrm>
            <a:off x="3000375" y="3476625"/>
            <a:ext cx="95250" cy="9525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60" name="Ellipse 60"/>
          <p:cNvSpPr/>
          <p:nvPr/>
        </p:nvSpPr>
        <p:spPr>
          <a:xfrm>
            <a:off x="3024188" y="3500438"/>
            <a:ext cx="47625" cy="47625"/>
          </a:xfrm>
          <a:prstGeom prst="ellipse">
            <a:avLst/>
          </a:prstGeom>
          <a:solidFill>
            <a:srgbClr val="F8FBFF">
              <a:alpha val="90000"/>
            </a:srgbClr>
          </a:solidFill>
          <a:ln>
            <a:noFill/>
          </a:ln>
        </p:spPr>
      </p:sp>
      <p:sp>
        <p:nvSpPr>
          <p:cNvPr id="61" name="Ellipse 61"/>
          <p:cNvSpPr/>
          <p:nvPr/>
        </p:nvSpPr>
        <p:spPr>
          <a:xfrm>
            <a:off x="6686550" y="2114550"/>
            <a:ext cx="342900" cy="342900"/>
          </a:xfrm>
          <a:prstGeom prst="ellipse">
            <a:avLst/>
          </a:prstGeom>
          <a:solidFill>
            <a:srgbClr val="2563EB">
              <a:alpha val="20000"/>
            </a:srgbClr>
          </a:solidFill>
          <a:ln>
            <a:noFill/>
          </a:ln>
        </p:spPr>
      </p:sp>
      <p:sp>
        <p:nvSpPr>
          <p:cNvPr id="62" name="Ellipse 62"/>
          <p:cNvSpPr/>
          <p:nvPr/>
        </p:nvSpPr>
        <p:spPr>
          <a:xfrm>
            <a:off x="6781800" y="2209800"/>
            <a:ext cx="152400" cy="152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63" name="Ellipse 63"/>
          <p:cNvSpPr/>
          <p:nvPr/>
        </p:nvSpPr>
        <p:spPr>
          <a:xfrm>
            <a:off x="6819900" y="2247900"/>
            <a:ext cx="76200" cy="76200"/>
          </a:xfrm>
          <a:prstGeom prst="ellipse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64" name="Ellipse 64"/>
          <p:cNvSpPr/>
          <p:nvPr/>
        </p:nvSpPr>
        <p:spPr>
          <a:xfrm>
            <a:off x="6838950" y="3219450"/>
            <a:ext cx="228600" cy="228600"/>
          </a:xfrm>
          <a:prstGeom prst="ellipse">
            <a:avLst/>
          </a:prstGeom>
          <a:solidFill>
            <a:srgbClr val="38BDF8">
              <a:alpha val="15000"/>
            </a:srgbClr>
          </a:solidFill>
          <a:ln>
            <a:noFill/>
          </a:ln>
        </p:spPr>
      </p:sp>
      <p:sp>
        <p:nvSpPr>
          <p:cNvPr id="65" name="Ellipse 65"/>
          <p:cNvSpPr/>
          <p:nvPr/>
        </p:nvSpPr>
        <p:spPr>
          <a:xfrm>
            <a:off x="6915150" y="3295650"/>
            <a:ext cx="76200" cy="76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66" name="Ellipse 66"/>
          <p:cNvSpPr/>
          <p:nvPr/>
        </p:nvSpPr>
        <p:spPr>
          <a:xfrm>
            <a:off x="6934200" y="3314700"/>
            <a:ext cx="38100" cy="38100"/>
          </a:xfrm>
          <a:prstGeom prst="ellipse">
            <a:avLst/>
          </a:prstGeom>
          <a:solidFill>
            <a:srgbClr val="F8FBFF">
              <a:alpha val="90000"/>
            </a:srgbClr>
          </a:solidFill>
          <a:ln>
            <a:noFill/>
          </a:ln>
        </p:spPr>
      </p:sp>
      <p:sp>
        <p:nvSpPr>
          <p:cNvPr id="67" name="Ellipse 67"/>
          <p:cNvSpPr/>
          <p:nvPr/>
        </p:nvSpPr>
        <p:spPr>
          <a:xfrm>
            <a:off x="7219950" y="2552700"/>
            <a:ext cx="228600" cy="228600"/>
          </a:xfrm>
          <a:prstGeom prst="ellipse">
            <a:avLst/>
          </a:prstGeom>
          <a:solidFill>
            <a:srgbClr val="38BDF8">
              <a:alpha val="15000"/>
            </a:srgbClr>
          </a:solidFill>
          <a:ln>
            <a:noFill/>
          </a:ln>
        </p:spPr>
      </p:sp>
      <p:sp>
        <p:nvSpPr>
          <p:cNvPr id="68" name="Ellipse 68"/>
          <p:cNvSpPr/>
          <p:nvPr/>
        </p:nvSpPr>
        <p:spPr>
          <a:xfrm>
            <a:off x="7296150" y="2628900"/>
            <a:ext cx="76200" cy="76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69" name="Ellipse 69"/>
          <p:cNvSpPr/>
          <p:nvPr/>
        </p:nvSpPr>
        <p:spPr>
          <a:xfrm>
            <a:off x="7315200" y="2647950"/>
            <a:ext cx="38100" cy="38100"/>
          </a:xfrm>
          <a:prstGeom prst="ellipse">
            <a:avLst/>
          </a:prstGeom>
          <a:solidFill>
            <a:srgbClr val="F8FBFF">
              <a:alpha val="90000"/>
            </a:srgbClr>
          </a:solidFill>
          <a:ln>
            <a:noFill/>
          </a:ln>
        </p:spPr>
      </p:sp>
      <p:sp>
        <p:nvSpPr>
          <p:cNvPr id="70" name="Ellipse 70"/>
          <p:cNvSpPr/>
          <p:nvPr/>
        </p:nvSpPr>
        <p:spPr>
          <a:xfrm>
            <a:off x="4743450" y="4076700"/>
            <a:ext cx="228600" cy="228600"/>
          </a:xfrm>
          <a:prstGeom prst="ellipse">
            <a:avLst/>
          </a:prstGeom>
          <a:solidFill>
            <a:srgbClr val="7C3AED">
              <a:alpha val="15000"/>
            </a:srgbClr>
          </a:solidFill>
          <a:ln>
            <a:noFill/>
          </a:ln>
        </p:spPr>
      </p:sp>
      <p:sp>
        <p:nvSpPr>
          <p:cNvPr id="71" name="Ellipse 71"/>
          <p:cNvSpPr/>
          <p:nvPr/>
        </p:nvSpPr>
        <p:spPr>
          <a:xfrm>
            <a:off x="4819650" y="4152900"/>
            <a:ext cx="76200" cy="76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72" name="Ellipse 72"/>
          <p:cNvSpPr/>
          <p:nvPr/>
        </p:nvSpPr>
        <p:spPr>
          <a:xfrm>
            <a:off x="4838700" y="4171950"/>
            <a:ext cx="38100" cy="38100"/>
          </a:xfrm>
          <a:prstGeom prst="ellipse">
            <a:avLst/>
          </a:prstGeom>
          <a:solidFill>
            <a:srgbClr val="F8FBFF">
              <a:alpha val="90000"/>
            </a:srgbClr>
          </a:solidFill>
          <a:ln>
            <a:noFill/>
          </a:ln>
        </p:spPr>
      </p:sp>
      <p:sp>
        <p:nvSpPr>
          <p:cNvPr id="73" name="Ellipse 73"/>
          <p:cNvSpPr/>
          <p:nvPr/>
        </p:nvSpPr>
        <p:spPr>
          <a:xfrm>
            <a:off x="5238750" y="4286250"/>
            <a:ext cx="190500" cy="190500"/>
          </a:xfrm>
          <a:prstGeom prst="ellipse">
            <a:avLst/>
          </a:prstGeom>
          <a:solidFill>
            <a:srgbClr val="7C3AED">
              <a:alpha val="12000"/>
            </a:srgbClr>
          </a:solidFill>
          <a:ln>
            <a:noFill/>
          </a:ln>
        </p:spPr>
      </p:sp>
      <p:sp>
        <p:nvSpPr>
          <p:cNvPr id="74" name="Ellipse 74"/>
          <p:cNvSpPr/>
          <p:nvPr/>
        </p:nvSpPr>
        <p:spPr>
          <a:xfrm>
            <a:off x="5300662" y="4348162"/>
            <a:ext cx="66675" cy="66675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75" name="Ellipse 75"/>
          <p:cNvSpPr/>
          <p:nvPr/>
        </p:nvSpPr>
        <p:spPr>
          <a:xfrm>
            <a:off x="5316855" y="4364355"/>
            <a:ext cx="34290" cy="34290"/>
          </a:xfrm>
          <a:prstGeom prst="ellipse">
            <a:avLst/>
          </a:prstGeom>
          <a:solidFill>
            <a:srgbClr val="F8FBFF">
              <a:alpha val="90000"/>
            </a:srgbClr>
          </a:solidFill>
          <a:ln>
            <a:noFill/>
          </a:ln>
        </p:spPr>
      </p:sp>
      <p:grpSp>
        <p:nvGrpSpPr>
          <p:cNvPr id="83" name="Group 83"/>
          <p:cNvGrpSpPr/>
          <p:nvPr/>
        </p:nvGrpSpPr>
        <p:grpSpPr>
          <a:xfrm>
            <a:off x="3048000" y="1905000"/>
            <a:ext cx="4286250" cy="2286000"/>
            <a:chOff x="3048000" y="1905000"/>
            <a:chExt cx="4286250" cy="2286000"/>
          </a:xfrm>
        </p:grpSpPr>
        <p:sp>
          <p:nvSpPr>
            <p:cNvPr id="76" name="Line 76"/>
            <p:cNvSpPr/>
            <p:nvPr/>
          </p:nvSpPr>
          <p:spPr>
            <a:xfrm>
              <a:off x="4476750" y="1905000"/>
              <a:ext cx="1238250" cy="571500"/>
            </a:xfrm>
            <a:custGeom>
              <a:avLst/>
              <a:gdLst/>
              <a:ahLst/>
              <a:cxnLst/>
              <a:rect l="l" t="t" r="r" b="b"/>
              <a:pathLst>
                <a:path w="1238250" h="571500">
                  <a:moveTo>
                    <a:pt x="0" y="571500"/>
                  </a:moveTo>
                  <a:lnTo>
                    <a:pt x="1238250" y="0"/>
                  </a:lnTo>
                </a:path>
              </a:pathLst>
            </a:custGeom>
            <a:noFill/>
            <a:ln w="5715">
              <a:solidFill>
                <a:srgbClr val="7C3AED">
                  <a:alpha val="30000"/>
                </a:srgbClr>
              </a:solidFill>
            </a:ln>
          </p:spPr>
        </p:sp>
        <p:sp>
          <p:nvSpPr>
            <p:cNvPr id="77" name="Line 77"/>
            <p:cNvSpPr/>
            <p:nvPr/>
          </p:nvSpPr>
          <p:spPr>
            <a:xfrm>
              <a:off x="3048000" y="2476500"/>
              <a:ext cx="1428750" cy="1047750"/>
            </a:xfrm>
            <a:custGeom>
              <a:avLst/>
              <a:gdLst/>
              <a:ahLst/>
              <a:cxnLst/>
              <a:rect l="l" t="t" r="r" b="b"/>
              <a:pathLst>
                <a:path w="1428750" h="1047750">
                  <a:moveTo>
                    <a:pt x="1428750" y="0"/>
                  </a:moveTo>
                  <a:lnTo>
                    <a:pt x="0" y="1047750"/>
                  </a:lnTo>
                </a:path>
              </a:pathLst>
            </a:custGeom>
            <a:noFill/>
            <a:ln w="5715">
              <a:solidFill>
                <a:srgbClr val="7C3AED">
                  <a:alpha val="30000"/>
                </a:srgbClr>
              </a:solidFill>
            </a:ln>
          </p:spPr>
        </p:sp>
        <p:sp>
          <p:nvSpPr>
            <p:cNvPr id="78" name="Line 78"/>
            <p:cNvSpPr/>
            <p:nvPr/>
          </p:nvSpPr>
          <p:spPr>
            <a:xfrm>
              <a:off x="5715000" y="1905000"/>
              <a:ext cx="1143000" cy="381000"/>
            </a:xfrm>
            <a:custGeom>
              <a:avLst/>
              <a:gdLst/>
              <a:ahLst/>
              <a:cxnLst/>
              <a:rect l="l" t="t" r="r" b="b"/>
              <a:pathLst>
                <a:path w="1143000" h="381000">
                  <a:moveTo>
                    <a:pt x="1143000" y="381000"/>
                  </a:moveTo>
                  <a:lnTo>
                    <a:pt x="0" y="0"/>
                  </a:lnTo>
                </a:path>
              </a:pathLst>
            </a:custGeom>
            <a:noFill/>
            <a:ln w="5715">
              <a:solidFill>
                <a:srgbClr val="7C3AED">
                  <a:alpha val="30000"/>
                </a:srgbClr>
              </a:solidFill>
            </a:ln>
          </p:spPr>
        </p:sp>
        <p:sp>
          <p:nvSpPr>
            <p:cNvPr id="79" name="Line 79"/>
            <p:cNvSpPr/>
            <p:nvPr/>
          </p:nvSpPr>
          <p:spPr>
            <a:xfrm>
              <a:off x="6858000" y="2286000"/>
              <a:ext cx="95250" cy="1047750"/>
            </a:xfrm>
            <a:custGeom>
              <a:avLst/>
              <a:gdLst/>
              <a:ahLst/>
              <a:cxnLst/>
              <a:rect l="l" t="t" r="r" b="b"/>
              <a:pathLst>
                <a:path w="95250" h="1047750">
                  <a:moveTo>
                    <a:pt x="0" y="0"/>
                  </a:moveTo>
                  <a:lnTo>
                    <a:pt x="95250" y="1047750"/>
                  </a:lnTo>
                </a:path>
              </a:pathLst>
            </a:custGeom>
            <a:noFill/>
            <a:ln w="5715">
              <a:solidFill>
                <a:srgbClr val="7C3AED">
                  <a:alpha val="30000"/>
                </a:srgbClr>
              </a:solidFill>
            </a:ln>
          </p:spPr>
        </p:sp>
        <p:sp>
          <p:nvSpPr>
            <p:cNvPr id="80" name="Line 80"/>
            <p:cNvSpPr/>
            <p:nvPr/>
          </p:nvSpPr>
          <p:spPr>
            <a:xfrm>
              <a:off x="6858000" y="228600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0" y="0"/>
                  </a:moveTo>
                  <a:lnTo>
                    <a:pt x="476250" y="381000"/>
                  </a:lnTo>
                </a:path>
              </a:pathLst>
            </a:custGeom>
            <a:noFill/>
            <a:ln w="5715">
              <a:solidFill>
                <a:srgbClr val="7C3AED">
                  <a:alpha val="30000"/>
                </a:srgbClr>
              </a:solidFill>
            </a:ln>
          </p:spPr>
        </p:sp>
        <p:sp>
          <p:nvSpPr>
            <p:cNvPr id="81" name="Line 81"/>
            <p:cNvSpPr/>
            <p:nvPr/>
          </p:nvSpPr>
          <p:spPr>
            <a:xfrm>
              <a:off x="4857750" y="2286000"/>
              <a:ext cx="2000250" cy="1905000"/>
            </a:xfrm>
            <a:custGeom>
              <a:avLst/>
              <a:gdLst/>
              <a:ahLst/>
              <a:cxnLst/>
              <a:rect l="l" t="t" r="r" b="b"/>
              <a:pathLst>
                <a:path w="2000250" h="1905000">
                  <a:moveTo>
                    <a:pt x="2000250" y="0"/>
                  </a:moveTo>
                  <a:lnTo>
                    <a:pt x="0" y="1905000"/>
                  </a:lnTo>
                </a:path>
              </a:pathLst>
            </a:custGeom>
            <a:noFill/>
            <a:ln w="5715">
              <a:solidFill>
                <a:srgbClr val="7C3AED">
                  <a:alpha val="30000"/>
                </a:srgbClr>
              </a:solidFill>
            </a:ln>
          </p:spPr>
        </p:sp>
        <p:sp>
          <p:nvSpPr>
            <p:cNvPr id="82" name="Line 82"/>
            <p:cNvSpPr/>
            <p:nvPr/>
          </p:nvSpPr>
          <p:spPr>
            <a:xfrm>
              <a:off x="3048000" y="3524250"/>
              <a:ext cx="1809750" cy="666750"/>
            </a:xfrm>
            <a:custGeom>
              <a:avLst/>
              <a:gdLst/>
              <a:ahLst/>
              <a:cxnLst/>
              <a:rect l="l" t="t" r="r" b="b"/>
              <a:pathLst>
                <a:path w="1809750" h="666750">
                  <a:moveTo>
                    <a:pt x="0" y="0"/>
                  </a:moveTo>
                  <a:lnTo>
                    <a:pt x="1809750" y="666750"/>
                  </a:lnTo>
                </a:path>
              </a:pathLst>
            </a:custGeom>
            <a:noFill/>
            <a:ln w="5715">
              <a:solidFill>
                <a:srgbClr val="7C3AED">
                  <a:alpha val="30000"/>
                </a:srgbClr>
              </a:solidFill>
            </a:ln>
          </p:spPr>
        </p:sp>
      </p:grpSp>
      <p:sp>
        <p:nvSpPr>
          <p:cNvPr id="84" name="Rectangle 84"/>
          <p:cNvSpPr/>
          <p:nvPr/>
        </p:nvSpPr>
        <p:spPr>
          <a:xfrm>
            <a:off x="762000" y="1524000"/>
            <a:ext cx="3238500" cy="2095500"/>
          </a:xfrm>
          <a:prstGeom prst="roundRect">
            <a:avLst>
              <a:gd name="adj" fmla="val 3636"/>
            </a:avLst>
          </a:prstGeom>
          <a:gradFill>
            <a:gsLst>
              <a:gs pos="0">
                <a:srgbClr val="0D2340"/>
              </a:gs>
              <a:gs pos="100000">
                <a:srgbClr val="0B1F38"/>
              </a:gs>
            </a:gsLst>
            <a:lin ang="5400000" scaled="1"/>
          </a:gradFill>
          <a:ln w="7620">
            <a:solidFill>
              <a:srgbClr val="2563EB">
                <a:alpha val="50000"/>
              </a:srgbClr>
            </a:solidFill>
          </a:ln>
        </p:spPr>
      </p:sp>
      <p:sp>
        <p:nvSpPr>
          <p:cNvPr id="85" name="Rectangle 85"/>
          <p:cNvSpPr/>
          <p:nvPr/>
        </p:nvSpPr>
        <p:spPr>
          <a:xfrm>
            <a:off x="762000" y="1524000"/>
            <a:ext cx="3238500" cy="381000"/>
          </a:xfrm>
          <a:prstGeom prst="roundRect">
            <a:avLst>
              <a:gd name="adj" fmla="val 20000"/>
            </a:avLst>
          </a:prstGeom>
          <a:solidFill>
            <a:srgbClr val="102B4E"/>
          </a:solidFill>
          <a:ln>
            <a:noFill/>
          </a:ln>
        </p:spPr>
      </p:sp>
      <p:sp>
        <p:nvSpPr>
          <p:cNvPr id="86" name="Rectangle 86"/>
          <p:cNvSpPr/>
          <p:nvPr/>
        </p:nvSpPr>
        <p:spPr>
          <a:xfrm>
            <a:off x="762000" y="1828800"/>
            <a:ext cx="3238500" cy="76200"/>
          </a:xfrm>
          <a:prstGeom prst="rect">
            <a:avLst/>
          </a:prstGeom>
          <a:solidFill>
            <a:srgbClr val="102B4E"/>
          </a:solidFill>
          <a:ln>
            <a:noFill/>
          </a:ln>
        </p:spPr>
      </p:sp>
      <p:sp>
        <p:nvSpPr>
          <p:cNvPr id="87" name="TextBox 87"/>
          <p:cNvSpPr txBox="1"/>
          <p:nvPr/>
        </p:nvSpPr>
        <p:spPr>
          <a:xfrm>
            <a:off x="946023" y="1614964"/>
            <a:ext cx="109428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三个世界理论</a:t>
            </a:r>
          </a:p>
        </p:txBody>
      </p:sp>
      <p:grpSp>
        <p:nvGrpSpPr>
          <p:cNvPr id="91" name="Group 91"/>
          <p:cNvGrpSpPr/>
          <p:nvPr/>
        </p:nvGrpSpPr>
        <p:grpSpPr>
          <a:xfrm>
            <a:off x="952500" y="2095500"/>
            <a:ext cx="2857500" cy="771525"/>
            <a:chOff x="952500" y="2095500"/>
            <a:chExt cx="2857500" cy="771525"/>
          </a:xfrm>
        </p:grpSpPr>
        <p:sp>
          <p:nvSpPr>
            <p:cNvPr id="88" name="Line 88"/>
            <p:cNvSpPr/>
            <p:nvPr/>
          </p:nvSpPr>
          <p:spPr>
            <a:xfrm>
              <a:off x="952500" y="209550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4762">
              <a:solidFill>
                <a:srgbClr val="2563EB">
                  <a:alpha val="30000"/>
                </a:srgbClr>
              </a:solidFill>
            </a:ln>
          </p:spPr>
        </p:sp>
        <p:sp>
          <p:nvSpPr>
            <p:cNvPr id="89" name="Line 89"/>
            <p:cNvSpPr/>
            <p:nvPr/>
          </p:nvSpPr>
          <p:spPr>
            <a:xfrm>
              <a:off x="952500" y="247650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4762">
              <a:solidFill>
                <a:srgbClr val="2563EB">
                  <a:alpha val="30000"/>
                </a:srgbClr>
              </a:solidFill>
            </a:ln>
          </p:spPr>
        </p:sp>
        <p:sp>
          <p:nvSpPr>
            <p:cNvPr id="90" name="Line 90"/>
            <p:cNvSpPr/>
            <p:nvPr/>
          </p:nvSpPr>
          <p:spPr>
            <a:xfrm>
              <a:off x="952500" y="285750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4762">
              <a:solidFill>
                <a:srgbClr val="2563EB">
                  <a:alpha val="30000"/>
                </a:srgbClr>
              </a:solidFill>
            </a:ln>
          </p:spPr>
        </p:sp>
      </p:grpSp>
      <p:sp>
        <p:nvSpPr>
          <p:cNvPr id="92" name="Ellipse 92"/>
          <p:cNvSpPr/>
          <p:nvPr/>
        </p:nvSpPr>
        <p:spPr>
          <a:xfrm>
            <a:off x="1019175" y="2162175"/>
            <a:ext cx="152400" cy="152400"/>
          </a:xfrm>
          <a:prstGeom prst="ellipse">
            <a:avLst/>
          </a:prstGeom>
          <a:noFill/>
          <a:ln w="14288">
            <a:solidFill>
              <a:srgbClr val="38BDF8"/>
            </a:solidFill>
          </a:ln>
        </p:spPr>
      </p:sp>
      <p:sp>
        <p:nvSpPr>
          <p:cNvPr id="93" name="TextBox 93"/>
          <p:cNvSpPr txBox="1"/>
          <p:nvPr/>
        </p:nvSpPr>
        <p:spPr>
          <a:xfrm>
            <a:off x="1280541" y="2144078"/>
            <a:ext cx="156552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8FBFF"/>
                </a:solidFill>
                <a:latin typeface="Arial"/>
                <a:ea typeface="Microsoft YaHei"/>
                <a:cs typeface="Arial"/>
              </a:rPr>
              <a:t>第一世界：美苏超级大国</a:t>
            </a:r>
          </a:p>
        </p:txBody>
      </p:sp>
      <p:sp>
        <p:nvSpPr>
          <p:cNvPr id="94" name="Ellipse 94"/>
          <p:cNvSpPr/>
          <p:nvPr/>
        </p:nvSpPr>
        <p:spPr>
          <a:xfrm>
            <a:off x="1019175" y="2543175"/>
            <a:ext cx="152400" cy="152400"/>
          </a:xfrm>
          <a:prstGeom prst="ellipse">
            <a:avLst/>
          </a:prstGeom>
          <a:noFill/>
          <a:ln w="14288">
            <a:solidFill>
              <a:srgbClr val="2563EB"/>
            </a:solidFill>
          </a:ln>
        </p:spPr>
      </p:sp>
      <p:sp>
        <p:nvSpPr>
          <p:cNvPr id="95" name="Ellipse 95"/>
          <p:cNvSpPr/>
          <p:nvPr/>
        </p:nvSpPr>
        <p:spPr>
          <a:xfrm>
            <a:off x="1066800" y="2590800"/>
            <a:ext cx="57150" cy="57150"/>
          </a:xfrm>
          <a:prstGeom prst="ellipse">
            <a:avLst/>
          </a:prstGeom>
          <a:solidFill>
            <a:srgbClr val="2563EB">
              <a:alpha val="50000"/>
            </a:srgbClr>
          </a:solidFill>
          <a:ln>
            <a:noFill/>
          </a:ln>
        </p:spPr>
      </p:sp>
      <p:sp>
        <p:nvSpPr>
          <p:cNvPr id="96" name="TextBox 96"/>
          <p:cNvSpPr txBox="1"/>
          <p:nvPr/>
        </p:nvSpPr>
        <p:spPr>
          <a:xfrm>
            <a:off x="1280541" y="2525078"/>
            <a:ext cx="213093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8FBFF"/>
                </a:solidFill>
                <a:latin typeface="Arial"/>
                <a:ea typeface="Microsoft YaHei"/>
                <a:cs typeface="Arial"/>
              </a:rPr>
              <a:t>第二世界：日本、欧洲等发达国家</a:t>
            </a:r>
          </a:p>
        </p:txBody>
      </p:sp>
      <p:sp>
        <p:nvSpPr>
          <p:cNvPr id="97" name="Ellipse 97"/>
          <p:cNvSpPr/>
          <p:nvPr/>
        </p:nvSpPr>
        <p:spPr>
          <a:xfrm>
            <a:off x="1019175" y="2924175"/>
            <a:ext cx="152400" cy="152400"/>
          </a:xfrm>
          <a:prstGeom prst="ellipse">
            <a:avLst/>
          </a:prstGeom>
          <a:noFill/>
          <a:ln w="14288">
            <a:solidFill>
              <a:srgbClr val="7C3AED"/>
            </a:solidFill>
          </a:ln>
        </p:spPr>
      </p:sp>
      <p:sp>
        <p:nvSpPr>
          <p:cNvPr id="98" name="Ellipse 98"/>
          <p:cNvSpPr/>
          <p:nvPr/>
        </p:nvSpPr>
        <p:spPr>
          <a:xfrm>
            <a:off x="1057275" y="2962275"/>
            <a:ext cx="76200" cy="76200"/>
          </a:xfrm>
          <a:prstGeom prst="ellipse">
            <a:avLst/>
          </a:prstGeom>
          <a:solidFill>
            <a:srgbClr val="7C3AED">
              <a:alpha val="40000"/>
            </a:srgbClr>
          </a:solidFill>
          <a:ln>
            <a:noFill/>
          </a:ln>
        </p:spPr>
      </p:sp>
      <p:sp>
        <p:nvSpPr>
          <p:cNvPr id="99" name="TextBox 99"/>
          <p:cNvSpPr txBox="1"/>
          <p:nvPr/>
        </p:nvSpPr>
        <p:spPr>
          <a:xfrm>
            <a:off x="1280541" y="290607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8FBFF"/>
                </a:solidFill>
                <a:latin typeface="Arial"/>
                <a:ea typeface="Microsoft YaHei"/>
                <a:cs typeface="Arial"/>
              </a:rPr>
              <a:t>第三世界：亚非拉发展中国家</a:t>
            </a:r>
          </a:p>
        </p:txBody>
      </p:sp>
      <p:sp>
        <p:nvSpPr>
          <p:cNvPr id="100" name="Rectangle 100"/>
          <p:cNvSpPr/>
          <p:nvPr/>
        </p:nvSpPr>
        <p:spPr>
          <a:xfrm>
            <a:off x="762000" y="3524250"/>
            <a:ext cx="3238500" cy="19050"/>
          </a:xfrm>
          <a:prstGeom prst="roundRect">
            <a:avLst>
              <a:gd name="adj" fmla="val 50000"/>
            </a:avLst>
          </a:prstGeom>
          <a:solidFill>
            <a:srgbClr val="7C3AED">
              <a:alpha val="50000"/>
            </a:srgbClr>
          </a:solidFill>
          <a:ln>
            <a:noFill/>
          </a:ln>
        </p:spPr>
      </p:sp>
      <p:sp>
        <p:nvSpPr>
          <p:cNvPr id="101" name="Rectangle 101"/>
          <p:cNvSpPr/>
          <p:nvPr/>
        </p:nvSpPr>
        <p:spPr>
          <a:xfrm>
            <a:off x="762000" y="3810000"/>
            <a:ext cx="3238500" cy="1524000"/>
          </a:xfrm>
          <a:prstGeom prst="roundRect">
            <a:avLst>
              <a:gd name="adj" fmla="val 5000"/>
            </a:avLst>
          </a:prstGeom>
          <a:gradFill>
            <a:gsLst>
              <a:gs pos="0">
                <a:srgbClr val="0D2340"/>
              </a:gs>
              <a:gs pos="100000">
                <a:srgbClr val="0B1F38"/>
              </a:gs>
            </a:gsLst>
            <a:lin ang="5400000" scaled="1"/>
          </a:gradFill>
          <a:ln w="7620">
            <a:solidFill>
              <a:srgbClr val="2563EB">
                <a:alpha val="50000"/>
              </a:srgbClr>
            </a:solidFill>
          </a:ln>
        </p:spPr>
      </p:sp>
      <p:sp>
        <p:nvSpPr>
          <p:cNvPr id="102" name="Rectangle 102"/>
          <p:cNvSpPr/>
          <p:nvPr/>
        </p:nvSpPr>
        <p:spPr>
          <a:xfrm>
            <a:off x="762000" y="3810000"/>
            <a:ext cx="3238500" cy="342900"/>
          </a:xfrm>
          <a:prstGeom prst="roundRect">
            <a:avLst>
              <a:gd name="adj" fmla="val 22222"/>
            </a:avLst>
          </a:prstGeom>
          <a:solidFill>
            <a:srgbClr val="102B4E"/>
          </a:solidFill>
          <a:ln>
            <a:noFill/>
          </a:ln>
        </p:spPr>
      </p:sp>
      <p:sp>
        <p:nvSpPr>
          <p:cNvPr id="103" name="Rectangle 103"/>
          <p:cNvSpPr/>
          <p:nvPr/>
        </p:nvSpPr>
        <p:spPr>
          <a:xfrm>
            <a:off x="762000" y="4076700"/>
            <a:ext cx="3238500" cy="76200"/>
          </a:xfrm>
          <a:prstGeom prst="rect">
            <a:avLst/>
          </a:prstGeom>
          <a:solidFill>
            <a:srgbClr val="102B4E"/>
          </a:solidFill>
          <a:ln>
            <a:noFill/>
          </a:ln>
        </p:spPr>
      </p:sp>
      <p:sp>
        <p:nvSpPr>
          <p:cNvPr id="104" name="TextBox 104"/>
          <p:cNvSpPr txBox="1"/>
          <p:nvPr/>
        </p:nvSpPr>
        <p:spPr>
          <a:xfrm>
            <a:off x="946023" y="3881914"/>
            <a:ext cx="109428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逾千万字著述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957072" y="4295299"/>
            <a:ext cx="184746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《毛泽东选集》《毛泽东文集》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957072" y="4485799"/>
            <a:ext cx="201810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新民主主义 · 群众路线 · 统一战线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957072" y="4676299"/>
            <a:ext cx="105994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枪杆子里面出政权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957072" y="4866799"/>
            <a:ext cx="171621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影响全球反殖运动与冷战格局</a:t>
            </a:r>
          </a:p>
        </p:txBody>
      </p:sp>
      <p:sp>
        <p:nvSpPr>
          <p:cNvPr id="109" name="Rectangle 109"/>
          <p:cNvSpPr/>
          <p:nvPr/>
        </p:nvSpPr>
        <p:spPr>
          <a:xfrm>
            <a:off x="762000" y="5238750"/>
            <a:ext cx="3238500" cy="19050"/>
          </a:xfrm>
          <a:prstGeom prst="roundRect">
            <a:avLst>
              <a:gd name="adj" fmla="val 50000"/>
            </a:avLst>
          </a:prstGeom>
          <a:solidFill>
            <a:srgbClr val="7C3AED">
              <a:alpha val="50000"/>
            </a:srgbClr>
          </a:solidFill>
          <a:ln>
            <a:noFill/>
          </a:ln>
        </p:spPr>
      </p:sp>
      <p:sp>
        <p:nvSpPr>
          <p:cNvPr id="110" name="Rectangle 110"/>
          <p:cNvSpPr/>
          <p:nvPr/>
        </p:nvSpPr>
        <p:spPr>
          <a:xfrm>
            <a:off x="4381500" y="1524000"/>
            <a:ext cx="3238500" cy="3810000"/>
          </a:xfrm>
          <a:prstGeom prst="roundRect">
            <a:avLst>
              <a:gd name="adj" fmla="val 2353"/>
            </a:avLst>
          </a:prstGeom>
          <a:gradFill>
            <a:gsLst>
              <a:gs pos="0">
                <a:srgbClr val="102B4E"/>
              </a:gs>
              <a:gs pos="100000">
                <a:srgbClr val="0D2340"/>
              </a:gs>
            </a:gsLst>
            <a:lin ang="5400000" scaled="1"/>
          </a:gradFill>
          <a:ln w="7620">
            <a:solidFill>
              <a:srgbClr val="2563EB">
                <a:alpha val="50000"/>
              </a:srgbClr>
            </a:solidFill>
          </a:ln>
        </p:spPr>
      </p:sp>
      <p:sp>
        <p:nvSpPr>
          <p:cNvPr id="111" name="TextBox 111"/>
          <p:cNvSpPr txBox="1"/>
          <p:nvPr/>
        </p:nvSpPr>
        <p:spPr>
          <a:xfrm>
            <a:off x="4565523" y="1614964"/>
            <a:ext cx="127451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全球影响时间轴</a:t>
            </a:r>
          </a:p>
        </p:txBody>
      </p:sp>
      <p:sp>
        <p:nvSpPr>
          <p:cNvPr id="112" name="Line 112"/>
          <p:cNvSpPr/>
          <p:nvPr/>
        </p:nvSpPr>
        <p:spPr>
          <a:xfrm>
            <a:off x="5143500" y="2000250"/>
            <a:ext cx="9525" cy="3143250"/>
          </a:xfrm>
          <a:custGeom>
            <a:avLst/>
            <a:gdLst/>
            <a:ahLst/>
            <a:cxnLst/>
            <a:rect l="l" t="t" r="r" b="b"/>
            <a:pathLst>
              <a:path w="9525" h="3143250">
                <a:moveTo>
                  <a:pt x="0" y="0"/>
                </a:moveTo>
                <a:lnTo>
                  <a:pt x="0" y="3143250"/>
                </a:lnTo>
              </a:path>
            </a:pathLst>
          </a:custGeom>
          <a:noFill/>
          <a:ln w="7620">
            <a:solidFill>
              <a:srgbClr val="2563EB">
                <a:alpha val="50000"/>
              </a:srgbClr>
            </a:solidFill>
          </a:ln>
        </p:spPr>
      </p:sp>
      <p:sp>
        <p:nvSpPr>
          <p:cNvPr id="113" name="Ellipse 113"/>
          <p:cNvSpPr/>
          <p:nvPr/>
        </p:nvSpPr>
        <p:spPr>
          <a:xfrm>
            <a:off x="5076825" y="2124075"/>
            <a:ext cx="133350" cy="133350"/>
          </a:xfrm>
          <a:prstGeom prst="ellipse">
            <a:avLst/>
          </a:prstGeom>
          <a:solidFill>
            <a:srgbClr val="0D2340"/>
          </a:solidFill>
          <a:ln w="19050">
            <a:solidFill>
              <a:srgbClr val="38BDF8"/>
            </a:solidFill>
          </a:ln>
        </p:spPr>
      </p:sp>
      <p:sp>
        <p:nvSpPr>
          <p:cNvPr id="114" name="Ellipse 114"/>
          <p:cNvSpPr/>
          <p:nvPr/>
        </p:nvSpPr>
        <p:spPr>
          <a:xfrm>
            <a:off x="5114925" y="2162175"/>
            <a:ext cx="57150" cy="5715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115" name="TextBox 115"/>
          <p:cNvSpPr txBox="1"/>
          <p:nvPr/>
        </p:nvSpPr>
        <p:spPr>
          <a:xfrm>
            <a:off x="5329238" y="2065020"/>
            <a:ext cx="47598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1950—53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5329238" y="2217420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8FBFF"/>
                </a:solidFill>
                <a:latin typeface="Arial"/>
                <a:ea typeface="Microsoft YaHei"/>
                <a:cs typeface="Arial"/>
              </a:rPr>
              <a:t>介入朝鲜战争</a:t>
            </a:r>
          </a:p>
        </p:txBody>
      </p:sp>
      <p:sp>
        <p:nvSpPr>
          <p:cNvPr id="117" name="Ellipse 117"/>
          <p:cNvSpPr/>
          <p:nvPr/>
        </p:nvSpPr>
        <p:spPr>
          <a:xfrm>
            <a:off x="5076825" y="2695575"/>
            <a:ext cx="133350" cy="133350"/>
          </a:xfrm>
          <a:prstGeom prst="ellipse">
            <a:avLst/>
          </a:prstGeom>
          <a:solidFill>
            <a:srgbClr val="0D2340"/>
          </a:solidFill>
          <a:ln w="19050">
            <a:solidFill>
              <a:srgbClr val="2563EB"/>
            </a:solidFill>
          </a:ln>
        </p:spPr>
      </p:sp>
      <p:sp>
        <p:nvSpPr>
          <p:cNvPr id="118" name="Ellipse 118"/>
          <p:cNvSpPr/>
          <p:nvPr/>
        </p:nvSpPr>
        <p:spPr>
          <a:xfrm>
            <a:off x="5114925" y="2733675"/>
            <a:ext cx="57150" cy="5715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19" name="TextBox 119"/>
          <p:cNvSpPr txBox="1"/>
          <p:nvPr/>
        </p:nvSpPr>
        <p:spPr>
          <a:xfrm>
            <a:off x="5329238" y="2636520"/>
            <a:ext cx="2760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1955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5329238" y="2788920"/>
            <a:ext cx="122110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8FBFF"/>
                </a:solidFill>
                <a:latin typeface="Arial"/>
                <a:ea typeface="Microsoft YaHei"/>
                <a:cs typeface="Arial"/>
              </a:rPr>
              <a:t>万隆会议第三世界初现</a:t>
            </a:r>
          </a:p>
        </p:txBody>
      </p:sp>
      <p:sp>
        <p:nvSpPr>
          <p:cNvPr id="121" name="Ellipse 121"/>
          <p:cNvSpPr/>
          <p:nvPr/>
        </p:nvSpPr>
        <p:spPr>
          <a:xfrm>
            <a:off x="5076825" y="3267075"/>
            <a:ext cx="133350" cy="133350"/>
          </a:xfrm>
          <a:prstGeom prst="ellipse">
            <a:avLst/>
          </a:prstGeom>
          <a:solidFill>
            <a:srgbClr val="0D2340"/>
          </a:solidFill>
          <a:ln w="19050">
            <a:solidFill>
              <a:srgbClr val="38BDF8"/>
            </a:solidFill>
          </a:ln>
        </p:spPr>
      </p:sp>
      <p:sp>
        <p:nvSpPr>
          <p:cNvPr id="122" name="Ellipse 122"/>
          <p:cNvSpPr/>
          <p:nvPr/>
        </p:nvSpPr>
        <p:spPr>
          <a:xfrm>
            <a:off x="5114925" y="3305175"/>
            <a:ext cx="57150" cy="5715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123" name="TextBox 123"/>
          <p:cNvSpPr txBox="1"/>
          <p:nvPr/>
        </p:nvSpPr>
        <p:spPr>
          <a:xfrm>
            <a:off x="5329238" y="3208020"/>
            <a:ext cx="54262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1960s—75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5329238" y="3360420"/>
            <a:ext cx="9787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8FBFF"/>
                </a:solidFill>
                <a:latin typeface="Arial"/>
                <a:ea typeface="Microsoft YaHei"/>
                <a:cs typeface="Arial"/>
              </a:rPr>
              <a:t>援越抗美战略支点</a:t>
            </a:r>
          </a:p>
        </p:txBody>
      </p:sp>
      <p:sp>
        <p:nvSpPr>
          <p:cNvPr id="125" name="Ellipse 125"/>
          <p:cNvSpPr/>
          <p:nvPr/>
        </p:nvSpPr>
        <p:spPr>
          <a:xfrm>
            <a:off x="5076825" y="3838575"/>
            <a:ext cx="133350" cy="133350"/>
          </a:xfrm>
          <a:prstGeom prst="ellipse">
            <a:avLst/>
          </a:prstGeom>
          <a:solidFill>
            <a:srgbClr val="0D2340"/>
          </a:solidFill>
          <a:ln w="19050">
            <a:solidFill>
              <a:srgbClr val="7C3AED"/>
            </a:solidFill>
          </a:ln>
        </p:spPr>
      </p:sp>
      <p:sp>
        <p:nvSpPr>
          <p:cNvPr id="126" name="Ellipse 126"/>
          <p:cNvSpPr/>
          <p:nvPr/>
        </p:nvSpPr>
        <p:spPr>
          <a:xfrm>
            <a:off x="5114925" y="3876675"/>
            <a:ext cx="57150" cy="5715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27" name="TextBox 127"/>
          <p:cNvSpPr txBox="1"/>
          <p:nvPr/>
        </p:nvSpPr>
        <p:spPr>
          <a:xfrm>
            <a:off x="5329238" y="3779520"/>
            <a:ext cx="2760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7C3AED"/>
                </a:solidFill>
                <a:latin typeface="Consolas"/>
                <a:ea typeface="Consolas"/>
                <a:cs typeface="Consolas"/>
              </a:rPr>
              <a:t>1968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5329238" y="3931920"/>
            <a:ext cx="134226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8FBFF"/>
                </a:solidFill>
                <a:latin typeface="Arial"/>
                <a:ea typeface="Microsoft YaHei"/>
                <a:cs typeface="Arial"/>
              </a:rPr>
              <a:t>巴黎五月风暴毛主义旗帜</a:t>
            </a:r>
          </a:p>
        </p:txBody>
      </p:sp>
      <p:sp>
        <p:nvSpPr>
          <p:cNvPr id="129" name="Ellipse 129"/>
          <p:cNvSpPr/>
          <p:nvPr/>
        </p:nvSpPr>
        <p:spPr>
          <a:xfrm>
            <a:off x="5076825" y="4410075"/>
            <a:ext cx="133350" cy="133350"/>
          </a:xfrm>
          <a:prstGeom prst="ellipse">
            <a:avLst/>
          </a:prstGeom>
          <a:solidFill>
            <a:srgbClr val="0D2340"/>
          </a:solidFill>
          <a:ln w="19050">
            <a:solidFill>
              <a:srgbClr val="7C3AED"/>
            </a:solidFill>
          </a:ln>
        </p:spPr>
      </p:sp>
      <p:sp>
        <p:nvSpPr>
          <p:cNvPr id="130" name="Ellipse 130"/>
          <p:cNvSpPr/>
          <p:nvPr/>
        </p:nvSpPr>
        <p:spPr>
          <a:xfrm>
            <a:off x="5114925" y="4448175"/>
            <a:ext cx="57150" cy="5715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31" name="TextBox 131"/>
          <p:cNvSpPr txBox="1"/>
          <p:nvPr/>
        </p:nvSpPr>
        <p:spPr>
          <a:xfrm>
            <a:off x="5329238" y="4351020"/>
            <a:ext cx="2760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7C3AED"/>
                </a:solidFill>
                <a:latin typeface="Consolas"/>
                <a:ea typeface="Consolas"/>
                <a:cs typeface="Consolas"/>
              </a:rPr>
              <a:t>1974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5329238" y="4503420"/>
            <a:ext cx="134226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8FBFF"/>
                </a:solidFill>
                <a:latin typeface="Arial"/>
                <a:ea typeface="Microsoft YaHei"/>
                <a:cs typeface="Arial"/>
              </a:rPr>
              <a:t>与卡翁达谈三个世界理论</a:t>
            </a:r>
          </a:p>
        </p:txBody>
      </p:sp>
      <p:sp>
        <p:nvSpPr>
          <p:cNvPr id="133" name="Ellipse 133"/>
          <p:cNvSpPr/>
          <p:nvPr/>
        </p:nvSpPr>
        <p:spPr>
          <a:xfrm>
            <a:off x="5076825" y="4886325"/>
            <a:ext cx="133350" cy="133350"/>
          </a:xfrm>
          <a:prstGeom prst="ellipse">
            <a:avLst/>
          </a:prstGeom>
          <a:solidFill>
            <a:srgbClr val="0D2340"/>
          </a:solidFill>
          <a:ln w="19050">
            <a:solidFill>
              <a:srgbClr val="CBD5E1"/>
            </a:solidFill>
          </a:ln>
        </p:spPr>
      </p:sp>
      <p:sp>
        <p:nvSpPr>
          <p:cNvPr id="134" name="Ellipse 134"/>
          <p:cNvSpPr/>
          <p:nvPr/>
        </p:nvSpPr>
        <p:spPr>
          <a:xfrm>
            <a:off x="5114925" y="4924425"/>
            <a:ext cx="57150" cy="57150"/>
          </a:xfrm>
          <a:prstGeom prst="ellipse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35" name="TextBox 135"/>
          <p:cNvSpPr txBox="1"/>
          <p:nvPr/>
        </p:nvSpPr>
        <p:spPr>
          <a:xfrm>
            <a:off x="5329238" y="4827270"/>
            <a:ext cx="2760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CBD5E1"/>
                </a:solidFill>
                <a:latin typeface="Consolas"/>
                <a:ea typeface="Consolas"/>
                <a:cs typeface="Consolas"/>
              </a:rPr>
              <a:t>1981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5329238" y="4979670"/>
            <a:ext cx="134226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8FBFF"/>
                </a:solidFill>
                <a:latin typeface="Arial"/>
                <a:ea typeface="Microsoft YaHei"/>
                <a:cs typeface="Arial"/>
              </a:rPr>
              <a:t>历史决议区分思想与错误</a:t>
            </a:r>
          </a:p>
        </p:txBody>
      </p:sp>
      <p:sp>
        <p:nvSpPr>
          <p:cNvPr id="137" name="Rectangle 137"/>
          <p:cNvSpPr/>
          <p:nvPr/>
        </p:nvSpPr>
        <p:spPr>
          <a:xfrm>
            <a:off x="762000" y="5524500"/>
            <a:ext cx="6858000" cy="762000"/>
          </a:xfrm>
          <a:prstGeom prst="roundRect">
            <a:avLst>
              <a:gd name="adj" fmla="val 7500"/>
            </a:avLst>
          </a:prstGeom>
          <a:solidFill>
            <a:srgbClr val="0B1F38"/>
          </a:solidFill>
          <a:ln w="5715">
            <a:solidFill>
              <a:srgbClr val="2563EB">
                <a:alpha val="40000"/>
              </a:srgbClr>
            </a:solidFill>
          </a:ln>
        </p:spPr>
      </p:sp>
      <p:sp>
        <p:nvSpPr>
          <p:cNvPr id="138" name="TextBox 138"/>
          <p:cNvSpPr txBox="1"/>
          <p:nvPr/>
        </p:nvSpPr>
        <p:spPr>
          <a:xfrm>
            <a:off x="947547" y="5609749"/>
            <a:ext cx="657263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F8FBFF"/>
                </a:solidFill>
                <a:latin typeface="Arial"/>
                <a:ea typeface="Microsoft YaHei"/>
                <a:cs typeface="Arial"/>
              </a:rPr>
              <a:t>《关于建国以来党的若干历史问题的决议》将毛泽东思想与晚年错误论点分开，改革开放后经济部分基本被弃用。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947547" y="5800249"/>
            <a:ext cx="40787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世界评价两极分化：二十世纪最重要人物之一，亦伴随争议政治运动。</a:t>
            </a:r>
          </a:p>
        </p:txBody>
      </p:sp>
      <p:sp>
        <p:nvSpPr>
          <p:cNvPr id="140" name="Rectangle 140"/>
          <p:cNvSpPr/>
          <p:nvPr/>
        </p:nvSpPr>
        <p:spPr>
          <a:xfrm>
            <a:off x="952500" y="6334125"/>
            <a:ext cx="6477000" cy="9525"/>
          </a:xfrm>
          <a:prstGeom prst="roundRect">
            <a:avLst>
              <a:gd name="adj" fmla="val 50000"/>
            </a:avLst>
          </a:prstGeom>
          <a:solidFill>
            <a:srgbClr val="2563EB">
              <a:alpha val="25000"/>
            </a:srgbClr>
          </a:solidFill>
          <a:ln>
            <a:noFill/>
          </a:ln>
        </p:spPr>
      </p:sp>
      <p:sp>
        <p:nvSpPr>
          <p:cNvPr id="141" name="TextBox 141"/>
          <p:cNvSpPr txBox="1"/>
          <p:nvPr/>
        </p:nvSpPr>
        <p:spPr>
          <a:xfrm>
            <a:off x="11379765" y="65541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CBD5E1">
                    <a:alphaMod val="60000"/>
                  </a:srgbClr>
                </a:solidFill>
                <a:latin typeface="Consolas"/>
                <a:ea typeface="Consolas"/>
                <a:cs typeface="Consolas"/>
              </a:rPr>
              <a:t>06 / 06</a:t>
            </a:r>
          </a:p>
        </p:txBody>
      </p:sp>
      <p:sp>
        <p:nvSpPr>
          <p:cNvPr id="142" name="Ellipse 142"/>
          <p:cNvSpPr/>
          <p:nvPr/>
        </p:nvSpPr>
        <p:spPr>
          <a:xfrm>
            <a:off x="2076450" y="6600825"/>
            <a:ext cx="38100" cy="38100"/>
          </a:xfrm>
          <a:prstGeom prst="ellipse">
            <a:avLst/>
          </a:prstGeom>
          <a:solidFill>
            <a:srgbClr val="2563EB">
              <a:alpha val="40000"/>
            </a:srgbClr>
          </a:solidFill>
          <a:ln>
            <a:noFill/>
          </a:ln>
        </p:spPr>
      </p:sp>
      <p:sp>
        <p:nvSpPr>
          <p:cNvPr id="143" name="Ellipse 143"/>
          <p:cNvSpPr/>
          <p:nvPr/>
        </p:nvSpPr>
        <p:spPr>
          <a:xfrm>
            <a:off x="6076950" y="6600825"/>
            <a:ext cx="38100" cy="38100"/>
          </a:xfrm>
          <a:prstGeom prst="ellipse">
            <a:avLst/>
          </a:prstGeom>
          <a:solidFill>
            <a:srgbClr val="7C3AED">
              <a:alpha val="40000"/>
            </a:srgbClr>
          </a:solidFill>
          <a:ln>
            <a:noFill/>
          </a:ln>
        </p:spPr>
      </p:sp>
      <p:sp>
        <p:nvSpPr>
          <p:cNvPr id="144" name="Ellipse 144"/>
          <p:cNvSpPr/>
          <p:nvPr/>
        </p:nvSpPr>
        <p:spPr>
          <a:xfrm>
            <a:off x="10077450" y="6600825"/>
            <a:ext cx="38100" cy="38100"/>
          </a:xfrm>
          <a:prstGeom prst="ellipse">
            <a:avLst/>
          </a:prstGeom>
          <a:solidFill>
            <a:srgbClr val="38BDF8">
              <a:alpha val="4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2026-07-18T15:12:09Z</dcterms:created>
  <dcterms:modified xsi:type="dcterms:W3CDTF">2026-07-18T15:12:09Z</dcterms:modified>
  <cp:category/>
  <cp:contentStatus/>
</cp:coreProperties>
</file>