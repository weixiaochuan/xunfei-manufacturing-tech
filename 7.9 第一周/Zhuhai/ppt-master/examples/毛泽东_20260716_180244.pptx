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308061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毛泽东：多维观察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23490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从来源 1与毛泽东等维度展开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847850"/>
            <a:ext cx="4171950" cy="4095750"/>
          </a:xfrm>
          <a:prstGeom prst="roundRect">
            <a:avLst>
              <a:gd name="adj" fmla="val 1395"/>
            </a:avLst>
          </a:prstGeom>
          <a:solidFill>
            <a:srgbClr val="E9F0F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857250" y="2171700"/>
            <a:ext cx="704850" cy="571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38200" y="2659380"/>
            <a:ext cx="2090517" cy="1276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6600" b="1" dirty="0">
                <a:solidFill>
                  <a:srgbClr val="E9ECF0"/>
                </a:solidFill>
                <a:latin typeface="Arial"/>
                <a:ea typeface="Arial"/>
                <a:cs typeface="Arial"/>
              </a:rPr>
              <a:t>1893</a:t>
            </a:r>
          </a:p>
        </p:txBody>
      </p:sp>
      <p:sp>
        <p:nvSpPr>
          <p:cNvPr id="10" name="Ellipse 10"/>
          <p:cNvSpPr/>
          <p:nvPr/>
        </p:nvSpPr>
        <p:spPr>
          <a:xfrm>
            <a:off x="3467100" y="4667250"/>
            <a:ext cx="1409700" cy="1409700"/>
          </a:xfrm>
          <a:prstGeom prst="ellipse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51154" y="2436495"/>
            <a:ext cx="13691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毛泽东：多维观察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46582" y="4331018"/>
            <a:ext cx="383569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从来源 1与毛泽东等维度展开</a:t>
            </a:r>
          </a:p>
        </p:txBody>
      </p:sp>
      <p:sp>
        <p:nvSpPr>
          <p:cNvPr id="13" name="Line 13"/>
          <p:cNvSpPr/>
          <p:nvPr/>
        </p:nvSpPr>
        <p:spPr>
          <a:xfrm>
            <a:off x="5162550" y="186690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14" name="Line 14"/>
          <p:cNvSpPr/>
          <p:nvPr/>
        </p:nvSpPr>
        <p:spPr>
          <a:xfrm>
            <a:off x="5162550" y="3819525"/>
            <a:ext cx="6496050" cy="9525"/>
          </a:xfrm>
          <a:custGeom>
            <a:avLst/>
            <a:gdLst/>
            <a:ahLst/>
            <a:cxnLst/>
            <a:rect l="l" t="t" r="r" b="b"/>
            <a:pathLst>
              <a:path w="6496050" h="9525">
                <a:moveTo>
                  <a:pt x="0" y="0"/>
                </a:moveTo>
                <a:lnTo>
                  <a:pt x="649605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5345430" y="2084070"/>
            <a:ext cx="61951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来源 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346192" y="2474595"/>
            <a:ext cx="635860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毛泽东（1893年12月26日—1976年9月9日），字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润之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，湖南湘潭人，中国近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347716" y="3024188"/>
            <a:ext cx="354444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代马列主义理论家、革命家、政治家、军事战略家与诗人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348288" y="3584734"/>
            <a:ext cx="135892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来源 1：文档｜毛泽东 素材</a:t>
            </a:r>
          </a:p>
        </p:txBody>
      </p:sp>
      <p:sp>
        <p:nvSpPr>
          <p:cNvPr id="19" name="Line 19"/>
          <p:cNvSpPr/>
          <p:nvPr/>
        </p:nvSpPr>
        <p:spPr>
          <a:xfrm>
            <a:off x="5162550" y="398145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7C3AED"/>
            </a:solidFill>
          </a:ln>
        </p:spPr>
      </p:sp>
      <p:sp>
        <p:nvSpPr>
          <p:cNvPr id="20" name="Line 20"/>
          <p:cNvSpPr/>
          <p:nvPr/>
        </p:nvSpPr>
        <p:spPr>
          <a:xfrm>
            <a:off x="5162550" y="5934075"/>
            <a:ext cx="6496050" cy="9525"/>
          </a:xfrm>
          <a:custGeom>
            <a:avLst/>
            <a:gdLst/>
            <a:ahLst/>
            <a:cxnLst/>
            <a:rect l="l" t="t" r="r" b="b"/>
            <a:pathLst>
              <a:path w="6496050" h="9525">
                <a:moveTo>
                  <a:pt x="0" y="0"/>
                </a:moveTo>
                <a:lnTo>
                  <a:pt x="649605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5345430" y="4198620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毛泽东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346192" y="4589145"/>
            <a:ext cx="6359509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毛泽东（1893年12月26日—1976年9月9日），字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润之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，湖南湘潭人，中国近代马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列主义理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347716" y="5138738"/>
            <a:ext cx="269633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论家、革命家、政治家、军事战略家与诗人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348288" y="5699284"/>
            <a:ext cx="631781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毛泽东（1893年12月26日—1976年9月9日），字润之，湖南湘潭人，中国近代马列主义理论家、革命家、政治家、军事战略家与…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25" name="Line 25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01 / 06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308061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毛泽东：多维观察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234903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从来源 1与毛泽东等维度展开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33400" y="1962150"/>
            <a:ext cx="5448300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533400" y="1962150"/>
            <a:ext cx="54483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716280" y="2293620"/>
            <a:ext cx="61951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来源 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17042" y="2665095"/>
            <a:ext cx="5234369" cy="7212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毛泽东（1893年12月26日—1976年9月9日），字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润之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，湖南湘潭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人，中国近代马列主义理论家、革命家、政治家、军事战略家与诗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人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19138" y="3575209"/>
            <a:ext cx="135892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来源 1：文档｜毛泽东 素材</a:t>
            </a:r>
          </a:p>
        </p:txBody>
      </p:sp>
      <p:sp>
        <p:nvSpPr>
          <p:cNvPr id="12" name="Rectangle 12"/>
          <p:cNvSpPr/>
          <p:nvPr/>
        </p:nvSpPr>
        <p:spPr>
          <a:xfrm>
            <a:off x="6210300" y="1962150"/>
            <a:ext cx="5448300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6210300" y="1962150"/>
            <a:ext cx="5448300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393180" y="2293620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毛泽东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95466" y="2666048"/>
            <a:ext cx="5226320" cy="3768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350"/>
              </a:lnSpc>
            </a:pPr>
            <a:r>
              <a:rPr lang="zh-CN" sz="10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毛泽东（1893年12月26日—1976年9月9日），字</a:t>
            </a:r>
            <a:r>
              <a:rPr lang="zh-CN" sz="10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润之</a:t>
            </a:r>
            <a:r>
              <a:rPr lang="zh-CN" sz="10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，湖南湘潭人，中国近代马列主</a:t>
            </a:r>
            <a:r>
              <a:rPr lang="zh-CN" sz="10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义理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395466" y="3094673"/>
            <a:ext cx="269633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论家、革命家、政治家、军事战略家与诗人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96038" y="3575209"/>
            <a:ext cx="520720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毛泽东（1893年12月26日—1976年9月9日），字润之，湖南湘潭人，中国近代马列主义理论家、革命家、…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33400" y="4010025"/>
            <a:ext cx="5448300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533400" y="4010025"/>
            <a:ext cx="5448300" cy="762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16280" y="4341495"/>
            <a:ext cx="2601963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1943年成为中共最高领导人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17042" y="4712970"/>
            <a:ext cx="5270373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1943年成为中共最高领导人，是中国共产党、中国人民解放军和中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华人民共和国的缔造者之一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9138" y="5623084"/>
            <a:ext cx="4585259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1943年成为中共最高领导人，是中国共产党、中国人民解放军和中华人民共和国的缔造者之一</a:t>
            </a:r>
          </a:p>
        </p:txBody>
      </p:sp>
      <p:sp>
        <p:nvSpPr>
          <p:cNvPr id="23" name="Rectangle 23"/>
          <p:cNvSpPr/>
          <p:nvPr/>
        </p:nvSpPr>
        <p:spPr>
          <a:xfrm>
            <a:off x="6210300" y="4010025"/>
            <a:ext cx="5448300" cy="1857375"/>
          </a:xfrm>
          <a:prstGeom prst="roundRect">
            <a:avLst>
              <a:gd name="adj" fmla="val 3077"/>
            </a:avLst>
          </a:prstGeom>
          <a:solidFill>
            <a:srgbClr val="FEFFFF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6210300" y="4010025"/>
            <a:ext cx="5448300" cy="7620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393180" y="4341495"/>
            <a:ext cx="192347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毛泽东生于农民家庭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395466" y="4713922"/>
            <a:ext cx="5247322" cy="3768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350"/>
              </a:lnSpc>
            </a:pPr>
            <a:r>
              <a:rPr lang="zh-CN" sz="10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毛泽东生于农民家庭，早年入私塾，1918年毕业于湖南省立第一师范学校，1920年在</a:t>
            </a:r>
            <a:r>
              <a:rPr lang="zh-CN" sz="10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湖南创建中共早期组织，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395466" y="5142548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次年出席中共一大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396038" y="5623084"/>
            <a:ext cx="522386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毛泽东生于农民家庭，早年入私塾，1918年毕业于湖南省立第一师范学校，1920年在湖南创建中共早期组…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29" name="Line 29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02 / 06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384390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中华人民共和国成立后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299420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从1949到1970，关键事件沿时间推进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Line 7"/>
          <p:cNvSpPr/>
          <p:nvPr/>
        </p:nvSpPr>
        <p:spPr>
          <a:xfrm>
            <a:off x="781050" y="2152650"/>
            <a:ext cx="10629900" cy="9525"/>
          </a:xfrm>
          <a:custGeom>
            <a:avLst/>
            <a:gdLst/>
            <a:ahLst/>
            <a:cxnLst/>
            <a:rect l="l" t="t" r="r" b="b"/>
            <a:pathLst>
              <a:path w="10629900" h="9525">
                <a:moveTo>
                  <a:pt x="0" y="0"/>
                </a:moveTo>
                <a:lnTo>
                  <a:pt x="10629900" y="0"/>
                </a:lnTo>
              </a:path>
            </a:pathLst>
          </a:custGeom>
          <a:noFill/>
          <a:ln w="38100">
            <a:solidFill>
              <a:srgbClr val="C1D3FA"/>
            </a:solidFill>
          </a:ln>
        </p:spPr>
      </p:sp>
      <p:sp>
        <p:nvSpPr>
          <p:cNvPr id="8" name="Line 8"/>
          <p:cNvSpPr/>
          <p:nvPr/>
        </p:nvSpPr>
        <p:spPr>
          <a:xfrm>
            <a:off x="3267075" y="21526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9050">
            <a:solidFill>
              <a:srgbClr val="C1D3FA"/>
            </a:solidFill>
          </a:ln>
        </p:spPr>
      </p:sp>
      <p:sp>
        <p:nvSpPr>
          <p:cNvPr id="9" name="Ellipse 9"/>
          <p:cNvSpPr/>
          <p:nvPr/>
        </p:nvSpPr>
        <p:spPr>
          <a:xfrm>
            <a:off x="3143250" y="2028825"/>
            <a:ext cx="247650" cy="2476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3219450" y="2105025"/>
            <a:ext cx="95250" cy="95250"/>
          </a:xfrm>
          <a:prstGeom prst="ellipse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651777" y="4053840"/>
            <a:ext cx="96339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000" b="1" dirty="0">
                <a:solidFill>
                  <a:srgbClr val="E9ECF0"/>
                </a:solidFill>
                <a:latin typeface="Arial"/>
                <a:ea typeface="Arial"/>
                <a:cs typeface="Arial"/>
              </a:rPr>
              <a:t>1949</a:t>
            </a:r>
          </a:p>
        </p:txBody>
      </p:sp>
      <p:sp>
        <p:nvSpPr>
          <p:cNvPr id="12" name="Line 12"/>
          <p:cNvSpPr/>
          <p:nvPr/>
        </p:nvSpPr>
        <p:spPr>
          <a:xfrm>
            <a:off x="1714500" y="2647950"/>
            <a:ext cx="9525" cy="3200400"/>
          </a:xfrm>
          <a:custGeom>
            <a:avLst/>
            <a:gdLst/>
            <a:ahLst/>
            <a:cxnLst/>
            <a:rect l="l" t="t" r="r" b="b"/>
            <a:pathLst>
              <a:path w="9525" h="3200400">
                <a:moveTo>
                  <a:pt x="0" y="0"/>
                </a:moveTo>
                <a:lnTo>
                  <a:pt x="0" y="3200400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2125980" y="2769870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据多方估计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126742" y="3160395"/>
            <a:ext cx="3794189" cy="7212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据多方估计，1949年至1976年间，因上述政治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运动以及三年大饥荒等灾祸，中国大陆的非正常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死亡人数达到4000万至8000万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128838" y="5718334"/>
            <a:ext cx="373563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中华人民共和国成立后，毛泽东先后主导发起了土地改革运动、社会主义改…</a:t>
            </a:r>
          </a:p>
        </p:txBody>
      </p:sp>
      <p:sp>
        <p:nvSpPr>
          <p:cNvPr id="16" name="Line 16"/>
          <p:cNvSpPr/>
          <p:nvPr/>
        </p:nvSpPr>
        <p:spPr>
          <a:xfrm>
            <a:off x="8924925" y="21526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19050">
            <a:solidFill>
              <a:srgbClr val="C1D3FA"/>
            </a:solidFill>
          </a:ln>
        </p:spPr>
      </p:sp>
      <p:sp>
        <p:nvSpPr>
          <p:cNvPr id="17" name="Ellipse 17"/>
          <p:cNvSpPr/>
          <p:nvPr/>
        </p:nvSpPr>
        <p:spPr>
          <a:xfrm>
            <a:off x="8801100" y="2028825"/>
            <a:ext cx="247650" cy="24765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8877300" y="2105025"/>
            <a:ext cx="95250" cy="95250"/>
          </a:xfrm>
          <a:prstGeom prst="ellipse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309627" y="4053840"/>
            <a:ext cx="963397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000" b="1" dirty="0">
                <a:solidFill>
                  <a:srgbClr val="E9ECF0"/>
                </a:solidFill>
                <a:latin typeface="Arial"/>
                <a:ea typeface="Arial"/>
                <a:cs typeface="Arial"/>
              </a:rPr>
              <a:t>1970</a:t>
            </a:r>
          </a:p>
        </p:txBody>
      </p:sp>
      <p:sp>
        <p:nvSpPr>
          <p:cNvPr id="20" name="Line 20"/>
          <p:cNvSpPr/>
          <p:nvPr/>
        </p:nvSpPr>
        <p:spPr>
          <a:xfrm>
            <a:off x="7372350" y="2647950"/>
            <a:ext cx="9525" cy="3200400"/>
          </a:xfrm>
          <a:custGeom>
            <a:avLst/>
            <a:gdLst/>
            <a:ahLst/>
            <a:cxnLst/>
            <a:rect l="l" t="t" r="r" b="b"/>
            <a:pathLst>
              <a:path w="9525" h="3200400">
                <a:moveTo>
                  <a:pt x="0" y="0"/>
                </a:moveTo>
                <a:lnTo>
                  <a:pt x="0" y="3200400"/>
                </a:lnTo>
              </a:path>
            </a:pathLst>
          </a:custGeom>
          <a:noFill/>
          <a:ln w="19050">
            <a:solidFill>
              <a:srgbClr val="7C3AE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7783830" y="276987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与此同时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784592" y="3160395"/>
            <a:ext cx="3974211" cy="7212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与此同时，毛泽东等人在中国大陆展开扫盲运动，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制定《五四宪法》，并于1970年代初期开始实行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计划生育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86688" y="5718334"/>
            <a:ext cx="3796722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与此同时，毛泽东等人在中国大陆展开扫盲运动，制定《五四宪法》，并于1…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24" name="Line 24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03 / 06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754589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新中国成立后 vs 认清只有彻底改造这个社会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47388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对照新中国成立后与认清只有彻底改造这个社会的关键差异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Line 7"/>
          <p:cNvSpPr/>
          <p:nvPr/>
        </p:nvSpPr>
        <p:spPr>
          <a:xfrm>
            <a:off x="6096000" y="1924050"/>
            <a:ext cx="9525" cy="3905250"/>
          </a:xfrm>
          <a:custGeom>
            <a:avLst/>
            <a:gdLst/>
            <a:ahLst/>
            <a:cxnLst/>
            <a:rect l="l" t="t" r="r" b="b"/>
            <a:pathLst>
              <a:path w="9525" h="3905250">
                <a:moveTo>
                  <a:pt x="0" y="0"/>
                </a:moveTo>
                <a:lnTo>
                  <a:pt x="0" y="3905250"/>
                </a:lnTo>
              </a:path>
            </a:pathLst>
          </a:custGeom>
          <a:noFill/>
          <a:ln w="19050">
            <a:solidFill>
              <a:srgbClr val="C1D3FA"/>
            </a:solidFill>
          </a:ln>
        </p:spPr>
      </p:sp>
      <p:sp>
        <p:nvSpPr>
          <p:cNvPr id="8" name="Ellipse 8"/>
          <p:cNvSpPr/>
          <p:nvPr/>
        </p:nvSpPr>
        <p:spPr>
          <a:xfrm>
            <a:off x="5867400" y="3648075"/>
            <a:ext cx="457200" cy="457200"/>
          </a:xfrm>
          <a:prstGeom prst="ellipse">
            <a:avLst/>
          </a:prstGeom>
          <a:solidFill>
            <a:srgbClr val="F8FBFF"/>
          </a:solidFill>
          <a:ln w="19050">
            <a:solidFill>
              <a:srgbClr val="2563EB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6010957" y="3813334"/>
            <a:ext cx="17008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b="1" dirty="0">
                <a:solidFill>
                  <a:srgbClr val="2563EB"/>
                </a:solidFill>
                <a:latin typeface="Arial"/>
                <a:ea typeface="Arial"/>
                <a:cs typeface="Arial"/>
              </a:rPr>
              <a:t>VS</a:t>
            </a:r>
          </a:p>
        </p:txBody>
      </p:sp>
      <p:sp>
        <p:nvSpPr>
          <p:cNvPr id="10" name="Line 10"/>
          <p:cNvSpPr/>
          <p:nvPr/>
        </p:nvSpPr>
        <p:spPr>
          <a:xfrm>
            <a:off x="533400" y="1790700"/>
            <a:ext cx="5448300" cy="9525"/>
          </a:xfrm>
          <a:custGeom>
            <a:avLst/>
            <a:gdLst/>
            <a:ahLst/>
            <a:cxnLst/>
            <a:rect l="l" t="t" r="r" b="b"/>
            <a:pathLst>
              <a:path w="5448300" h="9525">
                <a:moveTo>
                  <a:pt x="0" y="0"/>
                </a:moveTo>
                <a:lnTo>
                  <a:pt x="5448300" y="0"/>
                </a:lnTo>
              </a:path>
            </a:pathLst>
          </a:custGeom>
          <a:noFill/>
          <a:ln w="76200">
            <a:solidFill>
              <a:srgbClr val="2563EB"/>
            </a:solidFill>
          </a:ln>
        </p:spPr>
      </p:sp>
      <p:sp>
        <p:nvSpPr>
          <p:cNvPr id="11" name="Line 11"/>
          <p:cNvSpPr/>
          <p:nvPr/>
        </p:nvSpPr>
        <p:spPr>
          <a:xfrm>
            <a:off x="533400" y="5962650"/>
            <a:ext cx="5448300" cy="9525"/>
          </a:xfrm>
          <a:custGeom>
            <a:avLst/>
            <a:gdLst/>
            <a:ahLst/>
            <a:cxnLst/>
            <a:rect l="l" t="t" r="r" b="b"/>
            <a:pathLst>
              <a:path w="5448300" h="9525">
                <a:moveTo>
                  <a:pt x="0" y="0"/>
                </a:moveTo>
                <a:lnTo>
                  <a:pt x="544830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791337" y="2083594"/>
            <a:ext cx="1480509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新中国成立后</a:t>
            </a:r>
          </a:p>
        </p:txBody>
      </p:sp>
      <p:sp>
        <p:nvSpPr>
          <p:cNvPr id="13" name="Line 13"/>
          <p:cNvSpPr/>
          <p:nvPr/>
        </p:nvSpPr>
        <p:spPr>
          <a:xfrm>
            <a:off x="723900" y="257175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14" name="Line 14"/>
          <p:cNvSpPr/>
          <p:nvPr/>
        </p:nvSpPr>
        <p:spPr>
          <a:xfrm>
            <a:off x="723900" y="5819775"/>
            <a:ext cx="5067300" cy="9525"/>
          </a:xfrm>
          <a:custGeom>
            <a:avLst/>
            <a:gdLst/>
            <a:ahLst/>
            <a:cxnLst/>
            <a:rect l="l" t="t" r="r" b="b"/>
            <a:pathLst>
              <a:path w="5067300" h="9525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906780" y="278892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新中国成立后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07542" y="3179445"/>
            <a:ext cx="4874324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新中国成立后，毛泽东曾向堂弟毛泽连称，认为父亲毛顺生买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进毛泽连父亲毛菊生赖以活命的7亩田极不道德，并反思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9066" y="4723448"/>
            <a:ext cx="319813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道：“这不光是个人与家庭问题，还是社会制度问题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09638" y="5584984"/>
            <a:ext cx="4796276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新中国成立后，毛泽东曾向堂弟毛泽连称，认为父亲毛顺生买进毛泽连父亲毛菊生赖以活命的7亩…</a:t>
            </a:r>
          </a:p>
        </p:txBody>
      </p:sp>
      <p:sp>
        <p:nvSpPr>
          <p:cNvPr id="19" name="Line 19"/>
          <p:cNvSpPr/>
          <p:nvPr/>
        </p:nvSpPr>
        <p:spPr>
          <a:xfrm>
            <a:off x="6210300" y="1790700"/>
            <a:ext cx="5448300" cy="9525"/>
          </a:xfrm>
          <a:custGeom>
            <a:avLst/>
            <a:gdLst/>
            <a:ahLst/>
            <a:cxnLst/>
            <a:rect l="l" t="t" r="r" b="b"/>
            <a:pathLst>
              <a:path w="5448300" h="9525">
                <a:moveTo>
                  <a:pt x="0" y="0"/>
                </a:moveTo>
                <a:lnTo>
                  <a:pt x="5448300" y="0"/>
                </a:lnTo>
              </a:path>
            </a:pathLst>
          </a:custGeom>
          <a:noFill/>
          <a:ln w="76200">
            <a:solidFill>
              <a:srgbClr val="7C3AED"/>
            </a:solidFill>
          </a:ln>
        </p:spPr>
      </p:sp>
      <p:sp>
        <p:nvSpPr>
          <p:cNvPr id="20" name="Line 20"/>
          <p:cNvSpPr/>
          <p:nvPr/>
        </p:nvSpPr>
        <p:spPr>
          <a:xfrm>
            <a:off x="6210300" y="5962650"/>
            <a:ext cx="5448300" cy="9525"/>
          </a:xfrm>
          <a:custGeom>
            <a:avLst/>
            <a:gdLst/>
            <a:ahLst/>
            <a:cxnLst/>
            <a:rect l="l" t="t" r="r" b="b"/>
            <a:pathLst>
              <a:path w="5448300" h="9525">
                <a:moveTo>
                  <a:pt x="0" y="0"/>
                </a:moveTo>
                <a:lnTo>
                  <a:pt x="544830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468237" y="2083594"/>
            <a:ext cx="2943492" cy="3373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72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认清只有彻底改造这个社会</a:t>
            </a:r>
          </a:p>
        </p:txBody>
      </p:sp>
      <p:sp>
        <p:nvSpPr>
          <p:cNvPr id="22" name="Line 22"/>
          <p:cNvSpPr/>
          <p:nvPr/>
        </p:nvSpPr>
        <p:spPr>
          <a:xfrm>
            <a:off x="6400800" y="2571750"/>
            <a:ext cx="552450" cy="9525"/>
          </a:xfrm>
          <a:custGeom>
            <a:avLst/>
            <a:gdLst/>
            <a:ahLst/>
            <a:cxnLst/>
            <a:rect l="l" t="t" r="r" b="b"/>
            <a:pathLst>
              <a:path w="552450" h="9525">
                <a:moveTo>
                  <a:pt x="0" y="0"/>
                </a:moveTo>
                <a:lnTo>
                  <a:pt x="55245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23" name="Line 23"/>
          <p:cNvSpPr/>
          <p:nvPr/>
        </p:nvSpPr>
        <p:spPr>
          <a:xfrm>
            <a:off x="6400800" y="5819775"/>
            <a:ext cx="5067300" cy="9525"/>
          </a:xfrm>
          <a:custGeom>
            <a:avLst/>
            <a:gdLst/>
            <a:ahLst/>
            <a:cxnLst/>
            <a:rect l="l" t="t" r="r" b="b"/>
            <a:pathLst>
              <a:path w="5067300" h="9525">
                <a:moveTo>
                  <a:pt x="0" y="0"/>
                </a:moveTo>
                <a:lnTo>
                  <a:pt x="5067300" y="0"/>
                </a:lnTo>
              </a:path>
            </a:pathLst>
          </a:custGeom>
          <a:noFill/>
          <a:ln w="9525">
            <a:solidFill>
              <a:srgbClr val="C1D3FA"/>
            </a:solidFill>
          </a:ln>
        </p:spPr>
      </p:sp>
      <p:sp>
        <p:nvSpPr>
          <p:cNvPr id="24" name="TextBox 24"/>
          <p:cNvSpPr txBox="1"/>
          <p:nvPr/>
        </p:nvSpPr>
        <p:spPr>
          <a:xfrm>
            <a:off x="6583680" y="2788920"/>
            <a:ext cx="255955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认清只有彻底改造这个社会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584442" y="3179445"/>
            <a:ext cx="4874324" cy="492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认清只有彻底改造这个社会，才能根绝这类事情，于是下决心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寻找一条解救穷苦农民的道路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586538" y="5584984"/>
            <a:ext cx="4451985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认清只有彻底改造这个社会，才能根绝这类事情，于是下决心寻找一条解救穷苦农民的道路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27" name="Line 27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04 / 06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3118778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( 10–11 10月24日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313959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1912年春，毛泽东退出军队，继续求学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Polygon 7"/>
          <p:cNvSpPr/>
          <p:nvPr/>
        </p:nvSpPr>
        <p:spPr>
          <a:xfrm>
            <a:off x="533400" y="2114550"/>
            <a:ext cx="2538412" cy="3771900"/>
          </a:xfrm>
          <a:custGeom>
            <a:avLst/>
            <a:gdLst/>
            <a:ahLst/>
            <a:cxnLst/>
            <a:rect l="l" t="t" r="r" b="b"/>
            <a:pathLst>
              <a:path w="2538412" h="3771900">
                <a:moveTo>
                  <a:pt x="0" y="0"/>
                </a:moveTo>
                <a:lnTo>
                  <a:pt x="2290762" y="0"/>
                </a:lnTo>
                <a:lnTo>
                  <a:pt x="2538412" y="247650"/>
                </a:lnTo>
                <a:lnTo>
                  <a:pt x="2538412" y="3771900"/>
                </a:lnTo>
                <a:lnTo>
                  <a:pt x="0" y="3771900"/>
                </a:lnTo>
                <a:close/>
              </a:path>
            </a:pathLst>
          </a:custGeom>
          <a:solidFill>
            <a:srgbClr val="E9F0FE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704850" y="2266950"/>
            <a:ext cx="438150" cy="2857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9194" y="2351723"/>
            <a:ext cx="1494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49680" y="2350770"/>
            <a:ext cx="90575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1912年春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50442" y="2741295"/>
            <a:ext cx="1489900" cy="7212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1912年春，毛泽东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退出军队，继续求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学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52538" y="5642134"/>
            <a:ext cx="1525514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( 10–11 10月24日，毛泽东投…</a:t>
            </a:r>
          </a:p>
        </p:txBody>
      </p:sp>
      <p:sp>
        <p:nvSpPr>
          <p:cNvPr id="13" name="Line 13"/>
          <p:cNvSpPr/>
          <p:nvPr/>
        </p:nvSpPr>
        <p:spPr>
          <a:xfrm>
            <a:off x="3148012" y="4000500"/>
            <a:ext cx="171450" cy="9525"/>
          </a:xfrm>
          <a:custGeom>
            <a:avLst/>
            <a:gdLst/>
            <a:ahLst/>
            <a:cxnLst/>
            <a:rect l="l" t="t" r="r" b="b"/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  <p:sp>
        <p:nvSpPr>
          <p:cNvPr id="14" name="Polygon 14"/>
          <p:cNvSpPr/>
          <p:nvPr/>
        </p:nvSpPr>
        <p:spPr>
          <a:xfrm>
            <a:off x="3319462" y="3924300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0" y="0"/>
                </a:moveTo>
                <a:lnTo>
                  <a:pt x="95250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15" name="Polygon 15"/>
          <p:cNvSpPr/>
          <p:nvPr/>
        </p:nvSpPr>
        <p:spPr>
          <a:xfrm>
            <a:off x="3395662" y="2114550"/>
            <a:ext cx="2538412" cy="3771900"/>
          </a:xfrm>
          <a:custGeom>
            <a:avLst/>
            <a:gdLst/>
            <a:ahLst/>
            <a:cxnLst/>
            <a:rect l="l" t="t" r="r" b="b"/>
            <a:pathLst>
              <a:path w="2538412" h="3771900">
                <a:moveTo>
                  <a:pt x="0" y="0"/>
                </a:moveTo>
                <a:lnTo>
                  <a:pt x="2290762" y="0"/>
                </a:lnTo>
                <a:lnTo>
                  <a:pt x="2538412" y="247650"/>
                </a:lnTo>
                <a:lnTo>
                  <a:pt x="2538412" y="3771900"/>
                </a:lnTo>
                <a:lnTo>
                  <a:pt x="0" y="3771900"/>
                </a:lnTo>
                <a:close/>
              </a:path>
            </a:pathLst>
          </a:custGeom>
          <a:solidFill>
            <a:srgbClr val="E9F0FE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3567112" y="2266950"/>
            <a:ext cx="438150" cy="28575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3711456" y="2351723"/>
            <a:ext cx="1494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113086" y="2265521"/>
            <a:ext cx="1543145" cy="4493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575"/>
              </a:lnSpc>
            </a:pPr>
            <a:r>
              <a:rPr lang="zh-CN" sz="128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他曾在湖南公立高等</a:t>
            </a:r>
            <a:r>
              <a:rPr lang="zh-CN" sz="128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商业学校学习一个月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112704" y="2741295"/>
            <a:ext cx="1453896" cy="11784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他曾在湖南公立高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等商业学校学习一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个月，后因不适应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全英文教学而主动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退学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14800" y="5642134"/>
            <a:ext cx="1536621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1912年春，毛泽东退出军队，…</a:t>
            </a:r>
          </a:p>
        </p:txBody>
      </p:sp>
      <p:sp>
        <p:nvSpPr>
          <p:cNvPr id="21" name="Line 21"/>
          <p:cNvSpPr/>
          <p:nvPr/>
        </p:nvSpPr>
        <p:spPr>
          <a:xfrm>
            <a:off x="6010275" y="4000500"/>
            <a:ext cx="171450" cy="9525"/>
          </a:xfrm>
          <a:custGeom>
            <a:avLst/>
            <a:gdLst/>
            <a:ahLst/>
            <a:cxnLst/>
            <a:rect l="l" t="t" r="r" b="b"/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  <p:sp>
        <p:nvSpPr>
          <p:cNvPr id="22" name="Polygon 22"/>
          <p:cNvSpPr/>
          <p:nvPr/>
        </p:nvSpPr>
        <p:spPr>
          <a:xfrm>
            <a:off x="6181725" y="3924300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0" y="0"/>
                </a:moveTo>
                <a:lnTo>
                  <a:pt x="95250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23" name="Polygon 23"/>
          <p:cNvSpPr/>
          <p:nvPr/>
        </p:nvSpPr>
        <p:spPr>
          <a:xfrm>
            <a:off x="6257925" y="2114550"/>
            <a:ext cx="2538412" cy="3771900"/>
          </a:xfrm>
          <a:custGeom>
            <a:avLst/>
            <a:gdLst/>
            <a:ahLst/>
            <a:cxnLst/>
            <a:rect l="l" t="t" r="r" b="b"/>
            <a:pathLst>
              <a:path w="2538412" h="3771900">
                <a:moveTo>
                  <a:pt x="0" y="0"/>
                </a:moveTo>
                <a:lnTo>
                  <a:pt x="2290762" y="0"/>
                </a:lnTo>
                <a:lnTo>
                  <a:pt x="2538412" y="247650"/>
                </a:lnTo>
                <a:lnTo>
                  <a:pt x="2538412" y="3771900"/>
                </a:lnTo>
                <a:lnTo>
                  <a:pt x="0" y="3771900"/>
                </a:lnTo>
                <a:close/>
              </a:path>
            </a:pathLst>
          </a:custGeom>
          <a:solidFill>
            <a:srgbClr val="E9F0FE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6429375" y="2266950"/>
            <a:ext cx="438150" cy="28575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573719" y="2351723"/>
            <a:ext cx="1494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74205" y="2350770"/>
            <a:ext cx="8951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第 3 部分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974967" y="2741295"/>
            <a:ext cx="1453896" cy="1635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之后，毛泽东又以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第一名成绩考入湖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南全省公立高等中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学校，不过由于学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校课程有限，他决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定退学自修，前往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湖南图书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976872" y="4780121"/>
            <a:ext cx="1619631" cy="6764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275"/>
              </a:lnSpc>
            </a:pPr>
            <a:r>
              <a:rPr lang="zh-CN" sz="9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馆读书，并开始阅读《原富》</a:t>
            </a:r>
            <a:r>
              <a:rPr lang="zh-CN" sz="9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、《法意》、《民约论》、</a:t>
            </a:r>
            <a:r>
              <a:rPr lang="zh-CN" sz="9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《天演论》等西方近代思想</a:t>
            </a:r>
            <a:r>
              <a:rPr lang="zh-CN" sz="9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经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977062" y="5642134"/>
            <a:ext cx="151440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他曾在湖南公立高等商业学校…</a:t>
            </a:r>
          </a:p>
        </p:txBody>
      </p:sp>
      <p:sp>
        <p:nvSpPr>
          <p:cNvPr id="30" name="Line 30"/>
          <p:cNvSpPr/>
          <p:nvPr/>
        </p:nvSpPr>
        <p:spPr>
          <a:xfrm>
            <a:off x="8872538" y="4000500"/>
            <a:ext cx="171450" cy="9525"/>
          </a:xfrm>
          <a:custGeom>
            <a:avLst/>
            <a:gdLst/>
            <a:ahLst/>
            <a:cxnLst/>
            <a:rect l="l" t="t" r="r" b="b"/>
            <a:pathLst>
              <a:path w="171450" h="9525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</p:sp>
      <p:sp>
        <p:nvSpPr>
          <p:cNvPr id="31" name="Polygon 31"/>
          <p:cNvSpPr/>
          <p:nvPr/>
        </p:nvSpPr>
        <p:spPr>
          <a:xfrm>
            <a:off x="9043988" y="3924300"/>
            <a:ext cx="95250" cy="152400"/>
          </a:xfrm>
          <a:custGeom>
            <a:avLst/>
            <a:gdLst/>
            <a:ahLst/>
            <a:cxnLst/>
            <a:rect l="l" t="t" r="r" b="b"/>
            <a:pathLst>
              <a:path w="95250" h="152400">
                <a:moveTo>
                  <a:pt x="0" y="0"/>
                </a:moveTo>
                <a:lnTo>
                  <a:pt x="95250" y="76200"/>
                </a:lnTo>
                <a:lnTo>
                  <a:pt x="0" y="152400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</p:spPr>
      </p:sp>
      <p:sp>
        <p:nvSpPr>
          <p:cNvPr id="32" name="Polygon 32"/>
          <p:cNvSpPr/>
          <p:nvPr/>
        </p:nvSpPr>
        <p:spPr>
          <a:xfrm>
            <a:off x="9120188" y="2114550"/>
            <a:ext cx="2538412" cy="3771900"/>
          </a:xfrm>
          <a:custGeom>
            <a:avLst/>
            <a:gdLst/>
            <a:ahLst/>
            <a:cxnLst/>
            <a:rect l="l" t="t" r="r" b="b"/>
            <a:pathLst>
              <a:path w="2538412" h="3771900">
                <a:moveTo>
                  <a:pt x="0" y="0"/>
                </a:moveTo>
                <a:lnTo>
                  <a:pt x="2290762" y="0"/>
                </a:lnTo>
                <a:lnTo>
                  <a:pt x="2538412" y="247650"/>
                </a:lnTo>
                <a:lnTo>
                  <a:pt x="2538412" y="3771900"/>
                </a:lnTo>
                <a:lnTo>
                  <a:pt x="0" y="3771900"/>
                </a:lnTo>
                <a:close/>
              </a:path>
            </a:pathLst>
          </a:custGeom>
          <a:solidFill>
            <a:srgbClr val="E9F0FE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9291638" y="2266950"/>
            <a:ext cx="438150" cy="28575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9435981" y="2351723"/>
            <a:ext cx="149462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836468" y="2350770"/>
            <a:ext cx="89515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第 4 部分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837230" y="2741295"/>
            <a:ext cx="1453896" cy="163563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800"/>
              </a:lnSpc>
            </a:pP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之后，毛泽东又以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第一名成绩考入湖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南全省公立高等中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学校，不过由于学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校课程有限，他决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定退学自修，前往</a:t>
            </a:r>
            <a:r>
              <a:rPr lang="zh-CN" sz="13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湖南图书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839134" y="4780121"/>
            <a:ext cx="1619631" cy="6764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275"/>
              </a:lnSpc>
            </a:pPr>
            <a:r>
              <a:rPr lang="zh-CN" sz="9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馆读书，并开始阅读《原富》</a:t>
            </a:r>
            <a:r>
              <a:rPr lang="zh-CN" sz="9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、《法意》、《民约论》、</a:t>
            </a:r>
            <a:r>
              <a:rPr lang="zh-CN" sz="9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《天演论》等西方近代思想</a:t>
            </a:r>
            <a:r>
              <a:rPr lang="zh-CN" sz="98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经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839325" y="5642134"/>
            <a:ext cx="1514408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0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之后，毛泽东又以第一名成绩…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39" name="Line 39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05 / 06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519684" y="396240"/>
            <a:ext cx="498885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毛泽东：关键脉络与核心结论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5592" y="912495"/>
            <a:ext cx="273977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2657D"/>
                </a:solidFill>
                <a:latin typeface="Arial"/>
                <a:ea typeface="Microsoft YaHei"/>
                <a:cs typeface="Arial"/>
              </a:rPr>
              <a:t>沿关键阶段与主要事件回看毛泽东</a:t>
            </a:r>
          </a:p>
        </p:txBody>
      </p:sp>
      <p:sp>
        <p:nvSpPr>
          <p:cNvPr id="5" name="Line 5"/>
          <p:cNvSpPr/>
          <p:nvPr/>
        </p:nvSpPr>
        <p:spPr>
          <a:xfrm>
            <a:off x="533400" y="1504950"/>
            <a:ext cx="11125200" cy="9525"/>
          </a:xfrm>
          <a:custGeom>
            <a:avLst/>
            <a:gdLst/>
            <a:ahLst/>
            <a:cxnLst/>
            <a:rect l="l" t="t" r="r" b="b"/>
            <a:pathLst>
              <a:path w="11125200" h="9525">
                <a:moveTo>
                  <a:pt x="0" y="0"/>
                </a:moveTo>
                <a:lnTo>
                  <a:pt x="11125200" y="0"/>
                </a:lnTo>
              </a:path>
            </a:pathLst>
          </a:custGeom>
          <a:noFill/>
          <a:ln w="11430">
            <a:solidFill>
              <a:srgbClr val="C1D3FA"/>
            </a:solidFill>
          </a:ln>
        </p:spPr>
      </p:sp>
      <p:sp>
        <p:nvSpPr>
          <p:cNvPr id="6" name="Line 6"/>
          <p:cNvSpPr/>
          <p:nvPr/>
        </p:nvSpPr>
        <p:spPr>
          <a:xfrm>
            <a:off x="533400" y="1504950"/>
            <a:ext cx="1562100" cy="9525"/>
          </a:xfrm>
          <a:custGeom>
            <a:avLst/>
            <a:gdLst/>
            <a:ahLst/>
            <a:cxnLst/>
            <a:rect l="l" t="t" r="r" b="b"/>
            <a:pathLst>
              <a:path w="1562100" h="9525">
                <a:moveTo>
                  <a:pt x="0" y="0"/>
                </a:moveTo>
                <a:lnTo>
                  <a:pt x="1562100" y="0"/>
                </a:lnTo>
              </a:path>
            </a:pathLst>
          </a:custGeom>
          <a:noFill/>
          <a:ln w="38100">
            <a:solidFill>
              <a:srgbClr val="2563EB"/>
            </a:solidFill>
          </a:ln>
        </p:spPr>
      </p:sp>
      <p:sp>
        <p:nvSpPr>
          <p:cNvPr id="7" name="Ellipse 7"/>
          <p:cNvSpPr/>
          <p:nvPr/>
        </p:nvSpPr>
        <p:spPr>
          <a:xfrm>
            <a:off x="4591050" y="2352675"/>
            <a:ext cx="3009900" cy="3009900"/>
          </a:xfrm>
          <a:prstGeom prst="ellipse">
            <a:avLst/>
          </a:prstGeom>
          <a:solidFill>
            <a:srgbClr val="E9F0FE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4972050" y="2733675"/>
            <a:ext cx="2247900" cy="2247900"/>
          </a:xfrm>
          <a:prstGeom prst="ellipse">
            <a:avLst/>
          </a:prstGeom>
          <a:solidFill>
            <a:srgbClr val="F8FB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633815" y="2947035"/>
            <a:ext cx="924371" cy="1104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5700" b="1" dirty="0">
                <a:solidFill>
                  <a:srgbClr val="E9ECF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92735" y="3003709"/>
            <a:ext cx="80652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总结与回望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55915" y="3873818"/>
            <a:ext cx="2880170" cy="69570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ctr">
              <a:lnSpc>
                <a:spcPts val="2475"/>
              </a:lnSpc>
            </a:pPr>
            <a:r>
              <a:rPr lang="zh-CN" sz="19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沿关键阶段与主要事件回</a:t>
            </a:r>
            <a:r>
              <a:rPr lang="zh-CN" sz="195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看毛泽东</a:t>
            </a:r>
          </a:p>
        </p:txBody>
      </p:sp>
      <p:sp>
        <p:nvSpPr>
          <p:cNvPr id="12" name="Line 12"/>
          <p:cNvSpPr/>
          <p:nvPr/>
        </p:nvSpPr>
        <p:spPr>
          <a:xfrm>
            <a:off x="3676650" y="2600325"/>
            <a:ext cx="590550" cy="581025"/>
          </a:xfrm>
          <a:custGeom>
            <a:avLst/>
            <a:gdLst/>
            <a:ahLst/>
            <a:cxnLst/>
            <a:rect l="l" t="t" r="r" b="b"/>
            <a:pathLst>
              <a:path w="590550" h="581025">
                <a:moveTo>
                  <a:pt x="0" y="0"/>
                </a:moveTo>
                <a:lnTo>
                  <a:pt x="590550" y="581025"/>
                </a:lnTo>
              </a:path>
            </a:pathLst>
          </a:custGeom>
          <a:noFill/>
          <a:ln w="19050">
            <a:solidFill>
              <a:srgbClr val="C1D3FA"/>
            </a:solidFill>
          </a:ln>
        </p:spPr>
      </p:sp>
      <p:sp>
        <p:nvSpPr>
          <p:cNvPr id="13" name="Ellipse 13"/>
          <p:cNvSpPr/>
          <p:nvPr/>
        </p:nvSpPr>
        <p:spPr>
          <a:xfrm>
            <a:off x="3609975" y="2533650"/>
            <a:ext cx="133350" cy="1333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4" name="Line 14"/>
          <p:cNvSpPr/>
          <p:nvPr/>
        </p:nvSpPr>
        <p:spPr>
          <a:xfrm>
            <a:off x="533400" y="19050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47625">
            <a:solidFill>
              <a:srgbClr val="2563EB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40080" y="2122170"/>
            <a:ext cx="61951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来源 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1985" y="2532221"/>
            <a:ext cx="2904649" cy="5819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425"/>
              </a:lnSpc>
            </a:pPr>
            <a:r>
              <a:rPr lang="zh-CN" sz="112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毛泽东（1893年12月26日—1976年9月9日），</a:t>
            </a:r>
            <a:r>
              <a:rPr lang="zh-CN" sz="112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字</a:t>
            </a:r>
            <a:r>
              <a:rPr lang="zh-CN" sz="1120" b="1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润之</a:t>
            </a:r>
            <a:r>
              <a:rPr lang="zh-CN" sz="112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，湖南湘潭人，中国近代马列主义理论</a:t>
            </a:r>
            <a:r>
              <a:rPr lang="zh-CN" sz="112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家、革命家、政治家、军事战略家与诗人</a:t>
            </a:r>
          </a:p>
        </p:txBody>
      </p:sp>
      <p:sp>
        <p:nvSpPr>
          <p:cNvPr id="17" name="Line 17"/>
          <p:cNvSpPr/>
          <p:nvPr/>
        </p:nvSpPr>
        <p:spPr>
          <a:xfrm>
            <a:off x="7924800" y="2600325"/>
            <a:ext cx="590550" cy="581025"/>
          </a:xfrm>
          <a:custGeom>
            <a:avLst/>
            <a:gdLst/>
            <a:ahLst/>
            <a:cxnLst/>
            <a:rect l="l" t="t" r="r" b="b"/>
            <a:pathLst>
              <a:path w="590550" h="581025">
                <a:moveTo>
                  <a:pt x="590550" y="0"/>
                </a:moveTo>
                <a:lnTo>
                  <a:pt x="0" y="581025"/>
                </a:lnTo>
              </a:path>
            </a:pathLst>
          </a:custGeom>
          <a:noFill/>
          <a:ln w="19050">
            <a:solidFill>
              <a:srgbClr val="C1D3FA"/>
            </a:solidFill>
          </a:ln>
        </p:spPr>
      </p:sp>
      <p:sp>
        <p:nvSpPr>
          <p:cNvPr id="18" name="Ellipse 18"/>
          <p:cNvSpPr/>
          <p:nvPr/>
        </p:nvSpPr>
        <p:spPr>
          <a:xfrm>
            <a:off x="8448675" y="2533650"/>
            <a:ext cx="133350" cy="13335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9" name="Line 19"/>
          <p:cNvSpPr/>
          <p:nvPr/>
        </p:nvSpPr>
        <p:spPr>
          <a:xfrm>
            <a:off x="8515350" y="19050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47625">
            <a:solidFill>
              <a:srgbClr val="7C3AED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8622030" y="2122170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据多方估计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23554" y="2531745"/>
            <a:ext cx="2907792" cy="6156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500"/>
              </a:lnSpc>
            </a:pPr>
            <a:r>
              <a:rPr lang="zh-CN" sz="120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据多方估计，1949年至1976年间，因上述</a:t>
            </a:r>
            <a:r>
              <a:rPr lang="zh-CN" sz="120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政治运动以及三年大饥荒等灾祸，中国大陆</a:t>
            </a:r>
            <a:r>
              <a:rPr lang="zh-CN" sz="120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的非正常死亡人数达到4000万至8000万</a:t>
            </a:r>
          </a:p>
        </p:txBody>
      </p:sp>
      <p:sp>
        <p:nvSpPr>
          <p:cNvPr id="22" name="Line 22"/>
          <p:cNvSpPr/>
          <p:nvPr/>
        </p:nvSpPr>
        <p:spPr>
          <a:xfrm>
            <a:off x="3676650" y="4533900"/>
            <a:ext cx="590550" cy="695325"/>
          </a:xfrm>
          <a:custGeom>
            <a:avLst/>
            <a:gdLst/>
            <a:ahLst/>
            <a:cxnLst/>
            <a:rect l="l" t="t" r="r" b="b"/>
            <a:pathLst>
              <a:path w="590550" h="695325">
                <a:moveTo>
                  <a:pt x="0" y="695325"/>
                </a:moveTo>
                <a:lnTo>
                  <a:pt x="590550" y="0"/>
                </a:lnTo>
              </a:path>
            </a:pathLst>
          </a:custGeom>
          <a:noFill/>
          <a:ln w="19050">
            <a:solidFill>
              <a:srgbClr val="C1D3FA"/>
            </a:solidFill>
          </a:ln>
        </p:spPr>
      </p:sp>
      <p:sp>
        <p:nvSpPr>
          <p:cNvPr id="23" name="Ellipse 23"/>
          <p:cNvSpPr/>
          <p:nvPr/>
        </p:nvSpPr>
        <p:spPr>
          <a:xfrm>
            <a:off x="3609975" y="5162550"/>
            <a:ext cx="133350" cy="1333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4" name="Line 24"/>
          <p:cNvSpPr/>
          <p:nvPr/>
        </p:nvSpPr>
        <p:spPr>
          <a:xfrm>
            <a:off x="533400" y="45339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47625">
            <a:solidFill>
              <a:srgbClr val="2563EB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640080" y="4751070"/>
            <a:ext cx="128739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563EB"/>
                </a:solidFill>
                <a:latin typeface="Arial"/>
                <a:ea typeface="Microsoft YaHei"/>
                <a:cs typeface="Arial"/>
              </a:rPr>
              <a:t>新中国成立后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41223" y="5161121"/>
            <a:ext cx="3089529" cy="6684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/>
          <a:lstStyle/>
          <a:p>
            <a:pPr algn="l">
              <a:lnSpc>
                <a:spcPts val="1650"/>
              </a:lnSpc>
            </a:pPr>
            <a:r>
              <a:rPr lang="zh-CN" sz="128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新中国成立后，毛泽东曾向堂弟毛泽连称，</a:t>
            </a:r>
            <a:r>
              <a:rPr lang="zh-CN" sz="128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认为父亲毛顺生买进毛泽连父亲毛菊生赖</a:t>
            </a:r>
            <a:r>
              <a:rPr lang="zh-CN" sz="128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以活命的7亩田极不道德，并反思</a:t>
            </a:r>
          </a:p>
        </p:txBody>
      </p:sp>
      <p:sp>
        <p:nvSpPr>
          <p:cNvPr id="27" name="Line 27"/>
          <p:cNvSpPr/>
          <p:nvPr/>
        </p:nvSpPr>
        <p:spPr>
          <a:xfrm>
            <a:off x="7924800" y="4533900"/>
            <a:ext cx="590550" cy="695325"/>
          </a:xfrm>
          <a:custGeom>
            <a:avLst/>
            <a:gdLst/>
            <a:ahLst/>
            <a:cxnLst/>
            <a:rect l="l" t="t" r="r" b="b"/>
            <a:pathLst>
              <a:path w="590550" h="695325">
                <a:moveTo>
                  <a:pt x="590550" y="695325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C1D3FA"/>
            </a:solidFill>
          </a:ln>
        </p:spPr>
      </p:sp>
      <p:sp>
        <p:nvSpPr>
          <p:cNvPr id="28" name="Ellipse 28"/>
          <p:cNvSpPr/>
          <p:nvPr/>
        </p:nvSpPr>
        <p:spPr>
          <a:xfrm>
            <a:off x="8448675" y="5162550"/>
            <a:ext cx="133350" cy="13335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9" name="Line 29"/>
          <p:cNvSpPr/>
          <p:nvPr/>
        </p:nvSpPr>
        <p:spPr>
          <a:xfrm>
            <a:off x="8515350" y="4533900"/>
            <a:ext cx="742950" cy="9525"/>
          </a:xfrm>
          <a:custGeom>
            <a:avLst/>
            <a:gdLst/>
            <a:ahLst/>
            <a:cxnLst/>
            <a:rect l="l" t="t" r="r" b="b"/>
            <a:pathLst>
              <a:path w="742950" h="9525">
                <a:moveTo>
                  <a:pt x="0" y="0"/>
                </a:moveTo>
                <a:lnTo>
                  <a:pt x="742950" y="0"/>
                </a:lnTo>
              </a:path>
            </a:pathLst>
          </a:custGeom>
          <a:noFill/>
          <a:ln w="47625">
            <a:solidFill>
              <a:srgbClr val="7C3AED"/>
            </a:solidFill>
          </a:ln>
        </p:spPr>
      </p:sp>
      <p:sp>
        <p:nvSpPr>
          <p:cNvPr id="30" name="TextBox 30"/>
          <p:cNvSpPr txBox="1"/>
          <p:nvPr/>
        </p:nvSpPr>
        <p:spPr>
          <a:xfrm>
            <a:off x="8622030" y="4751070"/>
            <a:ext cx="905751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7C3AED"/>
                </a:solidFill>
                <a:latin typeface="Arial"/>
                <a:ea typeface="Microsoft YaHei"/>
                <a:cs typeface="Arial"/>
              </a:rPr>
              <a:t>1912年春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23173" y="5161121"/>
            <a:ext cx="296517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142033"/>
                </a:solidFill>
                <a:latin typeface="Arial"/>
                <a:ea typeface="Microsoft YaHei"/>
                <a:cs typeface="Arial"/>
              </a:rPr>
              <a:t>1912年春，毛泽东退出军队，继续求学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528638" y="6334125"/>
            <a:ext cx="11134725" cy="327659"/>
            <a:chOff x="528638" y="6334125"/>
            <a:chExt cx="11134725" cy="327659"/>
          </a:xfrm>
        </p:grpSpPr>
        <p:sp>
          <p:nvSpPr>
            <p:cNvPr id="32" name="Line 32"/>
            <p:cNvSpPr/>
            <p:nvPr/>
          </p:nvSpPr>
          <p:spPr>
            <a:xfrm>
              <a:off x="533400" y="6334125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C1D3F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28638" y="6485572"/>
              <a:ext cx="41540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52657D"/>
                  </a:solidFill>
                  <a:latin typeface="Arial"/>
                  <a:ea typeface="Arial"/>
                  <a:cs typeface="Arial"/>
                </a:rPr>
                <a:t>06 / 06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290364" y="648557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52657D"/>
                  </a:solidFill>
                  <a:latin typeface="Arial"/>
                  <a:ea typeface="Microsoft YaHei"/>
                  <a:cs typeface="Arial"/>
                </a:rPr>
                <a:t>毛泽东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2026-07-16T10:02:44Z</dcterms:created>
  <dcterms:modified xsi:type="dcterms:W3CDTF">2026-07-16T10:02:44Z</dcterms:modified>
  <cp:category/>
  <cp:contentStatus/>
</cp:coreProperties>
</file>