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本页聚焦毛泽东早年经历，用时间轴梳理求学与思想转变，为后续革命叙事建立背景认知。使用科技蓝渐变背景与简洁线条图标。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本页强化毛泽东作为军事家和建国者的形象，使用流程式布局串联关键事件，避免陷入细节描述。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本页需谨慎处理争议内容，不展示具体伤亡数据，用概括性语言描述运动影响，突出晚年外交亮点以平衡叙事。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本页为收束页，避免评价性陈述，客观呈现多维形象。争议部分仅概括提及，不展示具体数据。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F1E"/>
              </a:gs>
              <a:gs pos="50000">
                <a:srgbClr val="0D1528"/>
              </a:gs>
              <a:gs pos="100000">
                <a:srgbClr val="0A0F1E"/>
              </a:gs>
            </a:gsLst>
            <a:lin ang="270000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6867525"/>
            <a:chOff x="0" y="0"/>
            <a:chExt cx="12192000" cy="6867525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22" name="Rectangle 22"/>
          <p:cNvSpPr/>
          <p:nvPr/>
        </p:nvSpPr>
        <p:spPr>
          <a:xfrm>
            <a:off x="533400" y="0"/>
            <a:ext cx="11125200" cy="19050"/>
          </a:xfrm>
          <a:prstGeom prst="rect">
            <a:avLst/>
          </a:prstGeom>
          <a:gradFill>
            <a:gsLst>
              <a:gs pos="0">
                <a:srgbClr val="2563EB">
                  <a:alpha val="0"/>
                </a:srgbClr>
              </a:gs>
              <a:gs pos="15000">
                <a:srgbClr val="38BDF8">
                  <a:alpha val="12000"/>
                </a:srgbClr>
              </a:gs>
              <a:gs pos="30000">
                <a:srgbClr val="38BDF8">
                  <a:alpha val="32000"/>
                </a:srgbClr>
              </a:gs>
              <a:gs pos="50000">
                <a:srgbClr val="38BDF8">
                  <a:alpha val="40000"/>
                </a:srgbClr>
              </a:gs>
              <a:gs pos="70000">
                <a:srgbClr val="38BDF8">
                  <a:alpha val="32000"/>
                </a:srgbClr>
              </a:gs>
              <a:gs pos="85000">
                <a:srgbClr val="38BDF8">
                  <a:alpha val="12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490246" y="650558"/>
            <a:ext cx="521150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600" dirty="0">
                <a:gradFill>
                  <a:gsLst>
                    <a:gs pos="0">
                      <a:srgbClr val="FFFFFF"/>
                    </a:gs>
                    <a:gs pos="50000">
                      <a:srgbClr val="38BDF8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觉醒与奠基：早年之路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81927" y="1263968"/>
            <a:ext cx="16281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spc="450" dirty="0">
                <a:solidFill>
                  <a:srgbClr val="38BDF8">
                    <a:alphaMod val="80000"/>
                  </a:srgbClr>
                </a:solidFill>
                <a:latin typeface="Consolas"/>
                <a:ea typeface="Consolas"/>
                <a:cs typeface="Consolas"/>
              </a:rPr>
              <a:t>1893 · 1921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953000" y="1543050"/>
            <a:ext cx="2286000" cy="9525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067425" y="1514475"/>
            <a:ext cx="57150" cy="5715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897440" y="1781175"/>
            <a:ext cx="43971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spc="225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从农家少年到马克思主义者的思想觉醒之路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524250"/>
            <a:ext cx="10668000" cy="9525"/>
          </a:xfrm>
          <a:prstGeom prst="rect">
            <a:avLst/>
          </a:prstGeom>
          <a:gradFill>
            <a:gsLst>
              <a:gs pos="0">
                <a:srgbClr val="2563EB">
                  <a:alpha val="0"/>
                </a:srgbClr>
              </a:gs>
              <a:gs pos="15000">
                <a:srgbClr val="38BDF8">
                  <a:alpha val="18000"/>
                </a:srgbClr>
              </a:gs>
              <a:gs pos="30000">
                <a:srgbClr val="38BDF8">
                  <a:alpha val="48000"/>
                </a:srgbClr>
              </a:gs>
              <a:gs pos="50000">
                <a:srgbClr val="38BDF8">
                  <a:alpha val="60000"/>
                </a:srgbClr>
              </a:gs>
              <a:gs pos="70000">
                <a:srgbClr val="38BDF8">
                  <a:alpha val="48000"/>
                </a:srgbClr>
              </a:gs>
              <a:gs pos="85000">
                <a:srgbClr val="38BDF8">
                  <a:alpha val="18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3514725"/>
            <a:ext cx="10668000" cy="28575"/>
          </a:xfrm>
          <a:prstGeom prst="rect">
            <a:avLst/>
          </a:prstGeom>
          <a:gradFill>
            <a:gsLst>
              <a:gs pos="0">
                <a:srgbClr val="2563EB">
                  <a:alpha val="0"/>
                </a:srgbClr>
              </a:gs>
              <a:gs pos="15000">
                <a:srgbClr val="38BDF8">
                  <a:alpha val="4500"/>
                </a:srgbClr>
              </a:gs>
              <a:gs pos="30000">
                <a:srgbClr val="38BDF8">
                  <a:alpha val="12000"/>
                </a:srgbClr>
              </a:gs>
              <a:gs pos="50000">
                <a:srgbClr val="38BDF8">
                  <a:alpha val="15000"/>
                </a:srgbClr>
              </a:gs>
              <a:gs pos="70000">
                <a:srgbClr val="38BDF8">
                  <a:alpha val="12000"/>
                </a:srgbClr>
              </a:gs>
              <a:gs pos="85000">
                <a:srgbClr val="38BDF8">
                  <a:alpha val="45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1219200" y="3352800"/>
            <a:ext cx="342900" cy="3429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31" name="Ellipse 31"/>
          <p:cNvSpPr/>
          <p:nvPr/>
        </p:nvSpPr>
        <p:spPr>
          <a:xfrm>
            <a:off x="1123950" y="3257550"/>
            <a:ext cx="533400" cy="533400"/>
          </a:xfrm>
          <a:prstGeom prst="ellipse">
            <a:avLst/>
          </a:prstGeom>
          <a:noFill/>
          <a:ln w="4762">
            <a:solidFill>
              <a:srgbClr val="38BDF8">
                <a:alpha val="12000"/>
              </a:srgbClr>
            </a:solidFill>
          </a:ln>
        </p:spPr>
      </p:sp>
      <p:sp>
        <p:nvSpPr>
          <p:cNvPr id="32" name="Ellipse 32"/>
          <p:cNvSpPr/>
          <p:nvPr/>
        </p:nvSpPr>
        <p:spPr>
          <a:xfrm>
            <a:off x="1314450" y="3448050"/>
            <a:ext cx="152400" cy="152400"/>
          </a:xfrm>
          <a:prstGeom prst="ellipse">
            <a:avLst/>
          </a:prstGeom>
          <a:solidFill>
            <a:srgbClr val="38BDF8">
              <a:alpha val="90000"/>
            </a:srgbClr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352550" y="3486150"/>
            <a:ext cx="76200" cy="762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97971" y="316611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>
                    <a:alphaMod val="90000"/>
                  </a:srgbClr>
                </a:solidFill>
                <a:latin typeface="Consolas"/>
                <a:ea typeface="Consolas"/>
                <a:cs typeface="Consolas"/>
              </a:rPr>
              <a:t>1893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2144" y="2807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生于湘潭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1934" y="265699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湖南农民家庭</a:t>
            </a:r>
          </a:p>
        </p:txBody>
      </p:sp>
      <p:sp>
        <p:nvSpPr>
          <p:cNvPr id="37" name="Line 37"/>
          <p:cNvSpPr/>
          <p:nvPr/>
        </p:nvSpPr>
        <p:spPr>
          <a:xfrm>
            <a:off x="1390650" y="3190875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38" name="Ellipse 38"/>
          <p:cNvSpPr/>
          <p:nvPr/>
        </p:nvSpPr>
        <p:spPr>
          <a:xfrm>
            <a:off x="3295650" y="3352800"/>
            <a:ext cx="342900" cy="342900"/>
          </a:xfrm>
          <a:prstGeom prst="ellipse">
            <a:avLst/>
          </a:prstGeom>
          <a:noFill/>
          <a:ln w="9525">
            <a:solidFill>
              <a:srgbClr val="7C3AED">
                <a:alpha val="30000"/>
              </a:srgbClr>
            </a:solidFill>
          </a:ln>
        </p:spPr>
      </p:sp>
      <p:sp>
        <p:nvSpPr>
          <p:cNvPr id="39" name="Ellipse 39"/>
          <p:cNvSpPr/>
          <p:nvPr/>
        </p:nvSpPr>
        <p:spPr>
          <a:xfrm>
            <a:off x="3200400" y="3257550"/>
            <a:ext cx="533400" cy="533400"/>
          </a:xfrm>
          <a:prstGeom prst="ellipse">
            <a:avLst/>
          </a:prstGeom>
          <a:noFill/>
          <a:ln w="4762">
            <a:solidFill>
              <a:srgbClr val="7C3AED">
                <a:alpha val="12000"/>
              </a:srgbClr>
            </a:solidFill>
          </a:ln>
        </p:spPr>
      </p:sp>
      <p:sp>
        <p:nvSpPr>
          <p:cNvPr id="40" name="Ellipse 40"/>
          <p:cNvSpPr/>
          <p:nvPr/>
        </p:nvSpPr>
        <p:spPr>
          <a:xfrm>
            <a:off x="3390900" y="3448050"/>
            <a:ext cx="152400" cy="152400"/>
          </a:xfrm>
          <a:prstGeom prst="ellipse">
            <a:avLst/>
          </a:prstGeom>
          <a:solidFill>
            <a:srgbClr val="7C3AED">
              <a:alpha val="90000"/>
            </a:srgbClr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3429000" y="3486150"/>
            <a:ext cx="76200" cy="762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274421" y="38709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7C3AED">
                    <a:alphaMod val="90000"/>
                  </a:srgbClr>
                </a:solidFill>
                <a:latin typeface="Consolas"/>
                <a:ea typeface="Consolas"/>
                <a:cs typeface="Consolas"/>
              </a:rPr>
              <a:t>1918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983182" y="41976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北大图书馆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134011" y="44286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接触新思潮</a:t>
            </a:r>
          </a:p>
        </p:txBody>
      </p:sp>
      <p:sp>
        <p:nvSpPr>
          <p:cNvPr id="45" name="Line 45"/>
          <p:cNvSpPr/>
          <p:nvPr/>
        </p:nvSpPr>
        <p:spPr>
          <a:xfrm>
            <a:off x="3467100" y="36957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9525">
            <a:solidFill>
              <a:srgbClr val="7C3AED">
                <a:alpha val="40000"/>
              </a:srgbClr>
            </a:solidFill>
          </a:ln>
        </p:spPr>
      </p:sp>
      <p:sp>
        <p:nvSpPr>
          <p:cNvPr id="46" name="Ellipse 46"/>
          <p:cNvSpPr/>
          <p:nvPr/>
        </p:nvSpPr>
        <p:spPr>
          <a:xfrm>
            <a:off x="5353050" y="3333750"/>
            <a:ext cx="381000" cy="381000"/>
          </a:xfrm>
          <a:prstGeom prst="ellipse">
            <a:avLst/>
          </a:prstGeom>
          <a:noFill/>
          <a:ln w="14288">
            <a:solidFill>
              <a:srgbClr val="38BDF8">
                <a:alpha val="40000"/>
              </a:srgbClr>
            </a:solidFill>
          </a:ln>
        </p:spPr>
      </p:sp>
      <p:sp>
        <p:nvSpPr>
          <p:cNvPr id="47" name="Ellipse 47"/>
          <p:cNvSpPr/>
          <p:nvPr/>
        </p:nvSpPr>
        <p:spPr>
          <a:xfrm>
            <a:off x="5238750" y="3219450"/>
            <a:ext cx="609600" cy="609600"/>
          </a:xfrm>
          <a:prstGeom prst="ellipse">
            <a:avLst/>
          </a:prstGeom>
          <a:noFill/>
          <a:ln w="4762">
            <a:solidFill>
              <a:srgbClr val="38BDF8">
                <a:alpha val="15000"/>
              </a:srgbClr>
            </a:solidFill>
          </a:ln>
        </p:spPr>
      </p:sp>
      <p:sp>
        <p:nvSpPr>
          <p:cNvPr id="48" name="Ellipse 48"/>
          <p:cNvSpPr/>
          <p:nvPr/>
        </p:nvSpPr>
        <p:spPr>
          <a:xfrm>
            <a:off x="5448300" y="3429000"/>
            <a:ext cx="190500" cy="190500"/>
          </a:xfrm>
          <a:prstGeom prst="ellipse">
            <a:avLst/>
          </a:prstGeom>
          <a:solidFill>
            <a:srgbClr val="2563EB">
              <a:alpha val="95000"/>
            </a:srgb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5495925" y="3476625"/>
            <a:ext cx="95250" cy="9525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304225" y="3108960"/>
            <a:ext cx="4786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>
                    <a:alphaMod val="90000"/>
                  </a:srgbClr>
                </a:solidFill>
                <a:latin typeface="Consolas"/>
                <a:ea typeface="Consolas"/>
                <a:cs typeface="Consolas"/>
              </a:rPr>
              <a:t>1919~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868809" y="27117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接受马克思主义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82324" y="2561749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受李大钊、陈独秀引导</a:t>
            </a:r>
          </a:p>
        </p:txBody>
      </p:sp>
      <p:sp>
        <p:nvSpPr>
          <p:cNvPr id="53" name="Line 53"/>
          <p:cNvSpPr/>
          <p:nvPr/>
        </p:nvSpPr>
        <p:spPr>
          <a:xfrm>
            <a:off x="5543550" y="3143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54" name="Ellipse 54"/>
          <p:cNvSpPr/>
          <p:nvPr/>
        </p:nvSpPr>
        <p:spPr>
          <a:xfrm>
            <a:off x="7448550" y="3352800"/>
            <a:ext cx="342900" cy="3429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55" name="Ellipse 55"/>
          <p:cNvSpPr/>
          <p:nvPr/>
        </p:nvSpPr>
        <p:spPr>
          <a:xfrm>
            <a:off x="7353300" y="3257550"/>
            <a:ext cx="533400" cy="533400"/>
          </a:xfrm>
          <a:prstGeom prst="ellipse">
            <a:avLst/>
          </a:prstGeom>
          <a:noFill/>
          <a:ln w="4762">
            <a:solidFill>
              <a:srgbClr val="38BDF8">
                <a:alpha val="12000"/>
              </a:srgbClr>
            </a:solidFill>
          </a:ln>
        </p:spPr>
      </p:sp>
      <p:sp>
        <p:nvSpPr>
          <p:cNvPr id="56" name="Ellipse 56"/>
          <p:cNvSpPr/>
          <p:nvPr/>
        </p:nvSpPr>
        <p:spPr>
          <a:xfrm>
            <a:off x="7543800" y="3448050"/>
            <a:ext cx="152400" cy="152400"/>
          </a:xfrm>
          <a:prstGeom prst="ellipse">
            <a:avLst/>
          </a:prstGeom>
          <a:solidFill>
            <a:srgbClr val="38BDF8">
              <a:alpha val="90000"/>
            </a:srgbClr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7581900" y="3486150"/>
            <a:ext cx="76200" cy="762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427321" y="38709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>
                    <a:alphaMod val="90000"/>
                  </a:srgbClr>
                </a:solidFill>
                <a:latin typeface="Consolas"/>
                <a:ea typeface="Consolas"/>
                <a:cs typeface="Consolas"/>
              </a:rPr>
              <a:t>1920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040670" y="41976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创建长沙组织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155656" y="4428649"/>
            <a:ext cx="92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共产党早期组织</a:t>
            </a:r>
          </a:p>
        </p:txBody>
      </p:sp>
      <p:sp>
        <p:nvSpPr>
          <p:cNvPr id="61" name="Line 61"/>
          <p:cNvSpPr/>
          <p:nvPr/>
        </p:nvSpPr>
        <p:spPr>
          <a:xfrm>
            <a:off x="7620000" y="36957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62" name="Ellipse 62"/>
          <p:cNvSpPr/>
          <p:nvPr/>
        </p:nvSpPr>
        <p:spPr>
          <a:xfrm>
            <a:off x="10610850" y="3333750"/>
            <a:ext cx="381000" cy="381000"/>
          </a:xfrm>
          <a:prstGeom prst="ellipse">
            <a:avLst/>
          </a:prstGeom>
          <a:noFill/>
          <a:ln w="14288">
            <a:solidFill>
              <a:srgbClr val="38BDF8">
                <a:alpha val="40000"/>
              </a:srgbClr>
            </a:solidFill>
          </a:ln>
        </p:spPr>
      </p:sp>
      <p:sp>
        <p:nvSpPr>
          <p:cNvPr id="63" name="Ellipse 63"/>
          <p:cNvSpPr/>
          <p:nvPr/>
        </p:nvSpPr>
        <p:spPr>
          <a:xfrm>
            <a:off x="10496550" y="3219450"/>
            <a:ext cx="609600" cy="609600"/>
          </a:xfrm>
          <a:prstGeom prst="ellipse">
            <a:avLst/>
          </a:prstGeom>
          <a:noFill/>
          <a:ln w="4762">
            <a:solidFill>
              <a:srgbClr val="38BDF8">
                <a:alpha val="15000"/>
              </a:srgbClr>
            </a:solidFill>
          </a:ln>
        </p:spPr>
      </p:sp>
      <p:sp>
        <p:nvSpPr>
          <p:cNvPr id="64" name="Ellipse 64"/>
          <p:cNvSpPr/>
          <p:nvPr/>
        </p:nvSpPr>
        <p:spPr>
          <a:xfrm>
            <a:off x="10706100" y="3429000"/>
            <a:ext cx="190500" cy="190500"/>
          </a:xfrm>
          <a:prstGeom prst="ellipse">
            <a:avLst/>
          </a:prstGeom>
          <a:solidFill>
            <a:srgbClr val="2563EB">
              <a:alpha val="95000"/>
            </a:srgbClr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10753725" y="3476625"/>
            <a:ext cx="95250" cy="9525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0608671" y="3108960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>
                    <a:alphaMod val="90000"/>
                  </a:srgbClr>
                </a:solidFill>
                <a:latin typeface="Consolas"/>
                <a:ea typeface="Consolas"/>
                <a:cs typeface="Consolas"/>
              </a:rPr>
              <a:t>1921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222020" y="27117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出席中共一大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402634" y="2561749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踏上革命征程</a:t>
            </a:r>
          </a:p>
        </p:txBody>
      </p:sp>
      <p:sp>
        <p:nvSpPr>
          <p:cNvPr id="69" name="Line 69"/>
          <p:cNvSpPr/>
          <p:nvPr/>
        </p:nvSpPr>
        <p:spPr>
          <a:xfrm>
            <a:off x="10801350" y="3143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70" name="Polygon 70"/>
          <p:cNvSpPr/>
          <p:nvPr/>
        </p:nvSpPr>
        <p:spPr>
          <a:xfrm>
            <a:off x="11382375" y="3448050"/>
            <a:ext cx="238125" cy="152400"/>
          </a:xfrm>
          <a:custGeom>
            <a:avLst/>
            <a:gdLst/>
            <a:ahLst/>
            <a:cxnLst/>
            <a:rect l="l" t="t" r="r" b="b"/>
            <a:pathLst>
              <a:path w="238125" h="152400">
                <a:moveTo>
                  <a:pt x="238125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71" name="Rectangle 71"/>
          <p:cNvSpPr/>
          <p:nvPr/>
        </p:nvSpPr>
        <p:spPr>
          <a:xfrm>
            <a:off x="762000" y="514350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0D1528">
              <a:alpha val="85000"/>
            </a:srgbClr>
          </a:solidFill>
          <a:ln w="7620">
            <a:solidFill>
              <a:srgbClr val="2563EB">
                <a:alpha val="85000"/>
              </a:srgbClr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762000" y="5143500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2563EB">
              <a:alpha val="60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1390040" y="53187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湖南一师毕业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36886" y="5590699"/>
            <a:ext cx="21362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1918年毕业于湖南省立第一师范学校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15606" y="5827395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37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受杨昌济影响赴京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429000" y="514350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0D1528">
              <a:alpha val="85000"/>
            </a:srgbClr>
          </a:solidFill>
          <a:ln w="7620">
            <a:solidFill>
              <a:srgbClr val="7C3AED">
                <a:alpha val="85000"/>
              </a:srgbClr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3429000" y="5143500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7C3AED">
              <a:alpha val="60000"/>
            </a:srgbClr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4226662" y="5318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思想觉醒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845147" y="5590699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在李大钊、陈独秀引导下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022026" y="582739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37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逐步接受马克思主义</a:t>
            </a:r>
          </a:p>
        </p:txBody>
      </p:sp>
      <p:sp>
        <p:nvSpPr>
          <p:cNvPr id="81" name="Rectangle 81"/>
          <p:cNvSpPr/>
          <p:nvPr/>
        </p:nvSpPr>
        <p:spPr>
          <a:xfrm>
            <a:off x="6096000" y="514350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0D1528">
              <a:alpha val="85000"/>
            </a:srgbClr>
          </a:solidFill>
          <a:ln w="7620">
            <a:solidFill>
              <a:srgbClr val="38BDF8">
                <a:alpha val="85000"/>
              </a:srgbClr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6096000" y="5143500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893662" y="5318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参与建党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02140" y="5590699"/>
            <a:ext cx="18737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1920年创建长沙共产党早期组织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676911" y="5827395"/>
            <a:ext cx="11241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37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1921年出席中共一大</a:t>
            </a:r>
          </a:p>
        </p:txBody>
      </p:sp>
      <p:sp>
        <p:nvSpPr>
          <p:cNvPr id="86" name="Polygon 86"/>
          <p:cNvSpPr/>
          <p:nvPr/>
        </p:nvSpPr>
        <p:spPr>
          <a:xfrm>
            <a:off x="10953750" y="5334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95250"/>
                </a:moveTo>
                <a:lnTo>
                  <a:pt x="142875" y="0"/>
                </a:lnTo>
                <a:lnTo>
                  <a:pt x="285750" y="95250"/>
                </a:lnTo>
                <a:lnTo>
                  <a:pt x="285750" y="285750"/>
                </a:lnTo>
                <a:lnTo>
                  <a:pt x="142875" y="381000"/>
                </a:lnTo>
                <a:lnTo>
                  <a:pt x="0" y="285750"/>
                </a:lnTo>
                <a:close/>
              </a:path>
            </a:pathLst>
          </a:custGeom>
          <a:noFill/>
          <a:ln w="7620">
            <a:solidFill>
              <a:srgbClr val="38BDF8">
                <a:alpha val="30000"/>
              </a:srgbClr>
            </a:solidFill>
          </a:ln>
        </p:spPr>
      </p:sp>
      <p:sp>
        <p:nvSpPr>
          <p:cNvPr id="87" name="Polygon 87"/>
          <p:cNvSpPr/>
          <p:nvPr/>
        </p:nvSpPr>
        <p:spPr>
          <a:xfrm>
            <a:off x="11334750" y="5219700"/>
            <a:ext cx="190500" cy="276225"/>
          </a:xfrm>
          <a:custGeom>
            <a:avLst/>
            <a:gdLst/>
            <a:ahLst/>
            <a:cxnLst/>
            <a:rect l="l" t="t" r="r" b="b"/>
            <a:pathLst>
              <a:path w="190500" h="276225">
                <a:moveTo>
                  <a:pt x="0" y="66675"/>
                </a:moveTo>
                <a:lnTo>
                  <a:pt x="95250" y="0"/>
                </a:lnTo>
                <a:lnTo>
                  <a:pt x="190500" y="66675"/>
                </a:lnTo>
                <a:lnTo>
                  <a:pt x="190500" y="209550"/>
                </a:lnTo>
                <a:lnTo>
                  <a:pt x="95250" y="276225"/>
                </a:lnTo>
                <a:lnTo>
                  <a:pt x="0" y="209550"/>
                </a:lnTo>
                <a:close/>
              </a:path>
            </a:pathLst>
          </a:custGeom>
          <a:noFill/>
          <a:ln w="4762">
            <a:solidFill>
              <a:srgbClr val="38BDF8">
                <a:alpha val="15000"/>
              </a:srgbClr>
            </a:solidFill>
          </a:ln>
        </p:spPr>
      </p:sp>
      <p:sp>
        <p:nvSpPr>
          <p:cNvPr id="88" name="Rectangle 88"/>
          <p:cNvSpPr/>
          <p:nvPr/>
        </p:nvSpPr>
        <p:spPr>
          <a:xfrm>
            <a:off x="533400" y="6838950"/>
            <a:ext cx="11125200" cy="19050"/>
          </a:xfrm>
          <a:prstGeom prst="rect">
            <a:avLst/>
          </a:prstGeom>
          <a:gradFill>
            <a:gsLst>
              <a:gs pos="0">
                <a:srgbClr val="2563EB">
                  <a:alpha val="0"/>
                </a:srgbClr>
              </a:gs>
              <a:gs pos="15000">
                <a:srgbClr val="38BDF8">
                  <a:alpha val="9000"/>
                </a:srgbClr>
              </a:gs>
              <a:gs pos="30000">
                <a:srgbClr val="38BDF8">
                  <a:alpha val="24000"/>
                </a:srgbClr>
              </a:gs>
              <a:gs pos="50000">
                <a:srgbClr val="38BDF8">
                  <a:alpha val="30000"/>
                </a:srgbClr>
              </a:gs>
              <a:gs pos="70000">
                <a:srgbClr val="38BDF8">
                  <a:alpha val="24000"/>
                </a:srgbClr>
              </a:gs>
              <a:gs pos="85000">
                <a:srgbClr val="38BDF8">
                  <a:alpha val="9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757238" y="628459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52637A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01 / 04</a:t>
            </a:r>
          </a:p>
        </p:txBody>
      </p:sp>
      <p:sp>
        <p:nvSpPr>
          <p:cNvPr id="90" name="Polygon 90"/>
          <p:cNvSpPr/>
          <p:nvPr/>
        </p:nvSpPr>
        <p:spPr>
          <a:xfrm>
            <a:off x="533400" y="190500"/>
            <a:ext cx="342900" cy="285750"/>
          </a:xfrm>
          <a:custGeom>
            <a:avLst/>
            <a:gdLst/>
            <a:ahLst/>
            <a:cxnLst/>
            <a:rect l="l" t="t" r="r" b="b"/>
            <a:pathLst>
              <a:path w="342900" h="285750">
                <a:moveTo>
                  <a:pt x="0" y="95250"/>
                </a:moveTo>
                <a:lnTo>
                  <a:pt x="114300" y="95250"/>
                </a:lnTo>
                <a:lnTo>
                  <a:pt x="171450" y="0"/>
                </a:lnTo>
                <a:lnTo>
                  <a:pt x="228600" y="95250"/>
                </a:lnTo>
                <a:lnTo>
                  <a:pt x="342900" y="95250"/>
                </a:lnTo>
                <a:lnTo>
                  <a:pt x="228600" y="171450"/>
                </a:lnTo>
                <a:lnTo>
                  <a:pt x="266700" y="285750"/>
                </a:lnTo>
                <a:lnTo>
                  <a:pt x="171450" y="228600"/>
                </a:lnTo>
                <a:lnTo>
                  <a:pt x="76200" y="285750"/>
                </a:lnTo>
                <a:lnTo>
                  <a:pt x="114300" y="171450"/>
                </a:lnTo>
                <a:close/>
              </a:path>
            </a:pathLst>
          </a:custGeom>
          <a:noFill/>
          <a:ln w="5715">
            <a:solidFill>
              <a:srgbClr val="38BDF8">
                <a:alpha val="25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50000">
                <a:srgbClr val="0F1D32"/>
              </a:gs>
              <a:gs pos="100000">
                <a:srgbClr val="0A1628"/>
              </a:gs>
            </a:gsLst>
            <a:lin ang="2700000" scaled="1"/>
          </a:gra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685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1371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2743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4114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4800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6172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21" name="Line 21"/>
          <p:cNvSpPr/>
          <p:nvPr/>
        </p:nvSpPr>
        <p:spPr>
          <a:xfrm>
            <a:off x="533400" y="4572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gradFill>
              <a:gsLst>
                <a:gs pos="0">
                  <a:srgbClr val="2563EB">
                    <a:alpha val="0"/>
                  </a:srgbClr>
                </a:gs>
                <a:gs pos="10000">
                  <a:srgbClr val="2563EB">
                    <a:alpha val="90000"/>
                  </a:srgbClr>
                </a:gs>
                <a:gs pos="90000">
                  <a:srgbClr val="38BDF8">
                    <a:alpha val="90000"/>
                  </a:srgbClr>
                </a:gs>
                <a:gs pos="100000">
                  <a:srgbClr val="38BDF8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22" name="TextBox 22"/>
          <p:cNvSpPr txBox="1"/>
          <p:nvPr/>
        </p:nvSpPr>
        <p:spPr>
          <a:xfrm>
            <a:off x="528066" y="401002"/>
            <a:ext cx="30787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02 / REVOLUTION &amp; FOUNDING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7398" y="650558"/>
            <a:ext cx="32699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spc="150" dirty="0">
                <a:solidFill>
                  <a:srgbClr val="F8FBFF"/>
                </a:solidFill>
                <a:latin typeface="Arial"/>
                <a:ea typeface="Microsoft YaHei"/>
                <a:cs typeface="Arial"/>
              </a:rPr>
              <a:t>武装斗争与建国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5780" y="1133475"/>
            <a:ext cx="36398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75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1927—1949：革命战争与新政权的诞生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1524000"/>
            <a:ext cx="11125200" cy="495300"/>
          </a:xfrm>
          <a:prstGeom prst="roundRect">
            <a:avLst>
              <a:gd name="adj" fmla="val 7692"/>
            </a:avLst>
          </a:prstGeom>
          <a:solidFill>
            <a:srgbClr val="122540">
              <a:alpha val="80000"/>
            </a:srgbClr>
          </a:solidFill>
          <a:ln w="4762">
            <a:solidFill>
              <a:srgbClr val="2563EB">
                <a:alpha val="80000"/>
              </a:srgbClr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33400" y="15240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36092" y="1644968"/>
            <a:ext cx="94034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75" dirty="0">
                <a:solidFill>
                  <a:srgbClr val="EEF4FF"/>
                </a:solidFill>
                <a:latin typeface="Arial"/>
                <a:ea typeface="Microsoft YaHei"/>
                <a:cs typeface="Arial"/>
              </a:rPr>
              <a:t>核心论述：通过武装割据、战略指挥与政治动员，毛泽东领导中共完成革命建国，奠定了现代中国的政权基础。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00906" y="2298382"/>
            <a:ext cx="219018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spc="225" dirty="0">
                <a:solidFill>
                  <a:srgbClr val="EEF4FF"/>
                </a:solidFill>
                <a:latin typeface="Arial"/>
                <a:ea typeface="Microsoft YaHei"/>
                <a:cs typeface="Arial"/>
              </a:rPr>
              <a:t>革命进程 · 里程碑</a:t>
            </a:r>
          </a:p>
        </p:txBody>
      </p:sp>
      <p:sp>
        <p:nvSpPr>
          <p:cNvPr id="29" name="Line 29"/>
          <p:cNvSpPr/>
          <p:nvPr/>
        </p:nvSpPr>
        <p:spPr>
          <a:xfrm>
            <a:off x="1143000" y="3238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gradFill>
              <a:gsLst>
                <a:gs pos="0">
                  <a:srgbClr val="2563EB">
                    <a:alpha val="40000"/>
                  </a:srgbClr>
                </a:gs>
                <a:gs pos="50000">
                  <a:srgbClr val="38BDF8">
                    <a:alpha val="40000"/>
                  </a:srgbClr>
                </a:gs>
                <a:gs pos="100000">
                  <a:srgbClr val="7C3AED">
                    <a:alpha val="40000"/>
                  </a:srgbClr>
                </a:gs>
              </a:gsLst>
              <a:lin ang="0" scaled="1"/>
            </a:gradFill>
          </a:ln>
        </p:spPr>
      </p:sp>
      <p:grpSp>
        <p:nvGrpSpPr>
          <p:cNvPr id="41" name="Group 41"/>
          <p:cNvGrpSpPr/>
          <p:nvPr/>
        </p:nvGrpSpPr>
        <p:grpSpPr>
          <a:xfrm>
            <a:off x="647700" y="2686050"/>
            <a:ext cx="2247900" cy="1104900"/>
            <a:chOff x="647700" y="2686050"/>
            <a:chExt cx="2247900" cy="1104900"/>
          </a:xfrm>
        </p:grpSpPr>
        <p:sp>
          <p:nvSpPr>
            <p:cNvPr id="30" name="Rectangle 30"/>
            <p:cNvSpPr/>
            <p:nvPr/>
          </p:nvSpPr>
          <p:spPr>
            <a:xfrm>
              <a:off x="647700" y="2686050"/>
              <a:ext cx="2190750" cy="1104900"/>
            </a:xfrm>
            <a:prstGeom prst="roundRect">
              <a:avLst>
                <a:gd name="adj" fmla="val 5172"/>
              </a:avLst>
            </a:prstGeom>
            <a:gradFill>
              <a:gsLst>
                <a:gs pos="0">
                  <a:srgbClr val="122540">
                    <a:alpha val="90000"/>
                  </a:srgbClr>
                </a:gs>
                <a:gs pos="100000">
                  <a:srgbClr val="0D1B33">
                    <a:alpha val="90000"/>
                  </a:srgbClr>
                </a:gs>
              </a:gsLst>
              <a:lin ang="2700000" scaled="1"/>
            </a:gradFill>
            <a:ln w="7620">
              <a:solidFill>
                <a:srgbClr val="2563EB">
                  <a:alpha val="90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666875" y="31623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90675" y="3086100"/>
              <a:ext cx="304800" cy="304800"/>
            </a:xfrm>
            <a:prstGeom prst="ellipse">
              <a:avLst/>
            </a:prstGeom>
            <a:noFill/>
            <a:ln w="9525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514475" y="3009900"/>
              <a:ext cx="457200" cy="457200"/>
            </a:xfrm>
            <a:prstGeom prst="ellipse">
              <a:avLst/>
            </a:prstGeom>
            <a:noFill/>
            <a:ln w="4762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42950" y="2781300"/>
              <a:ext cx="381000" cy="209550"/>
            </a:xfrm>
            <a:prstGeom prst="roundRect">
              <a:avLst>
                <a:gd name="adj" fmla="val 13636"/>
              </a:avLst>
            </a:prstGeom>
            <a:solidFill>
              <a:srgbClr val="2563EB">
                <a:alpha val="2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2051" y="28270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31392" y="27784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秋收起义与井冈山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7616" y="3106102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1927年领导秋收起义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616" y="3296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创建井冈山革命根据地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616" y="348710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提出“枪杆子里面出政权”</a:t>
              </a:r>
            </a:p>
          </p:txBody>
        </p:sp>
        <p:sp>
          <p:nvSpPr>
            <p:cNvPr id="40" name="Polygon 40"/>
            <p:cNvSpPr/>
            <p:nvPr/>
          </p:nvSpPr>
          <p:spPr>
            <a:xfrm>
              <a:off x="2819400" y="3200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>
                <a:alpha val="60000"/>
              </a:srgbClr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3009900" y="2686050"/>
            <a:ext cx="2247900" cy="1104900"/>
            <a:chOff x="3009900" y="2686050"/>
            <a:chExt cx="2247900" cy="1104900"/>
          </a:xfrm>
        </p:grpSpPr>
        <p:sp>
          <p:nvSpPr>
            <p:cNvPr id="42" name="Rectangle 42"/>
            <p:cNvSpPr/>
            <p:nvPr/>
          </p:nvSpPr>
          <p:spPr>
            <a:xfrm>
              <a:off x="3009900" y="2686050"/>
              <a:ext cx="2190750" cy="1104900"/>
            </a:xfrm>
            <a:prstGeom prst="roundRect">
              <a:avLst>
                <a:gd name="adj" fmla="val 5172"/>
              </a:avLst>
            </a:prstGeom>
            <a:gradFill>
              <a:gsLst>
                <a:gs pos="0">
                  <a:srgbClr val="132848">
                    <a:alpha val="90000"/>
                  </a:srgbClr>
                </a:gs>
                <a:gs pos="100000">
                  <a:srgbClr val="0E1C35">
                    <a:alpha val="90000"/>
                  </a:srgbClr>
                </a:gs>
              </a:gsLst>
              <a:lin ang="2700000" scaled="1"/>
            </a:gradFill>
            <a:ln w="7620">
              <a:solidFill>
                <a:srgbClr val="38BDF8">
                  <a:alpha val="90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029075" y="3162300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952875" y="3086100"/>
              <a:ext cx="304800" cy="304800"/>
            </a:xfrm>
            <a:prstGeom prst="ellipse">
              <a:avLst/>
            </a:prstGeom>
            <a:noFill/>
            <a:ln w="9525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3876675" y="3009900"/>
              <a:ext cx="457200" cy="457200"/>
            </a:xfrm>
            <a:prstGeom prst="ellipse">
              <a:avLst/>
            </a:prstGeom>
            <a:noFill/>
            <a:ln w="4762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3105150" y="2781300"/>
              <a:ext cx="381000" cy="209550"/>
            </a:xfrm>
            <a:prstGeom prst="roundRect">
              <a:avLst>
                <a:gd name="adj" fmla="val 13636"/>
              </a:avLst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224251" y="28270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93592" y="27784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长征与遵义会议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99816" y="31061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长征途中确立领导地位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99816" y="3296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遵义会议进入决策核心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99816" y="34871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战略转移保存革命火种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5181600" y="3200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8BDF8">
                <a:alpha val="60000"/>
              </a:srgbClr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372100" y="2686050"/>
            <a:ext cx="2247900" cy="1104900"/>
            <a:chOff x="5372100" y="2686050"/>
            <a:chExt cx="2247900" cy="1104900"/>
          </a:xfrm>
        </p:grpSpPr>
        <p:sp>
          <p:nvSpPr>
            <p:cNvPr id="54" name="Rectangle 54"/>
            <p:cNvSpPr/>
            <p:nvPr/>
          </p:nvSpPr>
          <p:spPr>
            <a:xfrm>
              <a:off x="5372100" y="2686050"/>
              <a:ext cx="2190750" cy="1104900"/>
            </a:xfrm>
            <a:prstGeom prst="roundRect">
              <a:avLst>
                <a:gd name="adj" fmla="val 5172"/>
              </a:avLst>
            </a:prstGeom>
            <a:gradFill>
              <a:gsLst>
                <a:gs pos="0">
                  <a:srgbClr val="122540">
                    <a:alpha val="90000"/>
                  </a:srgbClr>
                </a:gs>
                <a:gs pos="100000">
                  <a:srgbClr val="0D1B33">
                    <a:alpha val="90000"/>
                  </a:srgbClr>
                </a:gs>
              </a:gsLst>
              <a:lin ang="2700000" scaled="1"/>
            </a:gradFill>
            <a:ln w="7620">
              <a:solidFill>
                <a:srgbClr val="7C3AED">
                  <a:alpha val="90000"/>
                </a:srgbClr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391275" y="3162300"/>
              <a:ext cx="152400" cy="152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315075" y="3086100"/>
              <a:ext cx="304800" cy="304800"/>
            </a:xfrm>
            <a:prstGeom prst="ellipse">
              <a:avLst/>
            </a:prstGeom>
            <a:noFill/>
            <a:ln w="9525">
              <a:solidFill>
                <a:srgbClr val="7C3AED">
                  <a:alpha val="40000"/>
                </a:srgbClr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238875" y="3009900"/>
              <a:ext cx="457200" cy="457200"/>
            </a:xfrm>
            <a:prstGeom prst="ellipse">
              <a:avLst/>
            </a:prstGeom>
            <a:noFill/>
            <a:ln w="4762">
              <a:solidFill>
                <a:srgbClr val="7C3AED">
                  <a:alpha val="20000"/>
                </a:srgbClr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67350" y="2781300"/>
              <a:ext cx="381000" cy="209550"/>
            </a:xfrm>
            <a:prstGeom prst="roundRect">
              <a:avLst>
                <a:gd name="adj" fmla="val 13636"/>
              </a:avLst>
            </a:pr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586451" y="28270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4B5FD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55792" y="27784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《论持久战》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62016" y="3106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抗战期间系统阐述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462016" y="3296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人民战争思想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62016" y="3487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奠定抗战理论基础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543800" y="3200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3AED">
                <a:alpha val="60000"/>
              </a:srgbClr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7734300" y="2686050"/>
            <a:ext cx="2190750" cy="1104900"/>
            <a:chOff x="7734300" y="2686050"/>
            <a:chExt cx="2190750" cy="1104900"/>
          </a:xfrm>
        </p:grpSpPr>
        <p:sp>
          <p:nvSpPr>
            <p:cNvPr id="66" name="Rectangle 66"/>
            <p:cNvSpPr/>
            <p:nvPr/>
          </p:nvSpPr>
          <p:spPr>
            <a:xfrm>
              <a:off x="7734300" y="2686050"/>
              <a:ext cx="2190750" cy="1104900"/>
            </a:xfrm>
            <a:prstGeom prst="roundRect">
              <a:avLst>
                <a:gd name="adj" fmla="val 5172"/>
              </a:avLst>
            </a:prstGeom>
            <a:gradFill>
              <a:gsLst>
                <a:gs pos="0">
                  <a:srgbClr val="132848">
                    <a:alpha val="90000"/>
                  </a:srgbClr>
                </a:gs>
                <a:gs pos="100000">
                  <a:srgbClr val="0E1C35">
                    <a:alpha val="90000"/>
                  </a:srgbClr>
                </a:gs>
              </a:gsLst>
              <a:lin ang="2700000" scaled="1"/>
            </a:gradFill>
            <a:ln w="7620">
              <a:solidFill>
                <a:srgbClr val="38BDF8">
                  <a:alpha val="90000"/>
                </a:srgbClr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8753475" y="3162300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677275" y="3086100"/>
              <a:ext cx="304800" cy="304800"/>
            </a:xfrm>
            <a:prstGeom prst="ellipse">
              <a:avLst/>
            </a:prstGeom>
            <a:noFill/>
            <a:ln w="9525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8601075" y="3009900"/>
              <a:ext cx="457200" cy="457200"/>
            </a:xfrm>
            <a:prstGeom prst="ellipse">
              <a:avLst/>
            </a:prstGeom>
            <a:noFill/>
            <a:ln w="4762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29550" y="2781300"/>
              <a:ext cx="381000" cy="209550"/>
            </a:xfrm>
            <a:prstGeom prst="roundRect">
              <a:avLst>
                <a:gd name="adj" fmla="val 13636"/>
              </a:avLst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48651" y="28270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17992" y="2778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BFF"/>
                  </a:solidFill>
                  <a:latin typeface="Arial"/>
                  <a:ea typeface="Microsoft YaHei"/>
                  <a:cs typeface="Arial"/>
                </a:rPr>
                <a:t>开国大典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24216" y="310610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1949年10月1日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24216" y="3296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中华人民共和国成立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24216" y="3487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建立社会主义制度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533400" y="4095750"/>
            <a:ext cx="11125200" cy="9525"/>
          </a:xfrm>
          <a:prstGeom prst="rect">
            <a:avLst/>
          </a:prstGeom>
          <a:solidFill>
            <a:srgbClr val="2563EB">
              <a:alpha val="15000"/>
            </a:srgbClr>
          </a:solidFill>
          <a:ln>
            <a:noFill/>
          </a:ln>
        </p:spPr>
      </p:sp>
      <p:sp>
        <p:nvSpPr>
          <p:cNvPr id="78" name="Rectangle 78"/>
          <p:cNvSpPr/>
          <p:nvPr/>
        </p:nvSpPr>
        <p:spPr>
          <a:xfrm>
            <a:off x="533400" y="4286250"/>
            <a:ext cx="3524250" cy="857250"/>
          </a:xfrm>
          <a:prstGeom prst="roundRect">
            <a:avLst>
              <a:gd name="adj" fmla="val 4444"/>
            </a:avLst>
          </a:prstGeom>
          <a:solidFill>
            <a:srgbClr val="0D1B33">
              <a:alpha val="70000"/>
            </a:srgbClr>
          </a:solidFill>
          <a:ln w="2858">
            <a:solidFill>
              <a:srgbClr val="BDD7FF">
                <a:alpha val="70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755904" y="44234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革命时期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57047" y="4676299"/>
            <a:ext cx="2103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1927—1949年，历经土地革命战争、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57047" y="4866799"/>
            <a:ext cx="2897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抗日战争与解放战争，艰苦卓绝的武装斗争之路。</a:t>
            </a:r>
          </a:p>
        </p:txBody>
      </p:sp>
      <p:sp>
        <p:nvSpPr>
          <p:cNvPr id="82" name="Rectangle 82"/>
          <p:cNvSpPr/>
          <p:nvPr/>
        </p:nvSpPr>
        <p:spPr>
          <a:xfrm>
            <a:off x="4286250" y="4286250"/>
            <a:ext cx="3524250" cy="857250"/>
          </a:xfrm>
          <a:prstGeom prst="roundRect">
            <a:avLst>
              <a:gd name="adj" fmla="val 4444"/>
            </a:avLst>
          </a:prstGeom>
          <a:solidFill>
            <a:srgbClr val="0D1B33">
              <a:alpha val="70000"/>
            </a:srgbClr>
          </a:solidFill>
          <a:ln w="2858">
            <a:solidFill>
              <a:srgbClr val="BDD7FF">
                <a:alpha val="70000"/>
              </a:srgbClr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4508754" y="44234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战略思想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509897" y="4676299"/>
            <a:ext cx="22412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人民战争、持久战、灵活机动的战术，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509897" y="4866799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形成了独特的军事理论体系与战略框架。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039100" y="4286250"/>
            <a:ext cx="3619500" cy="857250"/>
          </a:xfrm>
          <a:prstGeom prst="roundRect">
            <a:avLst>
              <a:gd name="adj" fmla="val 4444"/>
            </a:avLst>
          </a:prstGeom>
          <a:solidFill>
            <a:srgbClr val="0D1B33">
              <a:alpha val="70000"/>
            </a:srgbClr>
          </a:solidFill>
          <a:ln w="2858">
            <a:solidFill>
              <a:srgbClr val="BDD7FF">
                <a:alpha val="70000"/>
              </a:srgbClr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8261604" y="44234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政治动员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262747" y="4676299"/>
            <a:ext cx="18474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群众路线与土地改革深度结合，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262747" y="4866799"/>
            <a:ext cx="2634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有效动员广大农民参与革命，奠定胜利基础。</a:t>
            </a:r>
          </a:p>
        </p:txBody>
      </p:sp>
      <p:sp>
        <p:nvSpPr>
          <p:cNvPr id="90" name="Ellipse 90"/>
          <p:cNvSpPr/>
          <p:nvPr/>
        </p:nvSpPr>
        <p:spPr>
          <a:xfrm>
            <a:off x="1114425" y="3209925"/>
            <a:ext cx="57150" cy="57150"/>
          </a:xfrm>
          <a:prstGeom prst="ellipse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91" name="Ellipse 91"/>
          <p:cNvSpPr/>
          <p:nvPr/>
        </p:nvSpPr>
        <p:spPr>
          <a:xfrm>
            <a:off x="11020425" y="3209925"/>
            <a:ext cx="57150" cy="57150"/>
          </a:xfrm>
          <a:prstGeom prst="ellipse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11247958" y="64941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02 / 04</a:t>
            </a:r>
          </a:p>
        </p:txBody>
      </p:sp>
      <p:sp>
        <p:nvSpPr>
          <p:cNvPr id="93" name="Line 93"/>
          <p:cNvSpPr/>
          <p:nvPr/>
        </p:nvSpPr>
        <p:spPr>
          <a:xfrm>
            <a:off x="533400" y="6477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7620">
            <a:gradFill>
              <a:gsLst>
                <a:gs pos="0">
                  <a:srgbClr val="2563EB">
                    <a:alpha val="0"/>
                  </a:srgbClr>
                </a:gs>
                <a:gs pos="10000">
                  <a:srgbClr val="2563EB">
                    <a:alpha val="90000"/>
                  </a:srgbClr>
                </a:gs>
                <a:gs pos="90000">
                  <a:srgbClr val="38BDF8">
                    <a:alpha val="90000"/>
                  </a:srgbClr>
                </a:gs>
                <a:gs pos="100000">
                  <a:srgbClr val="38BDF8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94" name="TextBox 94"/>
          <p:cNvSpPr txBox="1"/>
          <p:nvPr/>
        </p:nvSpPr>
        <p:spPr>
          <a:xfrm>
            <a:off x="528638" y="6502241"/>
            <a:ext cx="1744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REVOLUTION &amp; FOUNDING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F1E"/>
              </a:gs>
              <a:gs pos="100000">
                <a:srgbClr val="141A2E"/>
              </a:gs>
            </a:gsLst>
            <a:lin ang="5400000" scaled="1"/>
          </a:gra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0" y="0"/>
            <a:ext cx="12192000" cy="6867525"/>
            <a:chOff x="0" y="0"/>
            <a:chExt cx="12192000" cy="6867525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23" name="Line 23"/>
          <p:cNvSpPr/>
          <p:nvPr/>
        </p:nvSpPr>
        <p:spPr>
          <a:xfrm>
            <a:off x="533400" y="4191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gradFill>
              <a:gsLst>
                <a:gs pos="0">
                  <a:srgbClr val="38BDF8">
                    <a:alpha val="0"/>
                  </a:srgbClr>
                </a:gs>
                <a:gs pos="50000">
                  <a:srgbClr val="38BDF8">
                    <a:alpha val="60000"/>
                  </a:srgbClr>
                </a:gs>
                <a:gs pos="100000">
                  <a:srgbClr val="38BDF8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24" name="TextBox 24"/>
          <p:cNvSpPr txBox="1"/>
          <p:nvPr/>
        </p:nvSpPr>
        <p:spPr>
          <a:xfrm>
            <a:off x="517398" y="517208"/>
            <a:ext cx="428162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spc="225" dirty="0">
                <a:solidFill>
                  <a:srgbClr val="E0ECFF"/>
                </a:solidFill>
                <a:latin typeface="Arial"/>
                <a:ea typeface="Microsoft YaHei"/>
                <a:cs typeface="Arial"/>
              </a:rPr>
              <a:t>建设探索与外交破冰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6542" y="1092518"/>
            <a:ext cx="14262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30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1949 · 1976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74392" y="1092518"/>
            <a:ext cx="29760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社会主义改造 · 政治运动 · 走向世界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" y="137160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971550" y="1371600"/>
            <a:ext cx="76200" cy="28575"/>
          </a:xfrm>
          <a:prstGeom prst="roundRect">
            <a:avLst>
              <a:gd name="adj" fmla="val 50000"/>
            </a:avLst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6096000" y="1905000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19050">
            <a:gradFill>
              <a:gsLst>
                <a:gs pos="0">
                  <a:srgbClr val="38BDF8"/>
                </a:gs>
                <a:gs pos="100000">
                  <a:srgbClr val="2563EB"/>
                </a:gs>
              </a:gsLst>
              <a:lin ang="5400000" scaled="1"/>
            </a:gradFill>
          </a:ln>
        </p:spPr>
      </p:sp>
      <p:sp>
        <p:nvSpPr>
          <p:cNvPr id="30" name="Ellipse 30"/>
          <p:cNvSpPr/>
          <p:nvPr/>
        </p:nvSpPr>
        <p:spPr>
          <a:xfrm>
            <a:off x="6038850" y="1847850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38BDF8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5962650" y="1771650"/>
            <a:ext cx="266700" cy="266700"/>
          </a:xfrm>
          <a:prstGeom prst="ellipse">
            <a:avLst/>
          </a:prstGeom>
          <a:noFill/>
          <a:ln w="7620">
            <a:solidFill>
              <a:srgbClr val="38BDF8">
                <a:alpha val="30000"/>
              </a:srgbClr>
            </a:solidFill>
          </a:ln>
        </p:spPr>
      </p:sp>
      <p:sp>
        <p:nvSpPr>
          <p:cNvPr id="32" name="Ellipse 32"/>
          <p:cNvSpPr/>
          <p:nvPr/>
        </p:nvSpPr>
        <p:spPr>
          <a:xfrm>
            <a:off x="6038850" y="6229350"/>
            <a:ext cx="114300" cy="1143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38BDF8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5962650" y="6153150"/>
            <a:ext cx="266700" cy="266700"/>
          </a:xfrm>
          <a:prstGeom prst="ellipse">
            <a:avLst/>
          </a:prstGeom>
          <a:noFill/>
          <a:ln w="7620">
            <a:solidFill>
              <a:srgbClr val="38BDF8">
                <a:alpha val="30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6019800" y="2400300"/>
            <a:ext cx="152400" cy="152400"/>
          </a:xfrm>
          <a:prstGeom prst="ellipse">
            <a:avLst/>
          </a:prstGeom>
          <a:solidFill>
            <a:srgbClr val="0A0F1E"/>
          </a:solidFill>
          <a:ln w="23812">
            <a:solidFill>
              <a:srgbClr val="38BDF8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5924550" y="2305050"/>
            <a:ext cx="342900" cy="342900"/>
          </a:xfrm>
          <a:prstGeom prst="ellipse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100000">
                <a:srgbClr val="2563EB">
                  <a:alpha val="4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818488" y="2125028"/>
            <a:ext cx="997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spc="1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1950 — 1956</a:t>
            </a:r>
          </a:p>
        </p:txBody>
      </p:sp>
      <p:sp>
        <p:nvSpPr>
          <p:cNvPr id="37" name="Line 37"/>
          <p:cNvSpPr/>
          <p:nvPr/>
        </p:nvSpPr>
        <p:spPr>
          <a:xfrm>
            <a:off x="5143500" y="2476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62000" y="2266950"/>
            <a:ext cx="3524250" cy="419100"/>
          </a:xfrm>
          <a:prstGeom prst="roundRect">
            <a:avLst>
              <a:gd name="adj" fmla="val 13636"/>
            </a:avLst>
          </a:prstGeom>
          <a:solidFill>
            <a:srgbClr val="242A3E">
              <a:alpha val="85000"/>
            </a:srgbClr>
          </a:solidFill>
          <a:ln w="7620">
            <a:solidFill>
              <a:srgbClr val="38BDF8">
                <a:alpha val="85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44880" y="231457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0ECFF"/>
                </a:solidFill>
                <a:latin typeface="Arial"/>
                <a:ea typeface="Microsoft YaHei"/>
                <a:cs typeface="Arial"/>
              </a:rPr>
              <a:t>土地改革与三大改造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7166" y="251555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废除封建土地制度，确立社会主义基本制度</a:t>
            </a:r>
          </a:p>
        </p:txBody>
      </p:sp>
      <p:sp>
        <p:nvSpPr>
          <p:cNvPr id="41" name="Ellipse 41"/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0A0F1E"/>
          </a:solidFill>
          <a:ln w="23812">
            <a:solidFill>
              <a:srgbClr val="7C3AED"/>
            </a:solidFill>
          </a:ln>
        </p:spPr>
      </p:sp>
      <p:sp>
        <p:nvSpPr>
          <p:cNvPr id="42" name="Ellipse 42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376416" y="3077528"/>
            <a:ext cx="997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1958 — 1960</a:t>
            </a:r>
          </a:p>
        </p:txBody>
      </p:sp>
      <p:sp>
        <p:nvSpPr>
          <p:cNvPr id="44" name="Line 44"/>
          <p:cNvSpPr/>
          <p:nvPr/>
        </p:nvSpPr>
        <p:spPr>
          <a:xfrm>
            <a:off x="6096000" y="3429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7C3AED">
                <a:alpha val="40000"/>
              </a:srgbClr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7905750" y="3219450"/>
            <a:ext cx="3524250" cy="419100"/>
          </a:xfrm>
          <a:prstGeom prst="roundRect">
            <a:avLst>
              <a:gd name="adj" fmla="val 13636"/>
            </a:avLst>
          </a:prstGeom>
          <a:solidFill>
            <a:srgbClr val="242A3E">
              <a:alpha val="85000"/>
            </a:srgbClr>
          </a:solidFill>
          <a:ln w="7620">
            <a:solidFill>
              <a:srgbClr val="7C3AED">
                <a:alpha val="85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8088630" y="326707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0ECFF"/>
                </a:solidFill>
                <a:latin typeface="Arial"/>
                <a:ea typeface="Microsoft YaHei"/>
                <a:cs typeface="Arial"/>
              </a:rPr>
              <a:t>大跃进与人民公社化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90916" y="346805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以钢为纲、超英赶美，探索快速工业化路径</a:t>
            </a:r>
          </a:p>
        </p:txBody>
      </p:sp>
      <p:sp>
        <p:nvSpPr>
          <p:cNvPr id="48" name="Ellipse 48"/>
          <p:cNvSpPr/>
          <p:nvPr/>
        </p:nvSpPr>
        <p:spPr>
          <a:xfrm>
            <a:off x="6000750" y="4476750"/>
            <a:ext cx="190500" cy="190500"/>
          </a:xfrm>
          <a:prstGeom prst="ellipse">
            <a:avLst/>
          </a:prstGeom>
          <a:solidFill>
            <a:srgbClr val="0A0F1E"/>
          </a:solidFill>
          <a:ln w="28575">
            <a:solidFill>
              <a:srgbClr val="F59E0B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5867400" y="4343400"/>
            <a:ext cx="457200" cy="4572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818488" y="4220528"/>
            <a:ext cx="997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spc="15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1966 — 1976</a:t>
            </a:r>
          </a:p>
        </p:txBody>
      </p:sp>
      <p:sp>
        <p:nvSpPr>
          <p:cNvPr id="51" name="Line 51"/>
          <p:cNvSpPr/>
          <p:nvPr/>
        </p:nvSpPr>
        <p:spPr>
          <a:xfrm>
            <a:off x="601980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/>
          <a:ln w="23812">
            <a:solidFill>
              <a:srgbClr val="F59E0B"/>
            </a:solidFill>
          </a:ln>
        </p:spPr>
      </p:sp>
      <p:sp>
        <p:nvSpPr>
          <p:cNvPr id="52" name="Line 52"/>
          <p:cNvSpPr/>
          <p:nvPr/>
        </p:nvSpPr>
        <p:spPr>
          <a:xfrm>
            <a:off x="601980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/>
          <a:ln w="23812">
            <a:solidFill>
              <a:srgbClr val="F59E0B"/>
            </a:solidFill>
          </a:ln>
        </p:spPr>
      </p:sp>
      <p:sp>
        <p:nvSpPr>
          <p:cNvPr id="53" name="Line 53"/>
          <p:cNvSpPr/>
          <p:nvPr/>
        </p:nvSpPr>
        <p:spPr>
          <a:xfrm>
            <a:off x="5143500" y="4572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59E0B">
                <a:alpha val="40000"/>
              </a:srgbClr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62000" y="4362450"/>
            <a:ext cx="3524250" cy="419100"/>
          </a:xfrm>
          <a:prstGeom prst="roundRect">
            <a:avLst>
              <a:gd name="adj" fmla="val 13636"/>
            </a:avLst>
          </a:prstGeom>
          <a:solidFill>
            <a:srgbClr val="242A3E">
              <a:alpha val="85000"/>
            </a:srgbClr>
          </a:solidFill>
          <a:ln w="7620">
            <a:solidFill>
              <a:srgbClr val="F59E0B">
                <a:alpha val="85000"/>
              </a:srgbClr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44880" y="44100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0ECFF"/>
                </a:solidFill>
                <a:latin typeface="Arial"/>
                <a:ea typeface="Microsoft YaHei"/>
                <a:cs typeface="Arial"/>
              </a:rPr>
              <a:t>文化大革命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47166" y="461105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全国性政治运动，社会秩序遭受严重冲击</a:t>
            </a:r>
          </a:p>
        </p:txBody>
      </p:sp>
      <p:sp>
        <p:nvSpPr>
          <p:cNvPr id="57" name="Ellipse 57"/>
          <p:cNvSpPr/>
          <p:nvPr/>
        </p:nvSpPr>
        <p:spPr>
          <a:xfrm>
            <a:off x="5981700" y="5600700"/>
            <a:ext cx="228600" cy="2286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38BDF8"/>
            </a:solidFill>
          </a:ln>
        </p:spPr>
      </p:sp>
      <p:sp>
        <p:nvSpPr>
          <p:cNvPr id="58" name="Ellipse 58"/>
          <p:cNvSpPr/>
          <p:nvPr/>
        </p:nvSpPr>
        <p:spPr>
          <a:xfrm>
            <a:off x="5829300" y="5448300"/>
            <a:ext cx="533400" cy="533400"/>
          </a:xfrm>
          <a:prstGeom prst="ellipse">
            <a:avLst/>
          </a:prstGeom>
          <a:gradFill>
            <a:gsLst>
              <a:gs pos="0">
                <a:srgbClr val="38BDF8">
                  <a:alpha val="18000"/>
                </a:srgbClr>
              </a:gs>
              <a:gs pos="100000">
                <a:srgbClr val="2563EB">
                  <a:alpha val="6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5715000" y="5334000"/>
            <a:ext cx="762000" cy="762000"/>
          </a:xfrm>
          <a:prstGeom prst="ellipse">
            <a:avLst/>
          </a:prstGeom>
          <a:noFill/>
          <a:ln w="4762">
            <a:solidFill>
              <a:srgbClr val="38BDF8">
                <a:alpha val="20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376416" y="5363528"/>
            <a:ext cx="3822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1972</a:t>
            </a:r>
          </a:p>
        </p:txBody>
      </p:sp>
      <p:sp>
        <p:nvSpPr>
          <p:cNvPr id="61" name="Line 61"/>
          <p:cNvSpPr/>
          <p:nvPr/>
        </p:nvSpPr>
        <p:spPr>
          <a:xfrm>
            <a:off x="6096000" y="5715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4288">
            <a:solidFill>
              <a:srgbClr val="38BDF8">
                <a:alpha val="60000"/>
              </a:srgbClr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7905750" y="5486400"/>
            <a:ext cx="3714750" cy="514350"/>
          </a:xfrm>
          <a:prstGeom prst="roundRect">
            <a:avLst>
              <a:gd name="adj" fmla="val 11111"/>
            </a:avLst>
          </a:prstGeom>
          <a:solidFill>
            <a:srgbClr val="1A2540">
              <a:alpha val="95000"/>
            </a:srgbClr>
          </a:solidFill>
          <a:ln w="14288">
            <a:solidFill>
              <a:srgbClr val="38BDF8">
                <a:alpha val="95000"/>
              </a:srgbClr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087868" y="5536882"/>
            <a:ext cx="19292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1972年尼克松访华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090916" y="5792152"/>
            <a:ext cx="25691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中美关系破冰，“三个世界”战略思想提出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53712" y="6490335"/>
            <a:ext cx="30845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i="1" dirty="0">
                <a:solidFill>
                  <a:srgbClr val="52637A">
                    <a:alphaMod val="70000"/>
                  </a:srgbClr>
                </a:solidFill>
                <a:latin typeface="Georgia"/>
                <a:ea typeface="SimSun"/>
                <a:cs typeface="Georgia"/>
              </a:rPr>
              <a:t>建设探索与外交破冰，重塑中国国际地位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2744"/>
              </a:gs>
            </a:gsLst>
            <a:lin ang="5400000" scaled="1"/>
          </a:gra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0" y="571500"/>
            <a:ext cx="12192000" cy="5724525"/>
            <a:chOff x="0" y="571500"/>
            <a:chExt cx="12192000" cy="5724525"/>
          </a:xfrm>
        </p:grpSpPr>
        <p:sp>
          <p:nvSpPr>
            <p:cNvPr id="3" name="Line 3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15" name="Rectangle 15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gradFill>
            <a:gsLst>
              <a:gs pos="0">
                <a:srgbClr val="38BDF8">
                  <a:alpha val="40000"/>
                </a:srgbClr>
              </a:gs>
              <a:gs pos="100000">
                <a:srgbClr val="2563EB">
                  <a:alpha val="4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304800"/>
            <a:ext cx="5715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8022" y="244793"/>
            <a:ext cx="417831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8F0FF"/>
                </a:solidFill>
                <a:latin typeface="Arial"/>
                <a:ea typeface="Microsoft YaHei"/>
                <a:cs typeface="Arial"/>
              </a:rPr>
              <a:t>思想 · 文化 · 历史回响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642" y="654368"/>
            <a:ext cx="45177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理论体系 · 诗词书法 · 家庭脉络 · 世界评价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52500" y="895350"/>
            <a:ext cx="1905000" cy="9525"/>
          </a:xfrm>
          <a:prstGeom prst="rect">
            <a:avLst/>
          </a:prstGeom>
          <a:gradFill>
            <a:gsLst>
              <a:gs pos="0">
                <a:srgbClr val="38BDF8">
                  <a:alpha val="0"/>
                </a:srgbClr>
              </a:gs>
              <a:gs pos="50000">
                <a:srgbClr val="38BDF8">
                  <a:alpha val="60000"/>
                </a:srgbClr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762000" y="1143000"/>
            <a:ext cx="3238500" cy="1905000"/>
            <a:chOff x="762000" y="1143000"/>
            <a:chExt cx="32385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762000" y="1143000"/>
              <a:ext cx="3238500" cy="1905000"/>
            </a:xfrm>
            <a:prstGeom prst="roundRect">
              <a:avLst>
                <a:gd name="adj" fmla="val 4000"/>
              </a:avLst>
            </a:prstGeom>
            <a:gradFill>
              <a:gsLst>
                <a:gs pos="0">
                  <a:srgbClr val="0F1D32"/>
                </a:gs>
                <a:gs pos="100000">
                  <a:srgbClr val="152238"/>
                </a:gs>
              </a:gsLst>
              <a:lin ang="5400000" scaled="1"/>
            </a:gradFill>
            <a:ln w="7620">
              <a:solidFill>
                <a:srgbClr val="38BDF8">
                  <a:alpha val="25000"/>
                </a:srgb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1143000"/>
              <a:ext cx="3238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50000"/>
                  </a:srgbClr>
                </a:gs>
                <a:gs pos="100000">
                  <a:srgbClr val="2563EB">
                    <a:alpha val="50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14400" y="12954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2563EB">
                <a:alpha val="2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6518" y="13744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02080" y="13811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毛泽东思想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4995" y="15163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E0F2FE"/>
                      </a:gs>
                    </a:gsLst>
                    <a:lin ang="5400000" scaled="1"/>
                  </a:gradFill>
                  <a:latin typeface="Georgia"/>
                  <a:ea typeface="Georgia"/>
                  <a:cs typeface="Georgia"/>
                </a:rPr>
                <a:t>3+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9613" y="20012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核心理论体系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2266950"/>
              <a:ext cx="2933700" cy="9525"/>
            </a:xfrm>
            <a:prstGeom prst="rect">
              <a:avLst/>
            </a:prstGeom>
            <a:solidFill>
              <a:srgbClr val="38BDF8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8685" y="2374106"/>
              <a:ext cx="1397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群众路线 · 人民战争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685" y="262175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新民主主义 · 实事求是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91000" y="1143000"/>
            <a:ext cx="3397697" cy="1905000"/>
            <a:chOff x="4191000" y="1143000"/>
            <a:chExt cx="3397697" cy="19050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143000"/>
              <a:ext cx="3238500" cy="1905000"/>
            </a:xfrm>
            <a:prstGeom prst="roundRect">
              <a:avLst>
                <a:gd name="adj" fmla="val 4000"/>
              </a:avLst>
            </a:prstGeom>
            <a:gradFill>
              <a:gsLst>
                <a:gs pos="0">
                  <a:srgbClr val="1A1F35"/>
                </a:gs>
                <a:gs pos="100000">
                  <a:srgbClr val="1E2545"/>
                </a:gs>
              </a:gsLst>
              <a:lin ang="5400000" scaled="1"/>
            </a:gradFill>
            <a:ln w="7620">
              <a:solidFill>
                <a:srgbClr val="7C3AED">
                  <a:alpha val="25000"/>
                </a:srgbClr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191000" y="1143000"/>
              <a:ext cx="3238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>
                    <a:alpha val="50000"/>
                  </a:srgbClr>
                </a:gs>
                <a:gs pos="100000">
                  <a:srgbClr val="3B82F6">
                    <a:alpha val="50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43400" y="12954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25518" y="13744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31080" y="1381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著作传播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27303" y="1516380"/>
              <a:ext cx="14613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E0F2FE"/>
                      </a:gs>
                    </a:gsLst>
                    <a:lin ang="5400000" scaled="1"/>
                  </a:gradFill>
                  <a:latin typeface="Georgia"/>
                  <a:ea typeface="SimSun"/>
                  <a:cs typeface="Georgia"/>
                </a:rPr>
                <a:t>~50亿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8012" y="20012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册 / 全球传播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43400" y="2266950"/>
              <a:ext cx="2933700" cy="9525"/>
            </a:xfrm>
            <a:prstGeom prst="rect">
              <a:avLst/>
            </a:prstGeom>
            <a:solidFill>
              <a:srgbClr val="7C3AED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37685" y="23741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《毛泽东选集》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7685" y="262175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《毛主席语录》等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2000" y="3238500"/>
            <a:ext cx="3238500" cy="1905000"/>
            <a:chOff x="762000" y="3238500"/>
            <a:chExt cx="3238500" cy="1905000"/>
          </a:xfrm>
        </p:grpSpPr>
        <p:sp>
          <p:nvSpPr>
            <p:cNvPr id="42" name="Rectangle 42"/>
            <p:cNvSpPr/>
            <p:nvPr/>
          </p:nvSpPr>
          <p:spPr>
            <a:xfrm>
              <a:off x="762000" y="3238500"/>
              <a:ext cx="3238500" cy="1905000"/>
            </a:xfrm>
            <a:prstGeom prst="roundRect">
              <a:avLst>
                <a:gd name="adj" fmla="val 4000"/>
              </a:avLst>
            </a:prstGeom>
            <a:gradFill>
              <a:gsLst>
                <a:gs pos="0">
                  <a:srgbClr val="1A1F35"/>
                </a:gs>
                <a:gs pos="100000">
                  <a:srgbClr val="1E2545"/>
                </a:gs>
              </a:gsLst>
              <a:lin ang="5400000" scaled="1"/>
            </a:gradFill>
            <a:ln w="7620">
              <a:solidFill>
                <a:srgbClr val="38BDF8">
                  <a:alpha val="25000"/>
                </a:srgbClr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3238500"/>
              <a:ext cx="3238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50000"/>
                  </a:srgbClr>
                </a:gs>
                <a:gs pos="100000">
                  <a:srgbClr val="2563EB">
                    <a:alpha val="50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4400" y="33909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2563EB">
                <a:alpha val="2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6518" y="34699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02080" y="3476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诗词书法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47873" y="3754755"/>
              <a:ext cx="9622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E0F2FE"/>
                      </a:gs>
                    </a:gsLst>
                    <a:lin ang="5400000" scaled="1"/>
                  </a:gradFill>
                  <a:latin typeface="Georgia"/>
                  <a:ea typeface="SimSun"/>
                  <a:cs typeface="Georgia"/>
                </a:rPr>
                <a:t>沁园春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07735" y="4096702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雪 · 长沙 · 昆仑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4400" y="4362450"/>
              <a:ext cx="2933700" cy="9525"/>
            </a:xfrm>
            <a:prstGeom prst="rect">
              <a:avLst/>
            </a:prstGeom>
            <a:solidFill>
              <a:srgbClr val="38BDF8">
                <a:alpha val="12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8685" y="44696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数风流人物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8685" y="47172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还看今朝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3429000" y="4546600"/>
              <a:ext cx="279400" cy="120650"/>
            </a:xfrm>
            <a:custGeom>
              <a:avLst/>
              <a:gdLst/>
              <a:ahLst/>
              <a:cxnLst/>
              <a:rect l="l" t="t" r="r" b="b"/>
              <a:pathLst>
                <a:path w="279400" h="120650">
                  <a:moveTo>
                    <a:pt x="0" y="63500"/>
                  </a:moveTo>
                  <a:cubicBezTo>
                    <a:pt x="63500" y="12700"/>
                    <a:pt x="127000" y="0"/>
                    <a:pt x="190500" y="25400"/>
                  </a:cubicBezTo>
                  <a:cubicBezTo>
                    <a:pt x="254000" y="50800"/>
                    <a:pt x="279400" y="82550"/>
                    <a:pt x="266700" y="120650"/>
                  </a:cubicBezTo>
                </a:path>
              </a:pathLst>
            </a:custGeom>
            <a:noFill/>
            <a:ln w="11430">
              <a:solidFill>
                <a:srgbClr val="38BDF8">
                  <a:alpha val="30000"/>
                </a:srgbClr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4191000" y="3238500"/>
            <a:ext cx="3238500" cy="1905000"/>
            <a:chOff x="4191000" y="3238500"/>
            <a:chExt cx="3238500" cy="1905000"/>
          </a:xfrm>
        </p:grpSpPr>
        <p:sp>
          <p:nvSpPr>
            <p:cNvPr id="54" name="Rectangle 54"/>
            <p:cNvSpPr/>
            <p:nvPr/>
          </p:nvSpPr>
          <p:spPr>
            <a:xfrm>
              <a:off x="4191000" y="3238500"/>
              <a:ext cx="3238500" cy="1905000"/>
            </a:xfrm>
            <a:prstGeom prst="roundRect">
              <a:avLst>
                <a:gd name="adj" fmla="val 4000"/>
              </a:avLst>
            </a:prstGeom>
            <a:gradFill>
              <a:gsLst>
                <a:gs pos="0">
                  <a:srgbClr val="0F1D32"/>
                </a:gs>
                <a:gs pos="100000">
                  <a:srgbClr val="152238"/>
                </a:gs>
              </a:gsLst>
              <a:lin ang="5400000" scaled="1"/>
            </a:gradFill>
            <a:ln w="7620">
              <a:solidFill>
                <a:srgbClr val="7C3AED">
                  <a:alpha val="25000"/>
                </a:srgbClr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191000" y="3238500"/>
              <a:ext cx="3238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>
                    <a:alpha val="50000"/>
                  </a:srgbClr>
                </a:gs>
                <a:gs pos="100000">
                  <a:srgbClr val="3B82F6">
                    <a:alpha val="50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343400" y="33909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7C3AED">
                <a:alpha val="2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25518" y="34699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31080" y="3476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家庭关系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91854" y="3611880"/>
              <a:ext cx="3322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E0F2FE"/>
                      </a:gs>
                    </a:gsLst>
                    <a:lin ang="5400000" scaled="1"/>
                  </a:gradFill>
                  <a:latin typeface="Georgia"/>
                  <a:ea typeface="Georgia"/>
                  <a:cs typeface="Georgia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40640" y="4096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次婚姻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343400" y="4362450"/>
              <a:ext cx="2933700" cy="9525"/>
            </a:xfrm>
            <a:prstGeom prst="rect">
              <a:avLst/>
            </a:prstGeom>
            <a:solidFill>
              <a:srgbClr val="7C3AED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337685" y="44696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长子毛岸英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337685" y="47172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牺牲于朝鲜战场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5334000"/>
            <a:ext cx="10668000" cy="1066800"/>
            <a:chOff x="762000" y="5334000"/>
            <a:chExt cx="10668000" cy="1066800"/>
          </a:xfrm>
        </p:grpSpPr>
        <p:sp>
          <p:nvSpPr>
            <p:cNvPr id="65" name="Rectangle 65"/>
            <p:cNvSpPr/>
            <p:nvPr/>
          </p:nvSpPr>
          <p:spPr>
            <a:xfrm>
              <a:off x="762000" y="5334000"/>
              <a:ext cx="10668000" cy="1066800"/>
            </a:xfrm>
            <a:prstGeom prst="roundRect">
              <a:avLst>
                <a:gd name="adj" fmla="val 7143"/>
              </a:avLst>
            </a:prstGeom>
            <a:gradFill>
              <a:gsLst>
                <a:gs pos="0">
                  <a:srgbClr val="0F1D32"/>
                </a:gs>
                <a:gs pos="100000">
                  <a:srgbClr val="152238"/>
                </a:gs>
              </a:gsLst>
              <a:lin ang="5400000" scaled="1"/>
            </a:gradFill>
            <a:ln w="7620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2000" y="5334000"/>
              <a:ext cx="10668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40000"/>
                  </a:srgbClr>
                </a:gs>
                <a:gs pos="100000">
                  <a:srgbClr val="2563EB">
                    <a:alpha val="40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2500" y="55245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rgbClr val="2563EB">
                <a:alpha val="2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52906" y="56159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◎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478280" y="55721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全球评价 · 两极分化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52500" y="6076950"/>
              <a:ext cx="4953000" cy="228600"/>
            </a:xfrm>
            <a:prstGeom prst="roundRect">
              <a:avLst>
                <a:gd name="adj" fmla="val 16667"/>
              </a:avLst>
            </a:prstGeom>
            <a:solidFill>
              <a:srgbClr val="22C55E">
                <a:alpha val="8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42416" y="611600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DE80"/>
                  </a:solidFill>
                  <a:latin typeface="Arial"/>
                  <a:ea typeface="Microsoft YaHei"/>
                  <a:cs typeface="Arial"/>
                </a:rPr>
                <a:t>民族解放旗帜 · 第三世界革命导师 · 思想传播至亚非拉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86500" y="6076950"/>
              <a:ext cx="4953000" cy="228600"/>
            </a:xfrm>
            <a:prstGeom prst="roundRect">
              <a:avLst>
                <a:gd name="adj" fmla="val 16667"/>
              </a:avLst>
            </a:prstGeom>
            <a:solidFill>
              <a:srgbClr val="EF4444">
                <a:alpha val="8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76416" y="6116002"/>
              <a:ext cx="3586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87171"/>
                  </a:solidFill>
                  <a:latin typeface="Arial"/>
                  <a:ea typeface="Microsoft YaHei"/>
                  <a:cs typeface="Arial"/>
                </a:rPr>
                <a:t>政治运动致大量人口损失 · 极权主义争议 · 长期经济代价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6096000" y="60769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5715">
              <a:solidFill>
                <a:srgbClr val="38BDF8">
                  <a:alpha val="20000"/>
                </a:srgbClr>
              </a:solidFill>
            </a:ln>
          </p:spPr>
        </p:sp>
      </p:grpSp>
      <p:sp>
        <p:nvSpPr>
          <p:cNvPr id="76" name="TextBox 76"/>
          <p:cNvSpPr txBox="1"/>
          <p:nvPr/>
        </p:nvSpPr>
        <p:spPr>
          <a:xfrm>
            <a:off x="11141640" y="65065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04 / 04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2381250" y="3048000"/>
            <a:ext cx="3438525" cy="2286000"/>
            <a:chOff x="2381250" y="3048000"/>
            <a:chExt cx="3438525" cy="2286000"/>
          </a:xfrm>
        </p:grpSpPr>
        <p:sp>
          <p:nvSpPr>
            <p:cNvPr id="77" name="Line 77"/>
            <p:cNvSpPr/>
            <p:nvPr/>
          </p:nvSpPr>
          <p:spPr>
            <a:xfrm>
              <a:off x="2381250" y="3048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7620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5810250" y="3048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7620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2381250" y="5143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7620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5810250" y="5143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7620">
              <a:solidFill>
                <a:srgbClr val="38BDF8">
                  <a:alpha val="8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2026-07-17T05:33:09Z</dcterms:created>
  <dcterms:modified xsi:type="dcterms:W3CDTF">2026-07-17T05:33:09Z</dcterms:modified>
  <cp:category/>
  <cp:contentStatus/>
</cp:coreProperties>
</file>