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82482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毛泽东（1893—1976）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多维人物画像：从革命领袖到历史争议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人物总览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711892"/>
            <a:ext cx="3923348" cy="830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立体呈现毛泽东成就、思想、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争议与文化影响</a:t>
            </a:r>
          </a:p>
        </p:txBody>
      </p:sp>
      <p:sp>
        <p:nvSpPr>
          <p:cNvPr id="11" name="Line 11"/>
          <p:cNvSpPr/>
          <p:nvPr/>
        </p:nvSpPr>
        <p:spPr>
          <a:xfrm>
            <a:off x="5162550" y="18669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2" name="Line 12"/>
          <p:cNvSpPr/>
          <p:nvPr/>
        </p:nvSpPr>
        <p:spPr>
          <a:xfrm>
            <a:off x="5162550" y="381952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核心身份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6350508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中国共产党、中国人民解放军和中华人民共和国的主要缔造者之一，1943年起任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中共中央主席直至逝世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47716" y="3024188"/>
            <a:ext cx="38412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革命家、战略家、理论家、诗人，20世纪最具影响力人物之一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48288" y="3584734"/>
            <a:ext cx="40521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毛泽东于1943年成为中共最高领导人，1949年任中华人民共和国中央人民政府主席</a:t>
            </a:r>
          </a:p>
        </p:txBody>
      </p:sp>
      <p:sp>
        <p:nvSpPr>
          <p:cNvPr id="17" name="Line 17"/>
          <p:cNvSpPr/>
          <p:nvPr/>
        </p:nvSpPr>
        <p:spPr>
          <a:xfrm>
            <a:off x="5162550" y="39814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7C3AED"/>
            </a:solidFill>
          </a:ln>
        </p:spPr>
      </p:sp>
      <p:sp>
        <p:nvSpPr>
          <p:cNvPr id="18" name="Line 18"/>
          <p:cNvSpPr/>
          <p:nvPr/>
        </p:nvSpPr>
        <p:spPr>
          <a:xfrm>
            <a:off x="5162550" y="593407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345430" y="41986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历史双面性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46192" y="4589145"/>
            <a:ext cx="669255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领导革命胜利和社会主义建设，亦因多场政治运动及三年困难时期造成重大损失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47716" y="5138738"/>
            <a:ext cx="45833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据多方估计，1949—1976年间中国大陆非正常死亡人数为4000万至8000万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8288" y="5699284"/>
            <a:ext cx="46019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据多方估计，1949—1976年间因政治运动与灾祸，中国大陆非正常死亡人数达4000万至8000万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3" name="Line 2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51996" y="6489859"/>
              <a:ext cx="44020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毛泽东于1943年成为中共最高领导人，1949年任中华人民共和国中央人民政府主席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611471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早年觉醒与革命奠基（1893—1930）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从私塾到马列主义，毛泽东逐步确立革命志向与道路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19288"/>
            <a:ext cx="3555682" cy="1943100"/>
          </a:xfrm>
          <a:prstGeom prst="roundRect">
            <a:avLst>
              <a:gd name="adj" fmla="val 2941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704850" y="3786188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04850" y="2071688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0151" y="217551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155508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出生与教育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342" y="2546032"/>
            <a:ext cx="2786063" cy="9498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1893年12月26日生于湖南湘潭韶山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冲，字润之。先后就读私塾与湖南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省立第一师范学校，受杨昌济、徐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特立等影响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17682" y="1919288"/>
            <a:ext cx="3555682" cy="1943100"/>
          </a:xfrm>
          <a:prstGeom prst="roundRect">
            <a:avLst>
              <a:gd name="adj" fmla="val 2941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4489132" y="3786188"/>
            <a:ext cx="3213735" cy="9525"/>
          </a:xfrm>
          <a:custGeom>
            <a:avLst/>
            <a:gdLst/>
            <a:ahLst/>
            <a:cxnLst/>
            <a:rect l="l" t="t" r="r" b="b"/>
            <a:pathLst>
              <a:path w="3213735" h="9525">
                <a:moveTo>
                  <a:pt x="0" y="0"/>
                </a:moveTo>
                <a:lnTo>
                  <a:pt x="3213735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4489132" y="2071688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14433" y="217551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95862" y="2155508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思想转变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96624" y="2546032"/>
            <a:ext cx="2768060" cy="9498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1911年初次接触“社会主义”一词，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1920年夏起接受马列主义，次年参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与创建长沙共产党小组，出席中共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一大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02918" y="1919288"/>
            <a:ext cx="3555682" cy="1943100"/>
          </a:xfrm>
          <a:prstGeom prst="roundRect">
            <a:avLst>
              <a:gd name="adj" fmla="val 2941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8274368" y="3786188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8274368" y="2071688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399668" y="217551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81098" y="2155508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国共合作期间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81860" y="2546032"/>
            <a:ext cx="2750058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1923年在中共三大当选中央执行委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员，曾任国民党中央宣传部代理部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长、农民运动讲习所所长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426018" y="4052888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2597468" y="5834062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2597468" y="4205288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722768" y="430911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04198" y="4289108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秋收起义与井冈山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04959" y="4679632"/>
            <a:ext cx="2669048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1927年领导秋收起义，提出“枪杆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子里面出政权”，10月创建井冈山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革命根据地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210300" y="4052888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6381750" y="5834062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6381750" y="4205288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507051" y="430911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88480" y="4289108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早期军事与土地革命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89242" y="4679632"/>
            <a:ext cx="2813066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制定《井冈山土地法》，提出“工农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武装割据”，形成“农村包围城市”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思想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7" name="Line 3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62879" y="6489859"/>
              <a:ext cx="33802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毛泽东于1920年夏接受马列主义，同年底建立长沙共产党小组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764130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走向巅峰：抗战、内战与建国（1931—1949）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56475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从长征到开国大典，毛泽东成为中共最高领袖，领导中国革命取得胜利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4310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704850" y="3724275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04850" y="209550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0151" y="21993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17932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长征与遵义会议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3485" y="2570321"/>
            <a:ext cx="2741771" cy="4105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500"/>
              </a:lnSpc>
            </a:pPr>
            <a:r>
              <a:rPr lang="zh-CN" sz="11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1935年遵义会议增选为政治局常委，进入</a:t>
            </a:r>
            <a:r>
              <a:rPr lang="zh-CN" sz="11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决策核心，领导红军完成长征抵达陕北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3866" y="3045143"/>
            <a:ext cx="21309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四渡赤水等战例被视为运动战典范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4438" y="3556159"/>
            <a:ext cx="21419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1935年遵义会议毛泽东被增选为政治局常委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17682" y="194310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4489132" y="3724275"/>
            <a:ext cx="3213735" cy="9525"/>
          </a:xfrm>
          <a:custGeom>
            <a:avLst/>
            <a:gdLst/>
            <a:ahLst/>
            <a:cxnLst/>
            <a:rect l="l" t="t" r="r" b="b"/>
            <a:pathLst>
              <a:path w="3213735" h="9525">
                <a:moveTo>
                  <a:pt x="0" y="0"/>
                </a:moveTo>
                <a:lnTo>
                  <a:pt x="3213735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4489132" y="209550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14433" y="21993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95862" y="2179320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抗战理论与延安整风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96624" y="2569845"/>
            <a:ext cx="2894076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发表《论持久战》《新民主主义论》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，开展整风运动确立毛泽东权威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98148" y="3205162"/>
            <a:ext cx="257098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1943年任中共中央政治局主席，成为最高领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导人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102918" y="194310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8274368" y="3724275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274368" y="209550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99668" y="21993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81098" y="217932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毛泽东思想确立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81860" y="2569845"/>
            <a:ext cx="2750058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1945年中共七大正式将毛泽东思想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确定为党的指导思想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83384" y="3205162"/>
            <a:ext cx="28376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系统阐述新民主主义革命理论与联合政府主张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2426018" y="3990975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30" name="Line 30"/>
          <p:cNvSpPr/>
          <p:nvPr/>
        </p:nvSpPr>
        <p:spPr>
          <a:xfrm>
            <a:off x="2597468" y="5810250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2597468" y="4143375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722768" y="424719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04198" y="422719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解放战争与三大战役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04959" y="4617720"/>
            <a:ext cx="2732056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提出“一切反动派都是纸老虎”，指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挥辽沈、淮海、平津战役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06484" y="5275898"/>
            <a:ext cx="259765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1948年提出人民民主专政，1949年元旦号召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将革命进行到底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210300" y="3990975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37" name="Line 37"/>
          <p:cNvSpPr/>
          <p:nvPr/>
        </p:nvSpPr>
        <p:spPr>
          <a:xfrm>
            <a:off x="6381750" y="5810250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6381750" y="414337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507051" y="424719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88480" y="422719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中华人民共和国成立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89242" y="4617720"/>
            <a:ext cx="2687050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1949年10月1日宣告中华人民共和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国中央人民政府成立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90766" y="5275898"/>
            <a:ext cx="267766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当选中央人民政府主席，主持政协制定《共同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纲领》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43" name="Line 4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07125" y="6489859"/>
              <a:ext cx="24917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1935年遵义会议毛泽东被增选为政治局常委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764130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执政初期：运动、成就与代价（1949—1962）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60110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毛泽东推动土地改革、抗美援朝、大跃进等运动，展现成就也带来巨大代价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6215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93620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政权巩固与朝鲜战争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665095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决策抗美援朝，实行土地改革，全国大剿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匪与镇压反革命运动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17682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317682" y="1962150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500562" y="2293620"/>
            <a:ext cx="23475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社会主义改造与五四宪法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01324" y="2665095"/>
            <a:ext cx="3290126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推行农业合作化与资本主义工商业改造，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主持起草《五四宪法》，1954年当选国家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主席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02918" y="196215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102918" y="196215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85798" y="2293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反右运动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6560" y="2665095"/>
            <a:ext cx="3308128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1957年由整风转为反右，至少55万人被划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为“右派分子”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426018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2426018" y="4010025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608898" y="434149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大跃进与三年困难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09659" y="4712970"/>
            <a:ext cx="3290126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1958年发起总路线、大跃进、人民公社化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运动，造成严重经济失衡与饥荒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10300" y="401002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10300" y="4010025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93180" y="434149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纠左与中苏交恶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93942" y="4712970"/>
            <a:ext cx="3290126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1958年拒绝苏联长波电台与联合舰队，中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苏关系破裂；1959年庐山会议转向反右倾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84734" y="6489859"/>
              <a:ext cx="17365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1949至1952年完成土地改革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611471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晚年岁月与身后回响（1962—1976）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80101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从七千人大会到文化大革命，毛泽东晚年阶级斗争理论主导，造成巨大社会动荡，但也实现外交突破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4310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4310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74570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七千人大会与分歧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646045"/>
            <a:ext cx="3290126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1962年承认不懂经济建设，但重提阶级斗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争，与刘少奇等产生路线分歧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17682" y="194310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317682" y="1943100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500562" y="227457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文化大革命发动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01324" y="2646045"/>
            <a:ext cx="3290126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1966年通过《五一六通知》，写《炮打司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令部》大字报，全面发动文革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02918" y="1943100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102918" y="194310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285798" y="22745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林彪事件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6560" y="2646045"/>
            <a:ext cx="3227118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 xml:space="preserve">1969年中共九大确定林彪为接班人，197 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1年林彪乘机出逃，坠亡于温都尔汗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3990975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33400" y="3990975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6280" y="43224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外交突破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4693920"/>
            <a:ext cx="3290126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1972年尼克松访华，中日邦交正常化，提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出“三个世界”理论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17682" y="3990975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4317682" y="3990975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500562" y="432244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逝世与家庭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01324" y="4693920"/>
            <a:ext cx="3146108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1976年9月9日病逝，终年82岁。四次婚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姻，六子四女，仅少数在身边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102918" y="3990975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102918" y="3990975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285798" y="43224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评价争议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6560" y="4693920"/>
            <a:ext cx="3272123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被视为20世纪最具影响力人物之一，但巨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大争议持续至今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1" name="Line 31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05 / 06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90511" y="6489859"/>
              <a:ext cx="27249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1962年七千人大会毛泽东称自己“不懂经济建设”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50042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思想·著作·文化符号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毛泽东思想的遗产及其全球影响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790700"/>
            <a:ext cx="11125200" cy="1162050"/>
          </a:xfrm>
          <a:prstGeom prst="roundRect">
            <a:avLst>
              <a:gd name="adj" fmla="val 491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762250"/>
            <a:ext cx="11125200" cy="19050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963" y="2126456"/>
            <a:ext cx="11183769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毛泽东思想与实践深刻影响了中国和世界，其著作、诗词和姓名文化构成独特的文化现象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33400" y="4229100"/>
            <a:ext cx="5457825" cy="3238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6280" y="336042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毛泽东思想要点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8566" y="3751898"/>
            <a:ext cx="5502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新民主主义、群众路线、人民战争、三个世界、实事求是等，被确立为中共指导思想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308634"/>
            <a:ext cx="32303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毛泽东思想是中国共产党集体智慧的结晶，在七大确立为指导思想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00775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6372225" y="44577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83655" y="33604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著作影响力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4417" y="3750945"/>
            <a:ext cx="50133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著逾千万字，《毛泽东语录》以52种语言全球印制约50亿册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704850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16280" y="49606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诗词与书法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5351145"/>
            <a:ext cx="49942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代表作《沁园春·雪》《七律·长征》等，毛体书法自成风格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00775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6372225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383655" y="4960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姓名文化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4417" y="5351145"/>
            <a:ext cx="54140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谱名泽东寓意“泽被东方”，笔名“二十八画生”，化名“李得胜”等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06 / 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62924" y="6489859"/>
              <a:ext cx="35801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毛泽东思想是中国共产党集体智慧的结晶，在七大确立为指导思想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2026-07-15T14:25:39Z</dcterms:created>
  <dcterms:modified xsi:type="dcterms:W3CDTF">2026-07-15T14:25:39Z</dcterms:modified>
  <cp:category/>
  <cp:contentStatus/>
</cp:coreProperties>
</file>