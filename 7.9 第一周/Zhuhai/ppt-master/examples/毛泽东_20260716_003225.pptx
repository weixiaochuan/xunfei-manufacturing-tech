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1D3F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毛泽东：总体认识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175551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264694"/>
            <a:ext cx="510354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User-Edited Structured AI Understanding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46767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User-Edited Struct · User-Edited Structured AI Understanding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894421"/>
            <a:ext cx="5697855" cy="4010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 xml:space="preserve">本材料源自同一篇维基百科素材 · 本材料源自同一篇维基百科素材，完整覆盖毛泽东自189 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3年出生至1976年逝世的全人生周期，并延伸至家庭、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3030" y="6489859"/>
              <a:ext cx="25999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User-Edited Structured AI Understanding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6529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User-Edited Struct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973" y="912971"/>
            <a:ext cx="10278999" cy="46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725"/>
              </a:lnSpc>
            </a:pP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本材料源自同一篇维基百科素材，完整覆盖毛泽东自1893年出生至1976年逝世的全人生周期，并延伸至家庭、思想、著作、诗词书法、历史评价</a:t>
            </a: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与姓名典故等多个侧面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20288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028825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360295"/>
            <a:ext cx="202944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User-Edited Struct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731770"/>
            <a:ext cx="38575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User-Edited Structured AI Understanding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10300" y="20288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210300" y="2028825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93180" y="2360295"/>
            <a:ext cx="2983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本材料源自同一篇维基百科素材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93942" y="2731770"/>
            <a:ext cx="527037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本材料源自同一篇维基百科素材，完整覆盖毛泽东自1893年出生至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1976年逝世的全人生周期，并延伸至家庭、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4076700"/>
            <a:ext cx="5448300" cy="1724025"/>
          </a:xfrm>
          <a:prstGeom prst="roundRect">
            <a:avLst>
              <a:gd name="adj" fmla="val 33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33400" y="407670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16280" y="4408170"/>
            <a:ext cx="27715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主要内容分为连续的两大时段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7042" y="4779645"/>
            <a:ext cx="5405390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主要内容分为连续的两大时段：1893—1962年早年生涯、早期革命、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抗战、解放战争与建国初期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10300" y="4076700"/>
            <a:ext cx="5448300" cy="1724025"/>
          </a:xfrm>
          <a:prstGeom prst="roundRect">
            <a:avLst>
              <a:gd name="adj" fmla="val 33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10300" y="407670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93180" y="4408170"/>
            <a:ext cx="25489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1962—1976年晚年政治活动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93942" y="4779645"/>
            <a:ext cx="2294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1962—1976年晚年政治活动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3030" y="6489859"/>
              <a:ext cx="25999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User-Edited Structured AI Understanding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重庆谈判后领导解放战争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96457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开国后担任中央人民政府主席，签订《中苏友好同盟互助条约》，决策抗美援朝，领导土地改革、镇压反革命、三反五反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4332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11455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98370"/>
            <a:ext cx="2347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重庆谈判后领导解放战争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588895"/>
            <a:ext cx="471230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重庆谈判后领导解放战争，提出“一切反动派都是纸老虎”，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指挥三大战役，1949年宣告中华人民共和国成立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4438" y="3575209"/>
            <a:ext cx="465744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重庆谈判后领导解放战争，提出“一切反动派都是纸老虎”，指挥三大战役，1949年宣告中华人…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103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6381750" y="374332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381750" y="211455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07051" y="22183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88480" y="2198370"/>
            <a:ext cx="27715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开国后担任中央人民政府主席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89242" y="2588895"/>
            <a:ext cx="469430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开国后担任中央人民政府主席，签订《中苏友好同盟互助条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约》，决策抗美援朝，领导土地改革、镇压反革命、三反五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90766" y="3224212"/>
            <a:ext cx="1520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反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334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704850" y="579120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704850" y="41624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0151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1580" y="4246245"/>
            <a:ext cx="28139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1954年主持制定《五四宪法》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2342" y="4636770"/>
            <a:ext cx="4649295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1954年主持制定《五四宪法》，当选国家主席，提出“双百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方针”，1957年发动反右运动，至少55万人被打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3866" y="5272088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为右派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103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6381750" y="579120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6381750" y="416242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07051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88480" y="4246245"/>
            <a:ext cx="34500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1958年掀起大跃进与人民公社化运动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9242" y="4636770"/>
            <a:ext cx="4766310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1958年掀起大跃进与人民公社化运动，1959年庐山会议批判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彭德怀，反右倾运动365万人被重点批判或划为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90766" y="527208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右倾机会主义分子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5" name="Line 35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46711" y="6489859"/>
              <a:ext cx="56125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重庆谈判后领导解放战争，提出“一切反动派都是纸老虎”，指挥三大战役，1949年宣告中华人民共和国成立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55231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抗战建国与制度奠基（1935—194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973" y="912971"/>
            <a:ext cx="10206133" cy="46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725"/>
              </a:lnSpc>
            </a:pP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执政探索与坎坷晚年（1949—1976）：展现建国初期建设成就与连续政治运动的矛盾，从土地改革、社会主义改造到大跃进、文革，直至晚年外</a:t>
            </a: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交破冰与逝世，揭示理想与现实、权力与路线的复杂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5334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2563EB"/>
            </a:solidFill>
          </a:ln>
        </p:spPr>
      </p:sp>
      <p:sp>
        <p:nvSpPr>
          <p:cNvPr id="8" name="Line 8"/>
          <p:cNvSpPr/>
          <p:nvPr/>
        </p:nvSpPr>
        <p:spPr>
          <a:xfrm>
            <a:off x="5334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91337" y="2083594"/>
            <a:ext cx="352868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抗战建国与制度奠基（1935—194</a:t>
            </a:r>
          </a:p>
        </p:txBody>
      </p:sp>
      <p:sp>
        <p:nvSpPr>
          <p:cNvPr id="10" name="Line 10"/>
          <p:cNvSpPr/>
          <p:nvPr/>
        </p:nvSpPr>
        <p:spPr>
          <a:xfrm>
            <a:off x="7239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1" name="Line 11"/>
          <p:cNvSpPr/>
          <p:nvPr/>
        </p:nvSpPr>
        <p:spPr>
          <a:xfrm>
            <a:off x="723900" y="411480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6780" y="2788920"/>
            <a:ext cx="30684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抗战建国与制度奠基（1935—194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542" y="3179445"/>
            <a:ext cx="4865322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抗战建国与制度奠基（1935—1949）：以《论持久战》和延安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整风凝聚全党，领导抗日战争与解放战争，最终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9638" y="3880009"/>
            <a:ext cx="48407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抗战建国与制度奠基（1935—1949）：以《论持久战》和延安整风凝聚全党，领导抗日战争与解放…</a:t>
            </a:r>
          </a:p>
        </p:txBody>
      </p:sp>
      <p:sp>
        <p:nvSpPr>
          <p:cNvPr id="15" name="Line 15"/>
          <p:cNvSpPr/>
          <p:nvPr/>
        </p:nvSpPr>
        <p:spPr>
          <a:xfrm>
            <a:off x="723900" y="42767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16" name="Line 16"/>
          <p:cNvSpPr/>
          <p:nvPr/>
        </p:nvSpPr>
        <p:spPr>
          <a:xfrm>
            <a:off x="7239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06780" y="4493895"/>
            <a:ext cx="30684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执政探索与坎坷晚年（1949—197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7542" y="4884420"/>
            <a:ext cx="4865322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执政探索与坎坷晚年（1949—1976）：展现建国初期建设成就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与连续政治运动的矛盾，从土地改革、社会主义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9638" y="5584984"/>
            <a:ext cx="48407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执政探索与坎坷晚年（1949—1976）：展现建国初期建设成就与连续政治运动的矛盾，从土地改革…</a:t>
            </a:r>
          </a:p>
        </p:txBody>
      </p:sp>
      <p:sp>
        <p:nvSpPr>
          <p:cNvPr id="20" name="Line 20"/>
          <p:cNvSpPr/>
          <p:nvPr/>
        </p:nvSpPr>
        <p:spPr>
          <a:xfrm>
            <a:off x="62103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7C3AED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68237" y="2083594"/>
            <a:ext cx="22120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多面人生与历史评价</a:t>
            </a:r>
          </a:p>
        </p:txBody>
      </p:sp>
      <p:sp>
        <p:nvSpPr>
          <p:cNvPr id="23" name="Line 23"/>
          <p:cNvSpPr/>
          <p:nvPr/>
        </p:nvSpPr>
        <p:spPr>
          <a:xfrm>
            <a:off x="64008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24" name="Line 24"/>
          <p:cNvSpPr/>
          <p:nvPr/>
        </p:nvSpPr>
        <p:spPr>
          <a:xfrm>
            <a:off x="6400800" y="411480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583680" y="278892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多面人生与历史评价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84442" y="3179445"/>
            <a:ext cx="487432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多面人生与历史评价：跳出时间线，从家庭婚姻、思想体系、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著作诗词、书法读书等私人侧面，以及国内国际两极评价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86538" y="3880009"/>
            <a:ext cx="484625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多面人生与历史评价：跳出时间线，从家庭婚姻、思想体系、著作诗词、书法读书等私人侧面，以…</a:t>
            </a:r>
          </a:p>
        </p:txBody>
      </p:sp>
      <p:sp>
        <p:nvSpPr>
          <p:cNvPr id="28" name="Line 28"/>
          <p:cNvSpPr/>
          <p:nvPr/>
        </p:nvSpPr>
        <p:spPr>
          <a:xfrm>
            <a:off x="6400800" y="42767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29" name="Line 29"/>
          <p:cNvSpPr/>
          <p:nvPr/>
        </p:nvSpPr>
        <p:spPr>
          <a:xfrm>
            <a:off x="64008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83680" y="449389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封面·总览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84442" y="4884420"/>
            <a:ext cx="48563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封面·总览：标题“毛泽东 1893—1976”，配核心肖像与一条浓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缩生平时间轴，快速建立整体认识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86538" y="5584984"/>
            <a:ext cx="46630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封面·总览：标题“毛泽东 1893—1976”，配核心肖像与一条浓缩生平时间轴，快速建立整体认识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3" name="Line 3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7951" y="6489859"/>
              <a:ext cx="61900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抗战建国与制度奠基（1935—1949）：以《论持久战》和延安整风凝聚全党，领导抗日战争与解放战争，最终建立新中…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21012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文中提到的非正常死亡人数4000万至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如需展示，希望用何种措辞和视觉处理方式来平衡事实呈现与汇报安全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2095500"/>
            <a:ext cx="5448300" cy="1724025"/>
          </a:xfrm>
          <a:prstGeom prst="roundRect">
            <a:avLst>
              <a:gd name="adj" fmla="val 33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4332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2479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3517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331720"/>
            <a:ext cx="34500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文中提到的非正常死亡人数4000万至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722245"/>
            <a:ext cx="4766310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文中提到的非正常死亡人数4000万至8000万等极具争议的数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据，是否需要在PPT中直接展示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10300" y="2095500"/>
            <a:ext cx="5448300" cy="1724025"/>
          </a:xfrm>
          <a:prstGeom prst="roundRect">
            <a:avLst>
              <a:gd name="adj" fmla="val 33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6381750" y="374332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6381750" y="22479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07051" y="23517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88480" y="23317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如需展示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89242" y="2722245"/>
            <a:ext cx="469430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如需展示，希望用何种措辞和视觉处理方式来平衡事实呈现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与汇报安全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010025"/>
            <a:ext cx="5448300" cy="1724025"/>
          </a:xfrm>
          <a:prstGeom prst="roundRect">
            <a:avLst>
              <a:gd name="adj" fmla="val 33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56578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704850" y="41624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0151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1580" y="424624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对毛泽东的评价部分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2342" y="4636770"/>
            <a:ext cx="469430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对毛泽东的评价部分，是否展开两极分化分析并同时呈现国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内外不同视角，还是仅陈述客观事实而不作价值引导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10300" y="4010025"/>
            <a:ext cx="5448300" cy="1724025"/>
          </a:xfrm>
          <a:prstGeom prst="roundRect">
            <a:avLst>
              <a:gd name="adj" fmla="val 33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6381750" y="5657850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81750" y="416242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07051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88480" y="42462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若有倾向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89242" y="4636770"/>
            <a:ext cx="26852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若有倾向，请说明期望的平衡度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13521" y="6489859"/>
              <a:ext cx="50789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文中提到的非正常死亡人数4000万至8000万等极具争议的数据，是否需要在PPT中直接展示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00036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org/wiki/%E6%AF%9B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6130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16\]](https://zh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838450"/>
            <a:ext cx="1112520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253944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16\]](https://zh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438650"/>
            <a:ext cx="5457825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22224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org/wiki/%E6%AF%9B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7804" y="3750945"/>
            <a:ext cx="52747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org/wiki/%E6%AF%9B%E6%B3%BD%E4%B8%9C#cite_note-16)、1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54112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org/wiki/%E6%AF%9B%E6%B3%BD%E4%B8%9C#cite_note-16)、1949年成为中华人民共和国最高领导人…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200775" y="4438650"/>
            <a:ext cx="5457825" cy="1143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1298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16\]](https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16929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16\]](https://zh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33400" y="6038850"/>
            <a:ext cx="5457825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9481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8533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wikipedia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00775" y="6038850"/>
            <a:ext cx="5457825" cy="1143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22224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org/wiki/%E6%AF%9B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5090350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org/wiki/%E6%AF%9B%E6%B3%BD%E4%B8%9C#cite_note-zb </a:t>
            </a:r>
            <a:r>
              <a:rPr lang="en-US" sz="135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>1-1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83946" y="6489859"/>
              <a:ext cx="63381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org/wiki/%E6%AF%9B%E6%B3%BD%E4%B8%9C#cite_note-16)、1949年成为中华人民共和国最高领导人，是中国共…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2026-07-15T16:32:25Z</dcterms:created>
  <dcterms:modified xsi:type="dcterms:W3CDTF">2026-07-15T16:32:25Z</dcterms:modified>
  <cp:category/>
  <cp:contentStatus/>
</cp:coreProperties>
</file>